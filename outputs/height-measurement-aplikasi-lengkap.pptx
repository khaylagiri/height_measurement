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331cd49534fea" /><Relationship Type="http://schemas.openxmlformats.org/officeDocument/2006/relationships/extended-properties" Target="/docProps/app.xml" Id="R757176b2640c4af3" /><Relationship Type="http://schemas.openxmlformats.org/officeDocument/2006/relationships/officeDocument" Target="/ppt/presentation.xml" Id="R2094cdfd901f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cb02091d74855"/>
  </p:sldMasterIdLst>
  <p:notesMasterIdLst>
    <p:notesMasterId xmlns:r="http://schemas.openxmlformats.org/officeDocument/2006/relationships" r:id="R35d1b59ae4b4471a"/>
  </p:notesMasterIdLst>
  <p:sldIdLst>
    <p:sldId xmlns:r="http://schemas.openxmlformats.org/officeDocument/2006/relationships" id="256" r:id="Rfb8b909323df490f"/>
    <p:sldId xmlns:r="http://schemas.openxmlformats.org/officeDocument/2006/relationships" id="257" r:id="Rf3f70bfea7c541bb"/>
    <p:sldId xmlns:r="http://schemas.openxmlformats.org/officeDocument/2006/relationships" id="258" r:id="R0a1f707004124a6c"/>
    <p:sldId xmlns:r="http://schemas.openxmlformats.org/officeDocument/2006/relationships" id="259" r:id="R53127725c4d3462d"/>
    <p:sldId xmlns:r="http://schemas.openxmlformats.org/officeDocument/2006/relationships" id="260" r:id="R0524c295208a4d21"/>
    <p:sldId xmlns:r="http://schemas.openxmlformats.org/officeDocument/2006/relationships" id="261" r:id="R4906268cd06843b4"/>
    <p:sldId xmlns:r="http://schemas.openxmlformats.org/officeDocument/2006/relationships" id="262" r:id="Rc5731e7732a344c7"/>
    <p:sldId xmlns:r="http://schemas.openxmlformats.org/officeDocument/2006/relationships" id="263" r:id="R52e66ec1ce1a4a74"/>
    <p:sldId xmlns:r="http://schemas.openxmlformats.org/officeDocument/2006/relationships" id="264" r:id="R2f7860a35ac24286"/>
    <p:sldId xmlns:r="http://schemas.openxmlformats.org/officeDocument/2006/relationships" id="265" r:id="Rf0893da41d614345"/>
    <p:sldId xmlns:r="http://schemas.openxmlformats.org/officeDocument/2006/relationships" id="266" r:id="Rf73475bae4e24ccc"/>
    <p:sldId xmlns:r="http://schemas.openxmlformats.org/officeDocument/2006/relationships" id="267" r:id="R9894634054ce404c"/>
    <p:sldId xmlns:r="http://schemas.openxmlformats.org/officeDocument/2006/relationships" id="268" r:id="Red37bda278714300"/>
    <p:sldId xmlns:r="http://schemas.openxmlformats.org/officeDocument/2006/relationships" id="269" r:id="R364c55dafab84b86"/>
    <p:sldId xmlns:r="http://schemas.openxmlformats.org/officeDocument/2006/relationships" id="270" r:id="R3db5b4cf43974ef0"/>
    <p:sldId xmlns:r="http://schemas.openxmlformats.org/officeDocument/2006/relationships" id="271" r:id="R4d3c5f7f938d4499"/>
    <p:sldId xmlns:r="http://schemas.openxmlformats.org/officeDocument/2006/relationships" id="272" r:id="R1f6fc1e10f7b4918"/>
    <p:sldId xmlns:r="http://schemas.openxmlformats.org/officeDocument/2006/relationships" id="273" r:id="R52156ab9a89645bd"/>
    <p:sldId xmlns:r="http://schemas.openxmlformats.org/officeDocument/2006/relationships" id="274" r:id="Rdf2708aeeaec4cfe"/>
    <p:sldId xmlns:r="http://schemas.openxmlformats.org/officeDocument/2006/relationships" id="275" r:id="R3f833b29595144bb"/>
    <p:sldId xmlns:r="http://schemas.openxmlformats.org/officeDocument/2006/relationships" id="276" r:id="R37624a0265e54d39"/>
    <p:sldId xmlns:r="http://schemas.openxmlformats.org/officeDocument/2006/relationships" id="277" r:id="R3d620a79469549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755b46cc9413c" /><Relationship Type="http://schemas.openxmlformats.org/officeDocument/2006/relationships/slideMaster" Target="/ppt/slideMasters/slideMaster1.xml" Id="Rb0fcb02091d74855" /><Relationship Type="http://schemas.openxmlformats.org/officeDocument/2006/relationships/notesMaster" Target="/ppt/notesMasters/notesMaster1.xml" Id="R35d1b59ae4b4471a" /><Relationship Type="http://schemas.openxmlformats.org/officeDocument/2006/relationships/presProps" Target="/ppt/presProps.xml" Id="R5b8cbfa1777e4a03" /><Relationship Type="http://schemas.openxmlformats.org/officeDocument/2006/relationships/tableStyles" Target="/ppt/tableStyles.xml" Id="R7d9c95f5c0614343" /><Relationship Type="http://schemas.openxmlformats.org/officeDocument/2006/relationships/slide" Target="/ppt/slides/slide1.xml" Id="Rfb8b909323df490f" /><Relationship Type="http://schemas.openxmlformats.org/officeDocument/2006/relationships/slide" Target="/ppt/slides/slide2.xml" Id="Rf3f70bfea7c541bb" /><Relationship Type="http://schemas.openxmlformats.org/officeDocument/2006/relationships/slide" Target="/ppt/slides/slide3.xml" Id="R0a1f707004124a6c" /><Relationship Type="http://schemas.openxmlformats.org/officeDocument/2006/relationships/slide" Target="/ppt/slides/slide4.xml" Id="R53127725c4d3462d" /><Relationship Type="http://schemas.openxmlformats.org/officeDocument/2006/relationships/slide" Target="/ppt/slides/slide5.xml" Id="R0524c295208a4d21" /><Relationship Type="http://schemas.openxmlformats.org/officeDocument/2006/relationships/slide" Target="/ppt/slides/slide6.xml" Id="R4906268cd06843b4" /><Relationship Type="http://schemas.openxmlformats.org/officeDocument/2006/relationships/slide" Target="/ppt/slides/slide7.xml" Id="Rc5731e7732a344c7" /><Relationship Type="http://schemas.openxmlformats.org/officeDocument/2006/relationships/slide" Target="/ppt/slides/slide8.xml" Id="R52e66ec1ce1a4a74" /><Relationship Type="http://schemas.openxmlformats.org/officeDocument/2006/relationships/slide" Target="/ppt/slides/slide9.xml" Id="R2f7860a35ac24286" /><Relationship Type="http://schemas.openxmlformats.org/officeDocument/2006/relationships/slide" Target="/ppt/slides/slide10.xml" Id="Rf0893da41d614345" /><Relationship Type="http://schemas.openxmlformats.org/officeDocument/2006/relationships/slide" Target="/ppt/slides/slide11.xml" Id="Rf73475bae4e24ccc" /><Relationship Type="http://schemas.openxmlformats.org/officeDocument/2006/relationships/slide" Target="/ppt/slides/slide12.xml" Id="R9894634054ce404c" /><Relationship Type="http://schemas.openxmlformats.org/officeDocument/2006/relationships/slide" Target="/ppt/slides/slide13.xml" Id="Red37bda278714300" /><Relationship Type="http://schemas.openxmlformats.org/officeDocument/2006/relationships/slide" Target="/ppt/slides/slide14.xml" Id="R364c55dafab84b86" /><Relationship Type="http://schemas.openxmlformats.org/officeDocument/2006/relationships/slide" Target="/ppt/slides/slide15.xml" Id="R3db5b4cf43974ef0" /><Relationship Type="http://schemas.openxmlformats.org/officeDocument/2006/relationships/slide" Target="/ppt/slides/slide16.xml" Id="R4d3c5f7f938d4499" /><Relationship Type="http://schemas.openxmlformats.org/officeDocument/2006/relationships/slide" Target="/ppt/slides/slide17.xml" Id="R1f6fc1e10f7b4918" /><Relationship Type="http://schemas.openxmlformats.org/officeDocument/2006/relationships/slide" Target="/ppt/slides/slide18.xml" Id="R52156ab9a89645bd" /><Relationship Type="http://schemas.openxmlformats.org/officeDocument/2006/relationships/slide" Target="/ppt/slides/slide19.xml" Id="Rdf2708aeeaec4cfe" /><Relationship Type="http://schemas.openxmlformats.org/officeDocument/2006/relationships/slide" Target="/ppt/slides/slide20.xml" Id="R3f833b29595144bb" /><Relationship Type="http://schemas.openxmlformats.org/officeDocument/2006/relationships/slide" Target="/ppt/slides/slide21.xml" Id="R37624a0265e54d39" /><Relationship Type="http://schemas.openxmlformats.org/officeDocument/2006/relationships/slide" Target="/ppt/slides/slide22.xml" Id="R3d620a794695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fc2f58b5e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b3046a3294cfa" /><Relationship Type="http://schemas.openxmlformats.org/officeDocument/2006/relationships/notesMaster" Target="/ppt/notesMasters/notesMaster1.xml" Id="R37ac3d70e64d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0f6910be7348f9" /><Relationship Type="http://schemas.openxmlformats.org/officeDocument/2006/relationships/notesMaster" Target="/ppt/notesMasters/notesMaster1.xml" Id="Rfd566107f8c5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f30ce46ac046eb" /><Relationship Type="http://schemas.openxmlformats.org/officeDocument/2006/relationships/notesMaster" Target="/ppt/notesMasters/notesMaster1.xml" Id="R8ac2d1e879a442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e0efdc0d8342a1" /><Relationship Type="http://schemas.openxmlformats.org/officeDocument/2006/relationships/notesMaster" Target="/ppt/notesMasters/notesMaster1.xml" Id="R0cc2a39dd5fe43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cc2b066fcc4ab7" /><Relationship Type="http://schemas.openxmlformats.org/officeDocument/2006/relationships/notesMaster" Target="/ppt/notesMasters/notesMaster1.xml" Id="R2976fd7901154f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9bf1d3f4a40dc" /><Relationship Type="http://schemas.openxmlformats.org/officeDocument/2006/relationships/notesMaster" Target="/ppt/notesMasters/notesMaster1.xml" Id="Rb3190a1117b245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53eb71d1df4fbd" /><Relationship Type="http://schemas.openxmlformats.org/officeDocument/2006/relationships/notesMaster" Target="/ppt/notesMasters/notesMaster1.xml" Id="Rd979caa6b63d47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2691da44e04ded" /><Relationship Type="http://schemas.openxmlformats.org/officeDocument/2006/relationships/notesMaster" Target="/ppt/notesMasters/notesMaster1.xml" Id="Ra4b0b3e636d54a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e97bbcfa3f44bc" /><Relationship Type="http://schemas.openxmlformats.org/officeDocument/2006/relationships/notesMaster" Target="/ppt/notesMasters/notesMaster1.xml" Id="Rbdba1df882d743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bcc21c6ea5434a" /><Relationship Type="http://schemas.openxmlformats.org/officeDocument/2006/relationships/notesMaster" Target="/ppt/notesMasters/notesMaster1.xml" Id="Rd80205a2339942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bf61a6366d407a" /><Relationship Type="http://schemas.openxmlformats.org/officeDocument/2006/relationships/notesMaster" Target="/ppt/notesMasters/notesMaster1.xml" Id="Rcf4937c0423d44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d5ddd94a2c4ff5" /><Relationship Type="http://schemas.openxmlformats.org/officeDocument/2006/relationships/notesMaster" Target="/ppt/notesMasters/notesMaster1.xml" Id="R3dc0f030853943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34f22c3dc34b0f" /><Relationship Type="http://schemas.openxmlformats.org/officeDocument/2006/relationships/notesMaster" Target="/ppt/notesMasters/notesMaster1.xml" Id="R53384bafbd9845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7d970dbaf048c9" /><Relationship Type="http://schemas.openxmlformats.org/officeDocument/2006/relationships/notesMaster" Target="/ppt/notesMasters/notesMaster1.xml" Id="Ra9c50e3c500346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c60081e5bc4b17" /><Relationship Type="http://schemas.openxmlformats.org/officeDocument/2006/relationships/notesMaster" Target="/ppt/notesMasters/notesMaster1.xml" Id="R3a83038bf06e40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9bf109d3f44e53" /><Relationship Type="http://schemas.openxmlformats.org/officeDocument/2006/relationships/notesMaster" Target="/ppt/notesMasters/notesMaster1.xml" Id="R19b56e5bfa6843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bd7901e4144006" /><Relationship Type="http://schemas.openxmlformats.org/officeDocument/2006/relationships/notesMaster" Target="/ppt/notesMasters/notesMaster1.xml" Id="R0d05522051b147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4ffcdce4564525" /><Relationship Type="http://schemas.openxmlformats.org/officeDocument/2006/relationships/notesMaster" Target="/ppt/notesMasters/notesMaster1.xml" Id="R83a50db8e71941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357615e4b34334" /><Relationship Type="http://schemas.openxmlformats.org/officeDocument/2006/relationships/notesMaster" Target="/ppt/notesMasters/notesMaster1.xml" Id="Rad5ab652459741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939102749f476c" /><Relationship Type="http://schemas.openxmlformats.org/officeDocument/2006/relationships/notesMaster" Target="/ppt/notesMasters/notesMaster1.xml" Id="R7146ec3ad4254b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b6f6a4b75449ab" /><Relationship Type="http://schemas.openxmlformats.org/officeDocument/2006/relationships/notesMaster" Target="/ppt/notesMasters/notesMaster1.xml" Id="R861ff7ba87d34e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45e932dfd54c8b" /><Relationship Type="http://schemas.openxmlformats.org/officeDocument/2006/relationships/notesMaster" Target="/ppt/notesMasters/notesMaster1.xml" Id="R727e8b7112964d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6f6353ddf44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2ca57c8e74f4f" /><Relationship Type="http://schemas.openxmlformats.org/officeDocument/2006/relationships/slideLayout" Target="/ppt/slideLayouts/slideLayout1.xml" Id="Rdbf190697b5848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f190697b5848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a643ea9134160" /><Relationship Type="http://schemas.openxmlformats.org/officeDocument/2006/relationships/image" Target="/ppt/media/image.png" Id="Re6c03fb7f0694da4" /><Relationship Type="http://schemas.openxmlformats.org/officeDocument/2006/relationships/notesSlide" Target="/ppt/notesSlides/notesSlide1.xml" Id="R6d7965a89e81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0530260604ee6" /><Relationship Type="http://schemas.openxmlformats.org/officeDocument/2006/relationships/notesSlide" Target="/ppt/notesSlides/notesSlide2.xml" Id="Re02ebd966b334d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f15ae94c545b4" /><Relationship Type="http://schemas.openxmlformats.org/officeDocument/2006/relationships/notesSlide" Target="/ppt/notesSlides/notesSlide3.xml" Id="Rd443ab03baec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4bf47277b4520" /><Relationship Type="http://schemas.openxmlformats.org/officeDocument/2006/relationships/notesSlide" Target="/ppt/notesSlides/notesSlide4.xml" Id="R5ce87cd89b6344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9f6e33e5049da" /><Relationship Type="http://schemas.openxmlformats.org/officeDocument/2006/relationships/notesSlide" Target="/ppt/notesSlides/notesSlide5.xml" Id="R5733304557444d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c3397d428461f" /><Relationship Type="http://schemas.openxmlformats.org/officeDocument/2006/relationships/notesSlide" Target="/ppt/notesSlides/notesSlide6.xml" Id="R32af60cd351f4b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13e8426b4cef" /><Relationship Type="http://schemas.openxmlformats.org/officeDocument/2006/relationships/notesSlide" Target="/ppt/notesSlides/notesSlide7.xml" Id="Red7e419abdb84b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e35512af34ca3" /><Relationship Type="http://schemas.openxmlformats.org/officeDocument/2006/relationships/notesSlide" Target="/ppt/notesSlides/notesSlide8.xml" Id="R6545b0a116f64d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91fa131a84cfb" /><Relationship Type="http://schemas.openxmlformats.org/officeDocument/2006/relationships/notesSlide" Target="/ppt/notesSlides/notesSlide9.xml" Id="Rf4f2e777eb9f4c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2583096ea41f5" /><Relationship Type="http://schemas.openxmlformats.org/officeDocument/2006/relationships/notesSlide" Target="/ppt/notesSlides/notesSlide10.xml" Id="R7bd872853be046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c76b95e6a4fa1" /><Relationship Type="http://schemas.openxmlformats.org/officeDocument/2006/relationships/notesSlide" Target="/ppt/notesSlides/notesSlide11.xml" Id="R7a462a6112074f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bfa75ec054e89" /><Relationship Type="http://schemas.openxmlformats.org/officeDocument/2006/relationships/notesSlide" Target="/ppt/notesSlides/notesSlide12.xml" Id="Rae5d06edbbbf4e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cecb0509b4527" /><Relationship Type="http://schemas.openxmlformats.org/officeDocument/2006/relationships/notesSlide" Target="/ppt/notesSlides/notesSlide13.xml" Id="Rae597773d36d41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d7c92fef84ed6" /><Relationship Type="http://schemas.openxmlformats.org/officeDocument/2006/relationships/notesSlide" Target="/ppt/notesSlides/notesSlide14.xml" Id="R8c48a8e8bd214f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45a28a624421c" /><Relationship Type="http://schemas.openxmlformats.org/officeDocument/2006/relationships/notesSlide" Target="/ppt/notesSlides/notesSlide15.xml" Id="Rab1c5b377f4447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e3979f0e74556" /><Relationship Type="http://schemas.openxmlformats.org/officeDocument/2006/relationships/notesSlide" Target="/ppt/notesSlides/notesSlide16.xml" Id="R6a68947d111e4a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6fb6205ae4ee6" /><Relationship Type="http://schemas.openxmlformats.org/officeDocument/2006/relationships/notesSlide" Target="/ppt/notesSlides/notesSlide17.xml" Id="R6d527ceea56045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4dc2089c4f3d" /><Relationship Type="http://schemas.openxmlformats.org/officeDocument/2006/relationships/notesSlide" Target="/ppt/notesSlides/notesSlide18.xml" Id="Rc0a8894ba4b547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8c6b8aff546ec" /><Relationship Type="http://schemas.openxmlformats.org/officeDocument/2006/relationships/notesSlide" Target="/ppt/notesSlides/notesSlide19.xml" Id="R425f0c81436444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53fbf8890471a" /><Relationship Type="http://schemas.openxmlformats.org/officeDocument/2006/relationships/notesSlide" Target="/ppt/notesSlides/notesSlide20.xml" Id="Rbc0404d85fa342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dfaafbd594d78" /><Relationship Type="http://schemas.openxmlformats.org/officeDocument/2006/relationships/notesSlide" Target="/ppt/notesSlides/notesSlide21.xml" Id="Ra9245bbee4864f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4f5f02dc4f16" /><Relationship Type="http://schemas.openxmlformats.org/officeDocument/2006/relationships/notesSlide" Target="/ppt/notesSlides/notesSlide22.xml" Id="Rdf55a766571e41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slide-background">
            <a:extLst xmlns:a="http://schemas.openxmlformats.org/drawingml/2006/main">
              <a:ext uri="{FF2B5EF4-FFF2-40B4-BE49-F238E27FC236}">
                <a16:creationId xmlns:a16="http://schemas.microsoft.com/office/drawing/2014/main" id="{28182C4D-64E2-448C-81C5-367F38D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64C4196-5F3F-47AD-B1A6-7D646561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590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APLIKASI ANDROID • COMPUTER VISION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83B14D-2549-4F66-806A-F3DE4E83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85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Height
Measurement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39677FE-4EBD-4B70-A301-9B0334C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666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Alur sistem, pengolahan citra, dan perhitungan tinggi badan dari piksel ke sentimeter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95DFA578-F46E-460B-A523-C9BC6A1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666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OpenCV • CameraX • MediaPipe Pose Landmarker</a:t>
            </a:r>
          </a:p>
        </p:txBody>
      </p:sp>
      <p:sp>
        <p:nvSpPr>
          <p:cNvPr id="6" name="logo-backing">
            <a:extLst xmlns:a="http://schemas.openxmlformats.org/drawingml/2006/main">
              <a:ext uri="{FF2B5EF4-FFF2-40B4-BE49-F238E27FC236}">
                <a16:creationId xmlns:a16="http://schemas.microsoft.com/office/drawing/2014/main" id="{D3162A20-5290-4CA7-918A-064C900E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8D0FF"/>
            </a:solidFill>
            <a:prstDash val="solid"/>
          </a:ln>
        </p:spPr>
      </p:sp>
      <p:sp>
        <p:nvSpPr>
          <p:cNvPr id="7" name="cover-blue-band">
            <a:extLst xmlns:a="http://schemas.openxmlformats.org/drawingml/2006/main">
              <a:ext uri="{FF2B5EF4-FFF2-40B4-BE49-F238E27FC236}">
                <a16:creationId xmlns:a16="http://schemas.microsoft.com/office/drawing/2014/main" id="{7B093866-361A-4C45-A43A-6FBB0527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03fb7f0694da4"/>
          <a:stretch xmlns:a="http://schemas.openxmlformats.org/drawingml/2006/main"/>
        </p:blipFill>
        <p:spPr>
          <a:xfrm xmlns:a="http://schemas.openxmlformats.org/drawingml/2006/main">
            <a:off x="8572500" y="1809750"/>
            <a:ext cx="2190750" cy="21907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56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blem-slide-background">
            <a:extLst xmlns:a="http://schemas.openxmlformats.org/drawingml/2006/main">
              <a:ext uri="{FF2B5EF4-FFF2-40B4-BE49-F238E27FC236}">
                <a16:creationId xmlns:a16="http://schemas.microsoft.com/office/drawing/2014/main" id="{60EE6D82-E5DB-48D9-AEE3-38BF5EC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83560FF-F7DF-4A5D-9649-F6518508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normalisasi sebelum tinggi dihitung</a:t>
            </a:r>
          </a:p>
        </p:txBody>
      </p:sp>
      <p:cxnSp>
        <p:nvCxnSpPr>
          <p:cNvPr id="35" name="accent-2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BD3CCAB-2BF1-4116-BB71-359DD21E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ource-2">
            <a:extLst xmlns:a="http://schemas.openxmlformats.org/drawingml/2006/main">
              <a:ext uri="{FF2B5EF4-FFF2-40B4-BE49-F238E27FC236}">
                <a16:creationId xmlns:a16="http://schemas.microsoft.com/office/drawing/2014/main" id="{C3EC2415-C923-4E10-869E-C1A85AF1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implementasi project HeightMeasurement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F94E1324-8D5B-42EE-A762-E9C86A8F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715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Akurasi dipengaruhi oleh empat hal yang harus dinormalisasi sebelum hasil dinyatakan dalam sentimeter.</a:t>
            </a:r>
          </a:p>
        </p:txBody>
      </p:sp>
      <p:sp>
        <p:nvSpPr>
          <p:cNvPr id="7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9FEFE09D-76EF-471B-9773-A6F96DC5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59E97BA8-B463-4265-8A36-F2F61FF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Orientasi</a:t>
            </a:r>
          </a:p>
        </p:txBody>
      </p:sp>
      <p:sp>
        <p:nvSpPr>
          <p:cNvPr id="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4E54EDC7-16D0-4299-B86A-1B6BEDB1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Foto harus tegak sebelum diproses.</a:t>
            </a:r>
          </a:p>
        </p:txBody>
      </p:sp>
      <p:sp>
        <p:nvSpPr>
          <p:cNvPr id="10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BD20DCE8-CF06-490A-B359-83A4BA3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BC5B4B19-22FF-432D-94D9-FAE6FBEE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Perspektif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67BA06D8-7758-49CC-BEC7-650738A3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Board dikoreksi ke bidang acuan.</a:t>
            </a:r>
          </a:p>
        </p:txBody>
      </p:sp>
      <p:sp>
        <p:nvSpPr>
          <p:cNvPr id="13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CE82E100-8946-4976-90E4-A25C900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B5FE5A6E-4999-4B2C-B68E-96712224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</a:t>
            </a:r>
          </a:p>
        </p:txBody>
      </p:sp>
      <p:sp>
        <p:nvSpPr>
          <p:cNvPr id="15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6142CBAC-37F1-48BA-9D25-B1018C4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529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Tinggi board 200 cm menjadi cm/piksel.</a:t>
            </a:r>
          </a:p>
        </p:txBody>
      </p:sp>
      <p:sp>
        <p:nvSpPr>
          <p:cNvPr id="16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88587417-8483-4906-B051-38C4E73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76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problem-title-3">
            <a:extLst xmlns:a="http://schemas.openxmlformats.org/drawingml/2006/main">
              <a:ext uri="{FF2B5EF4-FFF2-40B4-BE49-F238E27FC236}">
                <a16:creationId xmlns:a16="http://schemas.microsoft.com/office/drawing/2014/main" id="{15271E7D-0B48-456F-9D00-69D3706C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Kedalaman</a:t>
            </a:r>
          </a:p>
        </p:txBody>
      </p:sp>
      <p:sp>
        <p:nvSpPr>
          <p:cNvPr id="18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8DB9CF99-E509-4927-92C9-56B0D26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91100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Faktor saat ini dibuat netral: 1,0.</a:t>
            </a:r>
          </a:p>
        </p:txBody>
      </p:sp>
      <p:sp>
        <p:nvSpPr>
          <p:cNvPr id="19" name="measure-line">
            <a:extLst xmlns:a="http://schemas.openxmlformats.org/drawingml/2006/main">
              <a:ext uri="{FF2B5EF4-FFF2-40B4-BE49-F238E27FC236}">
                <a16:creationId xmlns:a16="http://schemas.microsoft.com/office/drawing/2014/main" id="{261B976C-8F72-43FF-B3F4-0837537A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66875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2" name="tick-0"/>
          <p:cNvCxnSpPr/>
          <p:nvPr/>
        </p:nvCxnSpPr>
        <p:spPr>
          <a:xfrm xmlns:a="http://schemas.openxmlformats.org/drawingml/2006/main">
            <a:off x="8382000" y="18097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3" name="tick-1"/>
          <p:cNvCxnSpPr/>
          <p:nvPr/>
        </p:nvCxnSpPr>
        <p:spPr>
          <a:xfrm xmlns:a="http://schemas.openxmlformats.org/drawingml/2006/main">
            <a:off x="8382000" y="22860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4" name="tick-2"/>
          <p:cNvCxnSpPr/>
          <p:nvPr/>
        </p:nvCxnSpPr>
        <p:spPr>
          <a:xfrm xmlns:a="http://schemas.openxmlformats.org/drawingml/2006/main">
            <a:off x="8382000" y="27622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5" name="tick-3"/>
          <p:cNvCxnSpPr/>
          <p:nvPr/>
        </p:nvCxnSpPr>
        <p:spPr>
          <a:xfrm xmlns:a="http://schemas.openxmlformats.org/drawingml/2006/main">
            <a:off x="8382000" y="32385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tick-4"/>
          <p:cNvCxnSpPr/>
          <p:nvPr/>
        </p:nvCxnSpPr>
        <p:spPr>
          <a:xfrm xmlns:a="http://schemas.openxmlformats.org/drawingml/2006/main">
            <a:off x="8382000" y="37147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tick-5"/>
          <p:cNvCxnSpPr/>
          <p:nvPr/>
        </p:nvCxnSpPr>
        <p:spPr>
          <a:xfrm xmlns:a="http://schemas.openxmlformats.org/drawingml/2006/main">
            <a:off x="8382000" y="41910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8" name="tick-6"/>
          <p:cNvCxnSpPr/>
          <p:nvPr/>
        </p:nvCxnSpPr>
        <p:spPr>
          <a:xfrm xmlns:a="http://schemas.openxmlformats.org/drawingml/2006/main">
            <a:off x="8382000" y="466725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9" name="tick-7"/>
          <p:cNvCxnSpPr/>
          <p:nvPr/>
        </p:nvCxnSpPr>
        <p:spPr>
          <a:xfrm xmlns:a="http://schemas.openxmlformats.org/drawingml/2006/main">
            <a:off x="8382000" y="5143500"/>
            <a:ext cx="228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8" name="head">
            <a:extLst xmlns:a="http://schemas.openxmlformats.org/drawingml/2006/main">
              <a:ext uri="{FF2B5EF4-FFF2-40B4-BE49-F238E27FC236}">
                <a16:creationId xmlns:a16="http://schemas.microsoft.com/office/drawing/2014/main" id="{688D3F48-74B6-4F90-8FE7-D1264BEE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431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29" name="torso">
            <a:extLst xmlns:a="http://schemas.openxmlformats.org/drawingml/2006/main">
              <a:ext uri="{FF2B5EF4-FFF2-40B4-BE49-F238E27FC236}">
                <a16:creationId xmlns:a16="http://schemas.microsoft.com/office/drawing/2014/main" id="{59DC0EBF-6A7F-489A-B54A-532CFAE4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05125"/>
            <a:ext cx="438150" cy="15240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eg-left">
            <a:extLst xmlns:a="http://schemas.openxmlformats.org/drawingml/2006/main">
              <a:ext uri="{FF2B5EF4-FFF2-40B4-BE49-F238E27FC236}">
                <a16:creationId xmlns:a16="http://schemas.microsoft.com/office/drawing/2014/main" id="{7AF22B12-66E1-4C88-8614-7EE17AB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81500"/>
            <a:ext cx="171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leg-right">
            <a:extLst xmlns:a="http://schemas.openxmlformats.org/drawingml/2006/main">
              <a:ext uri="{FF2B5EF4-FFF2-40B4-BE49-F238E27FC236}">
                <a16:creationId xmlns:a16="http://schemas.microsoft.com/office/drawing/2014/main" id="{14CBEF0E-BBAE-4FCE-9C37-149DC75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171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easure-caption">
            <a:extLst xmlns:a="http://schemas.openxmlformats.org/drawingml/2006/main">
              <a:ext uri="{FF2B5EF4-FFF2-40B4-BE49-F238E27FC236}">
                <a16:creationId xmlns:a16="http://schemas.microsoft.com/office/drawing/2014/main" id="{865BBC8D-064C-4973-A085-05A4DF0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286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Tinggi utama = selisih vertikal
puncak kepala hingga kaki terbawah</a:t>
            </a:r>
          </a:p>
        </p:txBody>
      </p:sp>
    </p:spTree>
    <p:extLst>
      <p:ext uri="{BB962C8B-B14F-4D97-AF65-F5344CB8AC3E}">
        <p14:creationId xmlns:p14="http://schemas.microsoft.com/office/powerpoint/2010/main" val="355440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rchitecture-slide-background">
            <a:extLst xmlns:a="http://schemas.openxmlformats.org/drawingml/2006/main">
              <a:ext uri="{FF2B5EF4-FFF2-40B4-BE49-F238E27FC236}">
                <a16:creationId xmlns:a16="http://schemas.microsoft.com/office/drawing/2014/main" id="{3539F078-97C1-4F9B-864D-4C5DA066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7DCA355-B15E-448D-AEA4-A42E3019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komponen teknis bekerja sebagai satu pipeline</a:t>
            </a:r>
          </a:p>
        </p:txBody>
      </p:sp>
      <p:cxnSp>
        <p:nvCxnSpPr>
          <p:cNvPr id="25" name="accent-3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351A1FB-8805-47E4-9B91-6EA2F293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source-3">
            <a:extLst xmlns:a="http://schemas.openxmlformats.org/drawingml/2006/main">
              <a:ext uri="{FF2B5EF4-FFF2-40B4-BE49-F238E27FC236}">
                <a16:creationId xmlns:a16="http://schemas.microsoft.com/office/drawing/2014/main" id="{7C684BDD-79C9-448B-9BAA-DC7DEA7B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app/build.gradle dan activity utama</a:t>
            </a:r>
          </a:p>
        </p:txBody>
      </p:sp>
      <p:sp>
        <p:nvSpPr>
          <p:cNvPr id="6" name="arch-lead">
            <a:extLst xmlns:a="http://schemas.openxmlformats.org/drawingml/2006/main">
              <a:ext uri="{FF2B5EF4-FFF2-40B4-BE49-F238E27FC236}">
                <a16:creationId xmlns:a16="http://schemas.microsoft.com/office/drawing/2014/main" id="{CC929915-0730-4FD1-A9EE-17E9750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049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Setiap komponen menangani sumber kesalahan yang berbeda; hasilnya diteruskan antartahap melalui Intent dan file cache.</a:t>
            </a:r>
          </a:p>
        </p:txBody>
      </p:sp>
      <p:sp>
        <p:nvSpPr>
          <p:cNvPr id="7" name="arch-panel-0">
            <a:extLst xmlns:a="http://schemas.openxmlformats.org/drawingml/2006/main">
              <a:ext uri="{FF2B5EF4-FFF2-40B4-BE49-F238E27FC236}">
                <a16:creationId xmlns:a16="http://schemas.microsoft.com/office/drawing/2014/main" id="{3A908186-37A5-4A4A-B9E6-407CC52D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bar-0">
            <a:extLst xmlns:a="http://schemas.openxmlformats.org/drawingml/2006/main">
              <a:ext uri="{FF2B5EF4-FFF2-40B4-BE49-F238E27FC236}">
                <a16:creationId xmlns:a16="http://schemas.microsoft.com/office/drawing/2014/main" id="{F53E52B9-7B74-4CA7-88DD-3905C12F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72685FED-A105-449B-8FB7-EADD9B43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CameraX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907E8C41-F96B-4440-B480-6B9755E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Mengambil foto dan menganalisis frame kamera secara real time.</a:t>
            </a:r>
          </a:p>
        </p:txBody>
      </p:sp>
      <p:sp>
        <p:nvSpPr>
          <p:cNvPr id="11" name="arch-panel-1">
            <a:extLst xmlns:a="http://schemas.openxmlformats.org/drawingml/2006/main">
              <a:ext uri="{FF2B5EF4-FFF2-40B4-BE49-F238E27FC236}">
                <a16:creationId xmlns:a16="http://schemas.microsoft.com/office/drawing/2014/main" id="{FC34B968-3239-4E8A-9A5D-23D807F5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bar-1">
            <a:extLst xmlns:a="http://schemas.openxmlformats.org/drawingml/2006/main">
              <a:ext uri="{FF2B5EF4-FFF2-40B4-BE49-F238E27FC236}">
                <a16:creationId xmlns:a16="http://schemas.microsoft.com/office/drawing/2014/main" id="{76ADEA5D-DBA6-4D27-B33B-BF775918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20F5B740-F6EF-4C94-820C-09537765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OpenCV + ArUco</a:t>
            </a:r>
          </a:p>
        </p:txBody>
      </p:sp>
      <p:sp>
        <p:nvSpPr>
          <p:cNvPr id="14" name="arch-body-1">
            <a:extLst xmlns:a="http://schemas.openxmlformats.org/drawingml/2006/main">
              <a:ext uri="{FF2B5EF4-FFF2-40B4-BE49-F238E27FC236}">
                <a16:creationId xmlns:a16="http://schemas.microsoft.com/office/drawing/2014/main" id="{0F3AEC3F-09F2-4F6D-A73F-4272768D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Mendeteksi marker, homografi, perspective warp, dan kontur.</a:t>
            </a:r>
          </a:p>
        </p:txBody>
      </p:sp>
      <p:sp>
        <p:nvSpPr>
          <p:cNvPr id="15" name="arch-panel-2">
            <a:extLst xmlns:a="http://schemas.openxmlformats.org/drawingml/2006/main">
              <a:ext uri="{FF2B5EF4-FFF2-40B4-BE49-F238E27FC236}">
                <a16:creationId xmlns:a16="http://schemas.microsoft.com/office/drawing/2014/main" id="{F8251FC0-84FE-47B5-9D5B-6F52BEC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bar-2">
            <a:extLst xmlns:a="http://schemas.openxmlformats.org/drawingml/2006/main">
              <a:ext uri="{FF2B5EF4-FFF2-40B4-BE49-F238E27FC236}">
                <a16:creationId xmlns:a16="http://schemas.microsoft.com/office/drawing/2014/main" id="{9FEED227-D42E-490A-AAD2-D29B0DB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E15CE293-D887-4041-AF32-955E6339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MediaPipe Pose</a:t>
            </a:r>
          </a:p>
        </p:txBody>
      </p:sp>
      <p:sp>
        <p:nvSpPr>
          <p:cNvPr id="18" name="arch-body-2">
            <a:extLst xmlns:a="http://schemas.openxmlformats.org/drawingml/2006/main">
              <a:ext uri="{FF2B5EF4-FFF2-40B4-BE49-F238E27FC236}">
                <a16:creationId xmlns:a16="http://schemas.microsoft.com/office/drawing/2014/main" id="{258E8DB8-1A61-4B3D-B3E6-41FF9D1B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Menghasilkan 33 landmark tubuh dalam koordinat ternormalisasi.</a:t>
            </a:r>
          </a:p>
        </p:txBody>
      </p:sp>
      <p:sp>
        <p:nvSpPr>
          <p:cNvPr id="19" name="arch-panel-3">
            <a:extLst xmlns:a="http://schemas.openxmlformats.org/drawingml/2006/main">
              <a:ext uri="{FF2B5EF4-FFF2-40B4-BE49-F238E27FC236}">
                <a16:creationId xmlns:a16="http://schemas.microsoft.com/office/drawing/2014/main" id="{2925A142-1796-4877-BD8A-29564E0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bar-3">
            <a:extLst xmlns:a="http://schemas.openxmlformats.org/drawingml/2006/main">
              <a:ext uri="{FF2B5EF4-FFF2-40B4-BE49-F238E27FC236}">
                <a16:creationId xmlns:a16="http://schemas.microsoft.com/office/drawing/2014/main" id="{B2B9539F-4DD7-4C7D-A73A-54BBC0D1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95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A8C814AC-35D2-4D39-AFDC-6DEDE090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Measurement</a:t>
            </a:r>
          </a:p>
        </p:txBody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2A07CACB-5484-41F8-A671-DBF99481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76825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Mengubah tinggi piksel menjadi sentimeter dengan faktor depth dan kalibrasi.</a:t>
            </a:r>
          </a:p>
        </p:txBody>
      </p:sp>
    </p:spTree>
    <p:extLst>
      <p:ext uri="{BB962C8B-B14F-4D97-AF65-F5344CB8AC3E}">
        <p14:creationId xmlns:p14="http://schemas.microsoft.com/office/powerpoint/2010/main" val="1663012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low-slide-background">
            <a:extLst xmlns:a="http://schemas.openxmlformats.org/drawingml/2006/main">
              <a:ext uri="{FF2B5EF4-FFF2-40B4-BE49-F238E27FC236}">
                <a16:creationId xmlns:a16="http://schemas.microsoft.com/office/drawing/2014/main" id="{127E0D86-783B-4616-A962-89EB966F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48FCC17-C472-446E-B7A5-5A76E5A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aplikasi dari input ke hasil</a:t>
            </a:r>
          </a:p>
        </p:txBody>
      </p:sp>
      <p:cxnSp>
        <p:nvCxnSpPr>
          <p:cNvPr id="38" name="accent-4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4F79419-2701-4A75-A140-ABCD9B9D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ource-4">
            <a:extLst xmlns:a="http://schemas.openxmlformats.org/drawingml/2006/main">
              <a:ext uri="{FF2B5EF4-FFF2-40B4-BE49-F238E27FC236}">
                <a16:creationId xmlns:a16="http://schemas.microsoft.com/office/drawing/2014/main" id="{2E708FF5-4215-414F-9CDA-D5CEF2FE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MainActivity, Perspective, MediaPipe, dan Measurement</a:t>
            </a:r>
          </a:p>
        </p:txBody>
      </p:sp>
      <p:cxnSp>
        <p:nvCxnSpPr>
          <p:cNvPr id="41" name="flow-line-0"/>
          <p:cNvCxnSpPr/>
          <p:nvPr/>
        </p:nvCxnSpPr>
        <p:spPr>
          <a:xfrm xmlns:a="http://schemas.openxmlformats.org/drawingml/2006/main">
            <a:off x="1619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2" name="flow-line-1"/>
          <p:cNvCxnSpPr/>
          <p:nvPr/>
        </p:nvCxnSpPr>
        <p:spPr>
          <a:xfrm xmlns:a="http://schemas.openxmlformats.org/drawingml/2006/main">
            <a:off x="3524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3" name="flow-line-2"/>
          <p:cNvCxnSpPr/>
          <p:nvPr/>
        </p:nvCxnSpPr>
        <p:spPr>
          <a:xfrm xmlns:a="http://schemas.openxmlformats.org/drawingml/2006/main">
            <a:off x="5429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4" name="flow-line-3"/>
          <p:cNvCxnSpPr/>
          <p:nvPr/>
        </p:nvCxnSpPr>
        <p:spPr>
          <a:xfrm xmlns:a="http://schemas.openxmlformats.org/drawingml/2006/main">
            <a:off x="7334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5" name="flow-line-4"/>
          <p:cNvCxnSpPr/>
          <p:nvPr/>
        </p:nvCxnSpPr>
        <p:spPr>
          <a:xfrm xmlns:a="http://schemas.openxmlformats.org/drawingml/2006/main">
            <a:off x="9239250" y="3333750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1" name="flow-dot-0">
            <a:extLst xmlns:a="http://schemas.openxmlformats.org/drawingml/2006/main">
              <a:ext uri="{FF2B5EF4-FFF2-40B4-BE49-F238E27FC236}">
                <a16:creationId xmlns:a16="http://schemas.microsoft.com/office/drawing/2014/main" id="{82F5DD66-DC6C-42BD-860C-DEB69EE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flow-num-0">
            <a:extLst xmlns:a="http://schemas.openxmlformats.org/drawingml/2006/main">
              <a:ext uri="{FF2B5EF4-FFF2-40B4-BE49-F238E27FC236}">
                <a16:creationId xmlns:a16="http://schemas.microsoft.com/office/drawing/2014/main" id="{AB301C4C-35EB-44C1-A7DB-F0EFD5BE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3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97B383B-0494-47DD-B6FE-696E8469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14" name="flow-body-0">
            <a:extLst xmlns:a="http://schemas.openxmlformats.org/drawingml/2006/main">
              <a:ext uri="{FF2B5EF4-FFF2-40B4-BE49-F238E27FC236}">
                <a16:creationId xmlns:a16="http://schemas.microsoft.com/office/drawing/2014/main" id="{96164C75-1F29-44FF-A221-1AC356CC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Kamera atau galeri</a:t>
            </a:r>
          </a:p>
        </p:txBody>
      </p:sp>
      <p:sp>
        <p:nvSpPr>
          <p:cNvPr id="15" name="flow-dot-1">
            <a:extLst xmlns:a="http://schemas.openxmlformats.org/drawingml/2006/main">
              <a:ext uri="{FF2B5EF4-FFF2-40B4-BE49-F238E27FC236}">
                <a16:creationId xmlns:a16="http://schemas.microsoft.com/office/drawing/2014/main" id="{5F8BBD37-A36D-40ED-A1AC-A817E46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flow-num-1">
            <a:extLst xmlns:a="http://schemas.openxmlformats.org/drawingml/2006/main">
              <a:ext uri="{FF2B5EF4-FFF2-40B4-BE49-F238E27FC236}">
                <a16:creationId xmlns:a16="http://schemas.microsoft.com/office/drawing/2014/main" id="{C6925AF9-DA84-482D-8C9C-C2E6674E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67A7CBB-AC44-4350-A0FD-3187603F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Jarak</a:t>
            </a:r>
          </a:p>
        </p:txBody>
      </p:sp>
      <p:sp>
        <p:nvSpPr>
          <p:cNvPr id="1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E249AEF4-9CDE-490E-9720-1B70C5E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Marker ArUco</a:t>
            </a:r>
          </a:p>
        </p:txBody>
      </p:sp>
      <p:sp>
        <p:nvSpPr>
          <p:cNvPr id="19" name="flow-dot-2">
            <a:extLst xmlns:a="http://schemas.openxmlformats.org/drawingml/2006/main">
              <a:ext uri="{FF2B5EF4-FFF2-40B4-BE49-F238E27FC236}">
                <a16:creationId xmlns:a16="http://schemas.microsoft.com/office/drawing/2014/main" id="{B924C3A5-60D0-4277-920B-2B6D14E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flow-num-2">
            <a:extLst xmlns:a="http://schemas.openxmlformats.org/drawingml/2006/main">
              <a:ext uri="{FF2B5EF4-FFF2-40B4-BE49-F238E27FC236}">
                <a16:creationId xmlns:a16="http://schemas.microsoft.com/office/drawing/2014/main" id="{5A8C7C7E-8A67-4519-B596-F1468E29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BF4B61E-EABE-4CDC-A5E6-B10C3A64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Perspektif</a:t>
            </a:r>
          </a:p>
        </p:txBody>
      </p:sp>
      <p:sp>
        <p:nvSpPr>
          <p:cNvPr id="22" name="flow-body-2">
            <a:extLst xmlns:a="http://schemas.openxmlformats.org/drawingml/2006/main">
              <a:ext uri="{FF2B5EF4-FFF2-40B4-BE49-F238E27FC236}">
                <a16:creationId xmlns:a16="http://schemas.microsoft.com/office/drawing/2014/main" id="{9D8D9492-8AEF-4311-8C16-E30AF791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Homografi board</a:t>
            </a:r>
          </a:p>
        </p:txBody>
      </p:sp>
      <p:sp>
        <p:nvSpPr>
          <p:cNvPr id="23" name="flow-dot-3">
            <a:extLst xmlns:a="http://schemas.openxmlformats.org/drawingml/2006/main">
              <a:ext uri="{FF2B5EF4-FFF2-40B4-BE49-F238E27FC236}">
                <a16:creationId xmlns:a16="http://schemas.microsoft.com/office/drawing/2014/main" id="{6789128B-9D8C-4761-BB2D-783E0AB3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4" name="flow-num-3">
            <a:extLst xmlns:a="http://schemas.openxmlformats.org/drawingml/2006/main">
              <a:ext uri="{FF2B5EF4-FFF2-40B4-BE49-F238E27FC236}">
                <a16:creationId xmlns:a16="http://schemas.microsoft.com/office/drawing/2014/main" id="{D1144B44-F8F2-49DC-AA72-D3D98771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BC2ECA28-9D8B-4D1D-A4B8-648E737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</a:t>
            </a:r>
          </a:p>
        </p:txBody>
      </p:sp>
      <p:sp>
        <p:nvSpPr>
          <p:cNvPr id="2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95C8340-DACB-46A6-8491-0D0942EF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MediaPipe Pose</a:t>
            </a:r>
          </a:p>
        </p:txBody>
      </p:sp>
      <p:sp>
        <p:nvSpPr>
          <p:cNvPr id="27" name="flow-dot-4">
            <a:extLst xmlns:a="http://schemas.openxmlformats.org/drawingml/2006/main">
              <a:ext uri="{FF2B5EF4-FFF2-40B4-BE49-F238E27FC236}">
                <a16:creationId xmlns:a16="http://schemas.microsoft.com/office/drawing/2014/main" id="{9880B307-3BDB-4372-A0E5-B707E1D7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8" name="flow-num-4">
            <a:extLst xmlns:a="http://schemas.openxmlformats.org/drawingml/2006/main">
              <a:ext uri="{FF2B5EF4-FFF2-40B4-BE49-F238E27FC236}">
                <a16:creationId xmlns:a16="http://schemas.microsoft.com/office/drawing/2014/main" id="{292B00D4-256D-412C-9272-B937BA9C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9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761E4262-A65C-443D-B15E-665C8E5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Pengukuran</a:t>
            </a:r>
          </a:p>
        </p:txBody>
      </p:sp>
      <p:sp>
        <p:nvSpPr>
          <p:cNvPr id="30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147FC32-1FF7-413A-B19B-3A6D2A6A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Kepala–kaki</a:t>
            </a:r>
          </a:p>
        </p:txBody>
      </p:sp>
      <p:sp>
        <p:nvSpPr>
          <p:cNvPr id="31" name="flow-dot-5">
            <a:extLst xmlns:a="http://schemas.openxmlformats.org/drawingml/2006/main">
              <a:ext uri="{FF2B5EF4-FFF2-40B4-BE49-F238E27FC236}">
                <a16:creationId xmlns:a16="http://schemas.microsoft.com/office/drawing/2014/main" id="{F93AC0F6-C717-488C-A640-48F755C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32" name="flow-num-5">
            <a:extLst xmlns:a="http://schemas.openxmlformats.org/drawingml/2006/main">
              <a:ext uri="{FF2B5EF4-FFF2-40B4-BE49-F238E27FC236}">
                <a16:creationId xmlns:a16="http://schemas.microsoft.com/office/drawing/2014/main" id="{B2CD7352-5633-4C16-9858-89734EB7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1623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D930D6C1-AA3A-4071-B6BC-1B293DE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34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4AE7F8-1EC8-4417-A76E-6E8E5C9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62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cm dan file hasil</a:t>
            </a:r>
          </a:p>
        </p:txBody>
      </p:sp>
      <p:sp>
        <p:nvSpPr>
          <p:cNvPr id="35" name="flow-note">
            <a:extLst xmlns:a="http://schemas.openxmlformats.org/drawingml/2006/main">
              <a:ext uri="{FF2B5EF4-FFF2-40B4-BE49-F238E27FC236}">
                <a16:creationId xmlns:a16="http://schemas.microsoft.com/office/drawing/2014/main" id="{4E3A3BF0-4875-4352-98FD-1283FEE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76875"/>
            <a:ext cx="8382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cmPerPixel dan URI gambar diteruskan ke tahap pengukuran; konstanta 350 cm saat ini hanya tampil pada debug.</a:t>
            </a:r>
          </a:p>
        </p:txBody>
      </p:sp>
    </p:spTree>
    <p:extLst>
      <p:ext uri="{BB962C8B-B14F-4D97-AF65-F5344CB8AC3E}">
        <p14:creationId xmlns:p14="http://schemas.microsoft.com/office/powerpoint/2010/main" val="262012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umber-map-slide-background">
            <a:extLst xmlns:a="http://schemas.openxmlformats.org/drawingml/2006/main">
              <a:ext uri="{FF2B5EF4-FFF2-40B4-BE49-F238E27FC236}">
                <a16:creationId xmlns:a16="http://schemas.microsoft.com/office/drawing/2014/main" id="{40F7B410-8AF6-4839-8069-24F33778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059BF21-5711-44FA-A720-C5FAF3F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Setiap angka memiliki asal dan fungsi berbeda</a:t>
            </a:r>
          </a:p>
        </p:txBody>
      </p:sp>
      <p:cxnSp>
        <p:nvCxnSpPr>
          <p:cNvPr id="32" name="accent-5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A337CA8-A349-40D0-A773-35BEBDB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source-5">
            <a:extLst xmlns:a="http://schemas.openxmlformats.org/drawingml/2006/main">
              <a:ext uri="{FF2B5EF4-FFF2-40B4-BE49-F238E27FC236}">
                <a16:creationId xmlns:a16="http://schemas.microsoft.com/office/drawing/2014/main" id="{84B1AAD9-62FC-4BD0-8121-FB7E388B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konstanta pada CameraDistanceActivity, PerspectiveCorrectionActivity, dan MeasurementActivity</a:t>
            </a:r>
          </a:p>
        </p:txBody>
      </p:sp>
      <p:sp>
        <p:nvSpPr>
          <p:cNvPr id="6" name="number-row-0">
            <a:extLst xmlns:a="http://schemas.openxmlformats.org/drawingml/2006/main">
              <a:ext uri="{FF2B5EF4-FFF2-40B4-BE49-F238E27FC236}">
                <a16:creationId xmlns:a16="http://schemas.microsoft.com/office/drawing/2014/main" id="{1EB90094-E06A-4E08-9DFF-66E9E0E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ber-value-0">
            <a:extLst xmlns:a="http://schemas.openxmlformats.org/drawingml/2006/main">
              <a:ext uri="{FF2B5EF4-FFF2-40B4-BE49-F238E27FC236}">
                <a16:creationId xmlns:a16="http://schemas.microsoft.com/office/drawing/2014/main" id="{5E90C0D8-D6EB-416E-9C03-7241201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7,6485 cm</a:t>
            </a:r>
          </a:p>
        </p:txBody>
      </p:sp>
      <p:sp>
        <p:nvSpPr>
          <p:cNvPr id="8" name="number-origin-0">
            <a:extLst xmlns:a="http://schemas.openxmlformats.org/drawingml/2006/main">
              <a:ext uri="{FF2B5EF4-FFF2-40B4-BE49-F238E27FC236}">
                <a16:creationId xmlns:a16="http://schemas.microsoft.com/office/drawing/2014/main" id="{FAC54FC4-8703-47C0-9785-A7EBE00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52575"/>
            <a:ext cx="3476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0,74 sel × (200/19,35)</a:t>
            </a:r>
          </a:p>
        </p:txBody>
      </p:sp>
      <p:sp>
        <p:nvSpPr>
          <p:cNvPr id="9" name="number-use-0">
            <a:extLst xmlns:a="http://schemas.openxmlformats.org/drawingml/2006/main">
              <a:ext uri="{FF2B5EF4-FFF2-40B4-BE49-F238E27FC236}">
                <a16:creationId xmlns:a16="http://schemas.microsoft.com/office/drawing/2014/main" id="{52805D9A-90C3-49B0-A974-9A205BB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52575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Ukuran fisik marker untuk estimasi jarak</a:t>
            </a:r>
          </a:p>
        </p:txBody>
      </p:sp>
      <p:sp>
        <p:nvSpPr>
          <p:cNvPr id="10" name="number-row-1">
            <a:extLst xmlns:a="http://schemas.openxmlformats.org/drawingml/2006/main">
              <a:ext uri="{FF2B5EF4-FFF2-40B4-BE49-F238E27FC236}">
                <a16:creationId xmlns:a16="http://schemas.microsoft.com/office/drawing/2014/main" id="{92AEEDA9-191C-49FC-9352-8316B4B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ber-value-1">
            <a:extLst xmlns:a="http://schemas.openxmlformats.org/drawingml/2006/main">
              <a:ext uri="{FF2B5EF4-FFF2-40B4-BE49-F238E27FC236}">
                <a16:creationId xmlns:a16="http://schemas.microsoft.com/office/drawing/2014/main" id="{FDFFE6ED-F3F9-4998-A931-6D83716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150 ± 10 cm</a:t>
            </a:r>
          </a:p>
        </p:txBody>
      </p:sp>
      <p:sp>
        <p:nvSpPr>
          <p:cNvPr id="12" name="number-origin-1">
            <a:extLst xmlns:a="http://schemas.openxmlformats.org/drawingml/2006/main">
              <a:ext uri="{FF2B5EF4-FFF2-40B4-BE49-F238E27FC236}">
                <a16:creationId xmlns:a16="http://schemas.microsoft.com/office/drawing/2014/main" id="{E1F6A7A2-3FDB-4E48-8E0C-C7676212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95525"/>
            <a:ext cx="3476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TARGET_DISTANCE dan tolerance</a:t>
            </a:r>
          </a:p>
        </p:txBody>
      </p:sp>
      <p:sp>
        <p:nvSpPr>
          <p:cNvPr id="13" name="number-use-1">
            <a:extLst xmlns:a="http://schemas.openxmlformats.org/drawingml/2006/main">
              <a:ext uri="{FF2B5EF4-FFF2-40B4-BE49-F238E27FC236}">
                <a16:creationId xmlns:a16="http://schemas.microsoft.com/office/drawing/2014/main" id="{E95594A4-BBCA-4520-82F3-0A880E6A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5525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Syarat siap memotret pada halaman kamera</a:t>
            </a:r>
          </a:p>
        </p:txBody>
      </p:sp>
      <p:sp>
        <p:nvSpPr>
          <p:cNvPr id="14" name="number-row-2">
            <a:extLst xmlns:a="http://schemas.openxmlformats.org/drawingml/2006/main">
              <a:ext uri="{FF2B5EF4-FFF2-40B4-BE49-F238E27FC236}">
                <a16:creationId xmlns:a16="http://schemas.microsoft.com/office/drawing/2014/main" id="{3F47BABB-54BD-4037-A5BA-521F6E3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ber-value-2">
            <a:extLst xmlns:a="http://schemas.openxmlformats.org/drawingml/2006/main">
              <a:ext uri="{FF2B5EF4-FFF2-40B4-BE49-F238E27FC236}">
                <a16:creationId xmlns:a16="http://schemas.microsoft.com/office/drawing/2014/main" id="{BCF42EAB-8603-4F4A-BA94-D0A6ED2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120 px/sel</a:t>
            </a:r>
          </a:p>
        </p:txBody>
      </p:sp>
      <p:sp>
        <p:nvSpPr>
          <p:cNvPr id="16" name="number-origin-2">
            <a:extLst xmlns:a="http://schemas.openxmlformats.org/drawingml/2006/main">
              <a:ext uri="{FF2B5EF4-FFF2-40B4-BE49-F238E27FC236}">
                <a16:creationId xmlns:a16="http://schemas.microsoft.com/office/drawing/2014/main" id="{841C9893-F480-4929-AD0D-A35E0BB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38475"/>
            <a:ext cx="3476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PX_PER_CELL</a:t>
            </a:r>
          </a:p>
        </p:txBody>
      </p:sp>
      <p:sp>
        <p:nvSpPr>
          <p:cNvPr id="17" name="number-use-2">
            <a:extLst xmlns:a="http://schemas.openxmlformats.org/drawingml/2006/main">
              <a:ext uri="{FF2B5EF4-FFF2-40B4-BE49-F238E27FC236}">
                <a16:creationId xmlns:a16="http://schemas.microsoft.com/office/drawing/2014/main" id="{C2022568-65CF-4D44-A14B-51A5FC5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Membangun bidang board hasil warp</a:t>
            </a:r>
          </a:p>
        </p:txBody>
      </p:sp>
      <p:sp>
        <p:nvSpPr>
          <p:cNvPr id="18" name="number-row-3">
            <a:extLst xmlns:a="http://schemas.openxmlformats.org/drawingml/2006/main">
              <a:ext uri="{FF2B5EF4-FFF2-40B4-BE49-F238E27FC236}">
                <a16:creationId xmlns:a16="http://schemas.microsoft.com/office/drawing/2014/main" id="{822CCB7A-399D-4C3E-8EC0-CCDA2869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umber-value-3">
            <a:extLst xmlns:a="http://schemas.openxmlformats.org/drawingml/2006/main">
              <a:ext uri="{FF2B5EF4-FFF2-40B4-BE49-F238E27FC236}">
                <a16:creationId xmlns:a16="http://schemas.microsoft.com/office/drawing/2014/main" id="{BE524A4A-B08D-439B-A2E4-F6D2D45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200 cm</a:t>
            </a:r>
          </a:p>
        </p:txBody>
      </p:sp>
      <p:sp>
        <p:nvSpPr>
          <p:cNvPr id="20" name="number-origin-3">
            <a:extLst xmlns:a="http://schemas.openxmlformats.org/drawingml/2006/main">
              <a:ext uri="{FF2B5EF4-FFF2-40B4-BE49-F238E27FC236}">
                <a16:creationId xmlns:a16="http://schemas.microsoft.com/office/drawing/2014/main" id="{FDD373C6-D7A4-4F95-A411-A897527E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81425"/>
            <a:ext cx="3476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BOARD_REAL_HEIGHT_CM</a:t>
            </a:r>
          </a:p>
        </p:txBody>
      </p:sp>
      <p:sp>
        <p:nvSpPr>
          <p:cNvPr id="21" name="number-use-3">
            <a:extLst xmlns:a="http://schemas.openxmlformats.org/drawingml/2006/main">
              <a:ext uri="{FF2B5EF4-FFF2-40B4-BE49-F238E27FC236}">
                <a16:creationId xmlns:a16="http://schemas.microsoft.com/office/drawing/2014/main" id="{E3281A8A-8166-4854-8947-E43AEEF7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81425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Mengubah tinggi board piksel menjadi cm/piksel</a:t>
            </a:r>
          </a:p>
        </p:txBody>
      </p:sp>
      <p:sp>
        <p:nvSpPr>
          <p:cNvPr id="22" name="number-row-4">
            <a:extLst xmlns:a="http://schemas.openxmlformats.org/drawingml/2006/main">
              <a:ext uri="{FF2B5EF4-FFF2-40B4-BE49-F238E27FC236}">
                <a16:creationId xmlns:a16="http://schemas.microsoft.com/office/drawing/2014/main" id="{C45C0B1D-2548-4080-8B8E-E2186578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umber-value-4">
            <a:extLst xmlns:a="http://schemas.openxmlformats.org/drawingml/2006/main">
              <a:ext uri="{FF2B5EF4-FFF2-40B4-BE49-F238E27FC236}">
                <a16:creationId xmlns:a16="http://schemas.microsoft.com/office/drawing/2014/main" id="{154F77AD-2411-4058-B5B0-3023DF7A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0,28 &amp; 0,15</a:t>
            </a:r>
          </a:p>
        </p:txBody>
      </p:sp>
      <p:sp>
        <p:nvSpPr>
          <p:cNvPr id="24" name="number-origin-4">
            <a:extLst xmlns:a="http://schemas.openxmlformats.org/drawingml/2006/main">
              <a:ext uri="{FF2B5EF4-FFF2-40B4-BE49-F238E27FC236}">
                <a16:creationId xmlns:a16="http://schemas.microsoft.com/office/drawing/2014/main" id="{A4092EC3-F5DE-4D9B-9FAD-C961D61C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24375"/>
            <a:ext cx="3476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Ditulis langsung pada estimasi kepala</a:t>
            </a:r>
          </a:p>
        </p:txBody>
      </p:sp>
      <p:sp>
        <p:nvSpPr>
          <p:cNvPr id="25" name="number-use-4">
            <a:extLst xmlns:a="http://schemas.openxmlformats.org/drawingml/2006/main">
              <a:ext uri="{FF2B5EF4-FFF2-40B4-BE49-F238E27FC236}">
                <a16:creationId xmlns:a16="http://schemas.microsoft.com/office/drawing/2014/main" id="{E4FD349B-F488-4A3E-823E-8E99522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Memperkirakan jarak wajah ke puncak kepala</a:t>
            </a:r>
          </a:p>
        </p:txBody>
      </p:sp>
      <p:sp>
        <p:nvSpPr>
          <p:cNvPr id="26" name="number-row-5">
            <a:extLst xmlns:a="http://schemas.openxmlformats.org/drawingml/2006/main">
              <a:ext uri="{FF2B5EF4-FFF2-40B4-BE49-F238E27FC236}">
                <a16:creationId xmlns:a16="http://schemas.microsoft.com/office/drawing/2014/main" id="{E01F75B0-9CCE-42CF-A9B7-E81D4DB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umber-value-5">
            <a:extLst xmlns:a="http://schemas.openxmlformats.org/drawingml/2006/main">
              <a:ext uri="{FF2B5EF4-FFF2-40B4-BE49-F238E27FC236}">
                <a16:creationId xmlns:a16="http://schemas.microsoft.com/office/drawing/2014/main" id="{237644B5-D974-4907-8187-D6CC30B9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1,0 &amp; 1,025</a:t>
            </a:r>
          </a:p>
        </p:txBody>
      </p:sp>
      <p:sp>
        <p:nvSpPr>
          <p:cNvPr id="28" name="number-origin-5">
            <a:extLst xmlns:a="http://schemas.openxmlformats.org/drawingml/2006/main">
              <a:ext uri="{FF2B5EF4-FFF2-40B4-BE49-F238E27FC236}">
                <a16:creationId xmlns:a16="http://schemas.microsoft.com/office/drawing/2014/main" id="{5BC606E5-D6E8-48E1-84D9-95DAAE85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67325"/>
            <a:ext cx="3476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Depth dan height calibration</a:t>
            </a:r>
          </a:p>
        </p:txBody>
      </p:sp>
      <p:sp>
        <p:nvSpPr>
          <p:cNvPr id="29" name="number-use-5">
            <a:extLst xmlns:a="http://schemas.openxmlformats.org/drawingml/2006/main">
              <a:ext uri="{FF2B5EF4-FFF2-40B4-BE49-F238E27FC236}">
                <a16:creationId xmlns:a16="http://schemas.microsoft.com/office/drawing/2014/main" id="{A8242F39-3A4C-48E0-9BDF-787E32FF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67325"/>
            <a:ext cx="466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Pengali akhir tinggi pada kode terbaru</a:t>
            </a:r>
          </a:p>
        </p:txBody>
      </p:sp>
    </p:spTree>
    <p:extLst>
      <p:ext uri="{BB962C8B-B14F-4D97-AF65-F5344CB8AC3E}">
        <p14:creationId xmlns:p14="http://schemas.microsoft.com/office/powerpoint/2010/main" val="972251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rker-origin-slide-background">
            <a:extLst xmlns:a="http://schemas.openxmlformats.org/drawingml/2006/main">
              <a:ext uri="{FF2B5EF4-FFF2-40B4-BE49-F238E27FC236}">
                <a16:creationId xmlns:a16="http://schemas.microsoft.com/office/drawing/2014/main" id="{29BE4EEB-7CA7-47F2-9E3F-A3EF14A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CF98D5B-69CB-4DF5-B0D0-9F3F687D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Ukuran marker berasal dari geometri board</a:t>
            </a:r>
          </a:p>
        </p:txBody>
      </p:sp>
      <p:cxnSp>
        <p:nvCxnSpPr>
          <p:cNvPr id="17" name="accent-6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9BA87CE-7822-45FC-B62D-A7B018A1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source-6">
            <a:extLst xmlns:a="http://schemas.openxmlformats.org/drawingml/2006/main">
              <a:ext uri="{FF2B5EF4-FFF2-40B4-BE49-F238E27FC236}">
                <a16:creationId xmlns:a16="http://schemas.microsoft.com/office/drawing/2014/main" id="{A997E3CC-81A6-467A-B8AC-41B5FBB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REAL_MARKER_SIZE_CM pada CameraDistanceActivity.java</a:t>
            </a:r>
          </a:p>
        </p:txBody>
      </p:sp>
      <p:sp>
        <p:nvSpPr>
          <p:cNvPr id="6" name="marker-step-1">
            <a:extLst xmlns:a="http://schemas.openxmlformats.org/drawingml/2006/main">
              <a:ext uri="{FF2B5EF4-FFF2-40B4-BE49-F238E27FC236}">
                <a16:creationId xmlns:a16="http://schemas.microsoft.com/office/drawing/2014/main" id="{F56344D2-DC5E-4F88-8E2C-3F55CCF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sel board</a:t>
            </a:r>
          </a:p>
        </p:txBody>
      </p:sp>
      <p:sp>
        <p:nvSpPr>
          <p:cNvPr id="7" name="marker-step-1-value">
            <a:extLst xmlns:a="http://schemas.openxmlformats.org/drawingml/2006/main">
              <a:ext uri="{FF2B5EF4-FFF2-40B4-BE49-F238E27FC236}">
                <a16:creationId xmlns:a16="http://schemas.microsoft.com/office/drawing/2014/main" id="{8F8AED9D-D680-45FE-BD81-C115817D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143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200 cm / 19,35 sel
= 10,3359 cm/sel</a:t>
            </a:r>
          </a:p>
        </p:txBody>
      </p:sp>
      <p:sp>
        <p:nvSpPr>
          <p:cNvPr id="8" name="marker-step-2">
            <a:extLst xmlns:a="http://schemas.openxmlformats.org/drawingml/2006/main">
              <a:ext uri="{FF2B5EF4-FFF2-40B4-BE49-F238E27FC236}">
                <a16:creationId xmlns:a16="http://schemas.microsoft.com/office/drawing/2014/main" id="{4F5EE8B3-7BDB-48A9-AC4F-5DD1685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Ukuran sisi marker</a:t>
            </a:r>
          </a:p>
        </p:txBody>
      </p:sp>
      <p:sp>
        <p:nvSpPr>
          <p:cNvPr id="9" name="marker-step-2-value">
            <a:extLst xmlns:a="http://schemas.openxmlformats.org/drawingml/2006/main">
              <a:ext uri="{FF2B5EF4-FFF2-40B4-BE49-F238E27FC236}">
                <a16:creationId xmlns:a16="http://schemas.microsoft.com/office/drawing/2014/main" id="{108B6F38-1362-4BDC-BA4E-0B09255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0,74 sel × 10,3359
= 7,6486 cm</a:t>
            </a:r>
          </a:p>
        </p:txBody>
      </p:sp>
      <p:sp>
        <p:nvSpPr>
          <p:cNvPr id="10" name="marker-step-3">
            <a:extLst xmlns:a="http://schemas.openxmlformats.org/drawingml/2006/main">
              <a:ext uri="{FF2B5EF4-FFF2-40B4-BE49-F238E27FC236}">
                <a16:creationId xmlns:a16="http://schemas.microsoft.com/office/drawing/2014/main" id="{0563DBC3-27BD-4749-86A0-F8938F9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Nilai pada kode</a:t>
            </a:r>
          </a:p>
        </p:txBody>
      </p:sp>
      <p:sp>
        <p:nvSpPr>
          <p:cNvPr id="11" name="marker-step-3-value">
            <a:extLst xmlns:a="http://schemas.openxmlformats.org/drawingml/2006/main">
              <a:ext uri="{FF2B5EF4-FFF2-40B4-BE49-F238E27FC236}">
                <a16:creationId xmlns:a16="http://schemas.microsoft.com/office/drawing/2014/main" id="{63B882D9-076C-4064-97A6-B553F52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REAL_MARKER_SIZE_CM
= 7,6485 cm</a:t>
            </a:r>
          </a:p>
        </p:txBody>
      </p:sp>
      <p:sp>
        <p:nvSpPr>
          <p:cNvPr id="12" name="marker-explain">
            <a:extLst xmlns:a="http://schemas.openxmlformats.org/drawingml/2006/main">
              <a:ext uri="{FF2B5EF4-FFF2-40B4-BE49-F238E27FC236}">
                <a16:creationId xmlns:a16="http://schemas.microsoft.com/office/drawing/2014/main" id="{BDA681F8-AA7B-4331-8800-239F3C4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298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rker-explain-title">
            <a:extLst xmlns:a="http://schemas.openxmlformats.org/drawingml/2006/main">
              <a:ext uri="{FF2B5EF4-FFF2-40B4-BE49-F238E27FC236}">
                <a16:creationId xmlns:a16="http://schemas.microsoft.com/office/drawing/2014/main" id="{08DFCCE8-8ABB-455A-A3C1-B873CFE3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2095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Kegunaan</a:t>
            </a:r>
          </a:p>
        </p:txBody>
      </p:sp>
      <p:sp>
        <p:nvSpPr>
          <p:cNvPr id="14" name="marker-explain-body">
            <a:extLst xmlns:a="http://schemas.openxmlformats.org/drawingml/2006/main">
              <a:ext uri="{FF2B5EF4-FFF2-40B4-BE49-F238E27FC236}">
                <a16:creationId xmlns:a16="http://schemas.microsoft.com/office/drawing/2014/main" id="{F6D27F7C-627D-4711-A15D-2E626C52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9667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6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Ukuran nyata ini menjadi pembilang pada rumus jarak. Semakin besar marker terlihat dalam piksel, semakin dekat jarak kamera yang diperkirakan. Nilai 7,6485 bukan hasil deteksi; nilainya berasal dari desain fisik board.</a:t>
            </a:r>
          </a:p>
        </p:txBody>
      </p:sp>
    </p:spTree>
    <p:extLst>
      <p:ext uri="{BB962C8B-B14F-4D97-AF65-F5344CB8AC3E}">
        <p14:creationId xmlns:p14="http://schemas.microsoft.com/office/powerpoint/2010/main" val="990161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istance-slide-background">
            <a:extLst xmlns:a="http://schemas.openxmlformats.org/drawingml/2006/main">
              <a:ext uri="{FF2B5EF4-FFF2-40B4-BE49-F238E27FC236}">
                <a16:creationId xmlns:a16="http://schemas.microsoft.com/office/drawing/2014/main" id="{5137A69A-23F6-4A44-9AD5-99DE94A4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6345ABA-2429-40C3-8139-621F3FC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Jarak kamera dikalibrasi dari ukuran marker ArUco</a:t>
            </a:r>
          </a:p>
        </p:txBody>
      </p:sp>
      <p:cxnSp>
        <p:nvCxnSpPr>
          <p:cNvPr id="26" name="accent-7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0DC5303-B468-40C1-8191-7D38B72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source-7">
            <a:extLst xmlns:a="http://schemas.openxmlformats.org/drawingml/2006/main">
              <a:ext uri="{FF2B5EF4-FFF2-40B4-BE49-F238E27FC236}">
                <a16:creationId xmlns:a16="http://schemas.microsoft.com/office/drawing/2014/main" id="{9C296596-EB96-4E1E-84FD-BE3F06BB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CameraDistanceActivity.java</a:t>
            </a:r>
          </a:p>
        </p:txBody>
      </p:sp>
      <p:sp>
        <p:nvSpPr>
          <p:cNvPr id="6" name="distance-formula">
            <a:extLst xmlns:a="http://schemas.openxmlformats.org/drawingml/2006/main">
              <a:ext uri="{FF2B5EF4-FFF2-40B4-BE49-F238E27FC236}">
                <a16:creationId xmlns:a16="http://schemas.microsoft.com/office/drawing/2014/main" id="{D17364F9-7590-4AAC-AEE4-21970F08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70485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Zraw = (Smarker × fpx) / spx</a:t>
            </a:r>
          </a:p>
        </p:txBody>
      </p:sp>
      <p:sp>
        <p:nvSpPr>
          <p:cNvPr id="7" name="distance-def">
            <a:extLst xmlns:a="http://schemas.openxmlformats.org/drawingml/2006/main">
              <a:ext uri="{FF2B5EF4-FFF2-40B4-BE49-F238E27FC236}">
                <a16:creationId xmlns:a16="http://schemas.microsoft.com/office/drawing/2014/main" id="{0901273A-28AF-46AE-A008-ADDC2E2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Smarker = 7,6485 cm   •   fpx = lebar gambar × (fokal mm / lebar sensor mm)   •   spx = sisi marker dalam piksel</a:t>
            </a:r>
          </a:p>
        </p:txBody>
      </p:sp>
      <p:sp>
        <p:nvSpPr>
          <p:cNvPr id="8" name="target-panel">
            <a:extLst xmlns:a="http://schemas.openxmlformats.org/drawingml/2006/main">
              <a:ext uri="{FF2B5EF4-FFF2-40B4-BE49-F238E27FC236}">
                <a16:creationId xmlns:a16="http://schemas.microsoft.com/office/drawing/2014/main" id="{4886F248-CB15-4F5C-83A2-4AF150AA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rget-bar">
            <a:extLst xmlns:a="http://schemas.openxmlformats.org/drawingml/2006/main">
              <a:ext uri="{FF2B5EF4-FFF2-40B4-BE49-F238E27FC236}">
                <a16:creationId xmlns:a16="http://schemas.microsoft.com/office/drawing/2014/main" id="{0E3A64E2-737E-4040-994F-612F97C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7A63E3AA-B2B1-4EE0-9C2C-C9C66AFD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JARAK TARGET</a:t>
            </a:r>
          </a:p>
        </p:txBody>
      </p:sp>
      <p:sp>
        <p:nvSpPr>
          <p:cNvPr id="11" name="target-value">
            <a:extLst xmlns:a="http://schemas.openxmlformats.org/drawingml/2006/main">
              <a:ext uri="{FF2B5EF4-FFF2-40B4-BE49-F238E27FC236}">
                <a16:creationId xmlns:a16="http://schemas.microsoft.com/office/drawing/2014/main" id="{852E2BE5-2766-4792-8D13-768FCE7B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914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150 cm</a:t>
            </a:r>
          </a:p>
        </p:txBody>
      </p:sp>
      <p:sp>
        <p:nvSpPr>
          <p:cNvPr id="12" name="target-detail">
            <a:extLst xmlns:a="http://schemas.openxmlformats.org/drawingml/2006/main">
              <a:ext uri="{FF2B5EF4-FFF2-40B4-BE49-F238E27FC236}">
                <a16:creationId xmlns:a16="http://schemas.microsoft.com/office/drawing/2014/main" id="{518448B1-45F5-4C38-9486-15E5D545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Toleransi sistem ±10 cm</a:t>
            </a:r>
          </a:p>
        </p:txBody>
      </p:sp>
      <p:sp>
        <p:nvSpPr>
          <p:cNvPr id="13" name="calibration-panel">
            <a:extLst xmlns:a="http://schemas.openxmlformats.org/drawingml/2006/main">
              <a:ext uri="{FF2B5EF4-FFF2-40B4-BE49-F238E27FC236}">
                <a16:creationId xmlns:a16="http://schemas.microsoft.com/office/drawing/2014/main" id="{147D219E-84CE-457A-AC9C-8A60451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ibration-bar">
            <a:extLst xmlns:a="http://schemas.openxmlformats.org/drawingml/2006/main">
              <a:ext uri="{FF2B5EF4-FFF2-40B4-BE49-F238E27FC236}">
                <a16:creationId xmlns:a16="http://schemas.microsoft.com/office/drawing/2014/main" id="{A2C9133F-D781-4144-A7A4-E7C2A40F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libration-label">
            <a:extLst xmlns:a="http://schemas.openxmlformats.org/drawingml/2006/main">
              <a:ext uri="{FF2B5EF4-FFF2-40B4-BE49-F238E27FC236}">
                <a16:creationId xmlns:a16="http://schemas.microsoft.com/office/drawing/2014/main" id="{ADB7FA9F-1FBD-486C-997A-A0F1BE49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2914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FAKTOR KALIBRASI</a:t>
            </a:r>
          </a:p>
        </p:txBody>
      </p:sp>
      <p:sp>
        <p:nvSpPr>
          <p:cNvPr id="16" name="calibration-value">
            <a:extLst xmlns:a="http://schemas.openxmlformats.org/drawingml/2006/main">
              <a:ext uri="{FF2B5EF4-FFF2-40B4-BE49-F238E27FC236}">
                <a16:creationId xmlns:a16="http://schemas.microsoft.com/office/drawing/2014/main" id="{A7C336FF-9DB6-4574-9B52-883A325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52875"/>
            <a:ext cx="2914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 = 150 / Zraw</a:t>
            </a:r>
          </a:p>
        </p:txBody>
      </p:sp>
      <p:sp>
        <p:nvSpPr>
          <p:cNvPr id="17" name="calibration-detail">
            <a:extLst xmlns:a="http://schemas.openxmlformats.org/drawingml/2006/main">
              <a:ext uri="{FF2B5EF4-FFF2-40B4-BE49-F238E27FC236}">
                <a16:creationId xmlns:a16="http://schemas.microsoft.com/office/drawing/2014/main" id="{F3A15086-5ADE-4129-8A6C-C0EBFD38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Zkalibrasi = Zraw × K</a:t>
            </a:r>
          </a:p>
        </p:txBody>
      </p:sp>
      <p:sp>
        <p:nvSpPr>
          <p:cNvPr id="18" name="smoothing-panel">
            <a:extLst xmlns:a="http://schemas.openxmlformats.org/drawingml/2006/main">
              <a:ext uri="{FF2B5EF4-FFF2-40B4-BE49-F238E27FC236}">
                <a16:creationId xmlns:a16="http://schemas.microsoft.com/office/drawing/2014/main" id="{6831A539-755D-4C49-9D8D-D5C02A3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371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moothing-bar">
            <a:extLst xmlns:a="http://schemas.openxmlformats.org/drawingml/2006/main">
              <a:ext uri="{FF2B5EF4-FFF2-40B4-BE49-F238E27FC236}">
                <a16:creationId xmlns:a16="http://schemas.microsoft.com/office/drawing/2014/main" id="{580E179C-DCFC-4D18-9807-14B27AA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moothing-label">
            <a:extLst xmlns:a="http://schemas.openxmlformats.org/drawingml/2006/main">
              <a:ext uri="{FF2B5EF4-FFF2-40B4-BE49-F238E27FC236}">
                <a16:creationId xmlns:a16="http://schemas.microsoft.com/office/drawing/2014/main" id="{C447F14F-DD59-4FDD-863F-18F05D31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67125"/>
            <a:ext cx="3295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SMOOTHING</a:t>
            </a:r>
          </a:p>
        </p:txBody>
      </p:sp>
      <p:sp>
        <p:nvSpPr>
          <p:cNvPr id="21" name="smoothing-value">
            <a:extLst xmlns:a="http://schemas.openxmlformats.org/drawingml/2006/main">
              <a:ext uri="{FF2B5EF4-FFF2-40B4-BE49-F238E27FC236}">
                <a16:creationId xmlns:a16="http://schemas.microsoft.com/office/drawing/2014/main" id="{305A3C28-E889-47BC-9349-5E7E72AF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52875"/>
            <a:ext cx="3295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α = 0,25</a:t>
            </a:r>
          </a:p>
        </p:txBody>
      </p:sp>
      <p:sp>
        <p:nvSpPr>
          <p:cNvPr id="22" name="smoothing-detail">
            <a:extLst xmlns:a="http://schemas.openxmlformats.org/drawingml/2006/main">
              <a:ext uri="{FF2B5EF4-FFF2-40B4-BE49-F238E27FC236}">
                <a16:creationId xmlns:a16="http://schemas.microsoft.com/office/drawing/2014/main" id="{F7AD86F9-7988-4E21-BD34-30E7D5B3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329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Zt = αZbaru + (1−α)Zlama</a:t>
            </a:r>
          </a:p>
        </p:txBody>
      </p:sp>
      <p:sp>
        <p:nvSpPr>
          <p:cNvPr id="23" name="distance-meaning">
            <a:extLst xmlns:a="http://schemas.openxmlformats.org/drawingml/2006/main">
              <a:ext uri="{FF2B5EF4-FFF2-40B4-BE49-F238E27FC236}">
                <a16:creationId xmlns:a16="http://schemas.microsoft.com/office/drawing/2014/main" id="{435CB80A-DCAE-4DBA-93BC-2527899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066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Makna: marker memberi acuan ukuran nyata; kalibrasi mengoreksi bias kamera sebelum foto dikirim ke tahap perspektif.</a:t>
            </a:r>
          </a:p>
        </p:txBody>
      </p:sp>
    </p:spTree>
    <p:extLst>
      <p:ext uri="{BB962C8B-B14F-4D97-AF65-F5344CB8AC3E}">
        <p14:creationId xmlns:p14="http://schemas.microsoft.com/office/powerpoint/2010/main" val="1404028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istance-roles-slide-background">
            <a:extLst xmlns:a="http://schemas.openxmlformats.org/drawingml/2006/main">
              <a:ext uri="{FF2B5EF4-FFF2-40B4-BE49-F238E27FC236}">
                <a16:creationId xmlns:a16="http://schemas.microsoft.com/office/drawing/2014/main" id="{DCD7B527-825F-4202-98C9-99DEC3CF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C4BE8C6-E705-4D40-A9C2-7B5F53A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1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Kode memiliki dua angka jarak dengan fungsi berbeda</a:t>
            </a:r>
          </a:p>
        </p:txBody>
      </p:sp>
      <p:cxnSp>
        <p:nvCxnSpPr>
          <p:cNvPr id="17" name="accent-8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0B2F2DE2-13C0-4F72-8D3D-1A5FC00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ource-8">
            <a:extLst xmlns:a="http://schemas.openxmlformats.org/drawingml/2006/main">
              <a:ext uri="{FF2B5EF4-FFF2-40B4-BE49-F238E27FC236}">
                <a16:creationId xmlns:a16="http://schemas.microsoft.com/office/drawing/2014/main" id="{ACF82FE8-E36E-40F0-9FA7-77029D01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CameraDistanceActivity.java dan MeasurementActivity.java</a:t>
            </a:r>
          </a:p>
        </p:txBody>
      </p:sp>
      <p:sp>
        <p:nvSpPr>
          <p:cNvPr id="6" name="distance-capture">
            <a:extLst xmlns:a="http://schemas.openxmlformats.org/drawingml/2006/main">
              <a:ext uri="{FF2B5EF4-FFF2-40B4-BE49-F238E27FC236}">
                <a16:creationId xmlns:a16="http://schemas.microsoft.com/office/drawing/2014/main" id="{80B6F6C0-F433-4F4A-AA52-08A4733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38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tance-capture-title">
            <a:extLst xmlns:a="http://schemas.openxmlformats.org/drawingml/2006/main">
              <a:ext uri="{FF2B5EF4-FFF2-40B4-BE49-F238E27FC236}">
                <a16:creationId xmlns:a16="http://schemas.microsoft.com/office/drawing/2014/main" id="{F95DBBF6-403C-4F4A-8B19-0EF4E1D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572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150 cm — jarak pengambilan</a:t>
            </a:r>
          </a:p>
        </p:txBody>
      </p:sp>
      <p:sp>
        <p:nvSpPr>
          <p:cNvPr id="8" name="distance-capture-body">
            <a:extLst xmlns:a="http://schemas.openxmlformats.org/drawingml/2006/main">
              <a:ext uri="{FF2B5EF4-FFF2-40B4-BE49-F238E27FC236}">
                <a16:creationId xmlns:a16="http://schemas.microsoft.com/office/drawing/2014/main" id="{473FDD48-C74C-4500-8719-A4157595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4291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Berasal dari TARGET_DISTANCE_CM. Dipakai untuk indikator siap memotret, toleransi ±10 cm, dan kalibrasi K = 150/Zraw.</a:t>
            </a:r>
          </a:p>
        </p:txBody>
      </p:sp>
      <p:sp>
        <p:nvSpPr>
          <p:cNvPr id="9" name="distance-capture-impact">
            <a:extLst xmlns:a="http://schemas.openxmlformats.org/drawingml/2006/main">
              <a:ext uri="{FF2B5EF4-FFF2-40B4-BE49-F238E27FC236}">
                <a16:creationId xmlns:a16="http://schemas.microsoft.com/office/drawing/2014/main" id="{2B38BB47-B6A5-44E7-ACB3-7410DC4C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4291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Dampak: mengatur proses kamera dan nilai jarak yang dikirim ke tahap berikutnya.</a:t>
            </a:r>
          </a:p>
        </p:txBody>
      </p:sp>
      <p:sp>
        <p:nvSpPr>
          <p:cNvPr id="10" name="distance-measure">
            <a:extLst xmlns:a="http://schemas.openxmlformats.org/drawingml/2006/main">
              <a:ext uri="{FF2B5EF4-FFF2-40B4-BE49-F238E27FC236}">
                <a16:creationId xmlns:a16="http://schemas.microsoft.com/office/drawing/2014/main" id="{C9B32809-5CE0-4E3A-B62E-090BEED8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5410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stance-measure-title">
            <a:extLst xmlns:a="http://schemas.openxmlformats.org/drawingml/2006/main">
              <a:ext uri="{FF2B5EF4-FFF2-40B4-BE49-F238E27FC236}">
                <a16:creationId xmlns:a16="http://schemas.microsoft.com/office/drawing/2014/main" id="{BCB2DEA9-2FDD-46E3-874F-C002767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350 cm — acuan Measurement</a:t>
            </a:r>
          </a:p>
        </p:txBody>
      </p:sp>
      <p:sp>
        <p:nvSpPr>
          <p:cNvPr id="12" name="distance-measure-body">
            <a:extLst xmlns:a="http://schemas.openxmlformats.org/drawingml/2006/main">
              <a:ext uri="{FF2B5EF4-FFF2-40B4-BE49-F238E27FC236}">
                <a16:creationId xmlns:a16="http://schemas.microsoft.com/office/drawing/2014/main" id="{1194E123-DAF4-4AAC-9986-8188645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6196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Berasal dari CAMERA_DISTANCE_CM pada MeasurementActivity. Setelah input jarak subjek dihapus, angka ini hanya ditampilkan pada detail debug.</a:t>
            </a:r>
          </a:p>
        </p:txBody>
      </p:sp>
      <p:sp>
        <p:nvSpPr>
          <p:cNvPr id="13" name="distance-measure-impact">
            <a:extLst xmlns:a="http://schemas.openxmlformats.org/drawingml/2006/main">
              <a:ext uri="{FF2B5EF4-FFF2-40B4-BE49-F238E27FC236}">
                <a16:creationId xmlns:a16="http://schemas.microsoft.com/office/drawing/2014/main" id="{1983383A-C14B-406C-9DD4-D4519FC5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619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Dampak saat ini: tidak mengubah tinggi karena DEPTH_CORRECTION_FACTOR ditetapkan 1,0.</a:t>
            </a:r>
          </a:p>
        </p:txBody>
      </p:sp>
      <p:sp>
        <p:nvSpPr>
          <p:cNvPr id="14" name="distance-warning">
            <a:extLst xmlns:a="http://schemas.openxmlformats.org/drawingml/2006/main">
              <a:ext uri="{FF2B5EF4-FFF2-40B4-BE49-F238E27FC236}">
                <a16:creationId xmlns:a16="http://schemas.microsoft.com/office/drawing/2014/main" id="{8754DD9F-C410-4CE2-84F8-C2A5BB7E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Catatan desain: 150 cm dan 350 cm tidak boleh dijelaskan sebagai angka yang sama; keduanya berada pada kelas dan fungsi yang berbeda.</a:t>
            </a:r>
          </a:p>
        </p:txBody>
      </p:sp>
    </p:spTree>
    <p:extLst>
      <p:ext uri="{BB962C8B-B14F-4D97-AF65-F5344CB8AC3E}">
        <p14:creationId xmlns:p14="http://schemas.microsoft.com/office/powerpoint/2010/main" val="1152393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spective-slide-background">
            <a:extLst xmlns:a="http://schemas.openxmlformats.org/drawingml/2006/main">
              <a:ext uri="{FF2B5EF4-FFF2-40B4-BE49-F238E27FC236}">
                <a16:creationId xmlns:a16="http://schemas.microsoft.com/office/drawing/2014/main" id="{40DC4587-E184-4998-BEDB-F5BFDC2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4915FBD-B53C-44C3-9696-4FF88EC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Perspective correction membentuk skala board yang stabil</a:t>
            </a:r>
          </a:p>
        </p:txBody>
      </p:sp>
      <p:cxnSp>
        <p:nvCxnSpPr>
          <p:cNvPr id="28" name="accent-9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9AAB2A3B-AD38-43F0-95B0-07B9EB97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ource-9">
            <a:extLst xmlns:a="http://schemas.openxmlformats.org/drawingml/2006/main">
              <a:ext uri="{FF2B5EF4-FFF2-40B4-BE49-F238E27FC236}">
                <a16:creationId xmlns:a16="http://schemas.microsoft.com/office/drawing/2014/main" id="{C60BDE3E-ABE6-4D7A-A5DD-8B901E5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PerspectiveCorrectionActivity.java</a:t>
            </a:r>
          </a:p>
        </p:txBody>
      </p:sp>
      <p:sp>
        <p:nvSpPr>
          <p:cNvPr id="6" name="persp-left">
            <a:extLst xmlns:a="http://schemas.openxmlformats.org/drawingml/2006/main">
              <a:ext uri="{FF2B5EF4-FFF2-40B4-BE49-F238E27FC236}">
                <a16:creationId xmlns:a16="http://schemas.microsoft.com/office/drawing/2014/main" id="{00150DAC-9520-4082-938D-EA054EC4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238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p-left-title">
            <a:extLst xmlns:a="http://schemas.openxmlformats.org/drawingml/2006/main">
              <a:ext uri="{FF2B5EF4-FFF2-40B4-BE49-F238E27FC236}">
                <a16:creationId xmlns:a16="http://schemas.microsoft.com/office/drawing/2014/main" id="{BAB13F9D-3214-465B-BCCC-1F0933A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 geometri</a:t>
            </a:r>
          </a:p>
        </p:txBody>
      </p:sp>
      <p:sp>
        <p:nvSpPr>
          <p:cNvPr id="8" name="persp-step-dot-0">
            <a:extLst xmlns:a="http://schemas.openxmlformats.org/drawingml/2006/main">
              <a:ext uri="{FF2B5EF4-FFF2-40B4-BE49-F238E27FC236}">
                <a16:creationId xmlns:a16="http://schemas.microsoft.com/office/drawing/2014/main" id="{A5A1647C-205E-447C-922A-DF9AE8A9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persp-step-line-0">
            <a:extLst xmlns:a="http://schemas.openxmlformats.org/drawingml/2006/main">
              <a:ext uri="{FF2B5EF4-FFF2-40B4-BE49-F238E27FC236}">
                <a16:creationId xmlns:a16="http://schemas.microsoft.com/office/drawing/2014/main" id="{E9F7E524-E184-43D5-91B7-85D8C5E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ersp-step-0">
            <a:extLst xmlns:a="http://schemas.openxmlformats.org/drawingml/2006/main">
              <a:ext uri="{FF2B5EF4-FFF2-40B4-BE49-F238E27FC236}">
                <a16:creationId xmlns:a16="http://schemas.microsoft.com/office/drawing/2014/main" id="{D23117ED-487C-408D-8FE1-410CCBF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574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Deteksi minimal 4 marker</a:t>
            </a:r>
          </a:p>
        </p:txBody>
      </p:sp>
      <p:sp>
        <p:nvSpPr>
          <p:cNvPr id="11" name="persp-step-dot-1">
            <a:extLst xmlns:a="http://schemas.openxmlformats.org/drawingml/2006/main">
              <a:ext uri="{FF2B5EF4-FFF2-40B4-BE49-F238E27FC236}">
                <a16:creationId xmlns:a16="http://schemas.microsoft.com/office/drawing/2014/main" id="{A8FBD11D-F20B-466D-8AF5-23314C86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persp-step-line-1">
            <a:extLst xmlns:a="http://schemas.openxmlformats.org/drawingml/2006/main">
              <a:ext uri="{FF2B5EF4-FFF2-40B4-BE49-F238E27FC236}">
                <a16:creationId xmlns:a16="http://schemas.microsoft.com/office/drawing/2014/main" id="{425CAE22-1DC2-41DF-84D3-B5ACD945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sp-step-1">
            <a:extLst xmlns:a="http://schemas.openxmlformats.org/drawingml/2006/main">
              <a:ext uri="{FF2B5EF4-FFF2-40B4-BE49-F238E27FC236}">
                <a16:creationId xmlns:a16="http://schemas.microsoft.com/office/drawing/2014/main" id="{E32BE820-1DEF-4628-944F-FBE3A989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Pasangkan titik gambar dengan titik board</a:t>
            </a:r>
          </a:p>
        </p:txBody>
      </p:sp>
      <p:sp>
        <p:nvSpPr>
          <p:cNvPr id="14" name="persp-step-dot-2">
            <a:extLst xmlns:a="http://schemas.openxmlformats.org/drawingml/2006/main">
              <a:ext uri="{FF2B5EF4-FFF2-40B4-BE49-F238E27FC236}">
                <a16:creationId xmlns:a16="http://schemas.microsoft.com/office/drawing/2014/main" id="{3BEDCB83-32B4-4AA9-8128-6E554C4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persp-step-line-2">
            <a:extLst xmlns:a="http://schemas.openxmlformats.org/drawingml/2006/main">
              <a:ext uri="{FF2B5EF4-FFF2-40B4-BE49-F238E27FC236}">
                <a16:creationId xmlns:a16="http://schemas.microsoft.com/office/drawing/2014/main" id="{B4FC65B9-5A93-471E-938B-2B8A9F8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sp-step-2">
            <a:extLst xmlns:a="http://schemas.openxmlformats.org/drawingml/2006/main">
              <a:ext uri="{FF2B5EF4-FFF2-40B4-BE49-F238E27FC236}">
                <a16:creationId xmlns:a16="http://schemas.microsoft.com/office/drawing/2014/main" id="{132135FC-7AD3-46F5-91C3-6E71F00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Hitung homografi dengan RANSAC</a:t>
            </a:r>
          </a:p>
        </p:txBody>
      </p:sp>
      <p:sp>
        <p:nvSpPr>
          <p:cNvPr id="17" name="persp-step-dot-3">
            <a:extLst xmlns:a="http://schemas.openxmlformats.org/drawingml/2006/main">
              <a:ext uri="{FF2B5EF4-FFF2-40B4-BE49-F238E27FC236}">
                <a16:creationId xmlns:a16="http://schemas.microsoft.com/office/drawing/2014/main" id="{446EC451-D4E3-4F0F-9F51-005F2CB4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18" name="persp-step-3">
            <a:extLst xmlns:a="http://schemas.openxmlformats.org/drawingml/2006/main">
              <a:ext uri="{FF2B5EF4-FFF2-40B4-BE49-F238E27FC236}">
                <a16:creationId xmlns:a16="http://schemas.microsoft.com/office/drawing/2014/main" id="{0ED3D123-7529-42E0-A70D-E3AD5024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630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Warp ke bidang board terstandar</a:t>
            </a:r>
          </a:p>
        </p:txBody>
      </p:sp>
      <p:sp>
        <p:nvSpPr>
          <p:cNvPr id="19" name="persp-right-title">
            <a:extLst xmlns:a="http://schemas.openxmlformats.org/drawingml/2006/main">
              <a:ext uri="{FF2B5EF4-FFF2-40B4-BE49-F238E27FC236}">
                <a16:creationId xmlns:a16="http://schemas.microsoft.com/office/drawing/2014/main" id="{22AA6186-2273-47E0-9627-BEF9719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 hasil warp</a:t>
            </a:r>
          </a:p>
        </p:txBody>
      </p:sp>
      <p:sp>
        <p:nvSpPr>
          <p:cNvPr id="20" name="persp-board">
            <a:extLst xmlns:a="http://schemas.openxmlformats.org/drawingml/2006/main">
              <a:ext uri="{FF2B5EF4-FFF2-40B4-BE49-F238E27FC236}">
                <a16:creationId xmlns:a16="http://schemas.microsoft.com/office/drawing/2014/main" id="{739F53E3-93BE-4DA4-B3D2-0F8286A7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Tinggi board nyata = 200 cm</a:t>
            </a:r>
          </a:p>
        </p:txBody>
      </p:sp>
      <p:sp>
        <p:nvSpPr>
          <p:cNvPr id="21" name="persp-pixel">
            <a:extLst xmlns:a="http://schemas.openxmlformats.org/drawingml/2006/main">
              <a:ext uri="{FF2B5EF4-FFF2-40B4-BE49-F238E27FC236}">
                <a16:creationId xmlns:a16="http://schemas.microsoft.com/office/drawing/2014/main" id="{BDA5FBAA-6C1B-4C98-8C27-3D3C2BDD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Tinggi board hasil koreksi = 2322 px</a:t>
            </a:r>
          </a:p>
        </p:txBody>
      </p:sp>
      <p:cxnSp>
        <p:nvCxnSpPr>
          <p:cNvPr id="47" name="persp-rule"/>
          <p:cNvCxnSpPr/>
          <p:nvPr/>
        </p:nvCxnSpPr>
        <p:spPr>
          <a:xfrm xmlns:a="http://schemas.openxmlformats.org/drawingml/2006/main">
            <a:off x="6191250" y="3571875"/>
            <a:ext cx="485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3" name="persp-formula">
            <a:extLst xmlns:a="http://schemas.openxmlformats.org/drawingml/2006/main">
              <a:ext uri="{FF2B5EF4-FFF2-40B4-BE49-F238E27FC236}">
                <a16:creationId xmlns:a16="http://schemas.microsoft.com/office/drawing/2014/main" id="{1632CB25-0A1A-4FC2-BE44-B88C57C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cm/piksel = 200 / 2322</a:t>
            </a:r>
          </a:p>
        </p:txBody>
      </p:sp>
      <p:sp>
        <p:nvSpPr>
          <p:cNvPr id="24" name="persp-result">
            <a:extLst xmlns:a="http://schemas.openxmlformats.org/drawingml/2006/main">
              <a:ext uri="{FF2B5EF4-FFF2-40B4-BE49-F238E27FC236}">
                <a16:creationId xmlns:a16="http://schemas.microsoft.com/office/drawing/2014/main" id="{91368135-428A-4BA5-8B1F-1325EEB6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≈ 0,08613 cm/piksel</a:t>
            </a:r>
          </a:p>
        </p:txBody>
      </p:sp>
      <p:sp>
        <p:nvSpPr>
          <p:cNvPr id="25" name="persp-note">
            <a:extLst xmlns:a="http://schemas.openxmlformats.org/drawingml/2006/main">
              <a:ext uri="{FF2B5EF4-FFF2-40B4-BE49-F238E27FC236}">
                <a16:creationId xmlns:a16="http://schemas.microsoft.com/office/drawing/2014/main" id="{170455C9-28FB-4BD8-ACEB-7546CC67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4953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Setelah bidang board dinormalisasi, selisih koordinat piksel dapat dibandingkan dengan ukuran nyata.</a:t>
            </a:r>
          </a:p>
        </p:txBody>
      </p:sp>
    </p:spTree>
    <p:extLst>
      <p:ext uri="{BB962C8B-B14F-4D97-AF65-F5344CB8AC3E}">
        <p14:creationId xmlns:p14="http://schemas.microsoft.com/office/powerpoint/2010/main" val="998417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ard-math-slide-background">
            <a:extLst xmlns:a="http://schemas.openxmlformats.org/drawingml/2006/main">
              <a:ext uri="{FF2B5EF4-FFF2-40B4-BE49-F238E27FC236}">
                <a16:creationId xmlns:a16="http://schemas.microsoft.com/office/drawing/2014/main" id="{FDEE9055-5AA0-4C7C-8AB5-2B3BCC04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364DC8B-34F8-4E40-9410-A8A636E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 board dihitung dari koordinat hasil warp</a:t>
            </a:r>
          </a:p>
        </p:txBody>
      </p:sp>
      <p:cxnSp>
        <p:nvCxnSpPr>
          <p:cNvPr id="18" name="accent-10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CC07B8D3-F477-4717-A010-7B7CFD7B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source-10">
            <a:extLst xmlns:a="http://schemas.openxmlformats.org/drawingml/2006/main">
              <a:ext uri="{FF2B5EF4-FFF2-40B4-BE49-F238E27FC236}">
                <a16:creationId xmlns:a16="http://schemas.microsoft.com/office/drawing/2014/main" id="{F757E832-9695-4999-8571-CFC527C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konstanta dan perhitungan Intent pada PerspectiveCorrectionActivity.java</a:t>
            </a:r>
          </a:p>
        </p:txBody>
      </p:sp>
      <p:sp>
        <p:nvSpPr>
          <p:cNvPr id="6" name="board-top">
            <a:extLst xmlns:a="http://schemas.openxmlformats.org/drawingml/2006/main">
              <a:ext uri="{FF2B5EF4-FFF2-40B4-BE49-F238E27FC236}">
                <a16:creationId xmlns:a16="http://schemas.microsoft.com/office/drawing/2014/main" id="{3233E5F9-4BDB-41D1-AD04-4487B9AA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476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boardTopY</a:t>
            </a:r>
          </a:p>
        </p:txBody>
      </p:sp>
      <p:sp>
        <p:nvSpPr>
          <p:cNvPr id="7" name="board-top-calc">
            <a:extLst xmlns:a="http://schemas.openxmlformats.org/drawingml/2006/main">
              <a:ext uri="{FF2B5EF4-FFF2-40B4-BE49-F238E27FC236}">
                <a16:creationId xmlns:a16="http://schemas.microsoft.com/office/drawing/2014/main" id="{3308B250-EDDF-41B6-8613-FEF6914A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0,35 × 120 = 42 px</a:t>
            </a:r>
          </a:p>
        </p:txBody>
      </p:sp>
      <p:sp>
        <p:nvSpPr>
          <p:cNvPr id="8" name="board-bottom">
            <a:extLst xmlns:a="http://schemas.openxmlformats.org/drawingml/2006/main">
              <a:ext uri="{FF2B5EF4-FFF2-40B4-BE49-F238E27FC236}">
                <a16:creationId xmlns:a16="http://schemas.microsoft.com/office/drawing/2014/main" id="{89C1F85A-2521-456D-B491-A244ABB7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2857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boardBottomY</a:t>
            </a:r>
          </a:p>
        </p:txBody>
      </p:sp>
      <p:sp>
        <p:nvSpPr>
          <p:cNvPr id="9" name="board-bottom-calc">
            <a:extLst xmlns:a="http://schemas.openxmlformats.org/drawingml/2006/main">
              <a:ext uri="{FF2B5EF4-FFF2-40B4-BE49-F238E27FC236}">
                <a16:creationId xmlns:a16="http://schemas.microsoft.com/office/drawing/2014/main" id="{79A5CC8D-B335-4F25-98A7-06D7B242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905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(0,35 + 11,35 + 8) × 120
= 2364 px</a:t>
            </a:r>
          </a:p>
        </p:txBody>
      </p:sp>
      <p:sp>
        <p:nvSpPr>
          <p:cNvPr id="10" name="board-height">
            <a:extLst xmlns:a="http://schemas.openxmlformats.org/drawingml/2006/main">
              <a:ext uri="{FF2B5EF4-FFF2-40B4-BE49-F238E27FC236}">
                <a16:creationId xmlns:a16="http://schemas.microsoft.com/office/drawing/2014/main" id="{DA95459C-334D-4BEB-900D-5584664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76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boardPixelHeight</a:t>
            </a:r>
          </a:p>
        </p:txBody>
      </p:sp>
      <p:sp>
        <p:nvSpPr>
          <p:cNvPr id="11" name="board-height-calc">
            <a:extLst xmlns:a="http://schemas.openxmlformats.org/drawingml/2006/main">
              <a:ext uri="{FF2B5EF4-FFF2-40B4-BE49-F238E27FC236}">
                <a16:creationId xmlns:a16="http://schemas.microsoft.com/office/drawing/2014/main" id="{50373F06-84BD-4F75-B358-62F28ECE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381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2364 − 42
= 2322 px</a:t>
            </a:r>
          </a:p>
        </p:txBody>
      </p:sp>
      <p:sp>
        <p:nvSpPr>
          <p:cNvPr id="12" name="scale-result">
            <a:extLst xmlns:a="http://schemas.openxmlformats.org/drawingml/2006/main">
              <a:ext uri="{FF2B5EF4-FFF2-40B4-BE49-F238E27FC236}">
                <a16:creationId xmlns:a16="http://schemas.microsoft.com/office/drawing/2014/main" id="{CF8A728C-9DBE-41E6-A5BF-76EFB152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57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ale-result-formula">
            <a:extLst xmlns:a="http://schemas.openxmlformats.org/drawingml/2006/main">
              <a:ext uri="{FF2B5EF4-FFF2-40B4-BE49-F238E27FC236}">
                <a16:creationId xmlns:a16="http://schemas.microsoft.com/office/drawing/2014/main" id="{94C45DCD-54AE-4F4E-BEEF-AC0F82C8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001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cmPerPixel = 200 cm / 2322 px = 0,08613 cm/px</a:t>
            </a:r>
          </a:p>
        </p:txBody>
      </p:sp>
      <p:sp>
        <p:nvSpPr>
          <p:cNvPr id="14" name="output-dim">
            <a:extLst xmlns:a="http://schemas.openxmlformats.org/drawingml/2006/main">
              <a:ext uri="{FF2B5EF4-FFF2-40B4-BE49-F238E27FC236}">
                <a16:creationId xmlns:a16="http://schemas.microsoft.com/office/drawing/2014/main" id="{A1519B94-E7E8-4283-817C-24E836C3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48250"/>
            <a:ext cx="10001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Bidang keluaran: lebar 11 × 120 = 1320 px; tinggi (0,35 + 11,35 + 8 + 5,60) × 120 = 3036 px.</a:t>
            </a:r>
          </a:p>
        </p:txBody>
      </p:sp>
      <p:sp>
        <p:nvSpPr>
          <p:cNvPr id="15" name="output-note">
            <a:extLst xmlns:a="http://schemas.openxmlformats.org/drawingml/2006/main">
              <a:ext uri="{FF2B5EF4-FFF2-40B4-BE49-F238E27FC236}">
                <a16:creationId xmlns:a16="http://schemas.microsoft.com/office/drawing/2014/main" id="{B1661797-7C60-429D-BCC9-45B8CB2E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15000"/>
            <a:ext cx="8382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Tambahan 5,60 sel memperluas kanvas bawah; tidak masuk ke tinggi board 2322 px.</a:t>
            </a:r>
          </a:p>
        </p:txBody>
      </p:sp>
    </p:spTree>
    <p:extLst>
      <p:ext uri="{BB962C8B-B14F-4D97-AF65-F5344CB8AC3E}">
        <p14:creationId xmlns:p14="http://schemas.microsoft.com/office/powerpoint/2010/main" val="442525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xif-slide-background">
            <a:extLst xmlns:a="http://schemas.openxmlformats.org/drawingml/2006/main">
              <a:ext uri="{FF2B5EF4-FFF2-40B4-BE49-F238E27FC236}">
                <a16:creationId xmlns:a16="http://schemas.microsoft.com/office/drawing/2014/main" id="{8ADBF5A3-D4CA-4529-A4EB-FDF2104D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0C8EA651-8306-49CF-B354-5FF014A5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EXIF hanya menormalkan orientasi</a:t>
            </a:r>
          </a:p>
        </p:txBody>
      </p:sp>
      <p:cxnSp>
        <p:nvCxnSpPr>
          <p:cNvPr id="20" name="accent-11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CDB45762-735C-436D-A5C9-D913DD9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3B430270-A212-4B66-8571-5B9C65EC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rotateBitmapIfRequired() pada tiga activity</a:t>
            </a:r>
          </a:p>
        </p:txBody>
      </p:sp>
      <p:sp>
        <p:nvSpPr>
          <p:cNvPr id="6" name="exif-lead">
            <a:extLst xmlns:a="http://schemas.openxmlformats.org/drawingml/2006/main">
              <a:ext uri="{FF2B5EF4-FFF2-40B4-BE49-F238E27FC236}">
                <a16:creationId xmlns:a16="http://schemas.microsoft.com/office/drawing/2014/main" id="{7595F2C8-9750-4EC0-B883-684AC86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BitmapFactory membaca piksel; EXIF TAG_ORIENTATION memberi instruksi apakah bitmap perlu diputar 90°, 180°, atau 270°.</a:t>
            </a:r>
          </a:p>
        </p:txBody>
      </p:sp>
      <p:sp>
        <p:nvSpPr>
          <p:cNvPr id="7" name="exif-raw">
            <a:extLst xmlns:a="http://schemas.openxmlformats.org/drawingml/2006/main">
              <a:ext uri="{FF2B5EF4-FFF2-40B4-BE49-F238E27FC236}">
                <a16:creationId xmlns:a16="http://schemas.microsoft.com/office/drawing/2014/main" id="{6D46D741-E71F-40D9-B563-253CDFE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if-raw-body">
            <a:extLst xmlns:a="http://schemas.openxmlformats.org/drawingml/2006/main">
              <a:ext uri="{FF2B5EF4-FFF2-40B4-BE49-F238E27FC236}">
                <a16:creationId xmlns:a16="http://schemas.microsoft.com/office/drawing/2014/main" id="{8767706C-7FA4-4018-8B56-14FD0578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2286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if-raw-head">
            <a:extLst xmlns:a="http://schemas.openxmlformats.org/drawingml/2006/main">
              <a:ext uri="{FF2B5EF4-FFF2-40B4-BE49-F238E27FC236}">
                <a16:creationId xmlns:a16="http://schemas.microsoft.com/office/drawing/2014/main" id="{F0661631-82A8-4B85-A26C-407A184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10" name="exif-raw-label">
            <a:extLst xmlns:a="http://schemas.openxmlformats.org/drawingml/2006/main">
              <a:ext uri="{FF2B5EF4-FFF2-40B4-BE49-F238E27FC236}">
                <a16:creationId xmlns:a16="http://schemas.microsoft.com/office/drawing/2014/main" id="{3B235936-B30C-4E48-9638-2E21672E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Piksel mentah menyamping</a:t>
            </a:r>
          </a:p>
        </p:txBody>
      </p:sp>
      <p:cxnSp>
        <p:nvCxnSpPr>
          <p:cNvPr id="28" name="exif-arrow"/>
          <p:cNvCxnSpPr/>
          <p:nvPr/>
        </p:nvCxnSpPr>
        <p:spPr>
          <a:xfrm xmlns:a="http://schemas.openxmlformats.org/drawingml/2006/main">
            <a:off x="4524375" y="3571875"/>
            <a:ext cx="2857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2" name="exif-meta">
            <a:extLst xmlns:a="http://schemas.openxmlformats.org/drawingml/2006/main">
              <a:ext uri="{FF2B5EF4-FFF2-40B4-BE49-F238E27FC236}">
                <a16:creationId xmlns:a16="http://schemas.microsoft.com/office/drawing/2014/main" id="{EF7B7F5D-BFFA-475D-8F7A-5A3B00E7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EXIF: Rotate 90°</a:t>
            </a:r>
          </a:p>
        </p:txBody>
      </p:sp>
      <p:sp>
        <p:nvSpPr>
          <p:cNvPr id="13" name="exif-normal">
            <a:extLst xmlns:a="http://schemas.openxmlformats.org/drawingml/2006/main">
              <a:ext uri="{FF2B5EF4-FFF2-40B4-BE49-F238E27FC236}">
                <a16:creationId xmlns:a16="http://schemas.microsoft.com/office/drawing/2014/main" id="{2DF0D1DF-CA1A-4983-A0B1-D42E324E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if-head">
            <a:extLst xmlns:a="http://schemas.openxmlformats.org/drawingml/2006/main">
              <a:ext uri="{FF2B5EF4-FFF2-40B4-BE49-F238E27FC236}">
                <a16:creationId xmlns:a16="http://schemas.microsoft.com/office/drawing/2014/main" id="{C3639328-ADFC-4A4A-90AC-7C65A75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15" name="exif-body">
            <a:extLst xmlns:a="http://schemas.openxmlformats.org/drawingml/2006/main">
              <a:ext uri="{FF2B5EF4-FFF2-40B4-BE49-F238E27FC236}">
                <a16:creationId xmlns:a16="http://schemas.microsoft.com/office/drawing/2014/main" id="{E79A64C5-6D1B-43AC-A119-989732C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381000" cy="12858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if-normal-label">
            <a:extLst xmlns:a="http://schemas.openxmlformats.org/drawingml/2006/main">
              <a:ext uri="{FF2B5EF4-FFF2-40B4-BE49-F238E27FC236}">
                <a16:creationId xmlns:a16="http://schemas.microsoft.com/office/drawing/2014/main" id="{F3345959-0A7D-4931-B7DD-D0CCCE9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Bitmap tegak</a:t>
            </a:r>
          </a:p>
        </p:txBody>
      </p:sp>
      <p:sp>
        <p:nvSpPr>
          <p:cNvPr id="17" name="exif-bottom">
            <a:extLst xmlns:a="http://schemas.openxmlformats.org/drawingml/2006/main">
              <a:ext uri="{FF2B5EF4-FFF2-40B4-BE49-F238E27FC236}">
                <a16:creationId xmlns:a16="http://schemas.microsoft.com/office/drawing/2014/main" id="{F28D9373-BA4A-4EF0-BD94-02DB62B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Jika metadata hilang setelah foto diedit, aplikasi menganggap orientasi NORMAL; karena itu subjek tetap harus terlihat tegak.</a:t>
            </a:r>
          </a:p>
        </p:txBody>
      </p:sp>
    </p:spTree>
    <p:extLst>
      <p:ext uri="{BB962C8B-B14F-4D97-AF65-F5344CB8AC3E}">
        <p14:creationId xmlns:p14="http://schemas.microsoft.com/office/powerpoint/2010/main" val="1382479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diapipe-slide-background">
            <a:extLst xmlns:a="http://schemas.openxmlformats.org/drawingml/2006/main">
              <a:ext uri="{FF2B5EF4-FFF2-40B4-BE49-F238E27FC236}">
                <a16:creationId xmlns:a16="http://schemas.microsoft.com/office/drawing/2014/main" id="{746CFC54-289F-440A-80AD-5C44EE87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44548C2A-E708-49B8-A05D-B555729C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MediaPipe yang dipakai aplikasi</a:t>
            </a:r>
          </a:p>
        </p:txBody>
      </p:sp>
      <p:cxnSp>
        <p:nvCxnSpPr>
          <p:cNvPr id="26" name="accent-12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5432E661-2953-477E-8DC6-7F53A734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source-12">
            <a:extLst xmlns:a="http://schemas.openxmlformats.org/drawingml/2006/main">
              <a:ext uri="{FF2B5EF4-FFF2-40B4-BE49-F238E27FC236}">
                <a16:creationId xmlns:a16="http://schemas.microsoft.com/office/drawing/2014/main" id="{8516BC28-0C74-4824-9828-D87145A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MediaPipeActivity.java dan MeasurementActivity.java</a:t>
            </a:r>
          </a:p>
        </p:txBody>
      </p:sp>
      <p:sp>
        <p:nvSpPr>
          <p:cNvPr id="6" name="mp-lead">
            <a:extLst xmlns:a="http://schemas.openxmlformats.org/drawingml/2006/main">
              <a:ext uri="{FF2B5EF4-FFF2-40B4-BE49-F238E27FC236}">
                <a16:creationId xmlns:a16="http://schemas.microsoft.com/office/drawing/2014/main" id="{66A4A674-1264-44BF-9B0F-639BA03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Koordinat ternormalisasi dikonversi menjadi piksel: xpx = x × lebar gambar, ypx = y × tinggi gambar.</a:t>
            </a:r>
          </a:p>
        </p:txBody>
      </p:sp>
      <p:sp>
        <p:nvSpPr>
          <p:cNvPr id="7" name="mp-panel-0">
            <a:extLst xmlns:a="http://schemas.openxmlformats.org/drawingml/2006/main">
              <a:ext uri="{FF2B5EF4-FFF2-40B4-BE49-F238E27FC236}">
                <a16:creationId xmlns:a16="http://schemas.microsoft.com/office/drawing/2014/main" id="{CF40610E-619B-4901-8EF4-CDA92156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p-top-0">
            <a:extLst xmlns:a="http://schemas.openxmlformats.org/drawingml/2006/main">
              <a:ext uri="{FF2B5EF4-FFF2-40B4-BE49-F238E27FC236}">
                <a16:creationId xmlns:a16="http://schemas.microsoft.com/office/drawing/2014/main" id="{2D91859C-A415-430D-8D43-BE7CA3A7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p-title-0">
            <a:extLst xmlns:a="http://schemas.openxmlformats.org/drawingml/2006/main">
              <a:ext uri="{FF2B5EF4-FFF2-40B4-BE49-F238E27FC236}">
                <a16:creationId xmlns:a16="http://schemas.microsoft.com/office/drawing/2014/main" id="{B0589555-827A-4767-AFC7-7D585B97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Wajah</a:t>
            </a:r>
          </a:p>
        </p:txBody>
      </p:sp>
      <p:sp>
        <p:nvSpPr>
          <p:cNvPr id="10" name="mp-body-0">
            <a:extLst xmlns:a="http://schemas.openxmlformats.org/drawingml/2006/main">
              <a:ext uri="{FF2B5EF4-FFF2-40B4-BE49-F238E27FC236}">
                <a16:creationId xmlns:a16="http://schemas.microsoft.com/office/drawing/2014/main" id="{84AE5DD0-2481-4BFB-9B4E-EF78EEB9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 hidung
1/4 mata dalam
2/5 mata
7/8 telinga</a:t>
            </a:r>
          </a:p>
        </p:txBody>
      </p:sp>
      <p:sp>
        <p:nvSpPr>
          <p:cNvPr id="11" name="mp-panel-1">
            <a:extLst xmlns:a="http://schemas.openxmlformats.org/drawingml/2006/main">
              <a:ext uri="{FF2B5EF4-FFF2-40B4-BE49-F238E27FC236}">
                <a16:creationId xmlns:a16="http://schemas.microsoft.com/office/drawing/2014/main" id="{6B13E775-A6F2-4060-9200-E133665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p-top-1">
            <a:extLst xmlns:a="http://schemas.openxmlformats.org/drawingml/2006/main">
              <a:ext uri="{FF2B5EF4-FFF2-40B4-BE49-F238E27FC236}">
                <a16:creationId xmlns:a16="http://schemas.microsoft.com/office/drawing/2014/main" id="{6DC12ADB-B410-466D-8874-0E4AE25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p-title-1">
            <a:extLst xmlns:a="http://schemas.openxmlformats.org/drawingml/2006/main">
              <a:ext uri="{FF2B5EF4-FFF2-40B4-BE49-F238E27FC236}">
                <a16:creationId xmlns:a16="http://schemas.microsoft.com/office/drawing/2014/main" id="{A613C6C6-3265-4666-9852-441490CE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Bahu</a:t>
            </a:r>
          </a:p>
        </p:txBody>
      </p:sp>
      <p:sp>
        <p:nvSpPr>
          <p:cNvPr id="14" name="mp-body-1">
            <a:extLst xmlns:a="http://schemas.openxmlformats.org/drawingml/2006/main">
              <a:ext uri="{FF2B5EF4-FFF2-40B4-BE49-F238E27FC236}">
                <a16:creationId xmlns:a16="http://schemas.microsoft.com/office/drawing/2014/main" id="{D690D681-F21A-4366-B4A9-63497F09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 bahu kiri
12 bahu kanan
→ shoulderMid</a:t>
            </a:r>
          </a:p>
        </p:txBody>
      </p:sp>
      <p:sp>
        <p:nvSpPr>
          <p:cNvPr id="15" name="mp-panel-2">
            <a:extLst xmlns:a="http://schemas.openxmlformats.org/drawingml/2006/main">
              <a:ext uri="{FF2B5EF4-FFF2-40B4-BE49-F238E27FC236}">
                <a16:creationId xmlns:a16="http://schemas.microsoft.com/office/drawing/2014/main" id="{3BADF6CA-D63B-4BCF-8CF9-CAAFCDB2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p-top-2">
            <a:extLst xmlns:a="http://schemas.openxmlformats.org/drawingml/2006/main">
              <a:ext uri="{FF2B5EF4-FFF2-40B4-BE49-F238E27FC236}">
                <a16:creationId xmlns:a16="http://schemas.microsoft.com/office/drawing/2014/main" id="{4608BA55-19B6-4800-821C-468850C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p-title-2">
            <a:extLst xmlns:a="http://schemas.openxmlformats.org/drawingml/2006/main">
              <a:ext uri="{FF2B5EF4-FFF2-40B4-BE49-F238E27FC236}">
                <a16:creationId xmlns:a16="http://schemas.microsoft.com/office/drawing/2014/main" id="{32421936-6004-434D-853D-42EAFF3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Rangka kaki</a:t>
            </a:r>
          </a:p>
        </p:txBody>
      </p:sp>
      <p:sp>
        <p:nvSpPr>
          <p:cNvPr id="18" name="mp-body-2">
            <a:extLst xmlns:a="http://schemas.openxmlformats.org/drawingml/2006/main">
              <a:ext uri="{FF2B5EF4-FFF2-40B4-BE49-F238E27FC236}">
                <a16:creationId xmlns:a16="http://schemas.microsoft.com/office/drawing/2014/main" id="{EFBEE370-0CD4-4881-BBB5-4F997F1C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23/24 pinggul
25/26 lutut
27/28 ankle</a:t>
            </a:r>
          </a:p>
        </p:txBody>
      </p:sp>
      <p:sp>
        <p:nvSpPr>
          <p:cNvPr id="19" name="mp-panel-3">
            <a:extLst xmlns:a="http://schemas.openxmlformats.org/drawingml/2006/main">
              <a:ext uri="{FF2B5EF4-FFF2-40B4-BE49-F238E27FC236}">
                <a16:creationId xmlns:a16="http://schemas.microsoft.com/office/drawing/2014/main" id="{0FA00DB3-721C-4606-B1F1-E8DA48A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p-top-3">
            <a:extLst xmlns:a="http://schemas.openxmlformats.org/drawingml/2006/main">
              <a:ext uri="{FF2B5EF4-FFF2-40B4-BE49-F238E27FC236}">
                <a16:creationId xmlns:a16="http://schemas.microsoft.com/office/drawing/2014/main" id="{6110E535-50D3-4C02-BC9C-D9EFD959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p-title-3">
            <a:extLst xmlns:a="http://schemas.openxmlformats.org/drawingml/2006/main">
              <a:ext uri="{FF2B5EF4-FFF2-40B4-BE49-F238E27FC236}">
                <a16:creationId xmlns:a16="http://schemas.microsoft.com/office/drawing/2014/main" id="{770ED513-7D27-4DDD-90DC-CF8FC7E0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Kontak kaki</a:t>
            </a:r>
          </a:p>
        </p:txBody>
      </p:sp>
      <p:sp>
        <p:nvSpPr>
          <p:cNvPr id="22" name="mp-body-3">
            <a:extLst xmlns:a="http://schemas.openxmlformats.org/drawingml/2006/main">
              <a:ext uri="{FF2B5EF4-FFF2-40B4-BE49-F238E27FC236}">
                <a16:creationId xmlns:a16="http://schemas.microsoft.com/office/drawing/2014/main" id="{B9BBFE62-5DE9-4C3A-B93B-7B3AF179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20955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29/30 tumit
31/32 ujung kaki
→ footBottom</a:t>
            </a:r>
          </a:p>
        </p:txBody>
      </p:sp>
      <p:sp>
        <p:nvSpPr>
          <p:cNvPr id="23" name="mp-note">
            <a:extLst xmlns:a="http://schemas.openxmlformats.org/drawingml/2006/main">
              <a:ext uri="{FF2B5EF4-FFF2-40B4-BE49-F238E27FC236}">
                <a16:creationId xmlns:a16="http://schemas.microsoft.com/office/drawing/2014/main" id="{F9D69D70-BAE9-47D5-8916-35B5A742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00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9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dipakai untuk geometri tubuh; kontur OpenCV hanya menjadi informasi pendukung.</a:t>
            </a:r>
          </a:p>
        </p:txBody>
      </p:sp>
    </p:spTree>
    <p:extLst>
      <p:ext uri="{BB962C8B-B14F-4D97-AF65-F5344CB8AC3E}">
        <p14:creationId xmlns:p14="http://schemas.microsoft.com/office/powerpoint/2010/main" val="6890464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-foot-slide-background">
            <a:extLst xmlns:a="http://schemas.openxmlformats.org/drawingml/2006/main">
              <a:ext uri="{FF2B5EF4-FFF2-40B4-BE49-F238E27FC236}">
                <a16:creationId xmlns:a16="http://schemas.microsoft.com/office/drawing/2014/main" id="{BD37D65F-9BF4-4F47-BC14-26269014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6C422E6F-4FF1-4DC8-A355-800A49B9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6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Puncak kepala dan kaki terbawah membentuk tinggi vertikal</a:t>
            </a:r>
          </a:p>
        </p:txBody>
      </p:sp>
      <p:cxnSp>
        <p:nvCxnSpPr>
          <p:cNvPr id="21" name="accent-13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CCD6F79C-A85A-4478-8B39-01ED812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source-13">
            <a:extLst xmlns:a="http://schemas.openxmlformats.org/drawingml/2006/main">
              <a:ext uri="{FF2B5EF4-FFF2-40B4-BE49-F238E27FC236}">
                <a16:creationId xmlns:a16="http://schemas.microsoft.com/office/drawing/2014/main" id="{75235324-A25D-467D-B176-52EC7C99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estimateAnatomicalHeadTop() dan getFootBottomPoint()</a:t>
            </a:r>
          </a:p>
        </p:txBody>
      </p:sp>
      <p:sp>
        <p:nvSpPr>
          <p:cNvPr id="6" name="head-panel">
            <a:extLst xmlns:a="http://schemas.openxmlformats.org/drawingml/2006/main">
              <a:ext uri="{FF2B5EF4-FFF2-40B4-BE49-F238E27FC236}">
                <a16:creationId xmlns:a16="http://schemas.microsoft.com/office/drawing/2014/main" id="{BE5B2F62-17B9-4E58-94AA-B1135E60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3816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-title">
            <a:extLst xmlns:a="http://schemas.openxmlformats.org/drawingml/2006/main">
              <a:ext uri="{FF2B5EF4-FFF2-40B4-BE49-F238E27FC236}">
                <a16:creationId xmlns:a16="http://schemas.microsoft.com/office/drawing/2014/main" id="{66840808-31AA-4F7F-906B-CDDC23A3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57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Estimasi puncak kepala</a:t>
            </a:r>
          </a:p>
        </p:txBody>
      </p:sp>
      <p:sp>
        <p:nvSpPr>
          <p:cNvPr id="8" name="head-formula-1">
            <a:extLst xmlns:a="http://schemas.openxmlformats.org/drawingml/2006/main">
              <a:ext uri="{FF2B5EF4-FFF2-40B4-BE49-F238E27FC236}">
                <a16:creationId xmlns:a16="http://schemas.microsoft.com/office/drawing/2014/main" id="{EB6C9715-5A67-470E-AA86-D91CB16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faceCenter = midpoint(hidung, eyeMid)</a:t>
            </a:r>
          </a:p>
        </p:txBody>
      </p:sp>
      <p:sp>
        <p:nvSpPr>
          <p:cNvPr id="9" name="head-formula-2">
            <a:extLst xmlns:a="http://schemas.openxmlformats.org/drawingml/2006/main">
              <a:ext uri="{FF2B5EF4-FFF2-40B4-BE49-F238E27FC236}">
                <a16:creationId xmlns:a16="http://schemas.microsoft.com/office/drawing/2014/main" id="{D1C3A19B-8223-4709-B1E4-9FBF4C13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= normalize(faceCenter − shoulderMid)</a:t>
            </a:r>
          </a:p>
        </p:txBody>
      </p:sp>
      <p:sp>
        <p:nvSpPr>
          <p:cNvPr id="10" name="head-formula-3">
            <a:extLst xmlns:a="http://schemas.openxmlformats.org/drawingml/2006/main">
              <a:ext uri="{FF2B5EF4-FFF2-40B4-BE49-F238E27FC236}">
                <a16:creationId xmlns:a16="http://schemas.microsoft.com/office/drawing/2014/main" id="{0408BD5D-7505-41D7-8BEE-D61A1A3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 = eye–shoulder × 0,28
              + ear–eye × 0,15</a:t>
            </a:r>
          </a:p>
        </p:txBody>
      </p:sp>
      <p:sp>
        <p:nvSpPr>
          <p:cNvPr id="11" name="head-result">
            <a:extLst xmlns:a="http://schemas.openxmlformats.org/drawingml/2006/main">
              <a:ext uri="{FF2B5EF4-FFF2-40B4-BE49-F238E27FC236}">
                <a16:creationId xmlns:a16="http://schemas.microsoft.com/office/drawing/2014/main" id="{1036F4D4-27B6-4910-B194-176DCBF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57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headTop = faceCenter + arah × koreksi</a:t>
            </a:r>
          </a:p>
        </p:txBody>
      </p:sp>
      <p:sp>
        <p:nvSpPr>
          <p:cNvPr id="12" name="head-why">
            <a:extLst xmlns:a="http://schemas.openxmlformats.org/drawingml/2006/main">
              <a:ext uri="{FF2B5EF4-FFF2-40B4-BE49-F238E27FC236}">
                <a16:creationId xmlns:a16="http://schemas.microsoft.com/office/drawing/2014/main" id="{1CAAEAB5-E266-4847-8E6F-3674863C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572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Menghindari rambut, hijab, atau topi sebagai batas kepala.</a:t>
            </a:r>
          </a:p>
        </p:txBody>
      </p:sp>
      <p:sp>
        <p:nvSpPr>
          <p:cNvPr id="13" name="foot-panel">
            <a:extLst xmlns:a="http://schemas.openxmlformats.org/drawingml/2006/main">
              <a:ext uri="{FF2B5EF4-FFF2-40B4-BE49-F238E27FC236}">
                <a16:creationId xmlns:a16="http://schemas.microsoft.com/office/drawing/2014/main" id="{5E5C36C2-2F2F-4BAD-A33F-B5404EE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4102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-title">
            <a:extLst xmlns:a="http://schemas.openxmlformats.org/drawingml/2006/main">
              <a:ext uri="{FF2B5EF4-FFF2-40B4-BE49-F238E27FC236}">
                <a16:creationId xmlns:a16="http://schemas.microsoft.com/office/drawing/2014/main" id="{CD06C874-DADD-4227-A2F1-B920FD3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66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Pemilihan kaki terbawah</a:t>
            </a:r>
          </a:p>
        </p:txBody>
      </p:sp>
      <p:sp>
        <p:nvSpPr>
          <p:cNvPr id="15" name="foot-candidates">
            <a:extLst xmlns:a="http://schemas.openxmlformats.org/drawingml/2006/main">
              <a:ext uri="{FF2B5EF4-FFF2-40B4-BE49-F238E27FC236}">
                <a16:creationId xmlns:a16="http://schemas.microsoft.com/office/drawing/2014/main" id="{0DB0BC7C-E556-4F4A-9DC2-587428E0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457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Kandidat: ankle, heel, dan foot index
untuk kaki kiri serta kanan</a:t>
            </a:r>
          </a:p>
        </p:txBody>
      </p:sp>
      <p:sp>
        <p:nvSpPr>
          <p:cNvPr id="16" name="foot-rule">
            <a:extLst xmlns:a="http://schemas.openxmlformats.org/drawingml/2006/main">
              <a:ext uri="{FF2B5EF4-FFF2-40B4-BE49-F238E27FC236}">
                <a16:creationId xmlns:a16="http://schemas.microsoft.com/office/drawing/2014/main" id="{98E6389C-1CA2-4349-A177-C9C17EBD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6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footBottom = titik dengan nilai Y terbesar</a:t>
            </a:r>
          </a:p>
        </p:txBody>
      </p:sp>
      <p:sp>
        <p:nvSpPr>
          <p:cNvPr id="17" name="height-px">
            <a:extLst xmlns:a="http://schemas.openxmlformats.org/drawingml/2006/main">
              <a:ext uri="{FF2B5EF4-FFF2-40B4-BE49-F238E27FC236}">
                <a16:creationId xmlns:a16="http://schemas.microsoft.com/office/drawing/2014/main" id="{F157071F-956E-4FA5-91DB-12E7313B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57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heightPx = |footBottom.y − headTop.y|</a:t>
            </a:r>
          </a:p>
        </p:txBody>
      </p:sp>
      <p:sp>
        <p:nvSpPr>
          <p:cNvPr id="18" name="case-example">
            <a:extLst xmlns:a="http://schemas.openxmlformats.org/drawingml/2006/main">
              <a:ext uri="{FF2B5EF4-FFF2-40B4-BE49-F238E27FC236}">
                <a16:creationId xmlns:a16="http://schemas.microsoft.com/office/drawing/2014/main" id="{8239DA1B-69FA-41B3-B474-A6B4981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4572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Contoh ilustratif:
headTop.y = 224 px, footBottom.y = 1710 px
heightPx = 1486 px</a:t>
            </a:r>
          </a:p>
        </p:txBody>
      </p:sp>
    </p:spTree>
    <p:extLst>
      <p:ext uri="{BB962C8B-B14F-4D97-AF65-F5344CB8AC3E}">
        <p14:creationId xmlns:p14="http://schemas.microsoft.com/office/powerpoint/2010/main" val="273398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-detail-slide-background">
            <a:extLst xmlns:a="http://schemas.openxmlformats.org/drawingml/2006/main">
              <a:ext uri="{FF2B5EF4-FFF2-40B4-BE49-F238E27FC236}">
                <a16:creationId xmlns:a16="http://schemas.microsoft.com/office/drawing/2014/main" id="{41EE6B05-A5F9-4E3B-A9F0-08035790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5ADC056A-5DB6-49A3-9C0E-0D19A6D5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headTop memperkirakan puncak kepala anatomi</a:t>
            </a:r>
          </a:p>
        </p:txBody>
      </p:sp>
      <p:cxnSp>
        <p:nvCxnSpPr>
          <p:cNvPr id="30" name="accent-14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A49199A3-93D1-45F4-BF08-D45FA0E0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5" name="source-14">
            <a:extLst xmlns:a="http://schemas.openxmlformats.org/drawingml/2006/main">
              <a:ext uri="{FF2B5EF4-FFF2-40B4-BE49-F238E27FC236}">
                <a16:creationId xmlns:a16="http://schemas.microsoft.com/office/drawing/2014/main" id="{38B3B0C1-0403-460D-A0A4-3FA8151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estimateBodyMeasurement() dan estimateAnatomicalHeadTop()</a:t>
            </a:r>
          </a:p>
        </p:txBody>
      </p:sp>
      <p:sp>
        <p:nvSpPr>
          <p:cNvPr id="6" name="head-step-dot-0">
            <a:extLst xmlns:a="http://schemas.openxmlformats.org/drawingml/2006/main">
              <a:ext uri="{FF2B5EF4-FFF2-40B4-BE49-F238E27FC236}">
                <a16:creationId xmlns:a16="http://schemas.microsoft.com/office/drawing/2014/main" id="{65862D07-EE9C-49A9-BA23-D3C0E3C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head-step-num-0">
            <a:extLst xmlns:a="http://schemas.openxmlformats.org/drawingml/2006/main">
              <a:ext uri="{FF2B5EF4-FFF2-40B4-BE49-F238E27FC236}">
                <a16:creationId xmlns:a16="http://schemas.microsoft.com/office/drawing/2014/main" id="{0D1FCFE5-E9D1-4896-B21F-C27A29A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335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head-step-title-0">
            <a:extLst xmlns:a="http://schemas.openxmlformats.org/drawingml/2006/main">
              <a:ext uri="{FF2B5EF4-FFF2-40B4-BE49-F238E27FC236}">
                <a16:creationId xmlns:a16="http://schemas.microsoft.com/office/drawing/2014/main" id="{A47A2A1C-CA88-4774-893E-7A0CB1EF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eyeMid</a:t>
            </a:r>
          </a:p>
        </p:txBody>
      </p:sp>
      <p:sp>
        <p:nvSpPr>
          <p:cNvPr id="9" name="head-step-body-0">
            <a:extLst xmlns:a="http://schemas.openxmlformats.org/drawingml/2006/main">
              <a:ext uri="{FF2B5EF4-FFF2-40B4-BE49-F238E27FC236}">
                <a16:creationId xmlns:a16="http://schemas.microsoft.com/office/drawing/2014/main" id="{F6940696-DAD8-4C20-81B4-568E7DA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Rata-rata mata 2/5 dan mata-dalam 1/4</a:t>
            </a:r>
          </a:p>
        </p:txBody>
      </p:sp>
      <p:sp>
        <p:nvSpPr>
          <p:cNvPr id="10" name="head-step-dot-1">
            <a:extLst xmlns:a="http://schemas.openxmlformats.org/drawingml/2006/main">
              <a:ext uri="{FF2B5EF4-FFF2-40B4-BE49-F238E27FC236}">
                <a16:creationId xmlns:a16="http://schemas.microsoft.com/office/drawing/2014/main" id="{72EC06C5-902C-44DA-9EFC-07B30F13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head-step-num-1">
            <a:extLst xmlns:a="http://schemas.openxmlformats.org/drawingml/2006/main">
              <a:ext uri="{FF2B5EF4-FFF2-40B4-BE49-F238E27FC236}">
                <a16:creationId xmlns:a16="http://schemas.microsoft.com/office/drawing/2014/main" id="{59F89609-09C5-4F11-982A-80FC141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head-step-title-1">
            <a:extLst xmlns:a="http://schemas.openxmlformats.org/drawingml/2006/main">
              <a:ext uri="{FF2B5EF4-FFF2-40B4-BE49-F238E27FC236}">
                <a16:creationId xmlns:a16="http://schemas.microsoft.com/office/drawing/2014/main" id="{A751B19A-E18F-4ED9-A1FB-345258AF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288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faceCenter</a:t>
            </a:r>
          </a:p>
        </p:txBody>
      </p:sp>
      <p:sp>
        <p:nvSpPr>
          <p:cNvPr id="13" name="head-step-body-1">
            <a:extLst xmlns:a="http://schemas.openxmlformats.org/drawingml/2006/main">
              <a:ext uri="{FF2B5EF4-FFF2-40B4-BE49-F238E27FC236}">
                <a16:creationId xmlns:a16="http://schemas.microsoft.com/office/drawing/2014/main" id="{3CF4D42C-5458-40CF-8BD2-2E43269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Titik tengah nose (0) dan eyeMid</a:t>
            </a:r>
          </a:p>
        </p:txBody>
      </p:sp>
      <p:sp>
        <p:nvSpPr>
          <p:cNvPr id="14" name="head-step-dot-2">
            <a:extLst xmlns:a="http://schemas.openxmlformats.org/drawingml/2006/main">
              <a:ext uri="{FF2B5EF4-FFF2-40B4-BE49-F238E27FC236}">
                <a16:creationId xmlns:a16="http://schemas.microsoft.com/office/drawing/2014/main" id="{F8B80829-D2FD-4E87-A977-49BBF97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head-step-num-2">
            <a:extLst xmlns:a="http://schemas.openxmlformats.org/drawingml/2006/main">
              <a:ext uri="{FF2B5EF4-FFF2-40B4-BE49-F238E27FC236}">
                <a16:creationId xmlns:a16="http://schemas.microsoft.com/office/drawing/2014/main" id="{AA189B47-1A55-4DEC-BBD0-E91686E8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6" name="head-step-title-2">
            <a:extLst xmlns:a="http://schemas.openxmlformats.org/drawingml/2006/main">
              <a:ext uri="{FF2B5EF4-FFF2-40B4-BE49-F238E27FC236}">
                <a16:creationId xmlns:a16="http://schemas.microsoft.com/office/drawing/2014/main" id="{2C87B37B-B5FA-48D6-A7FF-EF0170C0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</a:t>
            </a:r>
          </a:p>
        </p:txBody>
      </p:sp>
      <p:sp>
        <p:nvSpPr>
          <p:cNvPr id="17" name="head-step-body-2">
            <a:extLst xmlns:a="http://schemas.openxmlformats.org/drawingml/2006/main">
              <a:ext uri="{FF2B5EF4-FFF2-40B4-BE49-F238E27FC236}">
                <a16:creationId xmlns:a16="http://schemas.microsoft.com/office/drawing/2014/main" id="{0D121F45-F253-45DC-91DD-0E8D3E3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Vektor faceCenter − shoulderMid, lalu dinormalisasi</a:t>
            </a:r>
          </a:p>
        </p:txBody>
      </p:sp>
      <p:sp>
        <p:nvSpPr>
          <p:cNvPr id="18" name="head-step-dot-3">
            <a:extLst xmlns:a="http://schemas.openxmlformats.org/drawingml/2006/main">
              <a:ext uri="{FF2B5EF4-FFF2-40B4-BE49-F238E27FC236}">
                <a16:creationId xmlns:a16="http://schemas.microsoft.com/office/drawing/2014/main" id="{5B8E1E98-2423-43CF-BC4A-35C9C35C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head-step-num-3">
            <a:extLst xmlns:a="http://schemas.openxmlformats.org/drawingml/2006/main">
              <a:ext uri="{FF2B5EF4-FFF2-40B4-BE49-F238E27FC236}">
                <a16:creationId xmlns:a16="http://schemas.microsoft.com/office/drawing/2014/main" id="{F1B704A9-383B-4E42-9A0B-F7CA87A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head-step-title-3">
            <a:extLst xmlns:a="http://schemas.openxmlformats.org/drawingml/2006/main">
              <a:ext uri="{FF2B5EF4-FFF2-40B4-BE49-F238E27FC236}">
                <a16:creationId xmlns:a16="http://schemas.microsoft.com/office/drawing/2014/main" id="{9D2EE73E-2EAB-40E0-92AD-A8CDB6A8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29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</a:t>
            </a:r>
          </a:p>
        </p:txBody>
      </p:sp>
      <p:sp>
        <p:nvSpPr>
          <p:cNvPr id="21" name="head-step-body-3">
            <a:extLst xmlns:a="http://schemas.openxmlformats.org/drawingml/2006/main">
              <a:ext uri="{FF2B5EF4-FFF2-40B4-BE49-F238E27FC236}">
                <a16:creationId xmlns:a16="http://schemas.microsoft.com/office/drawing/2014/main" id="{143E807C-6E26-4980-98CB-C252376A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eyeToShoulder × 0,28 + earToEye × 0,15</a:t>
            </a:r>
          </a:p>
        </p:txBody>
      </p:sp>
      <p:sp>
        <p:nvSpPr>
          <p:cNvPr id="22" name="head-step-dot-4">
            <a:extLst xmlns:a="http://schemas.openxmlformats.org/drawingml/2006/main">
              <a:ext uri="{FF2B5EF4-FFF2-40B4-BE49-F238E27FC236}">
                <a16:creationId xmlns:a16="http://schemas.microsoft.com/office/drawing/2014/main" id="{E7EBA779-EF46-4870-BF58-F3E3A1B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23" name="head-step-num-4">
            <a:extLst xmlns:a="http://schemas.openxmlformats.org/drawingml/2006/main">
              <a:ext uri="{FF2B5EF4-FFF2-40B4-BE49-F238E27FC236}">
                <a16:creationId xmlns:a16="http://schemas.microsoft.com/office/drawing/2014/main" id="{C2AA6AED-CD0C-472C-949F-05C52FD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339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4" name="head-step-title-4">
            <a:extLst xmlns:a="http://schemas.openxmlformats.org/drawingml/2006/main">
              <a:ext uri="{FF2B5EF4-FFF2-40B4-BE49-F238E27FC236}">
                <a16:creationId xmlns:a16="http://schemas.microsoft.com/office/drawing/2014/main" id="{B3F2FC2B-0F7A-4C37-8C66-907C2A43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291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headTop</a:t>
            </a:r>
          </a:p>
        </p:txBody>
      </p:sp>
      <p:sp>
        <p:nvSpPr>
          <p:cNvPr id="25" name="head-step-body-4">
            <a:extLst xmlns:a="http://schemas.openxmlformats.org/drawingml/2006/main">
              <a:ext uri="{FF2B5EF4-FFF2-40B4-BE49-F238E27FC236}">
                <a16:creationId xmlns:a16="http://schemas.microsoft.com/office/drawing/2014/main" id="{0ECAF04B-B7E2-4B40-BF8A-CFFEB770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faceCenter + arah × koreksi</a:t>
            </a:r>
          </a:p>
        </p:txBody>
      </p:sp>
      <p:sp>
        <p:nvSpPr>
          <p:cNvPr id="26" name="head-coef-note">
            <a:extLst xmlns:a="http://schemas.openxmlformats.org/drawingml/2006/main">
              <a:ext uri="{FF2B5EF4-FFF2-40B4-BE49-F238E27FC236}">
                <a16:creationId xmlns:a16="http://schemas.microsoft.com/office/drawing/2014/main" id="{451731DB-F51D-4810-9AC9-BAF2305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72125"/>
            <a:ext cx="9953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ead-coef-text">
            <a:extLst xmlns:a="http://schemas.openxmlformats.org/drawingml/2006/main">
              <a:ext uri="{FF2B5EF4-FFF2-40B4-BE49-F238E27FC236}">
                <a16:creationId xmlns:a16="http://schemas.microsoft.com/office/drawing/2014/main" id="{FA5D0C9D-02EC-42C2-9808-2E80E139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47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Asal 0,28 dan 0,15: konstanta heuristik yang ditulis langsung di kode. Fungsinya memperpanjang landmark wajah menuju puncak kepala; nilainya perlu dibuktikan melalui kalibrasi data nyata.</a:t>
            </a:r>
          </a:p>
        </p:txBody>
      </p:sp>
    </p:spTree>
    <p:extLst>
      <p:ext uri="{BB962C8B-B14F-4D97-AF65-F5344CB8AC3E}">
        <p14:creationId xmlns:p14="http://schemas.microsoft.com/office/powerpoint/2010/main" val="85907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-detail-slide-background">
            <a:extLst xmlns:a="http://schemas.openxmlformats.org/drawingml/2006/main">
              <a:ext uri="{FF2B5EF4-FFF2-40B4-BE49-F238E27FC236}">
                <a16:creationId xmlns:a16="http://schemas.microsoft.com/office/drawing/2014/main" id="{7717BED4-228D-47CA-A18C-9272D6BB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C2AB9535-6B11-4BCD-A9E0-944F7B7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footBottom memilih titik kaki dengan Y terbesar</a:t>
            </a:r>
          </a:p>
        </p:txBody>
      </p:sp>
      <p:cxnSp>
        <p:nvCxnSpPr>
          <p:cNvPr id="24" name="accent-15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B7BED0FA-0438-498A-93A9-429B69E3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5" name="source-15">
            <a:extLst xmlns:a="http://schemas.openxmlformats.org/drawingml/2006/main">
              <a:ext uri="{FF2B5EF4-FFF2-40B4-BE49-F238E27FC236}">
                <a16:creationId xmlns:a16="http://schemas.microsoft.com/office/drawing/2014/main" id="{42ABE003-7E6D-4C49-ADB7-E447EE67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getFootBottomPoint() pada MeasurementActivity.java</a:t>
            </a:r>
          </a:p>
        </p:txBody>
      </p:sp>
      <p:sp>
        <p:nvSpPr>
          <p:cNvPr id="6" name="foot-coordinate">
            <a:extLst xmlns:a="http://schemas.openxmlformats.org/drawingml/2006/main">
              <a:ext uri="{FF2B5EF4-FFF2-40B4-BE49-F238E27FC236}">
                <a16:creationId xmlns:a16="http://schemas.microsoft.com/office/drawing/2014/main" id="{C22F746E-4552-42E9-B3AE-5CE1FB89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6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Pada citra Android/OpenCV, Y bertambah dari atas ke bawah.</a:t>
            </a:r>
          </a:p>
        </p:txBody>
      </p:sp>
      <p:sp>
        <p:nvSpPr>
          <p:cNvPr id="7" name="foot-candidate-0">
            <a:extLst xmlns:a="http://schemas.openxmlformats.org/drawingml/2006/main">
              <a:ext uri="{FF2B5EF4-FFF2-40B4-BE49-F238E27FC236}">
                <a16:creationId xmlns:a16="http://schemas.microsoft.com/office/drawing/2014/main" id="{6761A82A-830D-494E-9AC1-B765732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333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-id-0">
            <a:extLst xmlns:a="http://schemas.openxmlformats.org/drawingml/2006/main">
              <a:ext uri="{FF2B5EF4-FFF2-40B4-BE49-F238E27FC236}">
                <a16:creationId xmlns:a16="http://schemas.microsoft.com/office/drawing/2014/main" id="{82FE9F9C-88A9-4D8E-AE57-FF6A51E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27 / 28</a:t>
            </a:r>
          </a:p>
        </p:txBody>
      </p:sp>
      <p:sp>
        <p:nvSpPr>
          <p:cNvPr id="9" name="foot-name-0">
            <a:extLst xmlns:a="http://schemas.openxmlformats.org/drawingml/2006/main">
              <a:ext uri="{FF2B5EF4-FFF2-40B4-BE49-F238E27FC236}">
                <a16:creationId xmlns:a16="http://schemas.microsoft.com/office/drawing/2014/main" id="{A812B762-5788-4182-95DB-1714525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Ankle</a:t>
            </a:r>
          </a:p>
        </p:txBody>
      </p:sp>
      <p:sp>
        <p:nvSpPr>
          <p:cNvPr id="10" name="foot-desc-0">
            <a:extLst xmlns:a="http://schemas.openxmlformats.org/drawingml/2006/main">
              <a:ext uri="{FF2B5EF4-FFF2-40B4-BE49-F238E27FC236}">
                <a16:creationId xmlns:a16="http://schemas.microsoft.com/office/drawing/2014/main" id="{6BCBC44B-86A7-4F9C-A2BA-6D06806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Pergelangan kaki</a:t>
            </a:r>
          </a:p>
        </p:txBody>
      </p:sp>
      <p:sp>
        <p:nvSpPr>
          <p:cNvPr id="11" name="foot-candidate-1">
            <a:extLst xmlns:a="http://schemas.openxmlformats.org/drawingml/2006/main">
              <a:ext uri="{FF2B5EF4-FFF2-40B4-BE49-F238E27FC236}">
                <a16:creationId xmlns:a16="http://schemas.microsoft.com/office/drawing/2014/main" id="{D1779388-F58D-492B-BB2F-FB80887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333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-id-1">
            <a:extLst xmlns:a="http://schemas.openxmlformats.org/drawingml/2006/main">
              <a:ext uri="{FF2B5EF4-FFF2-40B4-BE49-F238E27FC236}">
                <a16:creationId xmlns:a16="http://schemas.microsoft.com/office/drawing/2014/main" id="{7F80E5E1-F505-4BFF-B601-13C5D96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29 / 30</a:t>
            </a:r>
          </a:p>
        </p:txBody>
      </p:sp>
      <p:sp>
        <p:nvSpPr>
          <p:cNvPr id="13" name="foot-name-1">
            <a:extLst xmlns:a="http://schemas.openxmlformats.org/drawingml/2006/main">
              <a:ext uri="{FF2B5EF4-FFF2-40B4-BE49-F238E27FC236}">
                <a16:creationId xmlns:a16="http://schemas.microsoft.com/office/drawing/2014/main" id="{41E86CB2-40E9-4443-B59C-45285A7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Heel</a:t>
            </a:r>
          </a:p>
        </p:txBody>
      </p:sp>
      <p:sp>
        <p:nvSpPr>
          <p:cNvPr id="14" name="foot-desc-1">
            <a:extLst xmlns:a="http://schemas.openxmlformats.org/drawingml/2006/main">
              <a:ext uri="{FF2B5EF4-FFF2-40B4-BE49-F238E27FC236}">
                <a16:creationId xmlns:a16="http://schemas.microsoft.com/office/drawing/2014/main" id="{3D8B778F-726C-4594-B24A-0786066F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Tumit</a:t>
            </a:r>
          </a:p>
        </p:txBody>
      </p:sp>
      <p:sp>
        <p:nvSpPr>
          <p:cNvPr id="15" name="foot-candidate-2">
            <a:extLst xmlns:a="http://schemas.openxmlformats.org/drawingml/2006/main">
              <a:ext uri="{FF2B5EF4-FFF2-40B4-BE49-F238E27FC236}">
                <a16:creationId xmlns:a16="http://schemas.microsoft.com/office/drawing/2014/main" id="{9E8C914C-EE00-4E75-B60B-F182700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38375"/>
            <a:ext cx="3333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-id-2">
            <a:extLst xmlns:a="http://schemas.openxmlformats.org/drawingml/2006/main">
              <a:ext uri="{FF2B5EF4-FFF2-40B4-BE49-F238E27FC236}">
                <a16:creationId xmlns:a16="http://schemas.microsoft.com/office/drawing/2014/main" id="{4A04F684-54F7-4876-8FEC-F142B14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31 / 32</a:t>
            </a:r>
          </a:p>
        </p:txBody>
      </p:sp>
      <p:sp>
        <p:nvSpPr>
          <p:cNvPr id="17" name="foot-name-2">
            <a:extLst xmlns:a="http://schemas.openxmlformats.org/drawingml/2006/main">
              <a:ext uri="{FF2B5EF4-FFF2-40B4-BE49-F238E27FC236}">
                <a16:creationId xmlns:a16="http://schemas.microsoft.com/office/drawing/2014/main" id="{0530415E-9484-4B7D-9971-00BCB546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Foot index</a:t>
            </a:r>
          </a:p>
        </p:txBody>
      </p:sp>
      <p:sp>
        <p:nvSpPr>
          <p:cNvPr id="18" name="foot-desc-2">
            <a:extLst xmlns:a="http://schemas.openxmlformats.org/drawingml/2006/main">
              <a:ext uri="{FF2B5EF4-FFF2-40B4-BE49-F238E27FC236}">
                <a16:creationId xmlns:a16="http://schemas.microsoft.com/office/drawing/2014/main" id="{3F2E865B-50AC-4653-8B10-59DB4C4E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Ujung kaki</a:t>
            </a:r>
          </a:p>
        </p:txBody>
      </p:sp>
      <p:sp>
        <p:nvSpPr>
          <p:cNvPr id="19" name="foot-rule-detail">
            <a:extLst xmlns:a="http://schemas.openxmlformats.org/drawingml/2006/main">
              <a:ext uri="{FF2B5EF4-FFF2-40B4-BE49-F238E27FC236}">
                <a16:creationId xmlns:a16="http://schemas.microsoft.com/office/drawing/2014/main" id="{99EA4D0D-5BA1-4147-9D69-3AA28A7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525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footBottom = arg max(Y) dari enam kandidat kiri dan kanan</a:t>
            </a:r>
          </a:p>
        </p:txBody>
      </p:sp>
      <p:sp>
        <p:nvSpPr>
          <p:cNvPr id="20" name="foot-example">
            <a:extLst xmlns:a="http://schemas.openxmlformats.org/drawingml/2006/main">
              <a:ext uri="{FF2B5EF4-FFF2-40B4-BE49-F238E27FC236}">
                <a16:creationId xmlns:a16="http://schemas.microsoft.com/office/drawing/2014/main" id="{0AFA8107-7C38-4DBB-BD3D-D0CF820D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-example-text">
            <a:extLst xmlns:a="http://schemas.openxmlformats.org/drawingml/2006/main">
              <a:ext uri="{FF2B5EF4-FFF2-40B4-BE49-F238E27FC236}">
                <a16:creationId xmlns:a16="http://schemas.microsoft.com/office/drawing/2014/main" id="{72F0D31E-451E-49C1-B650-9D23F0CA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42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Contoh: ankle 1680, heel 1710, foot index 1695 → yang dipilih adalah heel pada Y = 1710 px.</a:t>
            </a:r>
          </a:p>
        </p:txBody>
      </p:sp>
    </p:spTree>
    <p:extLst>
      <p:ext uri="{BB962C8B-B14F-4D97-AF65-F5344CB8AC3E}">
        <p14:creationId xmlns:p14="http://schemas.microsoft.com/office/powerpoint/2010/main" val="1669996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our-slide-background">
            <a:extLst xmlns:a="http://schemas.openxmlformats.org/drawingml/2006/main">
              <a:ext uri="{FF2B5EF4-FFF2-40B4-BE49-F238E27FC236}">
                <a16:creationId xmlns:a16="http://schemas.microsoft.com/office/drawing/2014/main" id="{C2EE11FE-A806-4692-9CCF-5FFD7FB1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E0B0E513-65C5-4989-BC7B-FBC90792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23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OpenCV mendukung visualisasi dan pembanding</a:t>
            </a:r>
          </a:p>
        </p:txBody>
      </p:sp>
      <p:cxnSp>
        <p:nvCxnSpPr>
          <p:cNvPr id="39" name="accent-16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3CD9C2EE-5A72-44ED-98E5-4F4DFE2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5" name="source-16">
            <a:extLst xmlns:a="http://schemas.openxmlformats.org/drawingml/2006/main">
              <a:ext uri="{FF2B5EF4-FFF2-40B4-BE49-F238E27FC236}">
                <a16:creationId xmlns:a16="http://schemas.microsoft.com/office/drawing/2014/main" id="{D00CDA34-E051-47C4-A6D6-A6398352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runContourProcess() pada MeasurementActivity.java</a:t>
            </a:r>
          </a:p>
        </p:txBody>
      </p:sp>
      <p:cxnSp>
        <p:nvCxnSpPr>
          <p:cNvPr id="42" name="contour-link-0"/>
          <p:cNvCxnSpPr/>
          <p:nvPr/>
        </p:nvCxnSpPr>
        <p:spPr>
          <a:xfrm xmlns:a="http://schemas.openxmlformats.org/drawingml/2006/main">
            <a:off x="161925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3" name="contour-link-1"/>
          <p:cNvCxnSpPr/>
          <p:nvPr/>
        </p:nvCxnSpPr>
        <p:spPr>
          <a:xfrm xmlns:a="http://schemas.openxmlformats.org/drawingml/2006/main">
            <a:off x="342900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4" name="contour-link-2"/>
          <p:cNvCxnSpPr/>
          <p:nvPr/>
        </p:nvCxnSpPr>
        <p:spPr>
          <a:xfrm xmlns:a="http://schemas.openxmlformats.org/drawingml/2006/main">
            <a:off x="523875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5" name="contour-link-3"/>
          <p:cNvCxnSpPr/>
          <p:nvPr/>
        </p:nvCxnSpPr>
        <p:spPr>
          <a:xfrm xmlns:a="http://schemas.openxmlformats.org/drawingml/2006/main">
            <a:off x="704850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6" name="contour-link-4"/>
          <p:cNvCxnSpPr/>
          <p:nvPr/>
        </p:nvCxnSpPr>
        <p:spPr>
          <a:xfrm xmlns:a="http://schemas.openxmlformats.org/drawingml/2006/main">
            <a:off x="8858250" y="3095625"/>
            <a:ext cx="714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1" name="contour-dot-0">
            <a:extLst xmlns:a="http://schemas.openxmlformats.org/drawingml/2006/main">
              <a:ext uri="{FF2B5EF4-FFF2-40B4-BE49-F238E27FC236}">
                <a16:creationId xmlns:a16="http://schemas.microsoft.com/office/drawing/2014/main" id="{71B99016-40C0-4902-854B-68EED747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contour-num-0">
            <a:extLst xmlns:a="http://schemas.openxmlformats.org/drawingml/2006/main">
              <a:ext uri="{FF2B5EF4-FFF2-40B4-BE49-F238E27FC236}">
                <a16:creationId xmlns:a16="http://schemas.microsoft.com/office/drawing/2014/main" id="{F8086493-99C0-4DA5-BA77-86E1300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3" name="contour-title-0">
            <a:extLst xmlns:a="http://schemas.openxmlformats.org/drawingml/2006/main">
              <a:ext uri="{FF2B5EF4-FFF2-40B4-BE49-F238E27FC236}">
                <a16:creationId xmlns:a16="http://schemas.microsoft.com/office/drawing/2014/main" id="{0F8C9759-E80A-49F3-88F6-EDA8CE5E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Grayscale</a:t>
            </a:r>
          </a:p>
        </p:txBody>
      </p:sp>
      <p:sp>
        <p:nvSpPr>
          <p:cNvPr id="14" name="contour-body-0">
            <a:extLst xmlns:a="http://schemas.openxmlformats.org/drawingml/2006/main">
              <a:ext uri="{FF2B5EF4-FFF2-40B4-BE49-F238E27FC236}">
                <a16:creationId xmlns:a16="http://schemas.microsoft.com/office/drawing/2014/main" id="{A1E96652-27C8-4975-8A96-C6F432E5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Kurangi kanal warna</a:t>
            </a:r>
          </a:p>
        </p:txBody>
      </p:sp>
      <p:sp>
        <p:nvSpPr>
          <p:cNvPr id="15" name="contour-dot-1">
            <a:extLst xmlns:a="http://schemas.openxmlformats.org/drawingml/2006/main">
              <a:ext uri="{FF2B5EF4-FFF2-40B4-BE49-F238E27FC236}">
                <a16:creationId xmlns:a16="http://schemas.microsoft.com/office/drawing/2014/main" id="{E7847D23-7A25-4ED4-A607-D17736C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contour-num-1">
            <a:extLst xmlns:a="http://schemas.openxmlformats.org/drawingml/2006/main">
              <a:ext uri="{FF2B5EF4-FFF2-40B4-BE49-F238E27FC236}">
                <a16:creationId xmlns:a16="http://schemas.microsoft.com/office/drawing/2014/main" id="{D4701589-95C5-48AE-9E43-618E4EDF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contour-title-1">
            <a:extLst xmlns:a="http://schemas.openxmlformats.org/drawingml/2006/main">
              <a:ext uri="{FF2B5EF4-FFF2-40B4-BE49-F238E27FC236}">
                <a16:creationId xmlns:a16="http://schemas.microsoft.com/office/drawing/2014/main" id="{3F83962F-D354-42D4-8823-FA44A83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Blur 5×5</a:t>
            </a:r>
          </a:p>
        </p:txBody>
      </p:sp>
      <p:sp>
        <p:nvSpPr>
          <p:cNvPr id="18" name="contour-body-1">
            <a:extLst xmlns:a="http://schemas.openxmlformats.org/drawingml/2006/main">
              <a:ext uri="{FF2B5EF4-FFF2-40B4-BE49-F238E27FC236}">
                <a16:creationId xmlns:a16="http://schemas.microsoft.com/office/drawing/2014/main" id="{5252D1A7-C103-4DA4-B4FE-ED7335CD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Redam noise</a:t>
            </a:r>
          </a:p>
        </p:txBody>
      </p:sp>
      <p:sp>
        <p:nvSpPr>
          <p:cNvPr id="19" name="contour-dot-2">
            <a:extLst xmlns:a="http://schemas.openxmlformats.org/drawingml/2006/main">
              <a:ext uri="{FF2B5EF4-FFF2-40B4-BE49-F238E27FC236}">
                <a16:creationId xmlns:a16="http://schemas.microsoft.com/office/drawing/2014/main" id="{5321B90F-52B2-481E-93A7-0CE95E8B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contour-num-2">
            <a:extLst xmlns:a="http://schemas.openxmlformats.org/drawingml/2006/main">
              <a:ext uri="{FF2B5EF4-FFF2-40B4-BE49-F238E27FC236}">
                <a16:creationId xmlns:a16="http://schemas.microsoft.com/office/drawing/2014/main" id="{361D560B-ADB4-4B0D-B21D-C4DB7264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contour-title-2">
            <a:extLst xmlns:a="http://schemas.openxmlformats.org/drawingml/2006/main">
              <a:ext uri="{FF2B5EF4-FFF2-40B4-BE49-F238E27FC236}">
                <a16:creationId xmlns:a16="http://schemas.microsoft.com/office/drawing/2014/main" id="{6A9622D8-2134-47D8-A05B-E7694A10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Canny</a:t>
            </a:r>
          </a:p>
        </p:txBody>
      </p:sp>
      <p:sp>
        <p:nvSpPr>
          <p:cNvPr id="22" name="contour-body-2">
            <a:extLst xmlns:a="http://schemas.openxmlformats.org/drawingml/2006/main">
              <a:ext uri="{FF2B5EF4-FFF2-40B4-BE49-F238E27FC236}">
                <a16:creationId xmlns:a16="http://schemas.microsoft.com/office/drawing/2014/main" id="{4CAF9F6F-08F7-4345-A374-0E53E79D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Threshold 45/140</a:t>
            </a:r>
          </a:p>
        </p:txBody>
      </p:sp>
      <p:sp>
        <p:nvSpPr>
          <p:cNvPr id="23" name="contour-dot-3">
            <a:extLst xmlns:a="http://schemas.openxmlformats.org/drawingml/2006/main">
              <a:ext uri="{FF2B5EF4-FFF2-40B4-BE49-F238E27FC236}">
                <a16:creationId xmlns:a16="http://schemas.microsoft.com/office/drawing/2014/main" id="{E80C7C7D-3480-43FA-B748-7ECD6D0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4" name="contour-num-3">
            <a:extLst xmlns:a="http://schemas.openxmlformats.org/drawingml/2006/main">
              <a:ext uri="{FF2B5EF4-FFF2-40B4-BE49-F238E27FC236}">
                <a16:creationId xmlns:a16="http://schemas.microsoft.com/office/drawing/2014/main" id="{0A9AB754-CA05-477B-9BAB-162E5EAB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contour-title-3">
            <a:extLst xmlns:a="http://schemas.openxmlformats.org/drawingml/2006/main">
              <a:ext uri="{FF2B5EF4-FFF2-40B4-BE49-F238E27FC236}">
                <a16:creationId xmlns:a16="http://schemas.microsoft.com/office/drawing/2014/main" id="{6B2F71A6-593C-4C7C-8065-377622D2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Dilasi 7×7</a:t>
            </a:r>
          </a:p>
        </p:txBody>
      </p:sp>
      <p:sp>
        <p:nvSpPr>
          <p:cNvPr id="26" name="contour-body-3">
            <a:extLst xmlns:a="http://schemas.openxmlformats.org/drawingml/2006/main">
              <a:ext uri="{FF2B5EF4-FFF2-40B4-BE49-F238E27FC236}">
                <a16:creationId xmlns:a16="http://schemas.microsoft.com/office/drawing/2014/main" id="{2FFCA54C-36E6-4929-ABC0-DAE8023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Sambungkan tepi</a:t>
            </a:r>
          </a:p>
        </p:txBody>
      </p:sp>
      <p:sp>
        <p:nvSpPr>
          <p:cNvPr id="27" name="contour-dot-4">
            <a:extLst xmlns:a="http://schemas.openxmlformats.org/drawingml/2006/main">
              <a:ext uri="{FF2B5EF4-FFF2-40B4-BE49-F238E27FC236}">
                <a16:creationId xmlns:a16="http://schemas.microsoft.com/office/drawing/2014/main" id="{F3CDF82F-064D-4098-A84F-E3CD104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8" name="contour-num-4">
            <a:extLst xmlns:a="http://schemas.openxmlformats.org/drawingml/2006/main">
              <a:ext uri="{FF2B5EF4-FFF2-40B4-BE49-F238E27FC236}">
                <a16:creationId xmlns:a16="http://schemas.microsoft.com/office/drawing/2014/main" id="{0A8B9A91-75FE-4C33-B5C0-1B2F216E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9" name="contour-title-4">
            <a:extLst xmlns:a="http://schemas.openxmlformats.org/drawingml/2006/main">
              <a:ext uri="{FF2B5EF4-FFF2-40B4-BE49-F238E27FC236}">
                <a16:creationId xmlns:a16="http://schemas.microsoft.com/office/drawing/2014/main" id="{3673166A-9AAC-4F39-BA09-63728A49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luar</a:t>
            </a:r>
          </a:p>
        </p:txBody>
      </p:sp>
      <p:sp>
        <p:nvSpPr>
          <p:cNvPr id="30" name="contour-body-4">
            <a:extLst xmlns:a="http://schemas.openxmlformats.org/drawingml/2006/main">
              <a:ext uri="{FF2B5EF4-FFF2-40B4-BE49-F238E27FC236}">
                <a16:creationId xmlns:a16="http://schemas.microsoft.com/office/drawing/2014/main" id="{6BB4C502-6CC7-4C25-8FEF-EFA5C8B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RETR_EXTERNAL</a:t>
            </a:r>
          </a:p>
        </p:txBody>
      </p:sp>
      <p:sp>
        <p:nvSpPr>
          <p:cNvPr id="31" name="contour-dot-5">
            <a:extLst xmlns:a="http://schemas.openxmlformats.org/drawingml/2006/main">
              <a:ext uri="{FF2B5EF4-FFF2-40B4-BE49-F238E27FC236}">
                <a16:creationId xmlns:a16="http://schemas.microsoft.com/office/drawing/2014/main" id="{283398B6-5CCC-4638-B8FC-1689A2B8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DF"/>
          </a:solidFill>
        </p:spPr>
      </p:sp>
      <p:sp>
        <p:nvSpPr>
          <p:cNvPr id="32" name="contour-num-5">
            <a:extLst xmlns:a="http://schemas.openxmlformats.org/drawingml/2006/main">
              <a:ext uri="{FF2B5EF4-FFF2-40B4-BE49-F238E27FC236}">
                <a16:creationId xmlns:a16="http://schemas.microsoft.com/office/drawing/2014/main" id="{70393780-E579-43E0-A68A-7599C081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47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contour-title-5">
            <a:extLst xmlns:a="http://schemas.openxmlformats.org/drawingml/2006/main">
              <a:ext uri="{FF2B5EF4-FFF2-40B4-BE49-F238E27FC236}">
                <a16:creationId xmlns:a16="http://schemas.microsoft.com/office/drawing/2014/main" id="{B4DCB090-9E32-4581-AA89-C769B25D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62375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terbaik</a:t>
            </a:r>
          </a:p>
        </p:txBody>
      </p:sp>
      <p:sp>
        <p:nvSpPr>
          <p:cNvPr id="34" name="contour-body-5">
            <a:extLst xmlns:a="http://schemas.openxmlformats.org/drawingml/2006/main">
              <a:ext uri="{FF2B5EF4-FFF2-40B4-BE49-F238E27FC236}">
                <a16:creationId xmlns:a16="http://schemas.microsoft.com/office/drawing/2014/main" id="{F65B7BF6-FFCA-45CC-ABB0-17070A7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91000"/>
            <a:ext cx="161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Overlap + area</a:t>
            </a:r>
          </a:p>
        </p:txBody>
      </p:sp>
      <p:sp>
        <p:nvSpPr>
          <p:cNvPr id="35" name="contour-callout">
            <a:extLst xmlns:a="http://schemas.openxmlformats.org/drawingml/2006/main">
              <a:ext uri="{FF2B5EF4-FFF2-40B4-BE49-F238E27FC236}">
                <a16:creationId xmlns:a16="http://schemas.microsoft.com/office/drawing/2014/main" id="{BFA88DAA-3B03-4788-A84D-30A29ECF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ntour-callout-text">
            <a:extLst xmlns:a="http://schemas.openxmlformats.org/drawingml/2006/main">
              <a:ext uri="{FF2B5EF4-FFF2-40B4-BE49-F238E27FC236}">
                <a16:creationId xmlns:a16="http://schemas.microsoft.com/office/drawing/2014/main" id="{7825FD85-7386-444B-81F9-8847AE30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91150"/>
            <a:ext cx="809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Hasil kontur menggambar batas tubuh dan bounding box. Tinggi utama tetap berasal dari headTop–footBottom MediaPipe.</a:t>
            </a:r>
          </a:p>
        </p:txBody>
      </p:sp>
    </p:spTree>
    <p:extLst>
      <p:ext uri="{BB962C8B-B14F-4D97-AF65-F5344CB8AC3E}">
        <p14:creationId xmlns:p14="http://schemas.microsoft.com/office/powerpoint/2010/main" val="4064691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our-parameters-slide-background">
            <a:extLst xmlns:a="http://schemas.openxmlformats.org/drawingml/2006/main">
              <a:ext uri="{FF2B5EF4-FFF2-40B4-BE49-F238E27FC236}">
                <a16:creationId xmlns:a16="http://schemas.microsoft.com/office/drawing/2014/main" id="{FE2FF656-EF44-480E-B964-F12A5F81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6A4AA0F7-D351-40DC-B887-C5D1BC49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Parameter kontur mengatur sensitivitas</a:t>
            </a:r>
          </a:p>
        </p:txBody>
      </p:sp>
      <p:cxnSp>
        <p:nvCxnSpPr>
          <p:cNvPr id="33" name="accent-17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3B967275-320D-4BFF-BB48-DA576B79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5" name="source-17">
            <a:extLst xmlns:a="http://schemas.openxmlformats.org/drawingml/2006/main">
              <a:ext uri="{FF2B5EF4-FFF2-40B4-BE49-F238E27FC236}">
                <a16:creationId xmlns:a16="http://schemas.microsoft.com/office/drawing/2014/main" id="{3AE68238-E892-4097-B0D8-9F15B922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runContourProcess() dan getPoseBoundingRect()</a:t>
            </a:r>
          </a:p>
        </p:txBody>
      </p:sp>
      <p:sp>
        <p:nvSpPr>
          <p:cNvPr id="6" name="param-panel-0">
            <a:extLst xmlns:a="http://schemas.openxmlformats.org/drawingml/2006/main">
              <a:ext uri="{FF2B5EF4-FFF2-40B4-BE49-F238E27FC236}">
                <a16:creationId xmlns:a16="http://schemas.microsoft.com/office/drawing/2014/main" id="{80FB0670-753B-47F6-870F-4865D15A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33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am-value-0">
            <a:extLst xmlns:a="http://schemas.openxmlformats.org/drawingml/2006/main">
              <a:ext uri="{FF2B5EF4-FFF2-40B4-BE49-F238E27FC236}">
                <a16:creationId xmlns:a16="http://schemas.microsoft.com/office/drawing/2014/main" id="{779FC088-AC13-4E7C-AA4F-395CF6F4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04975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 × 5</a:t>
            </a:r>
          </a:p>
        </p:txBody>
      </p:sp>
      <p:sp>
        <p:nvSpPr>
          <p:cNvPr id="8" name="param-name-0">
            <a:extLst xmlns:a="http://schemas.openxmlformats.org/drawingml/2006/main">
              <a:ext uri="{FF2B5EF4-FFF2-40B4-BE49-F238E27FC236}">
                <a16:creationId xmlns:a16="http://schemas.microsoft.com/office/drawing/2014/main" id="{15C199B3-4E36-408B-A4C9-163F141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478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Gaussian blur</a:t>
            </a:r>
          </a:p>
        </p:txBody>
      </p:sp>
      <p:sp>
        <p:nvSpPr>
          <p:cNvPr id="9" name="param-use-0">
            <a:extLst xmlns:a="http://schemas.openxmlformats.org/drawingml/2006/main">
              <a:ext uri="{FF2B5EF4-FFF2-40B4-BE49-F238E27FC236}">
                <a16:creationId xmlns:a16="http://schemas.microsoft.com/office/drawing/2014/main" id="{5FA48E99-B583-4820-B908-FA1E8ADB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66925"/>
            <a:ext cx="3286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Meredam detail kecil sebelum deteksi tepi</a:t>
            </a:r>
          </a:p>
        </p:txBody>
      </p:sp>
      <p:sp>
        <p:nvSpPr>
          <p:cNvPr id="10" name="param-panel-1">
            <a:extLst xmlns:a="http://schemas.openxmlformats.org/drawingml/2006/main">
              <a:ext uri="{FF2B5EF4-FFF2-40B4-BE49-F238E27FC236}">
                <a16:creationId xmlns:a16="http://schemas.microsoft.com/office/drawing/2014/main" id="{0BDA8095-ECBA-4F5A-93A6-CC4505B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76375"/>
            <a:ext cx="533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ram-value-1">
            <a:extLst xmlns:a="http://schemas.openxmlformats.org/drawingml/2006/main">
              <a:ext uri="{FF2B5EF4-FFF2-40B4-BE49-F238E27FC236}">
                <a16:creationId xmlns:a16="http://schemas.microsoft.com/office/drawing/2014/main" id="{7637AA3C-EEBB-4A3C-A90B-FE843C2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04975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45 / 140</a:t>
            </a:r>
          </a:p>
        </p:txBody>
      </p:sp>
      <p:sp>
        <p:nvSpPr>
          <p:cNvPr id="12" name="param-name-1">
            <a:extLst xmlns:a="http://schemas.openxmlformats.org/drawingml/2006/main">
              <a:ext uri="{FF2B5EF4-FFF2-40B4-BE49-F238E27FC236}">
                <a16:creationId xmlns:a16="http://schemas.microsoft.com/office/drawing/2014/main" id="{373D618F-8D6C-4A90-A1EC-20F4730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478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Canny threshold</a:t>
            </a:r>
          </a:p>
        </p:txBody>
      </p:sp>
      <p:sp>
        <p:nvSpPr>
          <p:cNvPr id="13" name="param-use-1">
            <a:extLst xmlns:a="http://schemas.openxmlformats.org/drawingml/2006/main">
              <a:ext uri="{FF2B5EF4-FFF2-40B4-BE49-F238E27FC236}">
                <a16:creationId xmlns:a16="http://schemas.microsoft.com/office/drawing/2014/main" id="{D0ACAA37-9584-4A7C-8349-D4262A7A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66925"/>
            <a:ext cx="3286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Batas tepi lemah dan kuat</a:t>
            </a:r>
          </a:p>
        </p:txBody>
      </p:sp>
      <p:sp>
        <p:nvSpPr>
          <p:cNvPr id="14" name="param-panel-2">
            <a:extLst xmlns:a="http://schemas.openxmlformats.org/drawingml/2006/main">
              <a:ext uri="{FF2B5EF4-FFF2-40B4-BE49-F238E27FC236}">
                <a16:creationId xmlns:a16="http://schemas.microsoft.com/office/drawing/2014/main" id="{D673B29B-DFD2-4B7F-AB39-2F7FB64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533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ram-value-2">
            <a:extLst xmlns:a="http://schemas.openxmlformats.org/drawingml/2006/main">
              <a:ext uri="{FF2B5EF4-FFF2-40B4-BE49-F238E27FC236}">
                <a16:creationId xmlns:a16="http://schemas.microsoft.com/office/drawing/2014/main" id="{52FB2DB4-FC3E-4B18-84BA-D4E9DD8C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33725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7 × 7</a:t>
            </a:r>
          </a:p>
        </p:txBody>
      </p:sp>
      <p:sp>
        <p:nvSpPr>
          <p:cNvPr id="16" name="param-name-2">
            <a:extLst xmlns:a="http://schemas.openxmlformats.org/drawingml/2006/main">
              <a:ext uri="{FF2B5EF4-FFF2-40B4-BE49-F238E27FC236}">
                <a16:creationId xmlns:a16="http://schemas.microsoft.com/office/drawing/2014/main" id="{8B2697D5-F20E-416E-8941-7168DC9A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7657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Kernel dilasi</a:t>
            </a:r>
          </a:p>
        </p:txBody>
      </p:sp>
      <p:sp>
        <p:nvSpPr>
          <p:cNvPr id="17" name="param-use-2">
            <a:extLst xmlns:a="http://schemas.openxmlformats.org/drawingml/2006/main">
              <a:ext uri="{FF2B5EF4-FFF2-40B4-BE49-F238E27FC236}">
                <a16:creationId xmlns:a16="http://schemas.microsoft.com/office/drawing/2014/main" id="{8209D930-7BB3-4679-9638-5EE0174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95675"/>
            <a:ext cx="3286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Menyambungkan tepi tubuh yang terputus</a:t>
            </a:r>
          </a:p>
        </p:txBody>
      </p:sp>
      <p:sp>
        <p:nvSpPr>
          <p:cNvPr id="18" name="param-panel-3">
            <a:extLst xmlns:a="http://schemas.openxmlformats.org/drawingml/2006/main">
              <a:ext uri="{FF2B5EF4-FFF2-40B4-BE49-F238E27FC236}">
                <a16:creationId xmlns:a16="http://schemas.microsoft.com/office/drawing/2014/main" id="{10BA47E6-94C2-4F0F-967F-3E7FAFDD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33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m-value-3">
            <a:extLst xmlns:a="http://schemas.openxmlformats.org/drawingml/2006/main">
              <a:ext uri="{FF2B5EF4-FFF2-40B4-BE49-F238E27FC236}">
                <a16:creationId xmlns:a16="http://schemas.microsoft.com/office/drawing/2014/main" id="{36323843-705A-4D6E-A267-6C178D4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33725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80 px</a:t>
            </a:r>
          </a:p>
        </p:txBody>
      </p:sp>
      <p:sp>
        <p:nvSpPr>
          <p:cNvPr id="20" name="param-name-3">
            <a:extLst xmlns:a="http://schemas.openxmlformats.org/drawingml/2006/main">
              <a:ext uri="{FF2B5EF4-FFF2-40B4-BE49-F238E27FC236}">
                <a16:creationId xmlns:a16="http://schemas.microsoft.com/office/drawing/2014/main" id="{7505D3F2-539E-440F-931B-B83DA30E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7657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Padding poseRect</a:t>
            </a:r>
          </a:p>
        </p:txBody>
      </p:sp>
      <p:sp>
        <p:nvSpPr>
          <p:cNvPr id="21" name="param-use-3">
            <a:extLst xmlns:a="http://schemas.openxmlformats.org/drawingml/2006/main">
              <a:ext uri="{FF2B5EF4-FFF2-40B4-BE49-F238E27FC236}">
                <a16:creationId xmlns:a16="http://schemas.microsoft.com/office/drawing/2014/main" id="{F9F0A265-A3F6-4F83-990B-AC9D59A4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95675"/>
            <a:ext cx="3286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Memperluas kotak landmark agar kontur tubuh masuk</a:t>
            </a:r>
          </a:p>
        </p:txBody>
      </p:sp>
      <p:sp>
        <p:nvSpPr>
          <p:cNvPr id="22" name="param-panel-4">
            <a:extLst xmlns:a="http://schemas.openxmlformats.org/drawingml/2006/main">
              <a:ext uri="{FF2B5EF4-FFF2-40B4-BE49-F238E27FC236}">
                <a16:creationId xmlns:a16="http://schemas.microsoft.com/office/drawing/2014/main" id="{158511A6-C34F-4072-BD70-56085C64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533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am-value-4">
            <a:extLst xmlns:a="http://schemas.openxmlformats.org/drawingml/2006/main">
              <a:ext uri="{FF2B5EF4-FFF2-40B4-BE49-F238E27FC236}">
                <a16:creationId xmlns:a16="http://schemas.microsoft.com/office/drawing/2014/main" id="{39974EBB-5019-4128-B735-5DD4948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300 px²</a:t>
            </a:r>
          </a:p>
        </p:txBody>
      </p:sp>
      <p:sp>
        <p:nvSpPr>
          <p:cNvPr id="24" name="param-name-4">
            <a:extLst xmlns:a="http://schemas.openxmlformats.org/drawingml/2006/main">
              <a:ext uri="{FF2B5EF4-FFF2-40B4-BE49-F238E27FC236}">
                <a16:creationId xmlns:a16="http://schemas.microsoft.com/office/drawing/2014/main" id="{1F8F333B-9540-4074-AF8A-A3762531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053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Minimum area</a:t>
            </a:r>
          </a:p>
        </p:txBody>
      </p:sp>
      <p:sp>
        <p:nvSpPr>
          <p:cNvPr id="25" name="param-use-4">
            <a:extLst xmlns:a="http://schemas.openxmlformats.org/drawingml/2006/main">
              <a:ext uri="{FF2B5EF4-FFF2-40B4-BE49-F238E27FC236}">
                <a16:creationId xmlns:a16="http://schemas.microsoft.com/office/drawing/2014/main" id="{92B2BAC2-0591-4C7F-B7DD-5A66747F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24425"/>
            <a:ext cx="3286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Membuang kontur sangat kecil</a:t>
            </a:r>
          </a:p>
        </p:txBody>
      </p:sp>
      <p:sp>
        <p:nvSpPr>
          <p:cNvPr id="26" name="param-panel-5">
            <a:extLst xmlns:a="http://schemas.openxmlformats.org/drawingml/2006/main">
              <a:ext uri="{FF2B5EF4-FFF2-40B4-BE49-F238E27FC236}">
                <a16:creationId xmlns:a16="http://schemas.microsoft.com/office/drawing/2014/main" id="{94CA3C00-50E7-4A30-8D21-D23C51CA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33875"/>
            <a:ext cx="5334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m-value-5">
            <a:extLst xmlns:a="http://schemas.openxmlformats.org/drawingml/2006/main">
              <a:ext uri="{FF2B5EF4-FFF2-40B4-BE49-F238E27FC236}">
                <a16:creationId xmlns:a16="http://schemas.microsoft.com/office/drawing/2014/main" id="{B912299B-7000-40B9-9178-1A9F9729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62475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0,03</a:t>
            </a:r>
          </a:p>
        </p:txBody>
      </p:sp>
      <p:sp>
        <p:nvSpPr>
          <p:cNvPr id="28" name="param-name-5">
            <a:extLst xmlns:a="http://schemas.openxmlformats.org/drawingml/2006/main">
              <a:ext uri="{FF2B5EF4-FFF2-40B4-BE49-F238E27FC236}">
                <a16:creationId xmlns:a16="http://schemas.microsoft.com/office/drawing/2014/main" id="{7BA1A9DD-AC8A-493D-B8EC-FCA8404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05325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Bobot area</a:t>
            </a:r>
          </a:p>
        </p:txBody>
      </p:sp>
      <p:sp>
        <p:nvSpPr>
          <p:cNvPr id="29" name="param-use-5">
            <a:extLst xmlns:a="http://schemas.openxmlformats.org/drawingml/2006/main">
              <a:ext uri="{FF2B5EF4-FFF2-40B4-BE49-F238E27FC236}">
                <a16:creationId xmlns:a16="http://schemas.microsoft.com/office/drawing/2014/main" id="{995BFAFB-52CB-464E-8359-25A22F0E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3286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score = overlap + area × 0,03</a:t>
            </a:r>
          </a:p>
        </p:txBody>
      </p:sp>
      <p:sp>
        <p:nvSpPr>
          <p:cNvPr id="30" name="contour-origin-note">
            <a:extLst xmlns:a="http://schemas.openxmlformats.org/drawingml/2006/main">
              <a:ext uri="{FF2B5EF4-FFF2-40B4-BE49-F238E27FC236}">
                <a16:creationId xmlns:a16="http://schemas.microsoft.com/office/drawing/2014/main" id="{134A5219-2C00-471F-A2CF-0691298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953125"/>
            <a:ext cx="981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Nilai-nilai ini adalah parameter implementasi yang ditulis langsung di kode, bukan angka otomatis dari OpenCV. Perubahannya memengaruhi sensitivitas kontur.</a:t>
            </a:r>
          </a:p>
        </p:txBody>
      </p:sp>
    </p:spTree>
    <p:extLst>
      <p:ext uri="{BB962C8B-B14F-4D97-AF65-F5344CB8AC3E}">
        <p14:creationId xmlns:p14="http://schemas.microsoft.com/office/powerpoint/2010/main" val="3557303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urrent-factors-slide-background">
            <a:extLst xmlns:a="http://schemas.openxmlformats.org/drawingml/2006/main">
              <a:ext uri="{FF2B5EF4-FFF2-40B4-BE49-F238E27FC236}">
                <a16:creationId xmlns:a16="http://schemas.microsoft.com/office/drawing/2014/main" id="{48870DE9-FA7A-455A-9801-092FCE2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382B8E6B-E34D-48FD-B473-F21DBB5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Faktor kedalaman netral; kalibrasi +2,5%</a:t>
            </a:r>
          </a:p>
        </p:txBody>
      </p:sp>
      <p:cxnSp>
        <p:nvCxnSpPr>
          <p:cNvPr id="15" name="accent-18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4D629C00-D793-4961-9706-29AD012F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5" name="source-18">
            <a:extLst xmlns:a="http://schemas.openxmlformats.org/drawingml/2006/main">
              <a:ext uri="{FF2B5EF4-FFF2-40B4-BE49-F238E27FC236}">
                <a16:creationId xmlns:a16="http://schemas.microsoft.com/office/drawing/2014/main" id="{4DC1E01F-1B35-430A-9603-3156638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konstanta pada MeasurementActivity.java</a:t>
            </a:r>
          </a:p>
        </p:txBody>
      </p:sp>
      <p:sp>
        <p:nvSpPr>
          <p:cNvPr id="6" name="depth-current">
            <a:extLst xmlns:a="http://schemas.openxmlformats.org/drawingml/2006/main">
              <a:ext uri="{FF2B5EF4-FFF2-40B4-BE49-F238E27FC236}">
                <a16:creationId xmlns:a16="http://schemas.microsoft.com/office/drawing/2014/main" id="{2AF024B9-E505-4859-A167-C098621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38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pth-current-title">
            <a:extLst xmlns:a="http://schemas.openxmlformats.org/drawingml/2006/main">
              <a:ext uri="{FF2B5EF4-FFF2-40B4-BE49-F238E27FC236}">
                <a16:creationId xmlns:a16="http://schemas.microsoft.com/office/drawing/2014/main" id="{7948E65A-4E13-4E62-BAFC-D4FFB726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57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75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DEPTH_CORRECTION_FACTOR = 1,0</a:t>
            </a:r>
          </a:p>
        </p:txBody>
      </p:sp>
      <p:sp>
        <p:nvSpPr>
          <p:cNvPr id="8" name="depth-current-body">
            <a:extLst xmlns:a="http://schemas.openxmlformats.org/drawingml/2006/main">
              <a:ext uri="{FF2B5EF4-FFF2-40B4-BE49-F238E27FC236}">
                <a16:creationId xmlns:a16="http://schemas.microsoft.com/office/drawing/2014/main" id="{9B37CA0D-AC41-49EB-833B-F70C0CC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47675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Asal: ditetapkan langsung setelah kolom jarak subjek dihapus.
Kegunaan: pengali koreksi perspektif/kedalaman.
Dampak: karena nilainya 1,0, tinggi tidak berubah.</a:t>
            </a:r>
          </a:p>
        </p:txBody>
      </p:sp>
      <p:sp>
        <p:nvSpPr>
          <p:cNvPr id="9" name="cal-current">
            <a:extLst xmlns:a="http://schemas.openxmlformats.org/drawingml/2006/main">
              <a:ext uri="{FF2B5EF4-FFF2-40B4-BE49-F238E27FC236}">
                <a16:creationId xmlns:a16="http://schemas.microsoft.com/office/drawing/2014/main" id="{07285890-077B-4F02-9E04-338BCCF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5410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-current-title">
            <a:extLst xmlns:a="http://schemas.openxmlformats.org/drawingml/2006/main">
              <a:ext uri="{FF2B5EF4-FFF2-40B4-BE49-F238E27FC236}">
                <a16:creationId xmlns:a16="http://schemas.microsoft.com/office/drawing/2014/main" id="{84B2BBD3-579B-49D1-B913-217F3586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68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HEIGHT_CALIBRATION_FACTOR = 1,025</a:t>
            </a:r>
          </a:p>
        </p:txBody>
      </p:sp>
      <p:sp>
        <p:nvSpPr>
          <p:cNvPr id="11" name="cal-current-body">
            <a:extLst xmlns:a="http://schemas.openxmlformats.org/drawingml/2006/main">
              <a:ext uri="{FF2B5EF4-FFF2-40B4-BE49-F238E27FC236}">
                <a16:creationId xmlns:a16="http://schemas.microsoft.com/office/drawing/2014/main" id="{AA184C43-CF29-489C-BB8E-942D4CFF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57200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Asal: contoh kalibrasi pada komentar kode, 160/156 = 1,02564 lalu dibulatkan 1,025.
Kegunaan: koreksi proporsional hasil akhir.
Dampak: hasil naik sekitar 2,5%.</a:t>
            </a:r>
          </a:p>
        </p:txBody>
      </p:sp>
      <p:sp>
        <p:nvSpPr>
          <p:cNvPr id="12" name="camera-current-note">
            <a:extLst xmlns:a="http://schemas.openxmlformats.org/drawingml/2006/main">
              <a:ext uri="{FF2B5EF4-FFF2-40B4-BE49-F238E27FC236}">
                <a16:creationId xmlns:a16="http://schemas.microsoft.com/office/drawing/2014/main" id="{721B28DF-183C-4290-812D-AB678DC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CAMERA_DISTANCE_CM = 350 cm masih ada untuk informasi/debug, tetapi tidak dipakai dalam pixelToCm() pada versi kode sekarang.</a:t>
            </a:r>
          </a:p>
        </p:txBody>
      </p:sp>
    </p:spTree>
    <p:extLst>
      <p:ext uri="{BB962C8B-B14F-4D97-AF65-F5344CB8AC3E}">
        <p14:creationId xmlns:p14="http://schemas.microsoft.com/office/powerpoint/2010/main" val="1377031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rmula-slide-background">
            <a:extLst xmlns:a="http://schemas.openxmlformats.org/drawingml/2006/main">
              <a:ext uri="{FF2B5EF4-FFF2-40B4-BE49-F238E27FC236}">
                <a16:creationId xmlns:a16="http://schemas.microsoft.com/office/drawing/2014/main" id="{11F3E6A6-BA12-4084-A1EC-23DA1225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59D66B81-509F-426A-92A9-2F6C785E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Rumus akhir mengikuti konstanta kode terbaru</a:t>
            </a:r>
          </a:p>
        </p:txBody>
      </p:sp>
      <p:cxnSp>
        <p:nvCxnSpPr>
          <p:cNvPr id="30" name="accent-19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A7269370-7C04-478A-98D6-7ACD84E2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5" name="source-19">
            <a:extLst xmlns:a="http://schemas.openxmlformats.org/drawingml/2006/main">
              <a:ext uri="{FF2B5EF4-FFF2-40B4-BE49-F238E27FC236}">
                <a16:creationId xmlns:a16="http://schemas.microsoft.com/office/drawing/2014/main" id="{27F55C53-16E0-4358-B8DD-66859B35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pixelToCm() pada MeasurementActivity.java</a:t>
            </a:r>
          </a:p>
        </p:txBody>
      </p:sp>
      <p:sp>
        <p:nvSpPr>
          <p:cNvPr id="6" name="final-formula">
            <a:extLst xmlns:a="http://schemas.openxmlformats.org/drawingml/2006/main">
              <a:ext uri="{FF2B5EF4-FFF2-40B4-BE49-F238E27FC236}">
                <a16:creationId xmlns:a16="http://schemas.microsoft.com/office/drawing/2014/main" id="{4F55CA2D-7C87-4069-A238-21810636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 = Hpx × Sboard × Fdepth × Fkalibrasi</a:t>
            </a:r>
          </a:p>
        </p:txBody>
      </p:sp>
      <p:cxnSp>
        <p:nvCxnSpPr>
          <p:cNvPr id="34" name="formula-rule"/>
          <p:cNvCxnSpPr/>
          <p:nvPr/>
        </p:nvCxnSpPr>
        <p:spPr>
          <a:xfrm xmlns:a="http://schemas.openxmlformats.org/drawingml/2006/main">
            <a:off x="2095500" y="2571750"/>
            <a:ext cx="800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def-panel-0">
            <a:extLst xmlns:a="http://schemas.openxmlformats.org/drawingml/2006/main">
              <a:ext uri="{FF2B5EF4-FFF2-40B4-BE49-F238E27FC236}">
                <a16:creationId xmlns:a16="http://schemas.microsoft.com/office/drawing/2014/main" id="{A551BB31-440A-416A-A152-55954DE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f-bar-0">
            <a:extLst xmlns:a="http://schemas.openxmlformats.org/drawingml/2006/main">
              <a:ext uri="{FF2B5EF4-FFF2-40B4-BE49-F238E27FC236}">
                <a16:creationId xmlns:a16="http://schemas.microsoft.com/office/drawing/2014/main" id="{2AAF0350-0429-4587-B995-F23DB84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f-key-0">
            <a:extLst xmlns:a="http://schemas.openxmlformats.org/drawingml/2006/main">
              <a:ext uri="{FF2B5EF4-FFF2-40B4-BE49-F238E27FC236}">
                <a16:creationId xmlns:a16="http://schemas.microsoft.com/office/drawing/2014/main" id="{B13B0272-D3F5-4748-8435-2FED977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Hpx</a:t>
            </a:r>
          </a:p>
        </p:txBody>
      </p:sp>
      <p:sp>
        <p:nvSpPr>
          <p:cNvPr id="11" name="def-val-0">
            <a:extLst xmlns:a="http://schemas.openxmlformats.org/drawingml/2006/main">
              <a:ext uri="{FF2B5EF4-FFF2-40B4-BE49-F238E27FC236}">
                <a16:creationId xmlns:a16="http://schemas.microsoft.com/office/drawing/2014/main" id="{77F0FBA5-730A-4B9F-A0C9-898C8112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|Ykaki − Ykepala|</a:t>
            </a:r>
          </a:p>
        </p:txBody>
      </p:sp>
      <p:sp>
        <p:nvSpPr>
          <p:cNvPr id="12" name="def-panel-1">
            <a:extLst xmlns:a="http://schemas.openxmlformats.org/drawingml/2006/main">
              <a:ext uri="{FF2B5EF4-FFF2-40B4-BE49-F238E27FC236}">
                <a16:creationId xmlns:a16="http://schemas.microsoft.com/office/drawing/2014/main" id="{E11AA1F9-05AA-4A87-B246-1870F5BF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f-bar-1">
            <a:extLst xmlns:a="http://schemas.openxmlformats.org/drawingml/2006/main">
              <a:ext uri="{FF2B5EF4-FFF2-40B4-BE49-F238E27FC236}">
                <a16:creationId xmlns:a16="http://schemas.microsoft.com/office/drawing/2014/main" id="{EC813F76-76EC-46FD-BCC2-802F80C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f-key-1">
            <a:extLst xmlns:a="http://schemas.openxmlformats.org/drawingml/2006/main">
              <a:ext uri="{FF2B5EF4-FFF2-40B4-BE49-F238E27FC236}">
                <a16:creationId xmlns:a16="http://schemas.microsoft.com/office/drawing/2014/main" id="{C4D36870-B0FC-432B-B6A3-4D34B895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Sboard</a:t>
            </a:r>
          </a:p>
        </p:txBody>
      </p:sp>
      <p:sp>
        <p:nvSpPr>
          <p:cNvPr id="15" name="def-val-1">
            <a:extLst xmlns:a="http://schemas.openxmlformats.org/drawingml/2006/main">
              <a:ext uri="{FF2B5EF4-FFF2-40B4-BE49-F238E27FC236}">
                <a16:creationId xmlns:a16="http://schemas.microsoft.com/office/drawing/2014/main" id="{3C0758CB-9DFD-4634-9E89-08E0CB89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200 / 2322 ≈ 0,08613 cm/px</a:t>
            </a:r>
          </a:p>
        </p:txBody>
      </p:sp>
      <p:sp>
        <p:nvSpPr>
          <p:cNvPr id="16" name="def-panel-2">
            <a:extLst xmlns:a="http://schemas.openxmlformats.org/drawingml/2006/main">
              <a:ext uri="{FF2B5EF4-FFF2-40B4-BE49-F238E27FC236}">
                <a16:creationId xmlns:a16="http://schemas.microsoft.com/office/drawing/2014/main" id="{B5728CF7-1FA6-4C14-B93E-A34874F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f-bar-2">
            <a:extLst xmlns:a="http://schemas.openxmlformats.org/drawingml/2006/main">
              <a:ext uri="{FF2B5EF4-FFF2-40B4-BE49-F238E27FC236}">
                <a16:creationId xmlns:a16="http://schemas.microsoft.com/office/drawing/2014/main" id="{B815FEEA-8BBF-40A0-B922-4201A9BA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f-key-2">
            <a:extLst xmlns:a="http://schemas.openxmlformats.org/drawingml/2006/main">
              <a:ext uri="{FF2B5EF4-FFF2-40B4-BE49-F238E27FC236}">
                <a16:creationId xmlns:a16="http://schemas.microsoft.com/office/drawing/2014/main" id="{3161B219-1F9E-491C-8450-FC04626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Fdepth</a:t>
            </a:r>
          </a:p>
        </p:txBody>
      </p:sp>
      <p:sp>
        <p:nvSpPr>
          <p:cNvPr id="19" name="def-val-2">
            <a:extLst xmlns:a="http://schemas.openxmlformats.org/drawingml/2006/main">
              <a:ext uri="{FF2B5EF4-FFF2-40B4-BE49-F238E27FC236}">
                <a16:creationId xmlns:a16="http://schemas.microsoft.com/office/drawing/2014/main" id="{F8750599-A821-4337-B1CF-B74048A1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1,0
faktor kedalaman</a:t>
            </a:r>
          </a:p>
        </p:txBody>
      </p:sp>
      <p:sp>
        <p:nvSpPr>
          <p:cNvPr id="20" name="def-panel-3">
            <a:extLst xmlns:a="http://schemas.openxmlformats.org/drawingml/2006/main">
              <a:ext uri="{FF2B5EF4-FFF2-40B4-BE49-F238E27FC236}">
                <a16:creationId xmlns:a16="http://schemas.microsoft.com/office/drawing/2014/main" id="{65E26D3A-762C-4262-B39D-89967EF0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571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f-bar-3">
            <a:extLst xmlns:a="http://schemas.openxmlformats.org/drawingml/2006/main">
              <a:ext uri="{FF2B5EF4-FFF2-40B4-BE49-F238E27FC236}">
                <a16:creationId xmlns:a16="http://schemas.microsoft.com/office/drawing/2014/main" id="{DAEEF96D-4901-466D-A4E6-87E649E4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f-key-3">
            <a:extLst xmlns:a="http://schemas.openxmlformats.org/drawingml/2006/main">
              <a:ext uri="{FF2B5EF4-FFF2-40B4-BE49-F238E27FC236}">
                <a16:creationId xmlns:a16="http://schemas.microsoft.com/office/drawing/2014/main" id="{2B84DF44-26E3-4D98-BA18-2A0DA47C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Fkalibrasi</a:t>
            </a:r>
          </a:p>
        </p:txBody>
      </p:sp>
      <p:sp>
        <p:nvSpPr>
          <p:cNvPr id="23" name="def-val-3">
            <a:extLst xmlns:a="http://schemas.openxmlformats.org/drawingml/2006/main">
              <a:ext uri="{FF2B5EF4-FFF2-40B4-BE49-F238E27FC236}">
                <a16:creationId xmlns:a16="http://schemas.microsoft.com/office/drawing/2014/main" id="{666401EF-6FFE-493A-B74C-E62414A9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67125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1,025
kalibrasi tinggi</a:t>
            </a:r>
          </a:p>
        </p:txBody>
      </p:sp>
      <p:sp>
        <p:nvSpPr>
          <p:cNvPr id="24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3CA45AAD-E374-4B5F-8A1D-69AD31A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53A5E1A2-E969-411E-850A-08B5D687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Contoh ilustratif</a:t>
            </a:r>
          </a:p>
        </p:txBody>
      </p:sp>
      <p:sp>
        <p:nvSpPr>
          <p:cNvPr id="26" name="example-calc">
            <a:extLst xmlns:a="http://schemas.openxmlformats.org/drawingml/2006/main">
              <a:ext uri="{FF2B5EF4-FFF2-40B4-BE49-F238E27FC236}">
                <a16:creationId xmlns:a16="http://schemas.microsoft.com/office/drawing/2014/main" id="{DED4BE9E-C268-4026-A5A3-4586B8A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Contoh: 1800 px × 0,08613 cm/px × 1,0 × 1,025 ≈ 158,9 cm</a:t>
            </a:r>
          </a:p>
        </p:txBody>
      </p:sp>
      <p:sp>
        <p:nvSpPr>
          <p:cNvPr id="27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5E406470-D474-40C1-9998-ADA2DEF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3125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Contoh ilustratif. Nilai 350 cm tidak muncul karena faktor kedalaman ditetapkan langsung 1,0.</a:t>
            </a:r>
          </a:p>
        </p:txBody>
      </p:sp>
    </p:spTree>
    <p:extLst>
      <p:ext uri="{BB962C8B-B14F-4D97-AF65-F5344CB8AC3E}">
        <p14:creationId xmlns:p14="http://schemas.microsoft.com/office/powerpoint/2010/main" val="7847881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validation-thresholds-slide-background">
            <a:extLst xmlns:a="http://schemas.openxmlformats.org/drawingml/2006/main">
              <a:ext uri="{FF2B5EF4-FFF2-40B4-BE49-F238E27FC236}">
                <a16:creationId xmlns:a16="http://schemas.microsoft.com/office/drawing/2014/main" id="{BE1C4AE6-8D6C-4D5D-A2EB-6BB764E5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E7B97A71-E43F-4888-8343-5BE94DFA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Validasi pose memakai ambang toleran</a:t>
            </a:r>
          </a:p>
        </p:txBody>
      </p:sp>
      <p:cxnSp>
        <p:nvCxnSpPr>
          <p:cNvPr id="28" name="accent-20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6D2ACCAC-5690-432C-96BA-835C4AF2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5" name="source-20">
            <a:extLst xmlns:a="http://schemas.openxmlformats.org/drawingml/2006/main">
              <a:ext uri="{FF2B5EF4-FFF2-40B4-BE49-F238E27FC236}">
                <a16:creationId xmlns:a16="http://schemas.microsoft.com/office/drawing/2014/main" id="{1569EF33-57DD-4303-83A0-7E4FF263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validatePose() pada MeasurementActivity.java</a:t>
            </a:r>
          </a:p>
        </p:txBody>
      </p:sp>
      <p:sp>
        <p:nvSpPr>
          <p:cNvPr id="6" name="validation-rule-0">
            <a:extLst xmlns:a="http://schemas.openxmlformats.org/drawingml/2006/main">
              <a:ext uri="{FF2B5EF4-FFF2-40B4-BE49-F238E27FC236}">
                <a16:creationId xmlns:a16="http://schemas.microsoft.com/office/drawing/2014/main" id="{386974C4-F529-4CCC-A936-5F5114E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alidation-threshold-0">
            <a:extLst xmlns:a="http://schemas.openxmlformats.org/drawingml/2006/main">
              <a:ext uri="{FF2B5EF4-FFF2-40B4-BE49-F238E27FC236}">
                <a16:creationId xmlns:a16="http://schemas.microsoft.com/office/drawing/2014/main" id="{756D41F0-3DE1-47E7-8034-5CEDD89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Visibility &lt; 0,1</a:t>
            </a:r>
          </a:p>
        </p:txBody>
      </p:sp>
      <p:sp>
        <p:nvSpPr>
          <p:cNvPr id="8" name="validation-purpose-0">
            <a:extLst xmlns:a="http://schemas.openxmlformats.org/drawingml/2006/main">
              <a:ext uri="{FF2B5EF4-FFF2-40B4-BE49-F238E27FC236}">
                <a16:creationId xmlns:a16="http://schemas.microsoft.com/office/drawing/2014/main" id="{D7F34399-CEF3-497D-BDEE-81187733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192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Warning jika lebih dari 3 dari 7 landmark utama rendah</a:t>
            </a:r>
          </a:p>
        </p:txBody>
      </p:sp>
      <p:sp>
        <p:nvSpPr>
          <p:cNvPr id="9" name="validation-rule-1">
            <a:extLst xmlns:a="http://schemas.openxmlformats.org/drawingml/2006/main">
              <a:ext uri="{FF2B5EF4-FFF2-40B4-BE49-F238E27FC236}">
                <a16:creationId xmlns:a16="http://schemas.microsoft.com/office/drawing/2014/main" id="{E448E5FC-B360-4128-B4E9-4615FC9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alidation-threshold-1">
            <a:extLst xmlns:a="http://schemas.openxmlformats.org/drawingml/2006/main">
              <a:ext uri="{FF2B5EF4-FFF2-40B4-BE49-F238E27FC236}">
                <a16:creationId xmlns:a16="http://schemas.microsoft.com/office/drawing/2014/main" id="{FFBD0DA2-0D74-43B4-A607-7ADD1CBC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3830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Bahu &gt; 35%</a:t>
            </a:r>
          </a:p>
        </p:txBody>
      </p:sp>
      <p:sp>
        <p:nvSpPr>
          <p:cNvPr id="11" name="validation-purpose-1">
            <a:extLst xmlns:a="http://schemas.openxmlformats.org/drawingml/2006/main">
              <a:ext uri="{FF2B5EF4-FFF2-40B4-BE49-F238E27FC236}">
                <a16:creationId xmlns:a16="http://schemas.microsoft.com/office/drawing/2014/main" id="{2A43804D-D5F5-4C8E-BA17-E9D570C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192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 kiri−kanan| / lebar bahu</a:t>
            </a:r>
          </a:p>
        </p:txBody>
      </p:sp>
      <p:sp>
        <p:nvSpPr>
          <p:cNvPr id="12" name="validation-rule-2">
            <a:extLst xmlns:a="http://schemas.openxmlformats.org/drawingml/2006/main">
              <a:ext uri="{FF2B5EF4-FFF2-40B4-BE49-F238E27FC236}">
                <a16:creationId xmlns:a16="http://schemas.microsoft.com/office/drawing/2014/main" id="{391C83AA-081C-4F15-8C3D-009BF344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idation-threshold-2">
            <a:extLst xmlns:a="http://schemas.openxmlformats.org/drawingml/2006/main">
              <a:ext uri="{FF2B5EF4-FFF2-40B4-BE49-F238E27FC236}">
                <a16:creationId xmlns:a16="http://schemas.microsoft.com/office/drawing/2014/main" id="{5A6FF04F-24BF-4077-97F1-9001E5B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19425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Pinggul &gt; 35%</a:t>
            </a:r>
          </a:p>
        </p:txBody>
      </p:sp>
      <p:sp>
        <p:nvSpPr>
          <p:cNvPr id="14" name="validation-purpose-2">
            <a:extLst xmlns:a="http://schemas.openxmlformats.org/drawingml/2006/main">
              <a:ext uri="{FF2B5EF4-FFF2-40B4-BE49-F238E27FC236}">
                <a16:creationId xmlns:a16="http://schemas.microsoft.com/office/drawing/2014/main" id="{9A8A2632-F873-4A5B-81F0-EFC97BA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 kiri−kanan| / lebar pinggul</a:t>
            </a:r>
          </a:p>
        </p:txBody>
      </p:sp>
      <p:sp>
        <p:nvSpPr>
          <p:cNvPr id="15" name="validation-rule-3">
            <a:extLst xmlns:a="http://schemas.openxmlformats.org/drawingml/2006/main">
              <a:ext uri="{FF2B5EF4-FFF2-40B4-BE49-F238E27FC236}">
                <a16:creationId xmlns:a16="http://schemas.microsoft.com/office/drawing/2014/main" id="{4F150F9D-BDD4-46D3-B044-2603FF4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alidation-threshold-3">
            <a:extLst xmlns:a="http://schemas.openxmlformats.org/drawingml/2006/main">
              <a:ext uri="{FF2B5EF4-FFF2-40B4-BE49-F238E27FC236}">
                <a16:creationId xmlns:a16="http://schemas.microsoft.com/office/drawing/2014/main" id="{FFA8233F-D3E1-4013-9ACD-510DF97D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19425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Lutut &lt; 130°</a:t>
            </a:r>
          </a:p>
        </p:txBody>
      </p:sp>
      <p:sp>
        <p:nvSpPr>
          <p:cNvPr id="17" name="validation-purpose-3">
            <a:extLst xmlns:a="http://schemas.openxmlformats.org/drawingml/2006/main">
              <a:ext uri="{FF2B5EF4-FFF2-40B4-BE49-F238E27FC236}">
                <a16:creationId xmlns:a16="http://schemas.microsoft.com/office/drawing/2014/main" id="{C2C9E145-D487-4461-AA9B-FF8619D4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Pose dianggap terlalu menekuk</a:t>
            </a:r>
          </a:p>
        </p:txBody>
      </p:sp>
      <p:sp>
        <p:nvSpPr>
          <p:cNvPr id="18" name="validation-rule-4">
            <a:extLst xmlns:a="http://schemas.openxmlformats.org/drawingml/2006/main">
              <a:ext uri="{FF2B5EF4-FFF2-40B4-BE49-F238E27FC236}">
                <a16:creationId xmlns:a16="http://schemas.microsoft.com/office/drawing/2014/main" id="{7B003688-3B17-4D69-9199-5B27DEED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validation-threshold-4">
            <a:extLst xmlns:a="http://schemas.openxmlformats.org/drawingml/2006/main">
              <a:ext uri="{FF2B5EF4-FFF2-40B4-BE49-F238E27FC236}">
                <a16:creationId xmlns:a16="http://schemas.microsoft.com/office/drawing/2014/main" id="{C9B8C6BB-536E-4729-B17D-CCBB1DAD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0055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Torso &gt; 30%</a:t>
            </a:r>
          </a:p>
        </p:txBody>
      </p:sp>
      <p:sp>
        <p:nvSpPr>
          <p:cNvPr id="20" name="validation-purpose-4">
            <a:extLst xmlns:a="http://schemas.openxmlformats.org/drawingml/2006/main">
              <a:ext uri="{FF2B5EF4-FFF2-40B4-BE49-F238E27FC236}">
                <a16:creationId xmlns:a16="http://schemas.microsoft.com/office/drawing/2014/main" id="{FE53CDAF-3306-40F7-B605-D9D4B70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offset horizontal / tinggi torso</a:t>
            </a:r>
          </a:p>
        </p:txBody>
      </p:sp>
      <p:sp>
        <p:nvSpPr>
          <p:cNvPr id="21" name="validation-rule-5">
            <a:extLst xmlns:a="http://schemas.openxmlformats.org/drawingml/2006/main">
              <a:ext uri="{FF2B5EF4-FFF2-40B4-BE49-F238E27FC236}">
                <a16:creationId xmlns:a16="http://schemas.microsoft.com/office/drawing/2014/main" id="{E3979515-9A79-456E-AE35-E1654024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alidation-threshold-5">
            <a:extLst xmlns:a="http://schemas.openxmlformats.org/drawingml/2006/main">
              <a:ext uri="{FF2B5EF4-FFF2-40B4-BE49-F238E27FC236}">
                <a16:creationId xmlns:a16="http://schemas.microsoft.com/office/drawing/2014/main" id="{C49714C4-0EAD-42D5-8F5C-D90E3DD3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0055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X di luar 5–95%</a:t>
            </a:r>
          </a:p>
        </p:txBody>
      </p:sp>
      <p:sp>
        <p:nvSpPr>
          <p:cNvPr id="23" name="validation-purpose-5">
            <a:extLst xmlns:a="http://schemas.openxmlformats.org/drawingml/2006/main">
              <a:ext uri="{FF2B5EF4-FFF2-40B4-BE49-F238E27FC236}">
                <a16:creationId xmlns:a16="http://schemas.microsoft.com/office/drawing/2014/main" id="{3A48CA4B-ACA6-4F7A-BC7A-AA0A820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8150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Subjek terlalu dekat tepi gambar</a:t>
            </a:r>
          </a:p>
        </p:txBody>
      </p:sp>
      <p:sp>
        <p:nvSpPr>
          <p:cNvPr id="24" name="validation-outcome">
            <a:extLst xmlns:a="http://schemas.openxmlformats.org/drawingml/2006/main">
              <a:ext uri="{FF2B5EF4-FFF2-40B4-BE49-F238E27FC236}">
                <a16:creationId xmlns:a16="http://schemas.microsoft.com/office/drawing/2014/main" id="{DE8475A4-C185-4D62-A946-625A1A8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validation-outcome-text">
            <a:extLst xmlns:a="http://schemas.openxmlformats.org/drawingml/2006/main">
              <a:ext uri="{FF2B5EF4-FFF2-40B4-BE49-F238E27FC236}">
                <a16:creationId xmlns:a16="http://schemas.microsoft.com/office/drawing/2014/main" id="{40F3A5FD-637D-4EEF-8BC0-91207C8B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81675"/>
            <a:ext cx="838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1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0–3 warning: hasil tetap valid dengan catatan. ≥4 warning: pose dinyatakan tidak valid.</a:t>
            </a:r>
          </a:p>
        </p:txBody>
      </p:sp>
    </p:spTree>
    <p:extLst>
      <p:ext uri="{BB962C8B-B14F-4D97-AF65-F5344CB8AC3E}">
        <p14:creationId xmlns:p14="http://schemas.microsoft.com/office/powerpoint/2010/main" val="1269867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validation-slide-background">
            <a:extLst xmlns:a="http://schemas.openxmlformats.org/drawingml/2006/main">
              <a:ext uri="{FF2B5EF4-FFF2-40B4-BE49-F238E27FC236}">
                <a16:creationId xmlns:a16="http://schemas.microsoft.com/office/drawing/2014/main" id="{0B0E1A01-FEA6-4F96-B6C3-FBBF9AAF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4A1EE6CE-9413-48F9-99CF-16DF9E7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Validasi pose dan batasan sistem</a:t>
            </a:r>
          </a:p>
        </p:txBody>
      </p:sp>
      <p:cxnSp>
        <p:nvCxnSpPr>
          <p:cNvPr id="27" name="accent-21"/>
          <p:cNvCxnSpPr/>
          <p:nvPr/>
        </p:nvCxnSpPr>
        <p:spPr>
          <a:xfrm xmlns:a="http://schemas.openxmlformats.org/drawingml/2006/main">
            <a:off x="400050" y="1066800"/>
            <a:ext cx="161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page-21">
            <a:extLst xmlns:a="http://schemas.openxmlformats.org/drawingml/2006/main">
              <a:ext uri="{FF2B5EF4-FFF2-40B4-BE49-F238E27FC236}">
                <a16:creationId xmlns:a16="http://schemas.microsoft.com/office/drawing/2014/main" id="{779C9623-6268-4E15-A01A-ABF6E5B8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sp>
        <p:nvSpPr>
          <p:cNvPr id="5" name="source-21">
            <a:extLst xmlns:a="http://schemas.openxmlformats.org/drawingml/2006/main">
              <a:ext uri="{FF2B5EF4-FFF2-40B4-BE49-F238E27FC236}">
                <a16:creationId xmlns:a16="http://schemas.microsoft.com/office/drawing/2014/main" id="{F2BBEDAD-4A33-4E28-9D2D-7FB49D6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validatePose() pada MeasurementActivity.java</a:t>
            </a:r>
          </a:p>
        </p:txBody>
      </p:sp>
      <p:sp>
        <p:nvSpPr>
          <p:cNvPr id="6" name="validation-lead">
            <a:extLst xmlns:a="http://schemas.openxmlformats.org/drawingml/2006/main">
              <a:ext uri="{FF2B5EF4-FFF2-40B4-BE49-F238E27FC236}">
                <a16:creationId xmlns:a16="http://schemas.microsoft.com/office/drawing/2014/main" id="{166C3326-C3AF-42A2-B3A7-CD51EB3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Sistem memeriksa kualitas pose sebelum hasil digunakan; warning tidak selalu menggagalkan proses, tetapi memberi konteks kualitas.</a:t>
            </a:r>
          </a:p>
        </p:txBody>
      </p:sp>
      <p:sp>
        <p:nvSpPr>
          <p:cNvPr id="7" name="check-dot-0">
            <a:extLst xmlns:a="http://schemas.openxmlformats.org/drawingml/2006/main">
              <a:ext uri="{FF2B5EF4-FFF2-40B4-BE49-F238E27FC236}">
                <a16:creationId xmlns:a16="http://schemas.microsoft.com/office/drawing/2014/main" id="{763966E3-757E-4C67-A0A6-CA83170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D632378A-7BEC-4BE9-8554-19277D56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8A8CC652-1CD4-4B25-8630-00D8ADD5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utama tersedia dan cukup terlihat</a:t>
            </a:r>
          </a:p>
        </p:txBody>
      </p:sp>
      <p:sp>
        <p:nvSpPr>
          <p:cNvPr id="10" name="check-dot-1">
            <a:extLst xmlns:a="http://schemas.openxmlformats.org/drawingml/2006/main">
              <a:ext uri="{FF2B5EF4-FFF2-40B4-BE49-F238E27FC236}">
                <a16:creationId xmlns:a16="http://schemas.microsoft.com/office/drawing/2014/main" id="{048B6B6F-532B-4A45-81F1-E93E517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A16499DB-4EDC-4186-9E54-298AC83D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117F90A8-0F67-4F61-B850-DBADB07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Puncak kepala serta kaki berada di dalam frame</a:t>
            </a:r>
          </a:p>
        </p:txBody>
      </p:sp>
      <p:sp>
        <p:nvSpPr>
          <p:cNvPr id="13" name="check-dot-2">
            <a:extLst xmlns:a="http://schemas.openxmlformats.org/drawingml/2006/main">
              <a:ext uri="{FF2B5EF4-FFF2-40B4-BE49-F238E27FC236}">
                <a16:creationId xmlns:a16="http://schemas.microsoft.com/office/drawing/2014/main" id="{A65A9CD2-2432-4A8A-8692-2458BFC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4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6D6A37F2-40AC-45F3-B591-224FB50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5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8B57CD31-66E5-4CC9-8B66-A748174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Kemiringan bahu dan pinggul tidak berlebihan</a:t>
            </a:r>
          </a:p>
        </p:txBody>
      </p:sp>
      <p:sp>
        <p:nvSpPr>
          <p:cNvPr id="16" name="check-dot-3">
            <a:extLst xmlns:a="http://schemas.openxmlformats.org/drawingml/2006/main">
              <a:ext uri="{FF2B5EF4-FFF2-40B4-BE49-F238E27FC236}">
                <a16:creationId xmlns:a16="http://schemas.microsoft.com/office/drawing/2014/main" id="{EEA8B061-54ED-45B4-B2C8-4FB08365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7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97B6C68C-123C-4CDA-9BF8-43D5337A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5767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8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3BBCE96E-179A-474E-8BA8-4472AAF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Sudut lutut minimal sekitar 130°</a:t>
            </a:r>
          </a:p>
        </p:txBody>
      </p:sp>
      <p:sp>
        <p:nvSpPr>
          <p:cNvPr id="19" name="check-dot-4">
            <a:extLst xmlns:a="http://schemas.openxmlformats.org/drawingml/2006/main">
              <a:ext uri="{FF2B5EF4-FFF2-40B4-BE49-F238E27FC236}">
                <a16:creationId xmlns:a16="http://schemas.microsoft.com/office/drawing/2014/main" id="{4E307CE2-587A-441F-BAD0-A8E7F654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check-mark-4">
            <a:extLst xmlns:a="http://schemas.openxmlformats.org/drawingml/2006/main">
              <a:ext uri="{FF2B5EF4-FFF2-40B4-BE49-F238E27FC236}">
                <a16:creationId xmlns:a16="http://schemas.microsoft.com/office/drawing/2014/main" id="{59E40DC2-18AA-40B7-A1DD-DC6F92B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22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1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EA25BF83-64BF-4231-B136-BCB8A71C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Torso tidak terlalu miring dan subjek tidak di tepi</a:t>
            </a:r>
          </a:p>
        </p:txBody>
      </p:sp>
      <p:sp>
        <p:nvSpPr>
          <p:cNvPr id="22" name="limits">
            <a:extLst xmlns:a="http://schemas.openxmlformats.org/drawingml/2006/main">
              <a:ext uri="{FF2B5EF4-FFF2-40B4-BE49-F238E27FC236}">
                <a16:creationId xmlns:a16="http://schemas.microsoft.com/office/drawing/2014/main" id="{83F7E9A7-5EEB-4CAB-AA61-C33ECDEB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22204B08-B5A2-4AA9-9248-F4A5CB86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28875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Batasan implementasi</a:t>
            </a:r>
          </a:p>
        </p:txBody>
      </p:sp>
      <p:sp>
        <p:nvSpPr>
          <p:cNvPr id="24" name="limits-body">
            <a:extLst xmlns:a="http://schemas.openxmlformats.org/drawingml/2006/main">
              <a:ext uri="{FF2B5EF4-FFF2-40B4-BE49-F238E27FC236}">
                <a16:creationId xmlns:a16="http://schemas.microsoft.com/office/drawing/2014/main" id="{0942A77E-0F99-4827-8447-EB05AAF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3286125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0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• Input harus menampilkan tubuh dan board secara utuh
• EXIF hasil edit bisa hilang atau tidak konsisten
• Kontur dapat menyatu dengan background
• Akurasi akhir tetap membutuhkan validasi terhadap pengukuran manual</a:t>
            </a:r>
          </a:p>
        </p:txBody>
      </p:sp>
    </p:spTree>
    <p:extLst>
      <p:ext uri="{BB962C8B-B14F-4D97-AF65-F5344CB8AC3E}">
        <p14:creationId xmlns:p14="http://schemas.microsoft.com/office/powerpoint/2010/main" val="13448455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slide-background">
            <a:extLst xmlns:a="http://schemas.openxmlformats.org/drawingml/2006/main">
              <a:ext uri="{FF2B5EF4-FFF2-40B4-BE49-F238E27FC236}">
                <a16:creationId xmlns:a16="http://schemas.microsoft.com/office/drawing/2014/main" id="{DF5F285C-08D3-44E4-A00B-B78EB7B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4FA5AAF-BADC-4A44-A661-90BD9F6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KESIMPULAN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EF596B8-AB3B-487C-AB66-1B89881F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5725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Pengukuran dapat
ditelusuri dari piksel
hingga sentimeter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9B943440-EC9F-413F-B0D4-3CF150D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809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1. Geometri distabilkan dengan marker dan perspective correction.
2. Anatomi diperkirakan dari landmark MediaPipe.
3. Skala board, depth 1,0, dan kalibrasi 1,025 menghasilkan tinggi akhir.</a:t>
            </a:r>
          </a:p>
        </p:txBody>
      </p:sp>
      <p:sp>
        <p:nvSpPr>
          <p:cNvPr id="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DB2E6698-1D9C-447A-BF63-3F66BDB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428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accent-2">
            <a:extLst xmlns:a="http://schemas.openxmlformats.org/drawingml/2006/main">
              <a:ext uri="{FF2B5EF4-FFF2-40B4-BE49-F238E27FC236}">
                <a16:creationId xmlns:a16="http://schemas.microsoft.com/office/drawing/2014/main" id="{3D25E844-72AD-4ADA-8E8B-5AA7CD7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282F215D-44CF-4A11-8B55-7EB3B95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810250"/>
            <a:ext cx="39528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736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Langkah berikutnya: validasi terukur terhadap data tinggi manual pada beberapa subjek dan kondisi pengambilan.</a:t>
            </a:r>
          </a:p>
        </p:txBody>
      </p:sp>
    </p:spTree>
    <p:extLst>
      <p:ext uri="{BB962C8B-B14F-4D97-AF65-F5344CB8AC3E}">
        <p14:creationId xmlns:p14="http://schemas.microsoft.com/office/powerpoint/2010/main" val="31718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2026-07-11T06:05:43.2200000Z</dcterms:created>
  <dcterms:modified xsi:type="dcterms:W3CDTF">2026-07-11T06:05:43.2200000Z</dcterms:modified>
</coreProperties>
</file>