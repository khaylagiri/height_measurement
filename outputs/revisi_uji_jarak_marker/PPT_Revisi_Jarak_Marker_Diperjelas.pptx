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75" r:id="rId13"/>
    <p:sldId id="269" r:id="rId14"/>
    <p:sldId id="263" r:id="rId15"/>
    <p:sldId id="274" r:id="rId16"/>
    <p:sldId id="270" r:id="rId17"/>
    <p:sldId id="273" r:id="rId18"/>
    <p:sldId id="271" r:id="rId19"/>
    <p:sldId id="272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7152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7BCEE-543B-D915-D139-A13C16650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0AF2ED-DD03-8145-7A9A-7A4EE53387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3502E0-B153-DD82-8330-157C29884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E5997-5396-3A17-299D-6314B6F0DB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172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jp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microsoft.com/office/2007/relationships/media" Target="../media/media2.mp4"/><Relationship Id="rId7" Type="http://schemas.openxmlformats.org/officeDocument/2006/relationships/image" Target="../media/image1.jp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9.png"/><Relationship Id="rId4" Type="http://schemas.openxmlformats.org/officeDocument/2006/relationships/video" Target="../media/media2.mp4"/><Relationship Id="rId9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" Target="slide2.xml"/><Relationship Id="rId7" Type="http://schemas.openxmlformats.org/officeDocument/2006/relationships/slide" Target="slide16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5" Type="http://schemas.openxmlformats.org/officeDocument/2006/relationships/slide" Target="slide14.xml"/><Relationship Id="rId4" Type="http://schemas.openxmlformats.org/officeDocument/2006/relationships/slide" Target="slide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" Target="slide2.xml"/><Relationship Id="rId7" Type="http://schemas.openxmlformats.org/officeDocument/2006/relationships/slide" Target="slide16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5" Type="http://schemas.openxmlformats.org/officeDocument/2006/relationships/slide" Target="slide14.xml"/><Relationship Id="rId4" Type="http://schemas.openxmlformats.org/officeDocument/2006/relationships/slide" Target="slide6.xml"/><Relationship Id="rId9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EE9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2F2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01984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1984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1984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44200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63072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81944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00816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219688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338560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744200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863072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981944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100816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219688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338560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744200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863072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81944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100816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219688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338560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Shape 60"/>
          <p:cNvSpPr/>
          <p:nvPr/>
        </p:nvSpPr>
        <p:spPr>
          <a:xfrm>
            <a:off x="2651760" y="1600200"/>
            <a:ext cx="1828800" cy="0"/>
          </a:xfrm>
          <a:prstGeom prst="line">
            <a:avLst/>
          </a:prstGeom>
          <a:noFill/>
          <a:ln w="17780">
            <a:solidFill>
              <a:srgbClr val="6E3F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587752" y="1563624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26680" y="1600200"/>
            <a:ext cx="1920240" cy="0"/>
          </a:xfrm>
          <a:prstGeom prst="line">
            <a:avLst/>
          </a:prstGeom>
          <a:noFill/>
          <a:ln w="17780">
            <a:solidFill>
              <a:srgbClr val="6E3FE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646920" y="1563624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26280" y="1389888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SEMINAR HASIL</a:t>
            </a:r>
            <a:endParaRPr lang="en-US" sz="2500" dirty="0"/>
          </a:p>
        </p:txBody>
      </p:sp>
      <p:sp>
        <p:nvSpPr>
          <p:cNvPr id="67" name="Shape 65"/>
          <p:cNvSpPr/>
          <p:nvPr/>
        </p:nvSpPr>
        <p:spPr>
          <a:xfrm>
            <a:off x="1143000" y="1993392"/>
            <a:ext cx="9921240" cy="23317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1600200" y="2377440"/>
            <a:ext cx="9006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Pengukuran Tinggi Badan Berbasis</a:t>
            </a:r>
            <a:endParaRPr lang="en-US" sz="3100" dirty="0"/>
          </a:p>
          <a:p>
            <a:pPr marL="0" indent="0" algn="ctr">
              <a:buNone/>
            </a:pPr>
            <a:r>
              <a:rPr lang="en-US" sz="31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Computer Vision dengan Menggunakan</a:t>
            </a:r>
            <a:endParaRPr lang="en-US" sz="3100" dirty="0"/>
          </a:p>
          <a:p>
            <a:pPr marL="0" indent="0" algn="ctr">
              <a:buNone/>
            </a:pPr>
            <a:r>
              <a:rPr lang="en-US" sz="31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Perspective Correction dan Pose Estimation</a:t>
            </a:r>
            <a:endParaRPr lang="en-US" sz="3100" dirty="0"/>
          </a:p>
          <a:p>
            <a:pPr marL="0" indent="0" algn="ctr">
              <a:buNone/>
            </a:pPr>
            <a:r>
              <a:rPr lang="en-US" sz="31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untuk Meningkatkan Robustness Sistem</a:t>
            </a:r>
            <a:endParaRPr lang="en-US" sz="3100" dirty="0"/>
          </a:p>
        </p:txBody>
      </p:sp>
      <p:sp>
        <p:nvSpPr>
          <p:cNvPr id="69" name="Shape 67"/>
          <p:cNvSpPr/>
          <p:nvPr/>
        </p:nvSpPr>
        <p:spPr>
          <a:xfrm>
            <a:off x="1417320" y="4572000"/>
            <a:ext cx="2267712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12700">
            <a:solidFill>
              <a:srgbClr val="EEF2FF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1618488" y="4700016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1618488" y="47091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92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⌗</a:t>
            </a:r>
            <a:endParaRPr lang="en-US" sz="1092" dirty="0"/>
          </a:p>
        </p:txBody>
      </p:sp>
      <p:sp>
        <p:nvSpPr>
          <p:cNvPr id="72" name="Text 70"/>
          <p:cNvSpPr/>
          <p:nvPr/>
        </p:nvSpPr>
        <p:spPr>
          <a:xfrm>
            <a:off x="2103120" y="471830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6E3FE5"/>
                </a:solidFill>
              </a:rPr>
              <a:t>Perspective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6E3FE5"/>
                </a:solidFill>
              </a:rPr>
              <a:t>Correction</a:t>
            </a: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3931920" y="4572000"/>
            <a:ext cx="2267712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12700">
            <a:solidFill>
              <a:srgbClr val="EEF2FF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4133088" y="4700016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4133088" y="47091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92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◉</a:t>
            </a:r>
            <a:endParaRPr lang="en-US" sz="1092" dirty="0"/>
          </a:p>
        </p:txBody>
      </p:sp>
      <p:sp>
        <p:nvSpPr>
          <p:cNvPr id="76" name="Text 74"/>
          <p:cNvSpPr/>
          <p:nvPr/>
        </p:nvSpPr>
        <p:spPr>
          <a:xfrm>
            <a:off x="4617720" y="471830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6E3FE5"/>
                </a:solidFill>
              </a:rPr>
              <a:t>Pose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6E3FE5"/>
                </a:solidFill>
              </a:rPr>
              <a:t>Estimation</a:t>
            </a:r>
            <a:endParaRPr lang="en-US" sz="1150" dirty="0"/>
          </a:p>
        </p:txBody>
      </p:sp>
      <p:sp>
        <p:nvSpPr>
          <p:cNvPr id="77" name="Shape 75"/>
          <p:cNvSpPr/>
          <p:nvPr/>
        </p:nvSpPr>
        <p:spPr>
          <a:xfrm>
            <a:off x="6446520" y="4572000"/>
            <a:ext cx="2267712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12700">
            <a:solidFill>
              <a:srgbClr val="EEF2FF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6647688" y="4700016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6647688" y="47091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92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⌖</a:t>
            </a:r>
            <a:endParaRPr lang="en-US" sz="1092" dirty="0"/>
          </a:p>
        </p:txBody>
      </p:sp>
      <p:sp>
        <p:nvSpPr>
          <p:cNvPr id="80" name="Text 78"/>
          <p:cNvSpPr/>
          <p:nvPr/>
        </p:nvSpPr>
        <p:spPr>
          <a:xfrm>
            <a:off x="7132320" y="471830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6E3FE5"/>
                </a:solidFill>
              </a:rPr>
              <a:t>Contour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6E3FE5"/>
                </a:solidFill>
              </a:rPr>
              <a:t>Measurement</a:t>
            </a:r>
            <a:endParaRPr lang="en-US" sz="1150" dirty="0"/>
          </a:p>
        </p:txBody>
      </p:sp>
      <p:sp>
        <p:nvSpPr>
          <p:cNvPr id="81" name="Shape 79"/>
          <p:cNvSpPr/>
          <p:nvPr/>
        </p:nvSpPr>
        <p:spPr>
          <a:xfrm>
            <a:off x="8961120" y="4572000"/>
            <a:ext cx="2267712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12700">
            <a:solidFill>
              <a:srgbClr val="EEF2FF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9162288" y="4700016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83" name="Text 81"/>
          <p:cNvSpPr/>
          <p:nvPr/>
        </p:nvSpPr>
        <p:spPr>
          <a:xfrm>
            <a:off x="9162288" y="47091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92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▤</a:t>
            </a:r>
            <a:endParaRPr lang="en-US" sz="1092" dirty="0"/>
          </a:p>
        </p:txBody>
      </p:sp>
      <p:sp>
        <p:nvSpPr>
          <p:cNvPr id="84" name="Text 82"/>
          <p:cNvSpPr/>
          <p:nvPr/>
        </p:nvSpPr>
        <p:spPr>
          <a:xfrm>
            <a:off x="9646920" y="471830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6E3FE5"/>
                </a:solidFill>
              </a:rPr>
              <a:t>File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6E3FE5"/>
                </a:solidFill>
              </a:rPr>
              <a:t>Result</a:t>
            </a:r>
            <a:endParaRPr lang="en-US" sz="1150" dirty="0"/>
          </a:p>
        </p:txBody>
      </p:sp>
      <p:sp>
        <p:nvSpPr>
          <p:cNvPr id="85" name="Shape 83"/>
          <p:cNvSpPr/>
          <p:nvPr/>
        </p:nvSpPr>
        <p:spPr>
          <a:xfrm>
            <a:off x="1325880" y="5532120"/>
            <a:ext cx="9509760" cy="71323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1554480" y="5687568"/>
            <a:ext cx="384048" cy="384048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87" name="Text 85"/>
          <p:cNvSpPr/>
          <p:nvPr/>
        </p:nvSpPr>
        <p:spPr>
          <a:xfrm>
            <a:off x="1554480" y="56967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92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1092" dirty="0"/>
          </a:p>
        </p:txBody>
      </p:sp>
      <p:sp>
        <p:nvSpPr>
          <p:cNvPr id="88" name="Text 86"/>
          <p:cNvSpPr/>
          <p:nvPr/>
        </p:nvSpPr>
        <p:spPr>
          <a:xfrm>
            <a:off x="2075688" y="565099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B1F53"/>
                </a:solidFill>
              </a:rPr>
              <a:t>Khayla Giri Fitriani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0B1F53"/>
                </a:solidFill>
              </a:rPr>
              <a:t>Presenter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3950208" y="5687568"/>
            <a:ext cx="0" cy="384048"/>
          </a:xfrm>
          <a:prstGeom prst="line">
            <a:avLst/>
          </a:prstGeom>
          <a:noFill/>
          <a:ln w="12700">
            <a:solidFill>
              <a:srgbClr val="D4D9E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206240" y="5687568"/>
            <a:ext cx="384048" cy="384048"/>
          </a:xfrm>
          <a:prstGeom prst="ellipse">
            <a:avLst/>
          </a:prstGeom>
          <a:solidFill>
            <a:srgbClr val="4AA3FF"/>
          </a:solidFill>
          <a:ln w="12700">
            <a:solidFill>
              <a:srgbClr val="4AA3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91" name="Text 89"/>
          <p:cNvSpPr/>
          <p:nvPr/>
        </p:nvSpPr>
        <p:spPr>
          <a:xfrm>
            <a:off x="4206240" y="56967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92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🏛</a:t>
            </a:r>
            <a:endParaRPr lang="en-US" sz="1092" dirty="0"/>
          </a:p>
        </p:txBody>
      </p:sp>
      <p:sp>
        <p:nvSpPr>
          <p:cNvPr id="92" name="Text 90"/>
          <p:cNvSpPr/>
          <p:nvPr/>
        </p:nvSpPr>
        <p:spPr>
          <a:xfrm>
            <a:off x="4736592" y="565099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0B1F53"/>
                </a:solidFill>
              </a:rPr>
              <a:t>Program Studi </a:t>
            </a:r>
            <a:r>
              <a:rPr lang="en-US" sz="920" dirty="0" err="1">
                <a:solidFill>
                  <a:srgbClr val="0B1F53"/>
                </a:solidFill>
              </a:rPr>
              <a:t>Informatika</a:t>
            </a:r>
            <a:r>
              <a:rPr lang="en-US" sz="920" dirty="0">
                <a:solidFill>
                  <a:srgbClr val="0B1F53"/>
                </a:solidFill>
              </a:rPr>
              <a:t>,</a:t>
            </a:r>
          </a:p>
          <a:p>
            <a:pPr marL="0" indent="0">
              <a:buNone/>
            </a:pPr>
            <a:r>
              <a:rPr lang="en-US" sz="920" dirty="0" err="1"/>
              <a:t>Fakultas</a:t>
            </a:r>
            <a:r>
              <a:rPr lang="en-US" sz="920" dirty="0"/>
              <a:t> </a:t>
            </a:r>
            <a:r>
              <a:rPr lang="en-US" sz="920" dirty="0" err="1"/>
              <a:t>Teknologi</a:t>
            </a:r>
            <a:r>
              <a:rPr lang="en-US" sz="920" dirty="0"/>
              <a:t> Industri</a:t>
            </a:r>
          </a:p>
          <a:p>
            <a:pPr marL="0" indent="0">
              <a:buNone/>
            </a:pPr>
            <a:r>
              <a:rPr lang="en-US" sz="920" dirty="0">
                <a:solidFill>
                  <a:srgbClr val="0B1F53"/>
                </a:solidFill>
              </a:rPr>
              <a:t>Institut Teknologi Nasional Bandung</a:t>
            </a:r>
            <a:endParaRPr lang="en-US" sz="920" dirty="0"/>
          </a:p>
        </p:txBody>
      </p:sp>
      <p:sp>
        <p:nvSpPr>
          <p:cNvPr id="93" name="Shape 91"/>
          <p:cNvSpPr/>
          <p:nvPr/>
        </p:nvSpPr>
        <p:spPr>
          <a:xfrm>
            <a:off x="7626096" y="5687568"/>
            <a:ext cx="0" cy="384048"/>
          </a:xfrm>
          <a:prstGeom prst="line">
            <a:avLst/>
          </a:prstGeom>
          <a:noFill/>
          <a:ln w="12700">
            <a:solidFill>
              <a:srgbClr val="D4D9E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909560" y="5687568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95" name="Text 93"/>
          <p:cNvSpPr/>
          <p:nvPr/>
        </p:nvSpPr>
        <p:spPr>
          <a:xfrm>
            <a:off x="7909560" y="56967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92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🎓</a:t>
            </a:r>
            <a:endParaRPr lang="en-US" sz="1092" dirty="0"/>
          </a:p>
        </p:txBody>
      </p:sp>
      <p:sp>
        <p:nvSpPr>
          <p:cNvPr id="96" name="Text 94"/>
          <p:cNvSpPr/>
          <p:nvPr/>
        </p:nvSpPr>
        <p:spPr>
          <a:xfrm>
            <a:off x="8430768" y="567842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0B1F53"/>
                </a:solidFill>
              </a:rPr>
              <a:t>Pembimbing:</a:t>
            </a:r>
            <a:endParaRPr lang="en-US" sz="890" dirty="0"/>
          </a:p>
          <a:p>
            <a:pPr marL="0" indent="0">
              <a:buNone/>
            </a:pPr>
            <a:r>
              <a:rPr lang="en-US" sz="890" dirty="0">
                <a:solidFill>
                  <a:srgbClr val="0B1F53"/>
                </a:solidFill>
              </a:rPr>
              <a:t>Lisa Kristiana dan Auralius Oberman Manurung</a:t>
            </a:r>
            <a:endParaRPr lang="en-US" sz="890" dirty="0"/>
          </a:p>
        </p:txBody>
      </p:sp>
      <p:sp>
        <p:nvSpPr>
          <p:cNvPr id="97" name="Shape 95"/>
          <p:cNvSpPr/>
          <p:nvPr/>
        </p:nvSpPr>
        <p:spPr>
          <a:xfrm>
            <a:off x="9784080" y="6455664"/>
            <a:ext cx="1783080" cy="246888"/>
          </a:xfrm>
          <a:prstGeom prst="roundRect">
            <a:avLst>
              <a:gd name="adj" fmla="val 2963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CE8F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9893808" y="6492240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873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•  Cover</a:t>
            </a:r>
            <a:endParaRPr lang="en-US" sz="800" dirty="0"/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7E770753-7A09-9CBA-E351-E831A0007580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53" name="Shape 51"/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56" name="Text 54"/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57" name="Text 55"/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58" name="Shape 56"/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60" name="Text 58"/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3DD33EFE-FEA8-512C-2019-24DD71A150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100" name="Picture 99">
              <a:extLst>
                <a:ext uri="{FF2B5EF4-FFF2-40B4-BE49-F238E27FC236}">
                  <a16:creationId xmlns:a16="http://schemas.microsoft.com/office/drawing/2014/main" id="{7F6D50F1-3B5A-BF79-853E-FD9D698947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EE9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2F2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01984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1984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1984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44200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63072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81944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00816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219688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338560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Shape 60"/>
          <p:cNvSpPr/>
          <p:nvPr/>
        </p:nvSpPr>
        <p:spPr>
          <a:xfrm>
            <a:off x="283464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79776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2668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72600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98848" y="10789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SEMINAR HASIL</a:t>
            </a:r>
            <a:endParaRPr lang="en-US" sz="2500" dirty="0"/>
          </a:p>
        </p:txBody>
      </p:sp>
      <p:sp>
        <p:nvSpPr>
          <p:cNvPr id="67" name="Shape 65"/>
          <p:cNvSpPr/>
          <p:nvPr/>
        </p:nvSpPr>
        <p:spPr>
          <a:xfrm>
            <a:off x="713232" y="1572768"/>
            <a:ext cx="10808208" cy="4507992"/>
          </a:xfrm>
          <a:prstGeom prst="roundRect">
            <a:avLst>
              <a:gd name="adj" fmla="val 3651"/>
            </a:avLst>
          </a:prstGeom>
          <a:solidFill>
            <a:srgbClr val="FFFFFF"/>
          </a:solidFill>
          <a:ln w="12700">
            <a:solidFill>
              <a:srgbClr val="E4EC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960120" y="1847088"/>
            <a:ext cx="438912" cy="43891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960120" y="185623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8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▤</a:t>
            </a:r>
            <a:endParaRPr lang="en-US" sz="1248" dirty="0"/>
          </a:p>
        </p:txBody>
      </p:sp>
      <p:sp>
        <p:nvSpPr>
          <p:cNvPr id="70" name="Text 68"/>
          <p:cNvSpPr/>
          <p:nvPr/>
        </p:nvSpPr>
        <p:spPr>
          <a:xfrm>
            <a:off x="1538097" y="184785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Latar Belakang</a:t>
            </a:r>
            <a:endParaRPr lang="en-US" sz="2400" dirty="0"/>
          </a:p>
        </p:txBody>
      </p:sp>
      <p:sp>
        <p:nvSpPr>
          <p:cNvPr id="71" name="Shape 69"/>
          <p:cNvSpPr/>
          <p:nvPr/>
        </p:nvSpPr>
        <p:spPr>
          <a:xfrm>
            <a:off x="1024128" y="2514600"/>
            <a:ext cx="310896" cy="310896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24128" y="256489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1508760" y="2478024"/>
            <a:ext cx="672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B1F53"/>
                </a:solidFill>
              </a:rPr>
              <a:t>Tinggi badan merupakan parameter antropometri yang penting untuk menilai status gizi, pertumbuhan, dan kondisi fisik.</a:t>
            </a:r>
            <a:endParaRPr lang="en-US" sz="1250" dirty="0"/>
          </a:p>
        </p:txBody>
      </p:sp>
      <p:sp>
        <p:nvSpPr>
          <p:cNvPr id="74" name="Shape 72"/>
          <p:cNvSpPr/>
          <p:nvPr/>
        </p:nvSpPr>
        <p:spPr>
          <a:xfrm>
            <a:off x="8394192" y="2514600"/>
            <a:ext cx="2423160" cy="292608"/>
          </a:xfrm>
          <a:prstGeom prst="roundRect">
            <a:avLst>
              <a:gd name="adj" fmla="val 18750"/>
            </a:avLst>
          </a:prstGeom>
          <a:solidFill>
            <a:srgbClr val="F1ECFF"/>
          </a:solidFill>
          <a:ln w="12700">
            <a:solidFill>
              <a:srgbClr val="D8CC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485632" y="2592324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6E3FE5"/>
                </a:solidFill>
              </a:rPr>
              <a:t>Mocini et al., 2023</a:t>
            </a:r>
            <a:endParaRPr lang="en-US" sz="690" dirty="0"/>
          </a:p>
        </p:txBody>
      </p:sp>
      <p:sp>
        <p:nvSpPr>
          <p:cNvPr id="76" name="Shape 74"/>
          <p:cNvSpPr/>
          <p:nvPr/>
        </p:nvSpPr>
        <p:spPr>
          <a:xfrm>
            <a:off x="1024128" y="3136392"/>
            <a:ext cx="310896" cy="310896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24128" y="31866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1508760" y="3099816"/>
            <a:ext cx="672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B1F53"/>
                </a:solidFill>
              </a:rPr>
              <a:t>Pengukuran manual masih dapat dipengaruhi oleh prosedur, postur subjek, pembacaan alat, dan konsistensi pengamat.</a:t>
            </a:r>
            <a:endParaRPr lang="en-US" sz="1250" dirty="0"/>
          </a:p>
        </p:txBody>
      </p:sp>
      <p:sp>
        <p:nvSpPr>
          <p:cNvPr id="79" name="Shape 77"/>
          <p:cNvSpPr/>
          <p:nvPr/>
        </p:nvSpPr>
        <p:spPr>
          <a:xfrm>
            <a:off x="8394192" y="3136392"/>
            <a:ext cx="2423160" cy="292608"/>
          </a:xfrm>
          <a:prstGeom prst="roundRect">
            <a:avLst>
              <a:gd name="adj" fmla="val 18750"/>
            </a:avLst>
          </a:prstGeom>
          <a:solidFill>
            <a:srgbClr val="F1ECFF"/>
          </a:solidFill>
          <a:ln w="12700">
            <a:solidFill>
              <a:srgbClr val="D8CC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499348" y="320497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6E3FE5"/>
                </a:solidFill>
              </a:rPr>
              <a:t>Graybeal et al., 2023</a:t>
            </a:r>
            <a:endParaRPr lang="en-US" sz="690" dirty="0"/>
          </a:p>
        </p:txBody>
      </p:sp>
      <p:sp>
        <p:nvSpPr>
          <p:cNvPr id="81" name="Shape 79"/>
          <p:cNvSpPr/>
          <p:nvPr/>
        </p:nvSpPr>
        <p:spPr>
          <a:xfrm>
            <a:off x="1024128" y="3758184"/>
            <a:ext cx="310896" cy="310896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024128" y="3808476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1508760" y="3721608"/>
            <a:ext cx="672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B1F53"/>
                </a:solidFill>
              </a:rPr>
              <a:t>Kamera smartphone dan computer vision membuka peluang pengukuran tinggi badan secara lebih praktis dan efisien.</a:t>
            </a:r>
            <a:endParaRPr lang="en-US" sz="1250" dirty="0"/>
          </a:p>
        </p:txBody>
      </p:sp>
      <p:sp>
        <p:nvSpPr>
          <p:cNvPr id="84" name="Shape 82"/>
          <p:cNvSpPr/>
          <p:nvPr/>
        </p:nvSpPr>
        <p:spPr>
          <a:xfrm>
            <a:off x="8394192" y="3758184"/>
            <a:ext cx="2423160" cy="292608"/>
          </a:xfrm>
          <a:prstGeom prst="roundRect">
            <a:avLst>
              <a:gd name="adj" fmla="val 18750"/>
            </a:avLst>
          </a:prstGeom>
          <a:solidFill>
            <a:srgbClr val="F1ECFF"/>
          </a:solidFill>
          <a:ln w="12700">
            <a:solidFill>
              <a:srgbClr val="D8CC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484108" y="3840481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6E3FE5"/>
                </a:solidFill>
              </a:rPr>
              <a:t>Majmudar et al., 2022; Tinsley et al., 2024</a:t>
            </a:r>
            <a:endParaRPr lang="en-US" sz="690" dirty="0"/>
          </a:p>
        </p:txBody>
      </p:sp>
      <p:sp>
        <p:nvSpPr>
          <p:cNvPr id="86" name="Shape 84"/>
          <p:cNvSpPr/>
          <p:nvPr/>
        </p:nvSpPr>
        <p:spPr>
          <a:xfrm>
            <a:off x="1024128" y="4379976"/>
            <a:ext cx="310896" cy="310896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024128" y="4430268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1508760" y="4343400"/>
            <a:ext cx="672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B1F53"/>
                </a:solidFill>
              </a:rPr>
              <a:t>Pengukuran berbasis citra masih menghadapi distorsi perspektif, kebutuhan skala absolut, dan ketepatan batas tubuh.</a:t>
            </a:r>
            <a:endParaRPr lang="en-US" sz="1250" dirty="0"/>
          </a:p>
        </p:txBody>
      </p:sp>
      <p:sp>
        <p:nvSpPr>
          <p:cNvPr id="89" name="Shape 87"/>
          <p:cNvSpPr/>
          <p:nvPr/>
        </p:nvSpPr>
        <p:spPr>
          <a:xfrm>
            <a:off x="8394192" y="4379976"/>
            <a:ext cx="2423160" cy="292608"/>
          </a:xfrm>
          <a:prstGeom prst="roundRect">
            <a:avLst>
              <a:gd name="adj" fmla="val 18750"/>
            </a:avLst>
          </a:prstGeom>
          <a:solidFill>
            <a:srgbClr val="F1ECFF"/>
          </a:solidFill>
          <a:ln w="12700">
            <a:solidFill>
              <a:srgbClr val="D8CC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503920" y="4448556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6E3FE5"/>
                </a:solidFill>
              </a:rPr>
              <a:t>Nguyen Trung et al., 2024; Wang et al., 2025</a:t>
            </a:r>
            <a:endParaRPr lang="en-US" sz="690" dirty="0"/>
          </a:p>
        </p:txBody>
      </p:sp>
      <p:sp>
        <p:nvSpPr>
          <p:cNvPr id="91" name="Shape 89"/>
          <p:cNvSpPr/>
          <p:nvPr/>
        </p:nvSpPr>
        <p:spPr>
          <a:xfrm>
            <a:off x="1024128" y="5001768"/>
            <a:ext cx="310896" cy="310896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24128" y="5052060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1508760" y="4965192"/>
            <a:ext cx="672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B1F53"/>
                </a:solidFill>
              </a:rPr>
              <a:t>Penelitian ini mengintegrasikan ArUco marker, perspective correction, dan MediaPipe Pose untuk meningkatkan robustness sistem.</a:t>
            </a:r>
            <a:endParaRPr lang="en-US" sz="1250" dirty="0"/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14043D19-2FF0-846A-BBF0-E1AB27076F66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116" name="Shape 51">
              <a:extLst>
                <a:ext uri="{FF2B5EF4-FFF2-40B4-BE49-F238E27FC236}">
                  <a16:creationId xmlns:a16="http://schemas.microsoft.com/office/drawing/2014/main" id="{A7F0B6D0-0802-3B7E-1AB1-56FEBCC3EDCB}"/>
                </a:ext>
              </a:extLst>
            </p:cNvPr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117" name="Text 54">
              <a:extLst>
                <a:ext uri="{FF2B5EF4-FFF2-40B4-BE49-F238E27FC236}">
                  <a16:creationId xmlns:a16="http://schemas.microsoft.com/office/drawing/2014/main" id="{7D63501E-6C43-456F-15FB-671FBAA3E531}"/>
                </a:ext>
              </a:extLst>
            </p:cNvPr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118" name="Text 55">
              <a:extLst>
                <a:ext uri="{FF2B5EF4-FFF2-40B4-BE49-F238E27FC236}">
                  <a16:creationId xmlns:a16="http://schemas.microsoft.com/office/drawing/2014/main" id="{C457BE8C-76F7-81FB-ACB7-C280D5EE662E}"/>
                </a:ext>
              </a:extLst>
            </p:cNvPr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119" name="Shape 56">
              <a:extLst>
                <a:ext uri="{FF2B5EF4-FFF2-40B4-BE49-F238E27FC236}">
                  <a16:creationId xmlns:a16="http://schemas.microsoft.com/office/drawing/2014/main" id="{4ED4C8E1-4834-2675-5974-494AC06BFA9F}"/>
                </a:ext>
              </a:extLst>
            </p:cNvPr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120" name="Text 58">
              <a:extLst>
                <a:ext uri="{FF2B5EF4-FFF2-40B4-BE49-F238E27FC236}">
                  <a16:creationId xmlns:a16="http://schemas.microsoft.com/office/drawing/2014/main" id="{6AB7A691-F7C0-41F4-F050-646CCEC03146}"/>
                </a:ext>
              </a:extLst>
            </p:cNvPr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121" name="Picture 120">
              <a:extLst>
                <a:ext uri="{FF2B5EF4-FFF2-40B4-BE49-F238E27FC236}">
                  <a16:creationId xmlns:a16="http://schemas.microsoft.com/office/drawing/2014/main" id="{9BF0D264-2E21-7E05-45EC-78056AE883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122" name="Picture 121">
              <a:extLst>
                <a:ext uri="{FF2B5EF4-FFF2-40B4-BE49-F238E27FC236}">
                  <a16:creationId xmlns:a16="http://schemas.microsoft.com/office/drawing/2014/main" id="{BAE44934-CCCA-D9C2-8CFC-6980DB473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2F2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EE9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Shape 60"/>
          <p:cNvSpPr/>
          <p:nvPr/>
        </p:nvSpPr>
        <p:spPr>
          <a:xfrm>
            <a:off x="283464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79776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2668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72600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98848" y="10789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SEMINAR HASIL</a:t>
            </a:r>
            <a:endParaRPr lang="en-US" sz="2500" dirty="0"/>
          </a:p>
        </p:txBody>
      </p:sp>
      <p:sp>
        <p:nvSpPr>
          <p:cNvPr id="67" name="Text 65"/>
          <p:cNvSpPr/>
          <p:nvPr/>
        </p:nvSpPr>
        <p:spPr>
          <a:xfrm>
            <a:off x="594360" y="1444752"/>
            <a:ext cx="11018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Rumusan Masalah</a:t>
            </a:r>
            <a:endParaRPr lang="en-US" sz="340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0C2C65E-9F73-989D-411C-DE73C2C5DB2D}"/>
              </a:ext>
            </a:extLst>
          </p:cNvPr>
          <p:cNvGrpSpPr/>
          <p:nvPr/>
        </p:nvGrpSpPr>
        <p:grpSpPr>
          <a:xfrm>
            <a:off x="6308900" y="2322575"/>
            <a:ext cx="4983480" cy="1298448"/>
            <a:chOff x="914400" y="2359152"/>
            <a:chExt cx="4983480" cy="1298448"/>
          </a:xfrm>
        </p:grpSpPr>
        <p:sp>
          <p:nvSpPr>
            <p:cNvPr id="68" name="Shape 66"/>
            <p:cNvSpPr/>
            <p:nvPr/>
          </p:nvSpPr>
          <p:spPr>
            <a:xfrm>
              <a:off x="914400" y="2359152"/>
              <a:ext cx="4983480" cy="1298448"/>
            </a:xfrm>
            <a:prstGeom prst="roundRect">
              <a:avLst>
                <a:gd name="adj" fmla="val 12676"/>
              </a:avLst>
            </a:prstGeom>
            <a:solidFill>
              <a:srgbClr val="FFFFFF"/>
            </a:solidFill>
            <a:ln w="12700">
              <a:solidFill>
                <a:srgbClr val="DDE7F5">
                  <a:alpha val="90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4A3B8">
                  <a:alpha val="14000"/>
                </a:srgbClr>
              </a:outerShdw>
            </a:effectLst>
          </p:spPr>
        </p:sp>
        <p:sp>
          <p:nvSpPr>
            <p:cNvPr id="69" name="Shape 67"/>
            <p:cNvSpPr/>
            <p:nvPr/>
          </p:nvSpPr>
          <p:spPr>
            <a:xfrm>
              <a:off x="1143000" y="2633472"/>
              <a:ext cx="868680" cy="749808"/>
            </a:xfrm>
            <a:prstGeom prst="roundRect">
              <a:avLst>
                <a:gd name="adj" fmla="val 12195"/>
              </a:avLst>
            </a:prstGeom>
            <a:solidFill>
              <a:srgbClr val="6E3FE5"/>
            </a:solidFill>
            <a:ln w="12700">
              <a:solidFill>
                <a:srgbClr val="6E3FE5"/>
              </a:solidFill>
              <a:prstDash val="solid"/>
            </a:ln>
          </p:spPr>
        </p:sp>
        <p:sp>
          <p:nvSpPr>
            <p:cNvPr id="70" name="Text 68"/>
            <p:cNvSpPr/>
            <p:nvPr/>
          </p:nvSpPr>
          <p:spPr>
            <a:xfrm>
              <a:off x="1143000" y="2770632"/>
              <a:ext cx="868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300" b="1" dirty="0">
                  <a:solidFill>
                    <a:srgbClr val="FFFFFF"/>
                  </a:solidFill>
                </a:rPr>
                <a:t>02</a:t>
              </a:r>
              <a:endParaRPr lang="en-US" sz="2300" dirty="0"/>
            </a:p>
          </p:txBody>
        </p:sp>
        <p:sp>
          <p:nvSpPr>
            <p:cNvPr id="71" name="Text 69"/>
            <p:cNvSpPr/>
            <p:nvPr/>
          </p:nvSpPr>
          <p:spPr>
            <a:xfrm>
              <a:off x="2240280" y="2633472"/>
              <a:ext cx="301752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30" b="1" dirty="0">
                  <a:solidFill>
                    <a:srgbClr val="0B1F53"/>
                  </a:solidFill>
                </a:rPr>
                <a:t>Bagaimana </a:t>
              </a:r>
              <a:r>
                <a:rPr lang="en-US" sz="1430" b="1" dirty="0" err="1">
                  <a:solidFill>
                    <a:srgbClr val="0B1F53"/>
                  </a:solidFill>
                </a:rPr>
                <a:t>melakukan</a:t>
              </a:r>
              <a:r>
                <a:rPr lang="en-US" sz="1430" b="1" dirty="0">
                  <a:solidFill>
                    <a:srgbClr val="0B1F53"/>
                  </a:solidFill>
                </a:rPr>
                <a:t> perspective correction pada citra agar geometri papan referensi menjadi konsisten?</a:t>
              </a:r>
              <a:endParaRPr lang="en-US" sz="1430" dirty="0"/>
            </a:p>
          </p:txBody>
        </p:sp>
        <p:sp>
          <p:nvSpPr>
            <p:cNvPr id="72" name="Shape 70"/>
            <p:cNvSpPr/>
            <p:nvPr/>
          </p:nvSpPr>
          <p:spPr>
            <a:xfrm>
              <a:off x="5239512" y="2587752"/>
              <a:ext cx="384048" cy="384048"/>
            </a:xfrm>
            <a:prstGeom prst="ellipse">
              <a:avLst/>
            </a:prstGeom>
            <a:solidFill>
              <a:srgbClr val="F1ECFF"/>
            </a:solidFill>
            <a:ln w="12700">
              <a:solidFill>
                <a:srgbClr val="E2D6FF"/>
              </a:solidFill>
              <a:prstDash val="solid"/>
            </a:ln>
          </p:spPr>
        </p:sp>
        <p:sp>
          <p:nvSpPr>
            <p:cNvPr id="73" name="Text 71"/>
            <p:cNvSpPr/>
            <p:nvPr/>
          </p:nvSpPr>
          <p:spPr>
            <a:xfrm>
              <a:off x="5257800" y="2642616"/>
              <a:ext cx="34747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77500" lnSpcReduction="20000"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6E3FE5"/>
                  </a:solidFill>
                </a:rPr>
                <a:t>⌗</a:t>
              </a:r>
              <a:endParaRPr lang="en-US" sz="1400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4032F67-098E-F289-876F-E74DB9301FD6}"/>
              </a:ext>
            </a:extLst>
          </p:cNvPr>
          <p:cNvGrpSpPr/>
          <p:nvPr/>
        </p:nvGrpSpPr>
        <p:grpSpPr>
          <a:xfrm>
            <a:off x="877824" y="2304472"/>
            <a:ext cx="5065776" cy="1298448"/>
            <a:chOff x="6291072" y="2359152"/>
            <a:chExt cx="5065776" cy="1298448"/>
          </a:xfrm>
        </p:grpSpPr>
        <p:sp>
          <p:nvSpPr>
            <p:cNvPr id="7" name="Shape 5"/>
            <p:cNvSpPr/>
            <p:nvPr/>
          </p:nvSpPr>
          <p:spPr>
            <a:xfrm>
              <a:off x="11301984" y="2706624"/>
              <a:ext cx="54864" cy="54864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8890">
              <a:solidFill>
                <a:srgbClr val="BFD8FF">
                  <a:alpha val="65000"/>
                </a:srgbClr>
              </a:solidFill>
              <a:prstDash val="solid"/>
            </a:ln>
          </p:spPr>
        </p:sp>
        <p:sp>
          <p:nvSpPr>
            <p:cNvPr id="11" name="Shape 9"/>
            <p:cNvSpPr/>
            <p:nvPr/>
          </p:nvSpPr>
          <p:spPr>
            <a:xfrm>
              <a:off x="11301984" y="3145536"/>
              <a:ext cx="54864" cy="54864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8890">
              <a:solidFill>
                <a:srgbClr val="BFD8FF">
                  <a:alpha val="65000"/>
                </a:srgbClr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11301984" y="3584448"/>
              <a:ext cx="54864" cy="54864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8890">
              <a:solidFill>
                <a:srgbClr val="BFD8FF">
                  <a:alpha val="65000"/>
                </a:srgbClr>
              </a:solidFill>
              <a:prstDash val="solid"/>
            </a:ln>
          </p:spPr>
        </p:sp>
        <p:sp>
          <p:nvSpPr>
            <p:cNvPr id="74" name="Shape 72"/>
            <p:cNvSpPr/>
            <p:nvPr/>
          </p:nvSpPr>
          <p:spPr>
            <a:xfrm>
              <a:off x="6291072" y="2359152"/>
              <a:ext cx="4983480" cy="1298448"/>
            </a:xfrm>
            <a:prstGeom prst="roundRect">
              <a:avLst>
                <a:gd name="adj" fmla="val 12676"/>
              </a:avLst>
            </a:prstGeom>
            <a:solidFill>
              <a:srgbClr val="FFFFFF"/>
            </a:solidFill>
            <a:ln w="12700">
              <a:solidFill>
                <a:srgbClr val="DDE7F5">
                  <a:alpha val="90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4A3B8">
                  <a:alpha val="14000"/>
                </a:srgbClr>
              </a:outerShdw>
            </a:effectLst>
          </p:spPr>
        </p:sp>
        <p:sp>
          <p:nvSpPr>
            <p:cNvPr id="75" name="Shape 73"/>
            <p:cNvSpPr/>
            <p:nvPr/>
          </p:nvSpPr>
          <p:spPr>
            <a:xfrm>
              <a:off x="6519672" y="2633472"/>
              <a:ext cx="868680" cy="749808"/>
            </a:xfrm>
            <a:prstGeom prst="roundRect">
              <a:avLst>
                <a:gd name="adj" fmla="val 12195"/>
              </a:avLst>
            </a:prstGeom>
            <a:solidFill>
              <a:srgbClr val="6E3FE5"/>
            </a:solidFill>
            <a:ln w="12700">
              <a:solidFill>
                <a:srgbClr val="6E3FE5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" name="Text 74"/>
            <p:cNvSpPr/>
            <p:nvPr/>
          </p:nvSpPr>
          <p:spPr>
            <a:xfrm>
              <a:off x="6519672" y="2770632"/>
              <a:ext cx="868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300" b="1" dirty="0">
                  <a:solidFill>
                    <a:srgbClr val="FFFFFF"/>
                  </a:solidFill>
                </a:rPr>
                <a:t>01</a:t>
              </a:r>
              <a:endParaRPr lang="en-US" sz="2300" dirty="0"/>
            </a:p>
          </p:txBody>
        </p:sp>
        <p:sp>
          <p:nvSpPr>
            <p:cNvPr id="77" name="Text 75"/>
            <p:cNvSpPr/>
            <p:nvPr/>
          </p:nvSpPr>
          <p:spPr>
            <a:xfrm>
              <a:off x="7616952" y="2633472"/>
              <a:ext cx="301752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/>
            </a:bodyPr>
            <a:lstStyle/>
            <a:p>
              <a:pPr marL="0" indent="0">
                <a:buNone/>
              </a:pPr>
              <a:r>
                <a:rPr lang="en-US" sz="1430" b="1" dirty="0">
                  <a:solidFill>
                    <a:srgbClr val="0B1F53"/>
                  </a:solidFill>
                </a:rPr>
                <a:t>Bagaimana memanfaatkan ArUco marker sebagai referensi skala dan </a:t>
              </a:r>
              <a:r>
                <a:rPr lang="en-US" sz="1430" b="1" dirty="0" err="1">
                  <a:solidFill>
                    <a:srgbClr val="0B1F53"/>
                  </a:solidFill>
                </a:rPr>
                <a:t>acuan</a:t>
              </a:r>
              <a:r>
                <a:rPr lang="en-US" sz="1430" b="1" dirty="0">
                  <a:solidFill>
                    <a:srgbClr val="0B1F53"/>
                  </a:solidFill>
                </a:rPr>
                <a:t> </a:t>
              </a:r>
              <a:r>
                <a:rPr lang="en-US" sz="1430" b="1" dirty="0" err="1">
                  <a:solidFill>
                    <a:srgbClr val="0B1F53"/>
                  </a:solidFill>
                </a:rPr>
                <a:t>dalam</a:t>
              </a:r>
              <a:r>
                <a:rPr lang="en-US" sz="1430" b="1" dirty="0">
                  <a:solidFill>
                    <a:srgbClr val="0B1F53"/>
                  </a:solidFill>
                </a:rPr>
                <a:t> pengukuran tinggi badan?</a:t>
              </a:r>
              <a:endParaRPr lang="en-US" sz="1430" dirty="0"/>
            </a:p>
          </p:txBody>
        </p:sp>
        <p:sp>
          <p:nvSpPr>
            <p:cNvPr id="78" name="Shape 76"/>
            <p:cNvSpPr/>
            <p:nvPr/>
          </p:nvSpPr>
          <p:spPr>
            <a:xfrm>
              <a:off x="10616184" y="2587752"/>
              <a:ext cx="384048" cy="384048"/>
            </a:xfrm>
            <a:prstGeom prst="ellipse">
              <a:avLst/>
            </a:prstGeom>
            <a:solidFill>
              <a:srgbClr val="F1ECFF"/>
            </a:solidFill>
            <a:ln w="12700">
              <a:solidFill>
                <a:srgbClr val="E2D6FF"/>
              </a:solidFill>
              <a:prstDash val="solid"/>
            </a:ln>
          </p:spPr>
        </p:sp>
        <p:sp>
          <p:nvSpPr>
            <p:cNvPr id="79" name="Text 77"/>
            <p:cNvSpPr/>
            <p:nvPr/>
          </p:nvSpPr>
          <p:spPr>
            <a:xfrm>
              <a:off x="10634472" y="2642616"/>
              <a:ext cx="34747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77500" lnSpcReduction="20000"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6E3FE5"/>
                  </a:solidFill>
                </a:rPr>
                <a:t>▦</a:t>
              </a:r>
              <a:endParaRPr lang="en-US" sz="1400" dirty="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CAF8D33-D702-DFE5-DF1A-06CA4A819420}"/>
              </a:ext>
            </a:extLst>
          </p:cNvPr>
          <p:cNvGrpSpPr/>
          <p:nvPr/>
        </p:nvGrpSpPr>
        <p:grpSpPr>
          <a:xfrm>
            <a:off x="914400" y="4233672"/>
            <a:ext cx="4983480" cy="1298448"/>
            <a:chOff x="914400" y="4233672"/>
            <a:chExt cx="4983480" cy="1298448"/>
          </a:xfrm>
        </p:grpSpPr>
        <p:sp>
          <p:nvSpPr>
            <p:cNvPr id="80" name="Shape 78"/>
            <p:cNvSpPr/>
            <p:nvPr/>
          </p:nvSpPr>
          <p:spPr>
            <a:xfrm>
              <a:off x="914400" y="4233672"/>
              <a:ext cx="4983480" cy="1298448"/>
            </a:xfrm>
            <a:prstGeom prst="roundRect">
              <a:avLst>
                <a:gd name="adj" fmla="val 12676"/>
              </a:avLst>
            </a:prstGeom>
            <a:solidFill>
              <a:srgbClr val="FFFFFF"/>
            </a:solidFill>
            <a:ln w="12700">
              <a:solidFill>
                <a:srgbClr val="DDE7F5">
                  <a:alpha val="90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4A3B8">
                  <a:alpha val="14000"/>
                </a:srgbClr>
              </a:outerShdw>
            </a:effectLst>
          </p:spPr>
        </p:sp>
        <p:sp>
          <p:nvSpPr>
            <p:cNvPr id="81" name="Shape 79"/>
            <p:cNvSpPr/>
            <p:nvPr/>
          </p:nvSpPr>
          <p:spPr>
            <a:xfrm>
              <a:off x="1143000" y="4507992"/>
              <a:ext cx="868680" cy="749808"/>
            </a:xfrm>
            <a:prstGeom prst="roundRect">
              <a:avLst>
                <a:gd name="adj" fmla="val 12195"/>
              </a:avLst>
            </a:prstGeom>
            <a:solidFill>
              <a:srgbClr val="6E3FE5"/>
            </a:solidFill>
            <a:ln w="12700">
              <a:solidFill>
                <a:srgbClr val="6E3FE5"/>
              </a:solidFill>
              <a:prstDash val="solid"/>
            </a:ln>
          </p:spPr>
        </p:sp>
        <p:sp>
          <p:nvSpPr>
            <p:cNvPr id="82" name="Text 80"/>
            <p:cNvSpPr/>
            <p:nvPr/>
          </p:nvSpPr>
          <p:spPr>
            <a:xfrm>
              <a:off x="1143000" y="4645152"/>
              <a:ext cx="868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300" b="1" dirty="0">
                  <a:solidFill>
                    <a:srgbClr val="FFFFFF"/>
                  </a:solidFill>
                </a:rPr>
                <a:t>03</a:t>
              </a:r>
              <a:endParaRPr lang="en-US" sz="2300" dirty="0"/>
            </a:p>
          </p:txBody>
        </p:sp>
        <p:sp>
          <p:nvSpPr>
            <p:cNvPr id="83" name="Text 81"/>
            <p:cNvSpPr/>
            <p:nvPr/>
          </p:nvSpPr>
          <p:spPr>
            <a:xfrm>
              <a:off x="2240280" y="4507992"/>
              <a:ext cx="301752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/>
            </a:bodyPr>
            <a:lstStyle/>
            <a:p>
              <a:pPr marL="0" indent="0">
                <a:buNone/>
              </a:pPr>
              <a:r>
                <a:rPr lang="en-US" sz="1430" b="1" dirty="0">
                  <a:solidFill>
                    <a:srgbClr val="0B1F53"/>
                  </a:solidFill>
                </a:rPr>
                <a:t>Bagaimana menentukan titik puncak kepala dan titik kaki terbawah dari hasil pose estimation secara memadai?</a:t>
              </a:r>
              <a:endParaRPr lang="en-US" sz="1430" dirty="0"/>
            </a:p>
          </p:txBody>
        </p:sp>
        <p:sp>
          <p:nvSpPr>
            <p:cNvPr id="84" name="Shape 82"/>
            <p:cNvSpPr/>
            <p:nvPr/>
          </p:nvSpPr>
          <p:spPr>
            <a:xfrm>
              <a:off x="5239512" y="4462272"/>
              <a:ext cx="384048" cy="384048"/>
            </a:xfrm>
            <a:prstGeom prst="ellipse">
              <a:avLst/>
            </a:prstGeom>
            <a:solidFill>
              <a:srgbClr val="F1ECFF"/>
            </a:solidFill>
            <a:ln w="12700">
              <a:solidFill>
                <a:srgbClr val="E2D6FF"/>
              </a:solidFill>
              <a:prstDash val="solid"/>
            </a:ln>
          </p:spPr>
        </p:sp>
        <p:sp>
          <p:nvSpPr>
            <p:cNvPr id="85" name="Text 83"/>
            <p:cNvSpPr/>
            <p:nvPr/>
          </p:nvSpPr>
          <p:spPr>
            <a:xfrm>
              <a:off x="5257800" y="4517136"/>
              <a:ext cx="34747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77500" lnSpcReduction="20000"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6E3FE5"/>
                  </a:solidFill>
                </a:rPr>
                <a:t>🧍</a:t>
              </a:r>
              <a:endParaRPr lang="en-US" sz="1400" dirty="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626A607-0BCC-EB22-2AB4-C32BC51ACF5A}"/>
              </a:ext>
            </a:extLst>
          </p:cNvPr>
          <p:cNvGrpSpPr/>
          <p:nvPr/>
        </p:nvGrpSpPr>
        <p:grpSpPr>
          <a:xfrm>
            <a:off x="6291072" y="4233672"/>
            <a:ext cx="4983480" cy="1298448"/>
            <a:chOff x="6291072" y="4233672"/>
            <a:chExt cx="4983480" cy="1298448"/>
          </a:xfrm>
        </p:grpSpPr>
        <p:sp>
          <p:nvSpPr>
            <p:cNvPr id="86" name="Shape 84"/>
            <p:cNvSpPr/>
            <p:nvPr/>
          </p:nvSpPr>
          <p:spPr>
            <a:xfrm>
              <a:off x="6291072" y="4233672"/>
              <a:ext cx="4983480" cy="1298448"/>
            </a:xfrm>
            <a:prstGeom prst="roundRect">
              <a:avLst>
                <a:gd name="adj" fmla="val 12676"/>
              </a:avLst>
            </a:prstGeom>
            <a:solidFill>
              <a:srgbClr val="FFFFFF"/>
            </a:solidFill>
            <a:ln w="12700">
              <a:solidFill>
                <a:srgbClr val="DDE7F5">
                  <a:alpha val="90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4A3B8">
                  <a:alpha val="14000"/>
                </a:srgbClr>
              </a:outerShdw>
            </a:effectLst>
          </p:spPr>
        </p:sp>
        <p:sp>
          <p:nvSpPr>
            <p:cNvPr id="87" name="Shape 85"/>
            <p:cNvSpPr/>
            <p:nvPr/>
          </p:nvSpPr>
          <p:spPr>
            <a:xfrm>
              <a:off x="6519672" y="4507992"/>
              <a:ext cx="868680" cy="749808"/>
            </a:xfrm>
            <a:prstGeom prst="roundRect">
              <a:avLst>
                <a:gd name="adj" fmla="val 12195"/>
              </a:avLst>
            </a:prstGeom>
            <a:solidFill>
              <a:srgbClr val="6E3FE5"/>
            </a:solidFill>
            <a:ln w="12700">
              <a:solidFill>
                <a:srgbClr val="6E3FE5"/>
              </a:solidFill>
              <a:prstDash val="solid"/>
            </a:ln>
          </p:spPr>
        </p:sp>
        <p:sp>
          <p:nvSpPr>
            <p:cNvPr id="88" name="Text 86"/>
            <p:cNvSpPr/>
            <p:nvPr/>
          </p:nvSpPr>
          <p:spPr>
            <a:xfrm>
              <a:off x="6519672" y="4645152"/>
              <a:ext cx="868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300" b="1" dirty="0">
                  <a:solidFill>
                    <a:srgbClr val="FFFFFF"/>
                  </a:solidFill>
                </a:rPr>
                <a:t>04</a:t>
              </a:r>
              <a:endParaRPr lang="en-US" sz="2300" dirty="0"/>
            </a:p>
          </p:txBody>
        </p:sp>
        <p:sp>
          <p:nvSpPr>
            <p:cNvPr id="89" name="Text 87"/>
            <p:cNvSpPr/>
            <p:nvPr/>
          </p:nvSpPr>
          <p:spPr>
            <a:xfrm>
              <a:off x="7616952" y="4507992"/>
              <a:ext cx="301752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20000"/>
            </a:bodyPr>
            <a:lstStyle/>
            <a:p>
              <a:pPr marL="0" indent="0">
                <a:buNone/>
              </a:pPr>
              <a:r>
                <a:rPr lang="en-US" sz="1430" b="1" dirty="0">
                  <a:solidFill>
                    <a:srgbClr val="0B1F53"/>
                  </a:solidFill>
                </a:rPr>
                <a:t>Seberapa akurat hasil pengukuran aplikasi dibandingkan dengan pengukuran aktual menggunakan stadiometer?</a:t>
              </a:r>
              <a:endParaRPr lang="en-US" sz="1430" dirty="0"/>
            </a:p>
          </p:txBody>
        </p:sp>
        <p:sp>
          <p:nvSpPr>
            <p:cNvPr id="90" name="Shape 88"/>
            <p:cNvSpPr/>
            <p:nvPr/>
          </p:nvSpPr>
          <p:spPr>
            <a:xfrm>
              <a:off x="10616184" y="4462272"/>
              <a:ext cx="384048" cy="384048"/>
            </a:xfrm>
            <a:prstGeom prst="ellipse">
              <a:avLst/>
            </a:prstGeom>
            <a:solidFill>
              <a:srgbClr val="F1ECFF"/>
            </a:solidFill>
            <a:ln w="12700">
              <a:solidFill>
                <a:srgbClr val="E2D6FF"/>
              </a:solidFill>
              <a:prstDash val="solid"/>
            </a:ln>
          </p:spPr>
        </p:sp>
        <p:sp>
          <p:nvSpPr>
            <p:cNvPr id="91" name="Text 89"/>
            <p:cNvSpPr/>
            <p:nvPr/>
          </p:nvSpPr>
          <p:spPr>
            <a:xfrm>
              <a:off x="10634472" y="4517136"/>
              <a:ext cx="34747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77500" lnSpcReduction="20000"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6E3FE5"/>
                  </a:solidFill>
                </a:rPr>
                <a:t>▥</a:t>
              </a:r>
              <a:endParaRPr lang="en-US" sz="1400" dirty="0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4FF8A9C5-0C8C-936C-02CE-A90865F523A9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110" name="Shape 51">
              <a:extLst>
                <a:ext uri="{FF2B5EF4-FFF2-40B4-BE49-F238E27FC236}">
                  <a16:creationId xmlns:a16="http://schemas.microsoft.com/office/drawing/2014/main" id="{3D0F96AD-3073-31F8-0740-6DD8A8254F7A}"/>
                </a:ext>
              </a:extLst>
            </p:cNvPr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111" name="Text 54">
              <a:extLst>
                <a:ext uri="{FF2B5EF4-FFF2-40B4-BE49-F238E27FC236}">
                  <a16:creationId xmlns:a16="http://schemas.microsoft.com/office/drawing/2014/main" id="{03880E34-2BBB-05D8-A260-69FCFC61756E}"/>
                </a:ext>
              </a:extLst>
            </p:cNvPr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112" name="Text 55">
              <a:extLst>
                <a:ext uri="{FF2B5EF4-FFF2-40B4-BE49-F238E27FC236}">
                  <a16:creationId xmlns:a16="http://schemas.microsoft.com/office/drawing/2014/main" id="{7ECF625B-FB9B-A8B0-35A4-8F71512C6D31}"/>
                </a:ext>
              </a:extLst>
            </p:cNvPr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113" name="Shape 56">
              <a:extLst>
                <a:ext uri="{FF2B5EF4-FFF2-40B4-BE49-F238E27FC236}">
                  <a16:creationId xmlns:a16="http://schemas.microsoft.com/office/drawing/2014/main" id="{C55A3CFD-E59D-00A9-8772-BF5103C1E530}"/>
                </a:ext>
              </a:extLst>
            </p:cNvPr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114" name="Text 58">
              <a:extLst>
                <a:ext uri="{FF2B5EF4-FFF2-40B4-BE49-F238E27FC236}">
                  <a16:creationId xmlns:a16="http://schemas.microsoft.com/office/drawing/2014/main" id="{ECF0C497-BC99-6A06-CC66-D25A50DD0D69}"/>
                </a:ext>
              </a:extLst>
            </p:cNvPr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AAD3EFE2-3C2E-2E9E-FAF4-04CAC6FA1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16E1C26F-335F-6B58-DD64-14D8505184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EE9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2F2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31652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49356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31652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49356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31652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49356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Shape 60"/>
          <p:cNvSpPr/>
          <p:nvPr/>
        </p:nvSpPr>
        <p:spPr>
          <a:xfrm>
            <a:off x="283464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79776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2668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72600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98848" y="10789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SEMINAR HASIL</a:t>
            </a:r>
            <a:endParaRPr lang="en-US" sz="2500" dirty="0"/>
          </a:p>
        </p:txBody>
      </p:sp>
      <p:sp>
        <p:nvSpPr>
          <p:cNvPr id="67" name="Text 65"/>
          <p:cNvSpPr/>
          <p:nvPr/>
        </p:nvSpPr>
        <p:spPr>
          <a:xfrm>
            <a:off x="594360" y="1444752"/>
            <a:ext cx="11018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Tujuan Penelitian</a:t>
            </a:r>
            <a:endParaRPr lang="en-US" sz="3400" dirty="0"/>
          </a:p>
        </p:txBody>
      </p:sp>
      <p:sp>
        <p:nvSpPr>
          <p:cNvPr id="75" name="Shape 73"/>
          <p:cNvSpPr/>
          <p:nvPr/>
        </p:nvSpPr>
        <p:spPr>
          <a:xfrm>
            <a:off x="1330452" y="2468880"/>
            <a:ext cx="2606040" cy="26974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DE7F5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1559052" y="2697480"/>
            <a:ext cx="411480" cy="301752"/>
          </a:xfrm>
          <a:prstGeom prst="roundRect">
            <a:avLst>
              <a:gd name="adj" fmla="val 24242"/>
            </a:avLst>
          </a:prstGeom>
          <a:solidFill>
            <a:srgbClr val="6E3FE5"/>
          </a:solidFill>
          <a:ln w="12700">
            <a:solidFill>
              <a:srgbClr val="6E3FE5">
                <a:alpha val="9000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559052" y="273405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2116836" y="2816352"/>
            <a:ext cx="960120" cy="731520"/>
          </a:xfrm>
          <a:prstGeom prst="roundRect">
            <a:avLst>
              <a:gd name="adj" fmla="val 11250"/>
            </a:avLst>
          </a:prstGeom>
          <a:solidFill>
            <a:srgbClr val="F1ECFF"/>
          </a:solidFill>
          <a:ln w="12700">
            <a:solidFill>
              <a:srgbClr val="E1D7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263140" y="2953512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6E3FE5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▱</a:t>
            </a:r>
            <a:endParaRPr lang="en-US" sz="2100" dirty="0"/>
          </a:p>
        </p:txBody>
      </p:sp>
      <p:sp>
        <p:nvSpPr>
          <p:cNvPr id="80" name="Shape 78"/>
          <p:cNvSpPr/>
          <p:nvPr/>
        </p:nvSpPr>
        <p:spPr>
          <a:xfrm>
            <a:off x="2171700" y="3776472"/>
            <a:ext cx="868680" cy="0"/>
          </a:xfrm>
          <a:prstGeom prst="line">
            <a:avLst/>
          </a:prstGeom>
          <a:noFill/>
          <a:ln w="25400">
            <a:solidFill>
              <a:srgbClr val="6E3FE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650492" y="4041648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B1F53"/>
                </a:solidFill>
              </a:rPr>
              <a:t>Menerapkan perspective correction </a:t>
            </a:r>
            <a:r>
              <a:rPr lang="en-US" sz="1300" dirty="0" err="1">
                <a:solidFill>
                  <a:srgbClr val="0B1F53"/>
                </a:solidFill>
              </a:rPr>
              <a:t>untuk</a:t>
            </a:r>
            <a:r>
              <a:rPr lang="en-US" sz="1300" dirty="0">
                <a:solidFill>
                  <a:srgbClr val="0B1F53"/>
                </a:solidFill>
              </a:rPr>
              <a:t> memperbaiki distorsi perspektif.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5175504" y="2468880"/>
            <a:ext cx="2606040" cy="26974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DE7F5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5404104" y="2697480"/>
            <a:ext cx="411480" cy="301752"/>
          </a:xfrm>
          <a:prstGeom prst="roundRect">
            <a:avLst>
              <a:gd name="adj" fmla="val 24242"/>
            </a:avLst>
          </a:prstGeom>
          <a:solidFill>
            <a:srgbClr val="6E3FE5"/>
          </a:solidFill>
          <a:ln w="12700">
            <a:solidFill>
              <a:srgbClr val="6E3FE5">
                <a:alpha val="90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404104" y="273405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5961888" y="2816352"/>
            <a:ext cx="960120" cy="731520"/>
          </a:xfrm>
          <a:prstGeom prst="roundRect">
            <a:avLst>
              <a:gd name="adj" fmla="val 11250"/>
            </a:avLst>
          </a:prstGeom>
          <a:solidFill>
            <a:srgbClr val="F1ECFF"/>
          </a:solidFill>
          <a:ln w="12700">
            <a:solidFill>
              <a:srgbClr val="E1D7F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108192" y="2953512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6E3FE5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🧍</a:t>
            </a:r>
            <a:endParaRPr lang="en-US" sz="2100" dirty="0"/>
          </a:p>
        </p:txBody>
      </p:sp>
      <p:sp>
        <p:nvSpPr>
          <p:cNvPr id="87" name="Shape 85"/>
          <p:cNvSpPr/>
          <p:nvPr/>
        </p:nvSpPr>
        <p:spPr>
          <a:xfrm>
            <a:off x="6016752" y="3776472"/>
            <a:ext cx="868680" cy="0"/>
          </a:xfrm>
          <a:prstGeom prst="line">
            <a:avLst/>
          </a:prstGeom>
          <a:noFill/>
          <a:ln w="25400">
            <a:solidFill>
              <a:srgbClr val="6E3FE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495544" y="3831336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0B1F53"/>
                </a:solidFill>
              </a:rPr>
              <a:t>Menggunakan MediaPipe Pose untuk memperoleh landmark </a:t>
            </a:r>
            <a:r>
              <a:rPr lang="en-US" sz="1300" dirty="0" err="1">
                <a:solidFill>
                  <a:srgbClr val="0B1F53"/>
                </a:solidFill>
              </a:rPr>
              <a:t>tubuh</a:t>
            </a:r>
            <a:r>
              <a:rPr lang="en-US" sz="1300" dirty="0">
                <a:solidFill>
                  <a:srgbClr val="0B1F53"/>
                </a:solidFill>
              </a:rPr>
              <a:t> dan </a:t>
            </a:r>
            <a:r>
              <a:rPr lang="en-US" sz="1300" dirty="0" err="1">
                <a:solidFill>
                  <a:srgbClr val="0B1F53"/>
                </a:solidFill>
              </a:rPr>
              <a:t>memperoleh</a:t>
            </a:r>
            <a:r>
              <a:rPr lang="en-US" sz="1300" dirty="0">
                <a:solidFill>
                  <a:srgbClr val="0B1F53"/>
                </a:solidFill>
              </a:rPr>
              <a:t> estimasi titik kepala serta kaki.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8846820" y="2468880"/>
            <a:ext cx="2606040" cy="26974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DE7F5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9075420" y="2697480"/>
            <a:ext cx="411480" cy="301752"/>
          </a:xfrm>
          <a:prstGeom prst="roundRect">
            <a:avLst>
              <a:gd name="adj" fmla="val 24242"/>
            </a:avLst>
          </a:prstGeom>
          <a:solidFill>
            <a:srgbClr val="6E3FE5"/>
          </a:solidFill>
          <a:ln w="12700">
            <a:solidFill>
              <a:srgbClr val="6E3FE5">
                <a:alpha val="90000"/>
              </a:srgbClr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075420" y="273405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9633204" y="2816352"/>
            <a:ext cx="960120" cy="731520"/>
          </a:xfrm>
          <a:prstGeom prst="roundRect">
            <a:avLst>
              <a:gd name="adj" fmla="val 11250"/>
            </a:avLst>
          </a:prstGeom>
          <a:solidFill>
            <a:srgbClr val="F1ECFF"/>
          </a:solidFill>
          <a:ln w="12700">
            <a:solidFill>
              <a:srgbClr val="E1D7F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779508" y="2953512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6E3FE5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2100" dirty="0"/>
          </a:p>
        </p:txBody>
      </p:sp>
      <p:sp>
        <p:nvSpPr>
          <p:cNvPr id="94" name="Shape 92"/>
          <p:cNvSpPr/>
          <p:nvPr/>
        </p:nvSpPr>
        <p:spPr>
          <a:xfrm>
            <a:off x="9688068" y="3776472"/>
            <a:ext cx="868680" cy="0"/>
          </a:xfrm>
          <a:prstGeom prst="line">
            <a:avLst/>
          </a:prstGeom>
          <a:noFill/>
          <a:ln w="25400">
            <a:solidFill>
              <a:srgbClr val="6E3FE5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166860" y="4041648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B1F53"/>
                </a:solidFill>
              </a:rPr>
              <a:t>Mengukur tinggi badan dan mengevaluasi akurasi hasil aplikasi menggunakan galat absolut dan MAE.</a:t>
            </a:r>
            <a:endParaRPr lang="en-US" sz="1300" dirty="0"/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EA37741-8769-9F9A-81A0-F463D8547868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114" name="Shape 51">
              <a:extLst>
                <a:ext uri="{FF2B5EF4-FFF2-40B4-BE49-F238E27FC236}">
                  <a16:creationId xmlns:a16="http://schemas.microsoft.com/office/drawing/2014/main" id="{BCB9FD85-309F-B2FB-E2B8-5FDD28B41B35}"/>
                </a:ext>
              </a:extLst>
            </p:cNvPr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115" name="Text 54">
              <a:extLst>
                <a:ext uri="{FF2B5EF4-FFF2-40B4-BE49-F238E27FC236}">
                  <a16:creationId xmlns:a16="http://schemas.microsoft.com/office/drawing/2014/main" id="{F4E85A0B-FC42-5F3C-434E-092DE22B58EA}"/>
                </a:ext>
              </a:extLst>
            </p:cNvPr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116" name="Text 55">
              <a:extLst>
                <a:ext uri="{FF2B5EF4-FFF2-40B4-BE49-F238E27FC236}">
                  <a16:creationId xmlns:a16="http://schemas.microsoft.com/office/drawing/2014/main" id="{169A79F5-A33B-454D-A55E-8E9AE2A2A55F}"/>
                </a:ext>
              </a:extLst>
            </p:cNvPr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117" name="Shape 56">
              <a:extLst>
                <a:ext uri="{FF2B5EF4-FFF2-40B4-BE49-F238E27FC236}">
                  <a16:creationId xmlns:a16="http://schemas.microsoft.com/office/drawing/2014/main" id="{7A343C1B-CFBC-85AF-B3C9-A17F89EE8894}"/>
                </a:ext>
              </a:extLst>
            </p:cNvPr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118" name="Text 58">
              <a:extLst>
                <a:ext uri="{FF2B5EF4-FFF2-40B4-BE49-F238E27FC236}">
                  <a16:creationId xmlns:a16="http://schemas.microsoft.com/office/drawing/2014/main" id="{CD2D2C3A-9370-012D-CDEB-043DA77A917B}"/>
                </a:ext>
              </a:extLst>
            </p:cNvPr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119" name="Picture 118">
              <a:extLst>
                <a:ext uri="{FF2B5EF4-FFF2-40B4-BE49-F238E27FC236}">
                  <a16:creationId xmlns:a16="http://schemas.microsoft.com/office/drawing/2014/main" id="{2D4B79F6-5F7E-6814-CE50-0C3E2A5C70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AE5560F6-A884-62B1-FD92-3631CBFF0E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2F2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EE9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01984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1984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1984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Text 60"/>
          <p:cNvSpPr/>
          <p:nvPr/>
        </p:nvSpPr>
        <p:spPr>
          <a:xfrm>
            <a:off x="548640" y="1280160"/>
            <a:ext cx="11018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Ruang Lingkup Penelitian</a:t>
            </a:r>
            <a:endParaRPr lang="en-US" sz="3400" dirty="0"/>
          </a:p>
        </p:txBody>
      </p:sp>
      <p:sp>
        <p:nvSpPr>
          <p:cNvPr id="63" name="Shape 61"/>
          <p:cNvSpPr/>
          <p:nvPr/>
        </p:nvSpPr>
        <p:spPr>
          <a:xfrm>
            <a:off x="1234440" y="1810512"/>
            <a:ext cx="9738360" cy="429768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1719072" y="2057400"/>
            <a:ext cx="8759952" cy="530352"/>
          </a:xfrm>
          <a:prstGeom prst="roundRect">
            <a:avLst>
              <a:gd name="adj" fmla="val 31034"/>
            </a:avLst>
          </a:prstGeom>
          <a:solidFill>
            <a:srgbClr val="FFFFFF"/>
          </a:solidFill>
          <a:ln w="12700">
            <a:solidFill>
              <a:srgbClr val="EDF2FF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1965960" y="2167128"/>
            <a:ext cx="457200" cy="310896"/>
          </a:xfrm>
          <a:prstGeom prst="roundRect">
            <a:avLst>
              <a:gd name="adj" fmla="val 20588"/>
            </a:avLst>
          </a:prstGeom>
          <a:solidFill>
            <a:srgbClr val="F1ECFF"/>
          </a:solidFill>
          <a:ln w="12700">
            <a:solidFill>
              <a:srgbClr val="DDD3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965960" y="21945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E3FE5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🖼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063240" y="2148840"/>
            <a:ext cx="0" cy="34747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383280" y="2194560"/>
            <a:ext cx="256032" cy="25603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383280" y="2244852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3858767" y="2157984"/>
            <a:ext cx="6367263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53"/>
                </a:solidFill>
              </a:rPr>
              <a:t>Input berupa citra </a:t>
            </a:r>
            <a:r>
              <a:rPr lang="en-US" sz="1300" b="1" dirty="0" err="1">
                <a:solidFill>
                  <a:srgbClr val="0B1F53"/>
                </a:solidFill>
              </a:rPr>
              <a:t>tubuh</a:t>
            </a:r>
            <a:r>
              <a:rPr lang="en-US" sz="1300" b="1" dirty="0">
                <a:solidFill>
                  <a:srgbClr val="0B1F53"/>
                </a:solidFill>
              </a:rPr>
              <a:t> </a:t>
            </a:r>
            <a:r>
              <a:rPr lang="en-US" sz="1300" b="1" dirty="0" err="1">
                <a:solidFill>
                  <a:srgbClr val="0B1F53"/>
                </a:solidFill>
              </a:rPr>
              <a:t>dengan</a:t>
            </a:r>
            <a:r>
              <a:rPr lang="en-US" sz="1300" b="1" dirty="0">
                <a:solidFill>
                  <a:srgbClr val="0B1F53"/>
                </a:solidFill>
              </a:rPr>
              <a:t> subjek berdiri di depan </a:t>
            </a:r>
            <a:r>
              <a:rPr lang="en-US" sz="1300" b="1" dirty="0" err="1">
                <a:solidFill>
                  <a:srgbClr val="0B1F53"/>
                </a:solidFill>
              </a:rPr>
              <a:t>papan</a:t>
            </a:r>
            <a:r>
              <a:rPr lang="en-US" sz="1300" b="1" dirty="0">
                <a:solidFill>
                  <a:srgbClr val="0B1F53"/>
                </a:solidFill>
              </a:rPr>
              <a:t> </a:t>
            </a:r>
            <a:r>
              <a:rPr lang="en-US" sz="1300" b="1" dirty="0" err="1">
                <a:solidFill>
                  <a:srgbClr val="0B1F53"/>
                </a:solidFill>
              </a:rPr>
              <a:t>ArUco</a:t>
            </a:r>
            <a:r>
              <a:rPr lang="en-US" sz="1300" b="1" dirty="0">
                <a:solidFill>
                  <a:srgbClr val="0B1F53"/>
                </a:solidFill>
              </a:rPr>
              <a:t> </a:t>
            </a:r>
            <a:r>
              <a:rPr lang="en-US" sz="1300" b="1" dirty="0" err="1">
                <a:solidFill>
                  <a:srgbClr val="0B1F53"/>
                </a:solidFill>
              </a:rPr>
              <a:t>ukuran</a:t>
            </a:r>
            <a:r>
              <a:rPr lang="en-US" sz="1300" b="1" dirty="0">
                <a:solidFill>
                  <a:srgbClr val="0B1F53"/>
                </a:solidFill>
              </a:rPr>
              <a:t> 200 cm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1719072" y="2807208"/>
            <a:ext cx="8759952" cy="530352"/>
          </a:xfrm>
          <a:prstGeom prst="roundRect">
            <a:avLst>
              <a:gd name="adj" fmla="val 31034"/>
            </a:avLst>
          </a:prstGeom>
          <a:solidFill>
            <a:srgbClr val="FFFFFF"/>
          </a:solidFill>
          <a:ln w="12700">
            <a:solidFill>
              <a:srgbClr val="EDF2FF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1965960" y="2916936"/>
            <a:ext cx="457200" cy="310896"/>
          </a:xfrm>
          <a:prstGeom prst="roundRect">
            <a:avLst>
              <a:gd name="adj" fmla="val 20588"/>
            </a:avLst>
          </a:prstGeom>
          <a:solidFill>
            <a:srgbClr val="F1ECFF"/>
          </a:solidFill>
          <a:ln w="12700">
            <a:solidFill>
              <a:srgbClr val="DDD3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965960" y="298094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E3FE5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⌖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3063240" y="2898648"/>
            <a:ext cx="0" cy="34747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383280" y="2944368"/>
            <a:ext cx="256032" cy="25603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383280" y="2994660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858767" y="2907792"/>
            <a:ext cx="636726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53"/>
                </a:solidFill>
              </a:rPr>
              <a:t>Perspective correction dilakukan apabila sedikitnya empat marker valid terdeteksi.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1719072" y="3557016"/>
            <a:ext cx="8759952" cy="530352"/>
          </a:xfrm>
          <a:prstGeom prst="roundRect">
            <a:avLst>
              <a:gd name="adj" fmla="val 31034"/>
            </a:avLst>
          </a:prstGeom>
          <a:solidFill>
            <a:srgbClr val="FFFFFF"/>
          </a:solidFill>
          <a:ln w="12700">
            <a:solidFill>
              <a:srgbClr val="EDF2FF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1965960" y="3666744"/>
            <a:ext cx="457200" cy="310896"/>
          </a:xfrm>
          <a:prstGeom prst="roundRect">
            <a:avLst>
              <a:gd name="adj" fmla="val 20588"/>
            </a:avLst>
          </a:prstGeom>
          <a:solidFill>
            <a:srgbClr val="F1ECFF"/>
          </a:solidFill>
          <a:ln w="12700">
            <a:solidFill>
              <a:srgbClr val="DDD3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965960" y="37307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E3FE5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3063240" y="3648456"/>
            <a:ext cx="0" cy="34747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383280" y="3694176"/>
            <a:ext cx="256032" cy="25603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383280" y="374446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3858768" y="3657600"/>
            <a:ext cx="6080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53"/>
                </a:solidFill>
              </a:rPr>
              <a:t>Sistem difokuskan pada satu subjek/orang dalam satu citra.</a:t>
            </a:r>
            <a:endParaRPr lang="en-US" sz="1300" dirty="0"/>
          </a:p>
        </p:txBody>
      </p:sp>
      <p:sp>
        <p:nvSpPr>
          <p:cNvPr id="85" name="Shape 83"/>
          <p:cNvSpPr/>
          <p:nvPr/>
        </p:nvSpPr>
        <p:spPr>
          <a:xfrm>
            <a:off x="1719072" y="4306824"/>
            <a:ext cx="8759952" cy="530352"/>
          </a:xfrm>
          <a:prstGeom prst="roundRect">
            <a:avLst>
              <a:gd name="adj" fmla="val 31034"/>
            </a:avLst>
          </a:prstGeom>
          <a:solidFill>
            <a:srgbClr val="FFFFFF"/>
          </a:solidFill>
          <a:ln w="12700">
            <a:solidFill>
              <a:srgbClr val="EDF2FF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1965960" y="4416552"/>
            <a:ext cx="457200" cy="310896"/>
          </a:xfrm>
          <a:prstGeom prst="roundRect">
            <a:avLst>
              <a:gd name="adj" fmla="val 20588"/>
            </a:avLst>
          </a:prstGeom>
          <a:solidFill>
            <a:srgbClr val="F1ECFF"/>
          </a:solidFill>
          <a:ln w="12700">
            <a:solidFill>
              <a:srgbClr val="DDD3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965960" y="4480560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E3FE5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3063240" y="4398264"/>
            <a:ext cx="0" cy="34747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383280" y="4443984"/>
            <a:ext cx="256032" cy="25603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383280" y="4494276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3858768" y="4407408"/>
            <a:ext cx="64739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53"/>
                </a:solidFill>
              </a:rPr>
              <a:t>Pengolahan citra menggunakan OpenCV, sedangkan pose estimation menggunakan MediaPipe Pose pada platform Android.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1719072" y="5056632"/>
            <a:ext cx="8759952" cy="530352"/>
          </a:xfrm>
          <a:prstGeom prst="roundRect">
            <a:avLst>
              <a:gd name="adj" fmla="val 31034"/>
            </a:avLst>
          </a:prstGeom>
          <a:solidFill>
            <a:srgbClr val="FFFFFF"/>
          </a:solidFill>
          <a:ln w="12700">
            <a:solidFill>
              <a:srgbClr val="EDF2FF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1965960" y="5166360"/>
            <a:ext cx="457200" cy="310896"/>
          </a:xfrm>
          <a:prstGeom prst="roundRect">
            <a:avLst>
              <a:gd name="adj" fmla="val 20588"/>
            </a:avLst>
          </a:prstGeom>
          <a:solidFill>
            <a:srgbClr val="F1ECFF"/>
          </a:solidFill>
          <a:ln w="12700">
            <a:solidFill>
              <a:srgbClr val="DDD3F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965960" y="52303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E3FE5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📏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3063240" y="5148072"/>
            <a:ext cx="0" cy="34747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383280" y="5193792"/>
            <a:ext cx="256032" cy="25603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383280" y="524408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3858768" y="5157216"/>
            <a:ext cx="64739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53"/>
                </a:solidFill>
              </a:rPr>
              <a:t>Evaluasi dilakukan pada 15 citra uji dengan pembanding tinggi aktual dari stadiometer.</a:t>
            </a:r>
            <a:endParaRPr lang="en-US" sz="1300" dirty="0"/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2E791611-689A-1043-10FC-A3F2A77B4D14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117" name="Shape 51">
              <a:extLst>
                <a:ext uri="{FF2B5EF4-FFF2-40B4-BE49-F238E27FC236}">
                  <a16:creationId xmlns:a16="http://schemas.microsoft.com/office/drawing/2014/main" id="{DEF895C8-312C-E71B-DBFD-741909744A58}"/>
                </a:ext>
              </a:extLst>
            </p:cNvPr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118" name="Text 54">
              <a:extLst>
                <a:ext uri="{FF2B5EF4-FFF2-40B4-BE49-F238E27FC236}">
                  <a16:creationId xmlns:a16="http://schemas.microsoft.com/office/drawing/2014/main" id="{C590B523-3176-F187-737A-BF4910D494EB}"/>
                </a:ext>
              </a:extLst>
            </p:cNvPr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119" name="Text 55">
              <a:extLst>
                <a:ext uri="{FF2B5EF4-FFF2-40B4-BE49-F238E27FC236}">
                  <a16:creationId xmlns:a16="http://schemas.microsoft.com/office/drawing/2014/main" id="{BBCA31EF-F341-05B6-4339-F5B4F27524C9}"/>
                </a:ext>
              </a:extLst>
            </p:cNvPr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120" name="Shape 56">
              <a:extLst>
                <a:ext uri="{FF2B5EF4-FFF2-40B4-BE49-F238E27FC236}">
                  <a16:creationId xmlns:a16="http://schemas.microsoft.com/office/drawing/2014/main" id="{03C93107-E9EC-FB87-96AE-9E6688CC8765}"/>
                </a:ext>
              </a:extLst>
            </p:cNvPr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121" name="Text 58">
              <a:extLst>
                <a:ext uri="{FF2B5EF4-FFF2-40B4-BE49-F238E27FC236}">
                  <a16:creationId xmlns:a16="http://schemas.microsoft.com/office/drawing/2014/main" id="{80023372-9DF4-9AAD-F3B7-6D249CE0F3A0}"/>
                </a:ext>
              </a:extLst>
            </p:cNvPr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122" name="Picture 121">
              <a:extLst>
                <a:ext uri="{FF2B5EF4-FFF2-40B4-BE49-F238E27FC236}">
                  <a16:creationId xmlns:a16="http://schemas.microsoft.com/office/drawing/2014/main" id="{0A85B5F6-2F93-E91B-7D8E-E3ADE2320F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264FB637-FADC-A369-9C7E-1C48DF4D7F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EE9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2F2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01984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1984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1984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Shape 60"/>
          <p:cNvSpPr/>
          <p:nvPr/>
        </p:nvSpPr>
        <p:spPr>
          <a:xfrm>
            <a:off x="283464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79776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2668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72600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98848" y="10789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SEMINAR HASIL</a:t>
            </a:r>
            <a:endParaRPr lang="en-US" sz="2500" dirty="0"/>
          </a:p>
        </p:txBody>
      </p:sp>
      <p:sp>
        <p:nvSpPr>
          <p:cNvPr id="67" name="Text 65"/>
          <p:cNvSpPr/>
          <p:nvPr/>
        </p:nvSpPr>
        <p:spPr>
          <a:xfrm>
            <a:off x="594360" y="1444752"/>
            <a:ext cx="11018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Metode Penelitian</a:t>
            </a:r>
            <a:endParaRPr lang="en-US" sz="3400" dirty="0"/>
          </a:p>
        </p:txBody>
      </p:sp>
      <p:sp>
        <p:nvSpPr>
          <p:cNvPr id="68" name="Shape 66"/>
          <p:cNvSpPr/>
          <p:nvPr/>
        </p:nvSpPr>
        <p:spPr>
          <a:xfrm>
            <a:off x="594360" y="2788920"/>
            <a:ext cx="2121408" cy="153619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DE7F5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1371600" y="2496312"/>
            <a:ext cx="502920" cy="50292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1371600" y="2505456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3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📷</a:t>
            </a:r>
            <a:endParaRPr lang="en-US" sz="1430" dirty="0"/>
          </a:p>
        </p:txBody>
      </p:sp>
      <p:sp>
        <p:nvSpPr>
          <p:cNvPr id="71" name="Text 69"/>
          <p:cNvSpPr/>
          <p:nvPr/>
        </p:nvSpPr>
        <p:spPr>
          <a:xfrm>
            <a:off x="758952" y="313639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53"/>
                </a:solidFill>
              </a:rPr>
              <a:t>Input Citra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777240" y="3502152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00" dirty="0"/>
              <a:t>Foto </a:t>
            </a:r>
            <a:r>
              <a:rPr lang="en-US" sz="1300" dirty="0" err="1"/>
              <a:t>tubuh</a:t>
            </a:r>
            <a:r>
              <a:rPr lang="en-US" sz="1300" dirty="0"/>
              <a:t>  dipilih dari </a:t>
            </a:r>
            <a:r>
              <a:rPr lang="en-US" sz="1300" dirty="0" err="1"/>
              <a:t>perangkat</a:t>
            </a:r>
            <a:r>
              <a:rPr lang="en-US" sz="1300" dirty="0"/>
              <a:t> </a:t>
            </a:r>
            <a:r>
              <a:rPr lang="en-US" sz="1300" dirty="0" err="1"/>
              <a:t>galeri</a:t>
            </a:r>
            <a:r>
              <a:rPr lang="en-US" sz="1300" dirty="0"/>
              <a:t> </a:t>
            </a:r>
            <a:r>
              <a:rPr lang="en-US" sz="1300" dirty="0" err="1"/>
              <a:t>atau</a:t>
            </a:r>
            <a:r>
              <a:rPr lang="en-US" sz="1300" dirty="0"/>
              <a:t> </a:t>
            </a:r>
            <a:r>
              <a:rPr lang="en-US" sz="1300" dirty="0" err="1"/>
              <a:t>kamera</a:t>
            </a:r>
            <a:r>
              <a:rPr lang="en-US" sz="1300" dirty="0"/>
              <a:t>.</a:t>
            </a:r>
          </a:p>
        </p:txBody>
      </p:sp>
      <p:sp>
        <p:nvSpPr>
          <p:cNvPr id="73" name="Shape 71"/>
          <p:cNvSpPr/>
          <p:nvPr/>
        </p:nvSpPr>
        <p:spPr>
          <a:xfrm>
            <a:off x="2670048" y="3364992"/>
            <a:ext cx="347472" cy="310896"/>
          </a:xfrm>
          <a:prstGeom prst="rightArrow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926080" y="2788920"/>
            <a:ext cx="2121408" cy="153619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DE7F5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3703320" y="2496312"/>
            <a:ext cx="502920" cy="502920"/>
          </a:xfrm>
          <a:prstGeom prst="ellipse">
            <a:avLst/>
          </a:prstGeom>
          <a:solidFill>
            <a:srgbClr val="4AA3FF"/>
          </a:solidFill>
          <a:ln w="12700">
            <a:solidFill>
              <a:srgbClr val="4AA3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3703320" y="2505456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3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▦</a:t>
            </a:r>
            <a:endParaRPr lang="en-US" sz="1430" dirty="0"/>
          </a:p>
        </p:txBody>
      </p:sp>
      <p:sp>
        <p:nvSpPr>
          <p:cNvPr id="77" name="Text 75"/>
          <p:cNvSpPr/>
          <p:nvPr/>
        </p:nvSpPr>
        <p:spPr>
          <a:xfrm>
            <a:off x="3090672" y="313639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53"/>
                </a:solidFill>
              </a:rPr>
              <a:t>Deteksi ArUco</a:t>
            </a:r>
            <a:endParaRPr lang="en-US" sz="1300" dirty="0"/>
          </a:p>
        </p:txBody>
      </p:sp>
      <p:sp>
        <p:nvSpPr>
          <p:cNvPr id="78" name="Text 76"/>
          <p:cNvSpPr/>
          <p:nvPr/>
        </p:nvSpPr>
        <p:spPr>
          <a:xfrm>
            <a:off x="3108960" y="3502152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/>
              <a:t>Marker menjadi acuan geometri dan skala.</a:t>
            </a:r>
          </a:p>
        </p:txBody>
      </p:sp>
      <p:sp>
        <p:nvSpPr>
          <p:cNvPr id="79" name="Shape 77"/>
          <p:cNvSpPr/>
          <p:nvPr/>
        </p:nvSpPr>
        <p:spPr>
          <a:xfrm>
            <a:off x="5001768" y="3364992"/>
            <a:ext cx="347472" cy="310896"/>
          </a:xfrm>
          <a:prstGeom prst="rightArrow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257800" y="2788920"/>
            <a:ext cx="2121408" cy="153619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DE7F5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6035040" y="2496312"/>
            <a:ext cx="502920" cy="50292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6035040" y="2505456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3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⌗</a:t>
            </a:r>
            <a:endParaRPr lang="en-US" sz="1430" dirty="0"/>
          </a:p>
        </p:txBody>
      </p:sp>
      <p:sp>
        <p:nvSpPr>
          <p:cNvPr id="83" name="Text 81"/>
          <p:cNvSpPr/>
          <p:nvPr/>
        </p:nvSpPr>
        <p:spPr>
          <a:xfrm>
            <a:off x="5422392" y="313639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53"/>
                </a:solidFill>
              </a:rPr>
              <a:t>Homografi RANSAC</a:t>
            </a:r>
            <a:endParaRPr lang="en-US" sz="1300" dirty="0"/>
          </a:p>
        </p:txBody>
      </p:sp>
      <p:sp>
        <p:nvSpPr>
          <p:cNvPr id="84" name="Text 82"/>
          <p:cNvSpPr/>
          <p:nvPr/>
        </p:nvSpPr>
        <p:spPr>
          <a:xfrm>
            <a:off x="5440680" y="3502152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00" dirty="0"/>
              <a:t>Koreksi perspektif dilakukan jika ≥ 4 marker valid.</a:t>
            </a:r>
          </a:p>
        </p:txBody>
      </p:sp>
      <p:sp>
        <p:nvSpPr>
          <p:cNvPr id="85" name="Shape 83"/>
          <p:cNvSpPr/>
          <p:nvPr/>
        </p:nvSpPr>
        <p:spPr>
          <a:xfrm>
            <a:off x="7333488" y="3364992"/>
            <a:ext cx="347472" cy="310896"/>
          </a:xfrm>
          <a:prstGeom prst="rightArrow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589520" y="2788920"/>
            <a:ext cx="2121408" cy="153619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DE7F5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8366760" y="2496312"/>
            <a:ext cx="502920" cy="502920"/>
          </a:xfrm>
          <a:prstGeom prst="ellipse">
            <a:avLst/>
          </a:prstGeom>
          <a:solidFill>
            <a:srgbClr val="4AA3FF"/>
          </a:solidFill>
          <a:ln w="12700">
            <a:solidFill>
              <a:srgbClr val="4AA3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8366760" y="2505456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3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🧍</a:t>
            </a:r>
            <a:endParaRPr lang="en-US" sz="1430" dirty="0"/>
          </a:p>
        </p:txBody>
      </p:sp>
      <p:sp>
        <p:nvSpPr>
          <p:cNvPr id="89" name="Text 87"/>
          <p:cNvSpPr/>
          <p:nvPr/>
        </p:nvSpPr>
        <p:spPr>
          <a:xfrm>
            <a:off x="7754112" y="313639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53"/>
                </a:solidFill>
              </a:rPr>
              <a:t>MediaPipe Pose</a:t>
            </a:r>
            <a:endParaRPr lang="en-US" sz="1300" dirty="0"/>
          </a:p>
        </p:txBody>
      </p:sp>
      <p:sp>
        <p:nvSpPr>
          <p:cNvPr id="90" name="Text 88"/>
          <p:cNvSpPr/>
          <p:nvPr/>
        </p:nvSpPr>
        <p:spPr>
          <a:xfrm>
            <a:off x="7772400" y="3502152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00" dirty="0"/>
              <a:t>Menghasilkan 33 landmark tubuh satu subjek.</a:t>
            </a:r>
          </a:p>
        </p:txBody>
      </p:sp>
      <p:sp>
        <p:nvSpPr>
          <p:cNvPr id="91" name="Shape 89"/>
          <p:cNvSpPr/>
          <p:nvPr/>
        </p:nvSpPr>
        <p:spPr>
          <a:xfrm>
            <a:off x="9665208" y="3364992"/>
            <a:ext cx="347472" cy="310896"/>
          </a:xfrm>
          <a:prstGeom prst="rightArrow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921240" y="2788920"/>
            <a:ext cx="2121408" cy="153619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DE7F5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10698480" y="2496312"/>
            <a:ext cx="502920" cy="50292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94" name="Text 92"/>
          <p:cNvSpPr/>
          <p:nvPr/>
        </p:nvSpPr>
        <p:spPr>
          <a:xfrm>
            <a:off x="10698480" y="2505456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3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📏</a:t>
            </a:r>
            <a:endParaRPr lang="en-US" sz="1430" dirty="0"/>
          </a:p>
        </p:txBody>
      </p:sp>
      <p:sp>
        <p:nvSpPr>
          <p:cNvPr id="95" name="Text 93"/>
          <p:cNvSpPr/>
          <p:nvPr/>
        </p:nvSpPr>
        <p:spPr>
          <a:xfrm>
            <a:off x="10085832" y="313639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53"/>
                </a:solidFill>
              </a:rPr>
              <a:t>Estimasi Tinggi</a:t>
            </a:r>
            <a:endParaRPr lang="en-US" sz="1300" dirty="0"/>
          </a:p>
        </p:txBody>
      </p:sp>
      <p:sp>
        <p:nvSpPr>
          <p:cNvPr id="96" name="Text 94"/>
          <p:cNvSpPr/>
          <p:nvPr/>
        </p:nvSpPr>
        <p:spPr>
          <a:xfrm>
            <a:off x="10104120" y="3502152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00" dirty="0"/>
              <a:t>Titik kepala–kaki dikonversi ke sentimeter.</a:t>
            </a:r>
          </a:p>
        </p:txBody>
      </p:sp>
      <p:sp>
        <p:nvSpPr>
          <p:cNvPr id="97" name="Shape 95"/>
          <p:cNvSpPr/>
          <p:nvPr/>
        </p:nvSpPr>
        <p:spPr>
          <a:xfrm>
            <a:off x="1143000" y="4800600"/>
            <a:ext cx="9875520" cy="658368"/>
          </a:xfrm>
          <a:prstGeom prst="roundRect">
            <a:avLst>
              <a:gd name="adj" fmla="val 25000"/>
            </a:avLst>
          </a:prstGeom>
          <a:solidFill>
            <a:srgbClr val="F7F3FF"/>
          </a:solidFill>
          <a:ln w="12700">
            <a:solidFill>
              <a:srgbClr val="D8CCFF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98" name="Text 96"/>
          <p:cNvSpPr/>
          <p:nvPr/>
        </p:nvSpPr>
        <p:spPr>
          <a:xfrm>
            <a:off x="1417320" y="4983480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 err="1">
                <a:solidFill>
                  <a:srgbClr val="0B1F53"/>
                </a:solidFill>
              </a:rPr>
              <a:t>ArUco</a:t>
            </a:r>
            <a:r>
              <a:rPr lang="en-US" sz="1300" dirty="0">
                <a:solidFill>
                  <a:srgbClr val="0B1F53"/>
                </a:solidFill>
              </a:rPr>
              <a:t> marker menyediakan skala dan titik acuan, homografi memperbaiki perspektif, lalu landmark MediaPipe digunakan untuk estimasi tinggi badan.</a:t>
            </a:r>
            <a:endParaRPr lang="en-US" sz="1300" dirty="0"/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F7FAA8B7-FFF1-327E-5A7E-3AB2BBC73FC0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117" name="Shape 51">
              <a:extLst>
                <a:ext uri="{FF2B5EF4-FFF2-40B4-BE49-F238E27FC236}">
                  <a16:creationId xmlns:a16="http://schemas.microsoft.com/office/drawing/2014/main" id="{0E155A94-901E-24BC-7B0D-3B552E3FF026}"/>
                </a:ext>
              </a:extLst>
            </p:cNvPr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118" name="Text 54">
              <a:extLst>
                <a:ext uri="{FF2B5EF4-FFF2-40B4-BE49-F238E27FC236}">
                  <a16:creationId xmlns:a16="http://schemas.microsoft.com/office/drawing/2014/main" id="{7DE399E7-F95F-B749-3B6A-6FC6BB173160}"/>
                </a:ext>
              </a:extLst>
            </p:cNvPr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119" name="Text 55">
              <a:extLst>
                <a:ext uri="{FF2B5EF4-FFF2-40B4-BE49-F238E27FC236}">
                  <a16:creationId xmlns:a16="http://schemas.microsoft.com/office/drawing/2014/main" id="{55C18CC0-ECA5-61AC-92ED-5C727C7CFAC3}"/>
                </a:ext>
              </a:extLst>
            </p:cNvPr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120" name="Shape 56">
              <a:extLst>
                <a:ext uri="{FF2B5EF4-FFF2-40B4-BE49-F238E27FC236}">
                  <a16:creationId xmlns:a16="http://schemas.microsoft.com/office/drawing/2014/main" id="{030EF25D-74D1-C4AA-146C-A006CF425E40}"/>
                </a:ext>
              </a:extLst>
            </p:cNvPr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121" name="Text 58">
              <a:extLst>
                <a:ext uri="{FF2B5EF4-FFF2-40B4-BE49-F238E27FC236}">
                  <a16:creationId xmlns:a16="http://schemas.microsoft.com/office/drawing/2014/main" id="{507E50C9-4D1E-A0A3-63D4-334130D095A6}"/>
                </a:ext>
              </a:extLst>
            </p:cNvPr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122" name="Picture 121">
              <a:extLst>
                <a:ext uri="{FF2B5EF4-FFF2-40B4-BE49-F238E27FC236}">
                  <a16:creationId xmlns:a16="http://schemas.microsoft.com/office/drawing/2014/main" id="{0E0FCC1C-26CD-5A1B-C7FE-A87F5D436D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155EDEEB-2E4E-F6E8-FA6F-3E8A6175B1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EE9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2F2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01984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1984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1984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Shape 60"/>
          <p:cNvSpPr/>
          <p:nvPr/>
        </p:nvSpPr>
        <p:spPr>
          <a:xfrm>
            <a:off x="283464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79776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2668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72600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98848" y="10789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SEMINAR HASIL</a:t>
            </a:r>
            <a:endParaRPr lang="en-US" sz="2500" dirty="0"/>
          </a:p>
        </p:txBody>
      </p:sp>
      <p:sp>
        <p:nvSpPr>
          <p:cNvPr id="67" name="Text 65"/>
          <p:cNvSpPr/>
          <p:nvPr/>
        </p:nvSpPr>
        <p:spPr>
          <a:xfrm>
            <a:off x="594360" y="1444752"/>
            <a:ext cx="11018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Implementasi Perspective Correction</a:t>
            </a:r>
            <a:endParaRPr lang="en-US" sz="3400" dirty="0"/>
          </a:p>
        </p:txBody>
      </p:sp>
      <p:sp>
        <p:nvSpPr>
          <p:cNvPr id="68" name="Shape 66"/>
          <p:cNvSpPr/>
          <p:nvPr/>
        </p:nvSpPr>
        <p:spPr>
          <a:xfrm>
            <a:off x="822960" y="2286000"/>
            <a:ext cx="4754880" cy="283464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1115568" y="2542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53"/>
                </a:solidFill>
              </a:rPr>
              <a:t>Peran ArUco Marker</a:t>
            </a:r>
            <a:endParaRPr lang="en-US" sz="1700" dirty="0"/>
          </a:p>
        </p:txBody>
      </p:sp>
      <p:sp>
        <p:nvSpPr>
          <p:cNvPr id="70" name="Shape 68"/>
          <p:cNvSpPr/>
          <p:nvPr/>
        </p:nvSpPr>
        <p:spPr>
          <a:xfrm>
            <a:off x="1143000" y="3090672"/>
            <a:ext cx="201168" cy="201168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143000" y="3141537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1508759" y="3044952"/>
            <a:ext cx="388274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dirty="0"/>
              <a:t>DICT_6X6_1000 digunakan untuk mendeteksi marker.</a:t>
            </a:r>
          </a:p>
        </p:txBody>
      </p:sp>
      <p:sp>
        <p:nvSpPr>
          <p:cNvPr id="73" name="Shape 71"/>
          <p:cNvSpPr/>
          <p:nvPr/>
        </p:nvSpPr>
        <p:spPr>
          <a:xfrm>
            <a:off x="1143000" y="3602736"/>
            <a:ext cx="201168" cy="201168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143000" y="3658364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1508760" y="3557016"/>
            <a:ext cx="38827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B1F53"/>
                </a:solidFill>
              </a:rPr>
              <a:t>Minimal empat marker valid diperlukan agar homografi dapat dihitung.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1143000" y="4114800"/>
            <a:ext cx="201168" cy="201168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138237" y="4165665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78" name="Text 76"/>
          <p:cNvSpPr/>
          <p:nvPr/>
        </p:nvSpPr>
        <p:spPr>
          <a:xfrm>
            <a:off x="1508760" y="4069080"/>
            <a:ext cx="38827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B1F53"/>
                </a:solidFill>
              </a:rPr>
              <a:t>Tinggi papan referensi diketahui sebesar 200 cm sebagai skala fisik.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6172200" y="2286000"/>
            <a:ext cx="5074920" cy="1673352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6473952" y="25420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53"/>
                </a:solidFill>
              </a:rPr>
              <a:t>Transformasi Homografi</a:t>
            </a:r>
            <a:endParaRPr lang="en-US" sz="1700" dirty="0"/>
          </a:p>
        </p:txBody>
      </p:sp>
      <p:sp>
        <p:nvSpPr>
          <p:cNvPr id="82" name="Text 80"/>
          <p:cNvSpPr/>
          <p:nvPr/>
        </p:nvSpPr>
        <p:spPr>
          <a:xfrm>
            <a:off x="6502527" y="3059049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53"/>
                </a:solidFill>
              </a:rPr>
              <a:t>RANSAC digunakan untuk mengurangi pengaruh titik pasangan yang menyimpang sehingga hasil koreksi perspektif lebih stabil.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6222492" y="4393691"/>
            <a:ext cx="5024628" cy="384048"/>
          </a:xfrm>
          <a:prstGeom prst="roundRect">
            <a:avLst>
              <a:gd name="adj" fmla="val 19048"/>
            </a:avLst>
          </a:prstGeom>
          <a:solidFill>
            <a:srgbClr val="6E3FE5"/>
          </a:solidFill>
          <a:ln w="12700">
            <a:solidFill>
              <a:srgbClr val="6E3FE5">
                <a:alpha val="90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539740" y="4427601"/>
            <a:ext cx="6446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Hasil: bidang papan menjadi lebih konsisten sebelum pose estimation</a:t>
            </a:r>
            <a:endParaRPr lang="en-US" sz="1200" dirty="0"/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6D83C421-6B34-BF36-EA6A-9CAB98F50C97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103" name="Shape 51">
              <a:extLst>
                <a:ext uri="{FF2B5EF4-FFF2-40B4-BE49-F238E27FC236}">
                  <a16:creationId xmlns:a16="http://schemas.microsoft.com/office/drawing/2014/main" id="{D2087EAA-E9B8-B5B9-A113-AF49B3798422}"/>
                </a:ext>
              </a:extLst>
            </p:cNvPr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104" name="Text 54">
              <a:extLst>
                <a:ext uri="{FF2B5EF4-FFF2-40B4-BE49-F238E27FC236}">
                  <a16:creationId xmlns:a16="http://schemas.microsoft.com/office/drawing/2014/main" id="{37AE6F8D-D5F8-50CE-F9CE-5D3B8C517A02}"/>
                </a:ext>
              </a:extLst>
            </p:cNvPr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105" name="Text 55">
              <a:extLst>
                <a:ext uri="{FF2B5EF4-FFF2-40B4-BE49-F238E27FC236}">
                  <a16:creationId xmlns:a16="http://schemas.microsoft.com/office/drawing/2014/main" id="{4AC0BA6F-F4D4-86AB-A84F-7F3C351E2532}"/>
                </a:ext>
              </a:extLst>
            </p:cNvPr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106" name="Shape 56">
              <a:extLst>
                <a:ext uri="{FF2B5EF4-FFF2-40B4-BE49-F238E27FC236}">
                  <a16:creationId xmlns:a16="http://schemas.microsoft.com/office/drawing/2014/main" id="{DA5D722D-58D0-941C-5B5B-0C72947201EF}"/>
                </a:ext>
              </a:extLst>
            </p:cNvPr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107" name="Text 58">
              <a:extLst>
                <a:ext uri="{FF2B5EF4-FFF2-40B4-BE49-F238E27FC236}">
                  <a16:creationId xmlns:a16="http://schemas.microsoft.com/office/drawing/2014/main" id="{26EAC86A-7E9E-EA6D-5839-8078DC86AEEA}"/>
                </a:ext>
              </a:extLst>
            </p:cNvPr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9C6663C9-E50C-A35B-FE17-BDCFD6323E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B9969E97-D566-715F-BD13-5BC231D0A2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2F2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EE9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01984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1984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1984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44200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63072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81944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00816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219688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338560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Shape 60"/>
          <p:cNvSpPr/>
          <p:nvPr/>
        </p:nvSpPr>
        <p:spPr>
          <a:xfrm>
            <a:off x="283464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79776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2668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72600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98848" y="10789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SEMINAR HASIL</a:t>
            </a:r>
            <a:endParaRPr lang="en-US" sz="2500" dirty="0"/>
          </a:p>
        </p:txBody>
      </p:sp>
      <p:sp>
        <p:nvSpPr>
          <p:cNvPr id="67" name="Text 65"/>
          <p:cNvSpPr/>
          <p:nvPr/>
        </p:nvSpPr>
        <p:spPr>
          <a:xfrm>
            <a:off x="594360" y="1444752"/>
            <a:ext cx="11018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Pose Estimation dan Perhitungan Tinggi</a:t>
            </a:r>
            <a:endParaRPr lang="en-US" sz="3400" dirty="0"/>
          </a:p>
        </p:txBody>
      </p:sp>
      <p:sp>
        <p:nvSpPr>
          <p:cNvPr id="68" name="Shape 66"/>
          <p:cNvSpPr/>
          <p:nvPr/>
        </p:nvSpPr>
        <p:spPr>
          <a:xfrm>
            <a:off x="731520" y="2240280"/>
            <a:ext cx="3383280" cy="30175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2084832" y="2487168"/>
            <a:ext cx="640080" cy="64008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2084832" y="2496312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🧍</a:t>
            </a:r>
            <a:endParaRPr lang="en-US" sz="3200" dirty="0"/>
          </a:p>
        </p:txBody>
      </p:sp>
      <p:sp>
        <p:nvSpPr>
          <p:cNvPr id="71" name="Text 69"/>
          <p:cNvSpPr/>
          <p:nvPr/>
        </p:nvSpPr>
        <p:spPr>
          <a:xfrm>
            <a:off x="1005840" y="3273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53"/>
                </a:solidFill>
              </a:rPr>
              <a:t>MediaPipe Pose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1078992" y="368503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00" dirty="0"/>
              <a:t>Menghasilkan 33 landmark tubuh pada implementasi aplikasi ini untuk satu subjek/orang.</a:t>
            </a:r>
          </a:p>
        </p:txBody>
      </p:sp>
      <p:sp>
        <p:nvSpPr>
          <p:cNvPr id="73" name="Shape 71"/>
          <p:cNvSpPr/>
          <p:nvPr/>
        </p:nvSpPr>
        <p:spPr>
          <a:xfrm>
            <a:off x="4434840" y="2240280"/>
            <a:ext cx="3383280" cy="30175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5779008" y="2487168"/>
            <a:ext cx="640080" cy="640080"/>
          </a:xfrm>
          <a:prstGeom prst="ellipse">
            <a:avLst/>
          </a:prstGeom>
          <a:solidFill>
            <a:srgbClr val="4AA3FF"/>
          </a:solidFill>
          <a:ln w="12700">
            <a:solidFill>
              <a:srgbClr val="4AA3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5779008" y="2496312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⌃</a:t>
            </a:r>
            <a:endParaRPr lang="en-US" sz="3200" dirty="0"/>
          </a:p>
        </p:txBody>
      </p:sp>
      <p:sp>
        <p:nvSpPr>
          <p:cNvPr id="76" name="Text 74"/>
          <p:cNvSpPr/>
          <p:nvPr/>
        </p:nvSpPr>
        <p:spPr>
          <a:xfrm>
            <a:off x="4709160" y="3273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53"/>
                </a:solidFill>
              </a:rPr>
              <a:t>Estimasi Titik Tubuh</a:t>
            </a:r>
            <a:endParaRPr lang="en-US" sz="1800" dirty="0"/>
          </a:p>
        </p:txBody>
      </p:sp>
      <p:sp>
        <p:nvSpPr>
          <p:cNvPr id="77" name="Text 75"/>
          <p:cNvSpPr/>
          <p:nvPr/>
        </p:nvSpPr>
        <p:spPr>
          <a:xfrm>
            <a:off x="4709160" y="368503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00" dirty="0"/>
              <a:t>Puncak kepala diperkirakan dari landmark wajah dan bahu. Titik kaki terbawah dipilih dari pergelangan kaki, tumit, dan ujung kaki.</a:t>
            </a:r>
          </a:p>
        </p:txBody>
      </p:sp>
      <p:sp>
        <p:nvSpPr>
          <p:cNvPr id="78" name="Shape 76"/>
          <p:cNvSpPr/>
          <p:nvPr/>
        </p:nvSpPr>
        <p:spPr>
          <a:xfrm>
            <a:off x="8138160" y="2240280"/>
            <a:ext cx="3337560" cy="30175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9464040" y="2487168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9464040" y="2496312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📏</a:t>
            </a:r>
            <a:endParaRPr lang="en-US" sz="2800" dirty="0"/>
          </a:p>
        </p:txBody>
      </p:sp>
      <p:sp>
        <p:nvSpPr>
          <p:cNvPr id="81" name="Text 79"/>
          <p:cNvSpPr/>
          <p:nvPr/>
        </p:nvSpPr>
        <p:spPr>
          <a:xfrm>
            <a:off x="8412480" y="3273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53"/>
                </a:solidFill>
              </a:rPr>
              <a:t>Konversi ke cm</a:t>
            </a:r>
            <a:endParaRPr lang="en-US" sz="1800" dirty="0"/>
          </a:p>
        </p:txBody>
      </p:sp>
      <p:sp>
        <p:nvSpPr>
          <p:cNvPr id="82" name="Text 80"/>
          <p:cNvSpPr/>
          <p:nvPr/>
        </p:nvSpPr>
        <p:spPr>
          <a:xfrm>
            <a:off x="8394192" y="36576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00" dirty="0"/>
              <a:t>Jarak piksel kepala–kaki dikonversi menggunakan tinggi papan 200 cm, kemudian disesuaikan dengan koreksi kedalaman dan kalibrasi.</a:t>
            </a: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6915D4C7-3D2E-6EC5-E80E-50B26FCA5832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103" name="Shape 51">
              <a:extLst>
                <a:ext uri="{FF2B5EF4-FFF2-40B4-BE49-F238E27FC236}">
                  <a16:creationId xmlns:a16="http://schemas.microsoft.com/office/drawing/2014/main" id="{78E8668F-183D-EA52-5453-2BBAD76F85E3}"/>
                </a:ext>
              </a:extLst>
            </p:cNvPr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104" name="Text 54">
              <a:extLst>
                <a:ext uri="{FF2B5EF4-FFF2-40B4-BE49-F238E27FC236}">
                  <a16:creationId xmlns:a16="http://schemas.microsoft.com/office/drawing/2014/main" id="{F967A10A-7311-79A7-7231-7168643BF642}"/>
                </a:ext>
              </a:extLst>
            </p:cNvPr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105" name="Text 55">
              <a:extLst>
                <a:ext uri="{FF2B5EF4-FFF2-40B4-BE49-F238E27FC236}">
                  <a16:creationId xmlns:a16="http://schemas.microsoft.com/office/drawing/2014/main" id="{288A78D3-6565-DD41-3F8D-D1CF87B9C6C3}"/>
                </a:ext>
              </a:extLst>
            </p:cNvPr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106" name="Shape 56">
              <a:extLst>
                <a:ext uri="{FF2B5EF4-FFF2-40B4-BE49-F238E27FC236}">
                  <a16:creationId xmlns:a16="http://schemas.microsoft.com/office/drawing/2014/main" id="{E5B39BBB-AEF0-214B-1852-0D9600484D87}"/>
                </a:ext>
              </a:extLst>
            </p:cNvPr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107" name="Text 58">
              <a:extLst>
                <a:ext uri="{FF2B5EF4-FFF2-40B4-BE49-F238E27FC236}">
                  <a16:creationId xmlns:a16="http://schemas.microsoft.com/office/drawing/2014/main" id="{38101591-6F08-314A-63DB-CB2087C563F1}"/>
                </a:ext>
              </a:extLst>
            </p:cNvPr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864AC998-7A8A-F84F-3E55-7FA35F289F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AFCB8840-8A7E-CCE9-D3B6-F5C716C815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EE9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2F2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01984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1984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1984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Shape 60"/>
          <p:cNvSpPr/>
          <p:nvPr/>
        </p:nvSpPr>
        <p:spPr>
          <a:xfrm>
            <a:off x="283464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79776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2668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72600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98848" y="10789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SEMINAR HASIL</a:t>
            </a:r>
            <a:endParaRPr lang="en-US" sz="2500" dirty="0"/>
          </a:p>
        </p:txBody>
      </p:sp>
      <p:sp>
        <p:nvSpPr>
          <p:cNvPr id="67" name="Text 65"/>
          <p:cNvSpPr/>
          <p:nvPr/>
        </p:nvSpPr>
        <p:spPr>
          <a:xfrm>
            <a:off x="594360" y="1444752"/>
            <a:ext cx="11018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400" b="1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Skenario Pengujian Utama</a:t>
            </a:r>
            <a:endParaRPr lang="en-US" sz="3400" dirty="0"/>
          </a:p>
        </p:txBody>
      </p:sp>
      <p:sp>
        <p:nvSpPr>
          <p:cNvPr id="68" name="Shape 66"/>
          <p:cNvSpPr/>
          <p:nvPr/>
        </p:nvSpPr>
        <p:spPr>
          <a:xfrm>
            <a:off x="914400" y="2194560"/>
            <a:ext cx="10332720" cy="3246120"/>
          </a:xfrm>
          <a:prstGeom prst="roundRect">
            <a:avLst>
              <a:gd name="adj" fmla="val 5070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1143000" y="2423160"/>
            <a:ext cx="9875520" cy="411480"/>
          </a:xfrm>
          <a:prstGeom prst="roundRect">
            <a:avLst>
              <a:gd name="adj" fmla="val 15556"/>
            </a:avLst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353312" y="254203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Pengujian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3291840" y="2542032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Parameter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6400800" y="2542032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Tujuan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1143000" y="2971800"/>
            <a:ext cx="987552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DF2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353312" y="3099816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3FE5"/>
                </a:solidFill>
              </a:rPr>
              <a:t>Pengujian 1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3291840" y="3099816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B1F53"/>
                </a:solidFill>
              </a:rPr>
              <a:t>Dimensi dan susunan marker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6400800" y="3099816"/>
            <a:ext cx="3977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87385"/>
                </a:solidFill>
              </a:rPr>
              <a:t>Memastikan ukuran fisik sesuai geometri kode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1143000" y="3502152"/>
            <a:ext cx="9875520" cy="420624"/>
          </a:xfrm>
          <a:prstGeom prst="roundRect">
            <a:avLst>
              <a:gd name="adj" fmla="val 13043"/>
            </a:avLst>
          </a:prstGeom>
          <a:solidFill>
            <a:srgbClr val="F8FAFF"/>
          </a:solidFill>
          <a:ln w="12700">
            <a:solidFill>
              <a:srgbClr val="EDF2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353312" y="3630168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3FE5"/>
                </a:solidFill>
              </a:rPr>
              <a:t>Pengujian 2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3291840" y="3630168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B1F53"/>
                </a:solidFill>
              </a:rPr>
              <a:t>PX_PER_CELL 100, 120, 150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6400800" y="3630168"/>
            <a:ext cx="3977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87385"/>
                </a:solidFill>
              </a:rPr>
              <a:t>Memilih skala bidang tujuan dengan MAE terkecil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1143000" y="4032504"/>
            <a:ext cx="987552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DF2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353312" y="416052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3FE5"/>
                </a:solidFill>
              </a:rPr>
              <a:t>Pengujian 3</a:t>
            </a:r>
            <a:endParaRPr lang="en-US" sz="1300" dirty="0"/>
          </a:p>
        </p:txBody>
      </p:sp>
      <p:sp>
        <p:nvSpPr>
          <p:cNvPr id="83" name="Text 81"/>
          <p:cNvSpPr/>
          <p:nvPr/>
        </p:nvSpPr>
        <p:spPr>
          <a:xfrm>
            <a:off x="3291840" y="4160520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B1F53"/>
                </a:solidFill>
              </a:rPr>
              <a:t>Hasil aplikasi vs tinggi aktual</a:t>
            </a:r>
            <a:endParaRPr lang="en-US" sz="1300" dirty="0"/>
          </a:p>
        </p:txBody>
      </p:sp>
      <p:sp>
        <p:nvSpPr>
          <p:cNvPr id="84" name="Text 82"/>
          <p:cNvSpPr/>
          <p:nvPr/>
        </p:nvSpPr>
        <p:spPr>
          <a:xfrm>
            <a:off x="6400800" y="4160520"/>
            <a:ext cx="3977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87385"/>
                </a:solidFill>
              </a:rPr>
              <a:t>Menilai akurasi pengukuran dengan stadiometer</a:t>
            </a:r>
            <a:endParaRPr lang="en-US" sz="1300" dirty="0"/>
          </a:p>
        </p:txBody>
      </p:sp>
      <p:sp>
        <p:nvSpPr>
          <p:cNvPr id="85" name="Shape 83"/>
          <p:cNvSpPr/>
          <p:nvPr/>
        </p:nvSpPr>
        <p:spPr>
          <a:xfrm>
            <a:off x="1143000" y="4562856"/>
            <a:ext cx="9875520" cy="420624"/>
          </a:xfrm>
          <a:prstGeom prst="roundRect">
            <a:avLst>
              <a:gd name="adj" fmla="val 13043"/>
            </a:avLst>
          </a:prstGeom>
          <a:solidFill>
            <a:srgbClr val="F8FAFF"/>
          </a:solidFill>
          <a:ln w="12700">
            <a:solidFill>
              <a:srgbClr val="EDF2F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353312" y="4690872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E3FE5"/>
                </a:solidFill>
              </a:rPr>
              <a:t>Pengujian 4</a:t>
            </a:r>
            <a:endParaRPr lang="en-US" sz="1300" dirty="0"/>
          </a:p>
        </p:txBody>
      </p:sp>
      <p:sp>
        <p:nvSpPr>
          <p:cNvPr id="87" name="Text 85"/>
          <p:cNvSpPr/>
          <p:nvPr/>
        </p:nvSpPr>
        <p:spPr>
          <a:xfrm>
            <a:off x="3291840" y="4690872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0B1F53"/>
                </a:solidFill>
              </a:rPr>
              <a:t>Koefisien top head</a:t>
            </a:r>
            <a:endParaRPr lang="en-US" sz="1300" dirty="0"/>
          </a:p>
        </p:txBody>
      </p:sp>
      <p:sp>
        <p:nvSpPr>
          <p:cNvPr id="88" name="Text 86"/>
          <p:cNvSpPr/>
          <p:nvPr/>
        </p:nvSpPr>
        <p:spPr>
          <a:xfrm>
            <a:off x="6400800" y="4690872"/>
            <a:ext cx="3977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nl-NL" sz="1300">
                <a:solidFill>
                  <a:srgbClr val="687385"/>
                </a:solidFill>
              </a:rPr>
              <a:t>Memilih kombinasi eyeToShoulder dan earToEye</a:t>
            </a:r>
            <a:endParaRPr lang="en-US" sz="1300" dirty="0"/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7142F329-258D-0A8D-665F-C4144C3AD17C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109" name="Shape 51">
              <a:extLst>
                <a:ext uri="{FF2B5EF4-FFF2-40B4-BE49-F238E27FC236}">
                  <a16:creationId xmlns:a16="http://schemas.microsoft.com/office/drawing/2014/main" id="{34ED03DC-CEA0-A77D-14A2-50B52554AC89}"/>
                </a:ext>
              </a:extLst>
            </p:cNvPr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110" name="Text 54">
              <a:extLst>
                <a:ext uri="{FF2B5EF4-FFF2-40B4-BE49-F238E27FC236}">
                  <a16:creationId xmlns:a16="http://schemas.microsoft.com/office/drawing/2014/main" id="{D496A3EE-7C87-FA69-5C41-1634A0443B62}"/>
                </a:ext>
              </a:extLst>
            </p:cNvPr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111" name="Text 55">
              <a:extLst>
                <a:ext uri="{FF2B5EF4-FFF2-40B4-BE49-F238E27FC236}">
                  <a16:creationId xmlns:a16="http://schemas.microsoft.com/office/drawing/2014/main" id="{4245EB4A-4D3F-4D2A-1A9C-2985A5017342}"/>
                </a:ext>
              </a:extLst>
            </p:cNvPr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112" name="Shape 56">
              <a:extLst>
                <a:ext uri="{FF2B5EF4-FFF2-40B4-BE49-F238E27FC236}">
                  <a16:creationId xmlns:a16="http://schemas.microsoft.com/office/drawing/2014/main" id="{204ADBA9-0492-66D0-31A6-7F6D29AC1A3D}"/>
                </a:ext>
              </a:extLst>
            </p:cNvPr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113" name="Text 58">
              <a:extLst>
                <a:ext uri="{FF2B5EF4-FFF2-40B4-BE49-F238E27FC236}">
                  <a16:creationId xmlns:a16="http://schemas.microsoft.com/office/drawing/2014/main" id="{02E41596-2DD4-2E15-1F9F-455C60E40ADE}"/>
                </a:ext>
              </a:extLst>
            </p:cNvPr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1D41BB68-4A39-9F68-0DA2-0973CFAF8C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2515F629-3555-E2C2-0989-7A2C2CDB7B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2F2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EE9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01984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1984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1984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Shape 60"/>
          <p:cNvSpPr/>
          <p:nvPr/>
        </p:nvSpPr>
        <p:spPr>
          <a:xfrm>
            <a:off x="283464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79776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2668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72600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98848" y="10789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SEMINAR HASIL</a:t>
            </a:r>
            <a:endParaRPr lang="en-US" sz="2500" dirty="0"/>
          </a:p>
        </p:txBody>
      </p:sp>
      <p:sp>
        <p:nvSpPr>
          <p:cNvPr id="67" name="Text 65"/>
          <p:cNvSpPr/>
          <p:nvPr/>
        </p:nvSpPr>
        <p:spPr>
          <a:xfrm>
            <a:off x="594360" y="1444752"/>
            <a:ext cx="11018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Hasil Pengujian Skala Piksel</a:t>
            </a:r>
            <a:endParaRPr lang="en-US" sz="3400" dirty="0"/>
          </a:p>
        </p:txBody>
      </p:sp>
      <p:sp>
        <p:nvSpPr>
          <p:cNvPr id="82" name="Shape 80"/>
          <p:cNvSpPr/>
          <p:nvPr/>
        </p:nvSpPr>
        <p:spPr>
          <a:xfrm>
            <a:off x="6812280" y="2103120"/>
            <a:ext cx="429768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83" name="Text 81"/>
          <p:cNvSpPr/>
          <p:nvPr/>
        </p:nvSpPr>
        <p:spPr>
          <a:xfrm>
            <a:off x="7132320" y="2395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53"/>
                </a:solidFill>
              </a:rPr>
              <a:t>Konfigurasi Terpilih</a:t>
            </a:r>
            <a:endParaRPr lang="en-US" sz="1800" dirty="0"/>
          </a:p>
        </p:txBody>
      </p:sp>
      <p:sp>
        <p:nvSpPr>
          <p:cNvPr id="84" name="Shape 82"/>
          <p:cNvSpPr/>
          <p:nvPr/>
        </p:nvSpPr>
        <p:spPr>
          <a:xfrm>
            <a:off x="7178040" y="2907792"/>
            <a:ext cx="3291840" cy="338328"/>
          </a:xfrm>
          <a:prstGeom prst="roundRect">
            <a:avLst>
              <a:gd name="adj" fmla="val 16216"/>
            </a:avLst>
          </a:prstGeom>
          <a:solidFill>
            <a:srgbClr val="F1ECFF"/>
          </a:solidFill>
          <a:ln w="12700">
            <a:solidFill>
              <a:srgbClr val="E5EAF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360920" y="3017520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87385"/>
                </a:solidFill>
              </a:rPr>
              <a:t>PX_PER_CELL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8595360" y="2999232"/>
            <a:ext cx="1600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3FE5"/>
                </a:solidFill>
              </a:rPr>
              <a:t>120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7178040" y="3410712"/>
            <a:ext cx="3291840" cy="338328"/>
          </a:xfrm>
          <a:prstGeom prst="roundRect">
            <a:avLst>
              <a:gd name="adj" fmla="val 16216"/>
            </a:avLst>
          </a:prstGeom>
          <a:solidFill>
            <a:srgbClr val="F8FAFF"/>
          </a:solidFill>
          <a:ln w="12700">
            <a:solidFill>
              <a:srgbClr val="E5EAF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360920" y="3520440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87385"/>
                </a:solidFill>
              </a:rPr>
              <a:t>Tinggi papan</a:t>
            </a:r>
            <a:endParaRPr lang="en-US" sz="1300" dirty="0"/>
          </a:p>
        </p:txBody>
      </p:sp>
      <p:sp>
        <p:nvSpPr>
          <p:cNvPr id="89" name="Text 87"/>
          <p:cNvSpPr/>
          <p:nvPr/>
        </p:nvSpPr>
        <p:spPr>
          <a:xfrm>
            <a:off x="8595360" y="3502152"/>
            <a:ext cx="1600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B1F53"/>
                </a:solidFill>
              </a:rPr>
              <a:t>2.322 px</a:t>
            </a:r>
            <a:endParaRPr lang="en-US" sz="1300" dirty="0"/>
          </a:p>
        </p:txBody>
      </p:sp>
      <p:sp>
        <p:nvSpPr>
          <p:cNvPr id="90" name="Shape 88"/>
          <p:cNvSpPr/>
          <p:nvPr/>
        </p:nvSpPr>
        <p:spPr>
          <a:xfrm>
            <a:off x="7178040" y="3913632"/>
            <a:ext cx="3291840" cy="338328"/>
          </a:xfrm>
          <a:prstGeom prst="roundRect">
            <a:avLst>
              <a:gd name="adj" fmla="val 16216"/>
            </a:avLst>
          </a:prstGeom>
          <a:solidFill>
            <a:srgbClr val="F8FAFF"/>
          </a:solidFill>
          <a:ln w="12700">
            <a:solidFill>
              <a:srgbClr val="E5EAF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360920" y="4023360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87385"/>
                </a:solidFill>
              </a:rPr>
              <a:t>Skala</a:t>
            </a:r>
            <a:endParaRPr lang="en-US" sz="1300" dirty="0"/>
          </a:p>
        </p:txBody>
      </p:sp>
      <p:sp>
        <p:nvSpPr>
          <p:cNvPr id="92" name="Text 90"/>
          <p:cNvSpPr/>
          <p:nvPr/>
        </p:nvSpPr>
        <p:spPr>
          <a:xfrm>
            <a:off x="8595360" y="4005072"/>
            <a:ext cx="1600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B1F53"/>
                </a:solidFill>
              </a:rPr>
              <a:t>0,08613 cm/px</a:t>
            </a:r>
            <a:endParaRPr lang="en-US" sz="1300" dirty="0"/>
          </a:p>
        </p:txBody>
      </p:sp>
      <p:sp>
        <p:nvSpPr>
          <p:cNvPr id="93" name="Shape 91"/>
          <p:cNvSpPr/>
          <p:nvPr/>
        </p:nvSpPr>
        <p:spPr>
          <a:xfrm>
            <a:off x="7178040" y="4416552"/>
            <a:ext cx="3291840" cy="338328"/>
          </a:xfrm>
          <a:prstGeom prst="roundRect">
            <a:avLst>
              <a:gd name="adj" fmla="val 16216"/>
            </a:avLst>
          </a:prstGeom>
          <a:solidFill>
            <a:srgbClr val="F8FAFF"/>
          </a:solidFill>
          <a:ln w="12700">
            <a:solidFill>
              <a:srgbClr val="E5EAF6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360920" y="4526280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87385"/>
                </a:solidFill>
              </a:rPr>
              <a:t>Output</a:t>
            </a:r>
            <a:endParaRPr lang="en-US" sz="1300" dirty="0"/>
          </a:p>
        </p:txBody>
      </p:sp>
      <p:sp>
        <p:nvSpPr>
          <p:cNvPr id="95" name="Text 93"/>
          <p:cNvSpPr/>
          <p:nvPr/>
        </p:nvSpPr>
        <p:spPr>
          <a:xfrm>
            <a:off x="8595360" y="4507992"/>
            <a:ext cx="1600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B1F53"/>
                </a:solidFill>
              </a:rPr>
              <a:t>1.320 × 3.036 px</a:t>
            </a:r>
            <a:endParaRPr lang="en-US" sz="1300" dirty="0"/>
          </a:p>
        </p:txBody>
      </p:sp>
      <p:sp>
        <p:nvSpPr>
          <p:cNvPr id="96" name="Shape 94"/>
          <p:cNvSpPr/>
          <p:nvPr/>
        </p:nvSpPr>
        <p:spPr>
          <a:xfrm>
            <a:off x="3063240" y="5715000"/>
            <a:ext cx="6172200" cy="384048"/>
          </a:xfrm>
          <a:prstGeom prst="roundRect">
            <a:avLst>
              <a:gd name="adj" fmla="val 19048"/>
            </a:avLst>
          </a:prstGeom>
          <a:solidFill>
            <a:srgbClr val="6E3FE5"/>
          </a:solidFill>
          <a:ln w="12700">
            <a:solidFill>
              <a:srgbClr val="6E3FE5">
                <a:alpha val="90000"/>
              </a:srgbClr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063240" y="5751576"/>
            <a:ext cx="6172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Dipilih karena menghasilkan MAE paling kecil pada 15 citra uji</a:t>
            </a:r>
            <a:endParaRPr lang="en-US" sz="1300" dirty="0"/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76DC85D-9F73-5859-3F10-CD41B9ACB7B5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116" name="Shape 51">
              <a:extLst>
                <a:ext uri="{FF2B5EF4-FFF2-40B4-BE49-F238E27FC236}">
                  <a16:creationId xmlns:a16="http://schemas.microsoft.com/office/drawing/2014/main" id="{45811218-EE30-9203-B2FE-6D1B34791DF7}"/>
                </a:ext>
              </a:extLst>
            </p:cNvPr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117" name="Text 54">
              <a:extLst>
                <a:ext uri="{FF2B5EF4-FFF2-40B4-BE49-F238E27FC236}">
                  <a16:creationId xmlns:a16="http://schemas.microsoft.com/office/drawing/2014/main" id="{E3753DA0-12C6-F4C0-5B89-1B54D12F8371}"/>
                </a:ext>
              </a:extLst>
            </p:cNvPr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118" name="Text 55">
              <a:extLst>
                <a:ext uri="{FF2B5EF4-FFF2-40B4-BE49-F238E27FC236}">
                  <a16:creationId xmlns:a16="http://schemas.microsoft.com/office/drawing/2014/main" id="{D7C87393-4A57-E3E1-C71A-E4E7F02C2A0F}"/>
                </a:ext>
              </a:extLst>
            </p:cNvPr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119" name="Shape 56">
              <a:extLst>
                <a:ext uri="{FF2B5EF4-FFF2-40B4-BE49-F238E27FC236}">
                  <a16:creationId xmlns:a16="http://schemas.microsoft.com/office/drawing/2014/main" id="{A42DC49E-00F0-723D-3A22-75BC7464735E}"/>
                </a:ext>
              </a:extLst>
            </p:cNvPr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120" name="Text 58">
              <a:extLst>
                <a:ext uri="{FF2B5EF4-FFF2-40B4-BE49-F238E27FC236}">
                  <a16:creationId xmlns:a16="http://schemas.microsoft.com/office/drawing/2014/main" id="{52DA5CF9-17D4-C4E0-D810-48B13771A17F}"/>
                </a:ext>
              </a:extLst>
            </p:cNvPr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121" name="Picture 120">
              <a:extLst>
                <a:ext uri="{FF2B5EF4-FFF2-40B4-BE49-F238E27FC236}">
                  <a16:creationId xmlns:a16="http://schemas.microsoft.com/office/drawing/2014/main" id="{79ACB4A0-91B1-E00E-5EF1-613CA83102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122" name="Picture 121">
              <a:extLst>
                <a:ext uri="{FF2B5EF4-FFF2-40B4-BE49-F238E27FC236}">
                  <a16:creationId xmlns:a16="http://schemas.microsoft.com/office/drawing/2014/main" id="{5131E2E3-1E3D-B509-1576-6192873CA1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  <p:pic>
        <p:nvPicPr>
          <p:cNvPr id="123" name="Picture 122">
            <a:extLst>
              <a:ext uri="{FF2B5EF4-FFF2-40B4-BE49-F238E27FC236}">
                <a16:creationId xmlns:a16="http://schemas.microsoft.com/office/drawing/2014/main" id="{1C655269-F731-3855-8012-89662D45FF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152" y="2322322"/>
            <a:ext cx="5214156" cy="287147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EE9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2F2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01984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1984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1984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Shape 60"/>
          <p:cNvSpPr/>
          <p:nvPr/>
        </p:nvSpPr>
        <p:spPr>
          <a:xfrm>
            <a:off x="283464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79776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2668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72600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98848" y="10789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SEMINAR HASIL</a:t>
            </a:r>
            <a:endParaRPr lang="en-US" sz="2500" dirty="0"/>
          </a:p>
        </p:txBody>
      </p:sp>
      <p:sp>
        <p:nvSpPr>
          <p:cNvPr id="67" name="Text 65"/>
          <p:cNvSpPr/>
          <p:nvPr/>
        </p:nvSpPr>
        <p:spPr>
          <a:xfrm>
            <a:off x="594360" y="1444752"/>
            <a:ext cx="11018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400" b="1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Pengujian Utama: 15 Citra</a:t>
            </a:r>
            <a:endParaRPr lang="en-US" sz="3400" dirty="0"/>
          </a:p>
        </p:txBody>
      </p:sp>
      <p:sp>
        <p:nvSpPr>
          <p:cNvPr id="68" name="Shape 66"/>
          <p:cNvSpPr/>
          <p:nvPr/>
        </p:nvSpPr>
        <p:spPr>
          <a:xfrm>
            <a:off x="685800" y="2103120"/>
            <a:ext cx="6720840" cy="338328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7818120" y="2103120"/>
            <a:ext cx="3657600" cy="338328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89" name="Text 87"/>
          <p:cNvSpPr/>
          <p:nvPr/>
        </p:nvSpPr>
        <p:spPr>
          <a:xfrm>
            <a:off x="8138160" y="2377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53"/>
                </a:solidFill>
              </a:rPr>
              <a:t>Ringkasan Nilai</a:t>
            </a:r>
            <a:endParaRPr lang="en-US" sz="1800" dirty="0"/>
          </a:p>
        </p:txBody>
      </p:sp>
      <p:sp>
        <p:nvSpPr>
          <p:cNvPr id="90" name="Shape 88"/>
          <p:cNvSpPr/>
          <p:nvPr/>
        </p:nvSpPr>
        <p:spPr>
          <a:xfrm>
            <a:off x="8092440" y="2807208"/>
            <a:ext cx="2926080" cy="310896"/>
          </a:xfrm>
          <a:prstGeom prst="roundRect">
            <a:avLst>
              <a:gd name="adj" fmla="val 17647"/>
            </a:avLst>
          </a:prstGeom>
          <a:solidFill>
            <a:srgbClr val="F8FAFF"/>
          </a:solidFill>
          <a:ln w="12700">
            <a:solidFill>
              <a:srgbClr val="E5EAF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266176" y="2907792"/>
            <a:ext cx="1600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87385"/>
                </a:solidFill>
              </a:rPr>
              <a:t>Total galat absolut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9464040" y="2889504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B1F53"/>
                </a:solidFill>
              </a:rPr>
              <a:t>23,9 cm</a:t>
            </a:r>
            <a:endParaRPr lang="en-US" sz="1050" dirty="0"/>
          </a:p>
        </p:txBody>
      </p:sp>
      <p:sp>
        <p:nvSpPr>
          <p:cNvPr id="93" name="Shape 91"/>
          <p:cNvSpPr/>
          <p:nvPr/>
        </p:nvSpPr>
        <p:spPr>
          <a:xfrm>
            <a:off x="8092440" y="3246120"/>
            <a:ext cx="2926080" cy="310896"/>
          </a:xfrm>
          <a:prstGeom prst="roundRect">
            <a:avLst>
              <a:gd name="adj" fmla="val 17647"/>
            </a:avLst>
          </a:prstGeom>
          <a:solidFill>
            <a:srgbClr val="F1ECFF"/>
          </a:solidFill>
          <a:ln w="12700">
            <a:solidFill>
              <a:srgbClr val="E5EAF6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266176" y="3346704"/>
            <a:ext cx="1600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87385"/>
                </a:solidFill>
              </a:rPr>
              <a:t>MAE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9464040" y="3328416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E3FE5"/>
                </a:solidFill>
              </a:rPr>
              <a:t>1,59 cm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8092440" y="3685032"/>
            <a:ext cx="2926080" cy="310896"/>
          </a:xfrm>
          <a:prstGeom prst="roundRect">
            <a:avLst>
              <a:gd name="adj" fmla="val 17647"/>
            </a:avLst>
          </a:prstGeom>
          <a:solidFill>
            <a:srgbClr val="F8FAFF"/>
          </a:solidFill>
          <a:ln w="12700">
            <a:solidFill>
              <a:srgbClr val="E5EAF6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266176" y="3785616"/>
            <a:ext cx="1600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87385"/>
                </a:solidFill>
              </a:rPr>
              <a:t>Galat minimum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9464040" y="3767328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B1F53"/>
                </a:solidFill>
              </a:rPr>
              <a:t>0,1 cm</a:t>
            </a:r>
            <a:endParaRPr lang="en-US" sz="1050" dirty="0"/>
          </a:p>
        </p:txBody>
      </p:sp>
      <p:sp>
        <p:nvSpPr>
          <p:cNvPr id="99" name="Shape 97"/>
          <p:cNvSpPr/>
          <p:nvPr/>
        </p:nvSpPr>
        <p:spPr>
          <a:xfrm>
            <a:off x="8092440" y="4123944"/>
            <a:ext cx="2926080" cy="310896"/>
          </a:xfrm>
          <a:prstGeom prst="roundRect">
            <a:avLst>
              <a:gd name="adj" fmla="val 17647"/>
            </a:avLst>
          </a:prstGeom>
          <a:solidFill>
            <a:srgbClr val="F8FAFF"/>
          </a:solidFill>
          <a:ln w="12700">
            <a:solidFill>
              <a:srgbClr val="E5EAF6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266176" y="4224528"/>
            <a:ext cx="1600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87385"/>
                </a:solidFill>
              </a:rPr>
              <a:t>Galat maksimum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9464040" y="4206240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B1F53"/>
                </a:solidFill>
              </a:rPr>
              <a:t>4,9 cm</a:t>
            </a:r>
            <a:endParaRPr lang="en-US" sz="1050" dirty="0"/>
          </a:p>
        </p:txBody>
      </p:sp>
      <p:sp>
        <p:nvSpPr>
          <p:cNvPr id="102" name="Shape 100"/>
          <p:cNvSpPr/>
          <p:nvPr/>
        </p:nvSpPr>
        <p:spPr>
          <a:xfrm>
            <a:off x="8092440" y="4562856"/>
            <a:ext cx="2926080" cy="310896"/>
          </a:xfrm>
          <a:prstGeom prst="roundRect">
            <a:avLst>
              <a:gd name="adj" fmla="val 17647"/>
            </a:avLst>
          </a:prstGeom>
          <a:solidFill>
            <a:srgbClr val="F8FAFF"/>
          </a:solidFill>
          <a:ln w="12700">
            <a:solidFill>
              <a:srgbClr val="E5EAF6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266176" y="4663440"/>
            <a:ext cx="1600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87385"/>
                </a:solidFill>
              </a:rPr>
              <a:t>Rata-rata galat relatif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9464040" y="4645152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B1F53"/>
                </a:solidFill>
              </a:rPr>
              <a:t>0,97%</a:t>
            </a:r>
            <a:endParaRPr lang="en-US" sz="1050" dirty="0"/>
          </a:p>
        </p:txBody>
      </p:sp>
      <p:sp>
        <p:nvSpPr>
          <p:cNvPr id="105" name="Shape 103"/>
          <p:cNvSpPr/>
          <p:nvPr/>
        </p:nvSpPr>
        <p:spPr>
          <a:xfrm>
            <a:off x="2560320" y="5760720"/>
            <a:ext cx="7086600" cy="384048"/>
          </a:xfrm>
          <a:prstGeom prst="roundRect">
            <a:avLst>
              <a:gd name="adj" fmla="val 19048"/>
            </a:avLst>
          </a:prstGeom>
          <a:solidFill>
            <a:srgbClr val="6E3FE5"/>
          </a:solidFill>
          <a:ln w="12700">
            <a:solidFill>
              <a:srgbClr val="6E3FE5">
                <a:alpha val="90000"/>
              </a:srgbClr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560320" y="5797296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Galat maksimum 4,9 cm muncul pada 15 citra ketika jarak marker-objek belum diukur.</a:t>
            </a:r>
            <a:endParaRPr lang="en-US" sz="1200" dirty="0"/>
          </a:p>
        </p:txBody>
      </p:sp>
      <p:pic>
        <p:nvPicPr>
          <p:cNvPr id="132" name="Picture 131">
            <a:extLst>
              <a:ext uri="{FF2B5EF4-FFF2-40B4-BE49-F238E27FC236}">
                <a16:creationId xmlns:a16="http://schemas.microsoft.com/office/drawing/2014/main" id="{5A35516D-42F7-AC32-CF9A-B2193D885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819" y="3108833"/>
            <a:ext cx="6435298" cy="211582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5A5E140-E105-A158-89F3-3EF5AAD730C8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256032"/>
            <a:ext cx="4251960" cy="71323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2F2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EE9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01984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1984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1984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Text 60"/>
          <p:cNvSpPr/>
          <p:nvPr/>
        </p:nvSpPr>
        <p:spPr>
          <a:xfrm>
            <a:off x="594360" y="1197483"/>
            <a:ext cx="11018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400" b="1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Uji Jarak Menelusuri Galat 4,9 cm</a:t>
            </a:r>
            <a:endParaRPr lang="en-US" sz="3400" dirty="0"/>
          </a:p>
        </p:txBody>
      </p:sp>
      <p:sp>
        <p:nvSpPr>
          <p:cNvPr id="63" name="Shape 61"/>
          <p:cNvSpPr/>
          <p:nvPr/>
        </p:nvSpPr>
        <p:spPr>
          <a:xfrm>
            <a:off x="685800" y="2011680"/>
            <a:ext cx="5303520" cy="38404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1645920" y="1856232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6E3FE5"/>
          </a:solidFill>
          <a:ln w="12700">
            <a:solidFill>
              <a:srgbClr val="6E3FE5">
                <a:alpha val="9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645920" y="18928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PENGUJIAN UTAMA</a:t>
            </a:r>
            <a:endParaRPr lang="en-US" sz="1500" dirty="0"/>
          </a:p>
        </p:txBody>
      </p:sp>
      <p:sp>
        <p:nvSpPr>
          <p:cNvPr id="66" name="Shape 64"/>
          <p:cNvSpPr/>
          <p:nvPr/>
        </p:nvSpPr>
        <p:spPr>
          <a:xfrm>
            <a:off x="1051560" y="2514600"/>
            <a:ext cx="4480560" cy="420624"/>
          </a:xfrm>
          <a:prstGeom prst="roundRect">
            <a:avLst>
              <a:gd name="adj" fmla="val 15217"/>
            </a:avLst>
          </a:prstGeom>
          <a:solidFill>
            <a:srgbClr val="F8FAFF"/>
          </a:solidFill>
          <a:ln w="12700">
            <a:solidFill>
              <a:srgbClr val="E5EAF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216152" y="2587752"/>
            <a:ext cx="274320" cy="27432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1216152" y="259689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👥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1783080" y="2651760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b="1">
                <a:solidFill>
                  <a:srgbClr val="0B1F53"/>
                </a:solidFill>
              </a:rPr>
              <a:t>15 citra uji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1051560" y="3108960"/>
            <a:ext cx="4480560" cy="420624"/>
          </a:xfrm>
          <a:prstGeom prst="roundRect">
            <a:avLst>
              <a:gd name="adj" fmla="val 15217"/>
            </a:avLst>
          </a:prstGeom>
          <a:solidFill>
            <a:srgbClr val="F8FAFF"/>
          </a:solidFill>
          <a:ln w="12700">
            <a:solidFill>
              <a:srgbClr val="E5EAF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216152" y="3182112"/>
            <a:ext cx="274320" cy="27432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1216152" y="319125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1783080" y="3246120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s-ES" sz="1300" b="1">
                <a:solidFill>
                  <a:srgbClr val="0B1F53"/>
                </a:solidFill>
              </a:rPr>
              <a:t>Jarak marker-objek tidak diukur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1051560" y="3703320"/>
            <a:ext cx="4480560" cy="420624"/>
          </a:xfrm>
          <a:prstGeom prst="roundRect">
            <a:avLst>
              <a:gd name="adj" fmla="val 15217"/>
            </a:avLst>
          </a:prstGeom>
          <a:solidFill>
            <a:srgbClr val="F8FAFF"/>
          </a:solidFill>
          <a:ln w="12700">
            <a:solidFill>
              <a:srgbClr val="E5EAF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216152" y="3776472"/>
            <a:ext cx="274320" cy="27432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1216152" y="378561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↓</a:t>
            </a:r>
            <a:endParaRPr lang="en-US" sz="1300" dirty="0"/>
          </a:p>
        </p:txBody>
      </p:sp>
      <p:sp>
        <p:nvSpPr>
          <p:cNvPr id="77" name="Text 75"/>
          <p:cNvSpPr/>
          <p:nvPr/>
        </p:nvSpPr>
        <p:spPr>
          <a:xfrm>
            <a:off x="1783080" y="3840480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b="1">
                <a:solidFill>
                  <a:srgbClr val="0B1F53"/>
                </a:solidFill>
              </a:rPr>
              <a:t>MAE = 1,59 cm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1051560" y="4297680"/>
            <a:ext cx="4480560" cy="420624"/>
          </a:xfrm>
          <a:prstGeom prst="roundRect">
            <a:avLst>
              <a:gd name="adj" fmla="val 15217"/>
            </a:avLst>
          </a:prstGeom>
          <a:solidFill>
            <a:srgbClr val="F8FAFF"/>
          </a:solidFill>
          <a:ln w="12700">
            <a:solidFill>
              <a:srgbClr val="E5EAF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216152" y="4370832"/>
            <a:ext cx="274320" cy="27432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1216152" y="437997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↑</a:t>
            </a:r>
            <a:endParaRPr lang="en-US" sz="1300" dirty="0"/>
          </a:p>
        </p:txBody>
      </p:sp>
      <p:sp>
        <p:nvSpPr>
          <p:cNvPr id="81" name="Text 79"/>
          <p:cNvSpPr/>
          <p:nvPr/>
        </p:nvSpPr>
        <p:spPr>
          <a:xfrm>
            <a:off x="1783080" y="4434840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s-ES" sz="1300" b="1">
                <a:solidFill>
                  <a:srgbClr val="0B1F53"/>
                </a:solidFill>
              </a:rPr>
              <a:t>Galat maksimum = 4,9 cm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1143000" y="4983480"/>
            <a:ext cx="4480560" cy="0"/>
          </a:xfrm>
          <a:prstGeom prst="line">
            <a:avLst/>
          </a:prstGeom>
          <a:noFill/>
          <a:ln w="12700">
            <a:solidFill>
              <a:srgbClr val="6E3FE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143000" y="517550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fi-FI" sz="1140">
                <a:solidFill>
                  <a:srgbClr val="0B1F53"/>
                </a:solidFill>
              </a:rPr>
              <a:t>Karena jarak tidak dikontrol, penyebab galat 4,9 cm belum dapat dijelaskan dari pengujian utama saja.</a:t>
            </a:r>
            <a:endParaRPr lang="en-US" sz="1140" dirty="0"/>
          </a:p>
        </p:txBody>
      </p:sp>
      <p:sp>
        <p:nvSpPr>
          <p:cNvPr id="84" name="Shape 82"/>
          <p:cNvSpPr/>
          <p:nvPr/>
        </p:nvSpPr>
        <p:spPr>
          <a:xfrm>
            <a:off x="6309360" y="2011680"/>
            <a:ext cx="5212080" cy="3840480"/>
          </a:xfrm>
          <a:prstGeom prst="roundRect">
            <a:avLst>
              <a:gd name="adj" fmla="val 4286"/>
            </a:avLst>
          </a:prstGeom>
          <a:solidFill>
            <a:srgbClr val="FFF7F7"/>
          </a:solidFill>
          <a:ln w="12700">
            <a:solidFill>
              <a:srgbClr val="FFD7D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7086600" y="1856232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D73737"/>
          </a:solidFill>
          <a:ln w="12700">
            <a:solidFill>
              <a:srgbClr val="D73737">
                <a:alpha val="90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086600" y="18928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UJI JARAK TERKONTROL</a:t>
            </a:r>
            <a:endParaRPr lang="en-US" sz="1400" dirty="0"/>
          </a:p>
        </p:txBody>
      </p:sp>
      <p:sp>
        <p:nvSpPr>
          <p:cNvPr id="87" name="Shape 85"/>
          <p:cNvSpPr/>
          <p:nvPr/>
        </p:nvSpPr>
        <p:spPr>
          <a:xfrm>
            <a:off x="6629400" y="2487168"/>
            <a:ext cx="4526280" cy="704088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5240">
            <a:solidFill>
              <a:srgbClr val="D73737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839712" y="2642616"/>
            <a:ext cx="365760" cy="365760"/>
          </a:xfrm>
          <a:prstGeom prst="ellipse">
            <a:avLst/>
          </a:prstGeom>
          <a:solidFill>
            <a:srgbClr val="D73737"/>
          </a:solidFill>
          <a:ln w="12700">
            <a:solidFill>
              <a:srgbClr val="D73737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89" name="Text 87"/>
          <p:cNvSpPr/>
          <p:nvPr/>
        </p:nvSpPr>
        <p:spPr>
          <a:xfrm>
            <a:off x="6839712" y="26517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1040" dirty="0"/>
          </a:p>
        </p:txBody>
      </p:sp>
      <p:sp>
        <p:nvSpPr>
          <p:cNvPr id="90" name="Text 88"/>
          <p:cNvSpPr/>
          <p:nvPr/>
        </p:nvSpPr>
        <p:spPr>
          <a:xfrm>
            <a:off x="7406640" y="263347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nl-NL" sz="1550" b="1">
                <a:solidFill>
                  <a:srgbClr val="0F172A"/>
                </a:solidFill>
              </a:rPr>
              <a:t>Objek diuji pada jarak 0, 5, dan 10 cm dari marker.</a:t>
            </a:r>
            <a:endParaRPr lang="en-US" sz="1550" dirty="0"/>
          </a:p>
        </p:txBody>
      </p:sp>
      <p:sp>
        <p:nvSpPr>
          <p:cNvPr id="92" name="Shape 90"/>
          <p:cNvSpPr/>
          <p:nvPr/>
        </p:nvSpPr>
        <p:spPr>
          <a:xfrm>
            <a:off x="6629400" y="3456432"/>
            <a:ext cx="4526280" cy="530352"/>
          </a:xfrm>
          <a:prstGeom prst="roundRect">
            <a:avLst>
              <a:gd name="adj" fmla="val 10345"/>
            </a:avLst>
          </a:prstGeom>
          <a:solidFill>
            <a:srgbClr val="FFEAEA"/>
          </a:solidFill>
          <a:ln w="12700">
            <a:solidFill>
              <a:srgbClr val="FFD0D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793992" y="360273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D73737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🧍</a:t>
            </a:r>
            <a:endParaRPr lang="en-US" sz="2000" dirty="0"/>
          </a:p>
        </p:txBody>
      </p:sp>
      <p:sp>
        <p:nvSpPr>
          <p:cNvPr id="94" name="Text 92"/>
          <p:cNvSpPr/>
          <p:nvPr/>
        </p:nvSpPr>
        <p:spPr>
          <a:xfrm>
            <a:off x="7360920" y="35570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70">
                <a:solidFill>
                  <a:srgbClr val="0B1F53"/>
                </a:solidFill>
              </a:rPr>
              <a:t>Setiap jarak menggunakan 10 data.</a:t>
            </a:r>
            <a:endParaRPr lang="en-US" sz="1070" dirty="0"/>
          </a:p>
        </p:txBody>
      </p:sp>
      <p:sp>
        <p:nvSpPr>
          <p:cNvPr id="95" name="Shape 93"/>
          <p:cNvSpPr/>
          <p:nvPr/>
        </p:nvSpPr>
        <p:spPr>
          <a:xfrm>
            <a:off x="6629400" y="4169664"/>
            <a:ext cx="4526280" cy="530352"/>
          </a:xfrm>
          <a:prstGeom prst="roundRect">
            <a:avLst>
              <a:gd name="adj" fmla="val 10345"/>
            </a:avLst>
          </a:prstGeom>
          <a:solidFill>
            <a:srgbClr val="FFEAEA"/>
          </a:solidFill>
          <a:ln w="12700">
            <a:solidFill>
              <a:srgbClr val="FFD0D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793992" y="431596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D73737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2000" dirty="0"/>
          </a:p>
        </p:txBody>
      </p:sp>
      <p:sp>
        <p:nvSpPr>
          <p:cNvPr id="97" name="Text 95"/>
          <p:cNvSpPr/>
          <p:nvPr/>
        </p:nvSpPr>
        <p:spPr>
          <a:xfrm>
            <a:off x="7360920" y="42702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70">
                <a:solidFill>
                  <a:srgbClr val="0B1F53"/>
                </a:solidFill>
              </a:rPr>
              <a:t>Konfigurasi aplikasi lainnya dipertahankan.</a:t>
            </a:r>
            <a:endParaRPr lang="en-US" sz="1070" dirty="0"/>
          </a:p>
        </p:txBody>
      </p:sp>
      <p:sp>
        <p:nvSpPr>
          <p:cNvPr id="98" name="Shape 96"/>
          <p:cNvSpPr/>
          <p:nvPr/>
        </p:nvSpPr>
        <p:spPr>
          <a:xfrm>
            <a:off x="6629400" y="4882896"/>
            <a:ext cx="4526280" cy="530352"/>
          </a:xfrm>
          <a:prstGeom prst="roundRect">
            <a:avLst>
              <a:gd name="adj" fmla="val 10345"/>
            </a:avLst>
          </a:prstGeom>
          <a:solidFill>
            <a:srgbClr val="FFEAEA"/>
          </a:solidFill>
          <a:ln w="12700">
            <a:solidFill>
              <a:srgbClr val="FFD0D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793992" y="502920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D73737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⌖</a:t>
            </a:r>
            <a:endParaRPr lang="en-US" sz="1300" dirty="0"/>
          </a:p>
        </p:txBody>
      </p:sp>
      <p:sp>
        <p:nvSpPr>
          <p:cNvPr id="100" name="Text 98"/>
          <p:cNvSpPr/>
          <p:nvPr/>
        </p:nvSpPr>
        <p:spPr>
          <a:xfrm>
            <a:off x="7360920" y="49834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fi-FI" sz="1070">
                <a:solidFill>
                  <a:srgbClr val="0B1F53"/>
                </a:solidFill>
              </a:rPr>
              <a:t>Tujuan: menguji pengaruh jarak terhadap MAE.</a:t>
            </a:r>
            <a:endParaRPr lang="en-US" sz="107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0DFC984-B4D9-4D0E-B5C9-C3AB1A2CB59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256032"/>
            <a:ext cx="4251960" cy="71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050570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2F2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EE9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01984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1984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1984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Text 60"/>
          <p:cNvSpPr/>
          <p:nvPr/>
        </p:nvSpPr>
        <p:spPr>
          <a:xfrm>
            <a:off x="594360" y="1197483"/>
            <a:ext cx="11018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400" b="1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Hasil Uji Jarak: 5 cm Paling Akurat</a:t>
            </a:r>
            <a:endParaRPr lang="en-US" sz="3400" dirty="0"/>
          </a:p>
        </p:txBody>
      </p:sp>
      <p:sp>
        <p:nvSpPr>
          <p:cNvPr id="63" name="Shape 61"/>
          <p:cNvSpPr/>
          <p:nvPr/>
        </p:nvSpPr>
        <p:spPr>
          <a:xfrm>
            <a:off x="685800" y="2011680"/>
            <a:ext cx="5303520" cy="38404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1645920" y="1856232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6E3FE5"/>
          </a:solidFill>
          <a:ln w="12700">
            <a:solidFill>
              <a:srgbClr val="6E3FE5">
                <a:alpha val="9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645920" y="18928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HASIL UJI JARAK</a:t>
            </a:r>
            <a:endParaRPr lang="en-US" sz="1500" dirty="0"/>
          </a:p>
        </p:txBody>
      </p:sp>
      <p:sp>
        <p:nvSpPr>
          <p:cNvPr id="66" name="Shape 64"/>
          <p:cNvSpPr/>
          <p:nvPr/>
        </p:nvSpPr>
        <p:spPr>
          <a:xfrm>
            <a:off x="1051560" y="2514600"/>
            <a:ext cx="4480560" cy="420624"/>
          </a:xfrm>
          <a:prstGeom prst="roundRect">
            <a:avLst>
              <a:gd name="adj" fmla="val 15217"/>
            </a:avLst>
          </a:prstGeom>
          <a:solidFill>
            <a:srgbClr val="F8FAFF"/>
          </a:solidFill>
          <a:ln w="12700">
            <a:solidFill>
              <a:srgbClr val="E5EAF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216152" y="2587752"/>
            <a:ext cx="274320" cy="27432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1216152" y="259689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👥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1783080" y="2651760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b="1">
                <a:solidFill>
                  <a:srgbClr val="0B1F53"/>
                </a:solidFill>
              </a:rPr>
              <a:t>10 data pada tiap kondisi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1051560" y="3108960"/>
            <a:ext cx="4480560" cy="420624"/>
          </a:xfrm>
          <a:prstGeom prst="roundRect">
            <a:avLst>
              <a:gd name="adj" fmla="val 15217"/>
            </a:avLst>
          </a:prstGeom>
          <a:solidFill>
            <a:srgbClr val="F8FAFF"/>
          </a:solidFill>
          <a:ln w="12700">
            <a:solidFill>
              <a:srgbClr val="E5EAF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216152" y="3182112"/>
            <a:ext cx="274320" cy="27432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1216152" y="319125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1783080" y="3246120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s-ES" sz="1300" b="1">
                <a:solidFill>
                  <a:srgbClr val="0B1F53"/>
                </a:solidFill>
              </a:rPr>
              <a:t>0 cm: MAE 4,53 cm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1051560" y="3703320"/>
            <a:ext cx="4480560" cy="420624"/>
          </a:xfrm>
          <a:prstGeom prst="roundRect">
            <a:avLst>
              <a:gd name="adj" fmla="val 15217"/>
            </a:avLst>
          </a:prstGeom>
          <a:solidFill>
            <a:srgbClr val="F8FAFF"/>
          </a:solidFill>
          <a:ln w="12700">
            <a:solidFill>
              <a:srgbClr val="E5EAF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216152" y="3776472"/>
            <a:ext cx="274320" cy="27432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1216152" y="378561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↓</a:t>
            </a:r>
            <a:endParaRPr lang="en-US" sz="1300" dirty="0"/>
          </a:p>
        </p:txBody>
      </p:sp>
      <p:sp>
        <p:nvSpPr>
          <p:cNvPr id="77" name="Text 75"/>
          <p:cNvSpPr/>
          <p:nvPr/>
        </p:nvSpPr>
        <p:spPr>
          <a:xfrm>
            <a:off x="1783080" y="3840480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b="1">
                <a:solidFill>
                  <a:srgbClr val="0B1F53"/>
                </a:solidFill>
              </a:rPr>
              <a:t>5 cm: MAE 1,78 cm (terbaik)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1051560" y="4297680"/>
            <a:ext cx="4480560" cy="420624"/>
          </a:xfrm>
          <a:prstGeom prst="roundRect">
            <a:avLst>
              <a:gd name="adj" fmla="val 15217"/>
            </a:avLst>
          </a:prstGeom>
          <a:solidFill>
            <a:srgbClr val="F8FAFF"/>
          </a:solidFill>
          <a:ln w="12700">
            <a:solidFill>
              <a:srgbClr val="E5EAF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216152" y="4370832"/>
            <a:ext cx="274320" cy="27432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1216152" y="437997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↑</a:t>
            </a:r>
            <a:endParaRPr lang="en-US" sz="1300" dirty="0"/>
          </a:p>
        </p:txBody>
      </p:sp>
      <p:sp>
        <p:nvSpPr>
          <p:cNvPr id="81" name="Text 79"/>
          <p:cNvSpPr/>
          <p:nvPr/>
        </p:nvSpPr>
        <p:spPr>
          <a:xfrm>
            <a:off x="1783080" y="4434840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s-ES" sz="1300" b="1">
                <a:solidFill>
                  <a:srgbClr val="0B1F53"/>
                </a:solidFill>
              </a:rPr>
              <a:t>10 cm: MAE 3,15 cm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1143000" y="4983480"/>
            <a:ext cx="4480560" cy="0"/>
          </a:xfrm>
          <a:prstGeom prst="line">
            <a:avLst/>
          </a:prstGeom>
          <a:noFill/>
          <a:ln w="12700">
            <a:solidFill>
              <a:srgbClr val="6E3FE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143000" y="517550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fi-FI" sz="1140">
                <a:solidFill>
                  <a:srgbClr val="0B1F53"/>
                </a:solidFill>
              </a:rPr>
              <a:t>Perubahan MAE pada 0/5/10 cm memperkuat dugaan bahwa jarak marker-objek berkontribusi pada galat 4,9 cm.</a:t>
            </a:r>
            <a:endParaRPr lang="en-US" sz="1140" dirty="0"/>
          </a:p>
        </p:txBody>
      </p:sp>
      <p:sp>
        <p:nvSpPr>
          <p:cNvPr id="84" name="Shape 82"/>
          <p:cNvSpPr/>
          <p:nvPr/>
        </p:nvSpPr>
        <p:spPr>
          <a:xfrm>
            <a:off x="6309360" y="2011680"/>
            <a:ext cx="5212080" cy="3840480"/>
          </a:xfrm>
          <a:prstGeom prst="roundRect">
            <a:avLst>
              <a:gd name="adj" fmla="val 4286"/>
            </a:avLst>
          </a:prstGeom>
          <a:solidFill>
            <a:srgbClr val="FFF7F7"/>
          </a:solidFill>
          <a:ln w="12700">
            <a:solidFill>
              <a:srgbClr val="FFD7D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7086600" y="1856232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D73737"/>
          </a:solidFill>
          <a:ln w="12700">
            <a:solidFill>
              <a:srgbClr val="D73737">
                <a:alpha val="90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086600" y="18928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INTERPRETASI HASIL</a:t>
            </a:r>
            <a:endParaRPr lang="en-US" sz="1400" dirty="0"/>
          </a:p>
        </p:txBody>
      </p:sp>
      <p:sp>
        <p:nvSpPr>
          <p:cNvPr id="87" name="Shape 85"/>
          <p:cNvSpPr/>
          <p:nvPr/>
        </p:nvSpPr>
        <p:spPr>
          <a:xfrm>
            <a:off x="6629400" y="2487168"/>
            <a:ext cx="4526280" cy="704088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5240">
            <a:solidFill>
              <a:srgbClr val="D73737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839712" y="2642616"/>
            <a:ext cx="365760" cy="365760"/>
          </a:xfrm>
          <a:prstGeom prst="ellipse">
            <a:avLst/>
          </a:prstGeom>
          <a:solidFill>
            <a:srgbClr val="D73737"/>
          </a:solidFill>
          <a:ln w="12700">
            <a:solidFill>
              <a:srgbClr val="D73737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89" name="Text 87"/>
          <p:cNvSpPr/>
          <p:nvPr/>
        </p:nvSpPr>
        <p:spPr>
          <a:xfrm>
            <a:off x="6839712" y="26517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1040" dirty="0"/>
          </a:p>
        </p:txBody>
      </p:sp>
      <p:sp>
        <p:nvSpPr>
          <p:cNvPr id="90" name="Text 88"/>
          <p:cNvSpPr/>
          <p:nvPr/>
        </p:nvSpPr>
        <p:spPr>
          <a:xfrm>
            <a:off x="7406640" y="263347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550" b="1">
                <a:solidFill>
                  <a:srgbClr val="0F172A"/>
                </a:solidFill>
              </a:rPr>
              <a:t>0 cm terlalu menempel: MAE 4,53 cm.</a:t>
            </a:r>
            <a:endParaRPr lang="en-US" sz="1550" dirty="0"/>
          </a:p>
        </p:txBody>
      </p:sp>
      <p:sp>
        <p:nvSpPr>
          <p:cNvPr id="92" name="Shape 90"/>
          <p:cNvSpPr/>
          <p:nvPr/>
        </p:nvSpPr>
        <p:spPr>
          <a:xfrm>
            <a:off x="6629400" y="3456432"/>
            <a:ext cx="4526280" cy="530352"/>
          </a:xfrm>
          <a:prstGeom prst="roundRect">
            <a:avLst>
              <a:gd name="adj" fmla="val 10345"/>
            </a:avLst>
          </a:prstGeom>
          <a:solidFill>
            <a:srgbClr val="FFEAEA"/>
          </a:solidFill>
          <a:ln w="12700">
            <a:solidFill>
              <a:srgbClr val="FFD0D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793992" y="360273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D73737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🧍</a:t>
            </a:r>
            <a:endParaRPr lang="en-US" sz="2000" dirty="0"/>
          </a:p>
        </p:txBody>
      </p:sp>
      <p:sp>
        <p:nvSpPr>
          <p:cNvPr id="94" name="Text 92"/>
          <p:cNvSpPr/>
          <p:nvPr/>
        </p:nvSpPr>
        <p:spPr>
          <a:xfrm>
            <a:off x="7360920" y="35570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70">
                <a:solidFill>
                  <a:srgbClr val="0B1F53"/>
                </a:solidFill>
              </a:rPr>
              <a:t>5 cm menghasilkan MAE terendah: 1,78 cm.</a:t>
            </a:r>
            <a:endParaRPr lang="en-US" sz="1070" dirty="0"/>
          </a:p>
        </p:txBody>
      </p:sp>
      <p:sp>
        <p:nvSpPr>
          <p:cNvPr id="95" name="Shape 93"/>
          <p:cNvSpPr/>
          <p:nvPr/>
        </p:nvSpPr>
        <p:spPr>
          <a:xfrm>
            <a:off x="6629400" y="4169664"/>
            <a:ext cx="4526280" cy="530352"/>
          </a:xfrm>
          <a:prstGeom prst="roundRect">
            <a:avLst>
              <a:gd name="adj" fmla="val 10345"/>
            </a:avLst>
          </a:prstGeom>
          <a:solidFill>
            <a:srgbClr val="FFEAEA"/>
          </a:solidFill>
          <a:ln w="12700">
            <a:solidFill>
              <a:srgbClr val="FFD0D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793992" y="431596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D73737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2000" dirty="0"/>
          </a:p>
        </p:txBody>
      </p:sp>
      <p:sp>
        <p:nvSpPr>
          <p:cNvPr id="97" name="Text 95"/>
          <p:cNvSpPr/>
          <p:nvPr/>
        </p:nvSpPr>
        <p:spPr>
          <a:xfrm>
            <a:off x="7360920" y="42702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70">
                <a:solidFill>
                  <a:srgbClr val="0B1F53"/>
                </a:solidFill>
              </a:rPr>
              <a:t>10 cm terlalu jauh: MAE naik menjadi 3,15 cm.</a:t>
            </a:r>
            <a:endParaRPr lang="en-US" sz="1070" dirty="0"/>
          </a:p>
        </p:txBody>
      </p:sp>
      <p:sp>
        <p:nvSpPr>
          <p:cNvPr id="98" name="Shape 96"/>
          <p:cNvSpPr/>
          <p:nvPr/>
        </p:nvSpPr>
        <p:spPr>
          <a:xfrm>
            <a:off x="6629400" y="4882896"/>
            <a:ext cx="4526280" cy="530352"/>
          </a:xfrm>
          <a:prstGeom prst="roundRect">
            <a:avLst>
              <a:gd name="adj" fmla="val 10345"/>
            </a:avLst>
          </a:prstGeom>
          <a:solidFill>
            <a:srgbClr val="FFEAEA"/>
          </a:solidFill>
          <a:ln w="12700">
            <a:solidFill>
              <a:srgbClr val="FFD0D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793992" y="502920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D73737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⌖</a:t>
            </a:r>
            <a:endParaRPr lang="en-US" sz="1300" dirty="0"/>
          </a:p>
        </p:txBody>
      </p:sp>
      <p:sp>
        <p:nvSpPr>
          <p:cNvPr id="100" name="Text 98"/>
          <p:cNvSpPr/>
          <p:nvPr/>
        </p:nvSpPr>
        <p:spPr>
          <a:xfrm>
            <a:off x="7360920" y="49834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fi-FI" sz="1070">
                <a:solidFill>
                  <a:srgbClr val="0B1F53"/>
                </a:solidFill>
              </a:rPr>
              <a:t>Rekomendasi: pertahankan jarak sekitar 5 cm.</a:t>
            </a:r>
            <a:endParaRPr lang="en-US" sz="107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0DFC984-B4D9-4D0E-B5C9-C3AB1A2CB59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256032"/>
            <a:ext cx="4251960" cy="71323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2F2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EE9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01984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1984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1984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Text 60"/>
          <p:cNvSpPr/>
          <p:nvPr/>
        </p:nvSpPr>
        <p:spPr>
          <a:xfrm>
            <a:off x="640080" y="144475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UI Aplikasi</a:t>
            </a:r>
            <a:endParaRPr lang="en-US" sz="4000" dirty="0"/>
          </a:p>
        </p:txBody>
      </p:sp>
      <p:sp>
        <p:nvSpPr>
          <p:cNvPr id="63" name="Shape 61"/>
          <p:cNvSpPr/>
          <p:nvPr/>
        </p:nvSpPr>
        <p:spPr>
          <a:xfrm>
            <a:off x="713232" y="2029968"/>
            <a:ext cx="3657600" cy="0"/>
          </a:xfrm>
          <a:prstGeom prst="line">
            <a:avLst/>
          </a:prstGeom>
          <a:noFill/>
          <a:ln w="20320">
            <a:solidFill>
              <a:srgbClr val="6E3FE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3232" y="230428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B1F53"/>
                </a:solidFill>
              </a:rPr>
              <a:t>Tampilan antarmuka aplikasi Height Measurement yang sederhana, informatif, dan mudah digunakan.</a:t>
            </a:r>
            <a:endParaRPr lang="en-US" sz="1500" dirty="0"/>
          </a:p>
        </p:txBody>
      </p:sp>
      <p:sp>
        <p:nvSpPr>
          <p:cNvPr id="65" name="Shape 63"/>
          <p:cNvSpPr/>
          <p:nvPr/>
        </p:nvSpPr>
        <p:spPr>
          <a:xfrm>
            <a:off x="713232" y="3063240"/>
            <a:ext cx="457200" cy="45720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713232" y="307238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⌂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1170432" y="3291840"/>
            <a:ext cx="502920" cy="0"/>
          </a:xfrm>
          <a:prstGeom prst="line">
            <a:avLst/>
          </a:prstGeom>
          <a:noFill/>
          <a:ln w="17780">
            <a:solidFill>
              <a:srgbClr val="6E3FE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691640" y="3017520"/>
            <a:ext cx="315468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1901952" y="309981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E3FE5"/>
                </a:solidFill>
              </a:rPr>
              <a:t>Menu utama aplikasi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1901952" y="3291840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0B1F53"/>
                </a:solidFill>
              </a:rPr>
              <a:t>Height Measurement</a:t>
            </a:r>
            <a:endParaRPr lang="en-US" sz="910" dirty="0"/>
          </a:p>
        </p:txBody>
      </p:sp>
      <p:sp>
        <p:nvSpPr>
          <p:cNvPr id="71" name="Shape 69"/>
          <p:cNvSpPr/>
          <p:nvPr/>
        </p:nvSpPr>
        <p:spPr>
          <a:xfrm>
            <a:off x="713232" y="3867912"/>
            <a:ext cx="457200" cy="45720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713232" y="387705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▦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1170432" y="4096512"/>
            <a:ext cx="502920" cy="0"/>
          </a:xfrm>
          <a:prstGeom prst="line">
            <a:avLst/>
          </a:prstGeom>
          <a:noFill/>
          <a:ln w="17780">
            <a:solidFill>
              <a:srgbClr val="6E3FE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691640" y="3822192"/>
            <a:ext cx="315468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1901952" y="390448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E3FE5"/>
                </a:solidFill>
              </a:rPr>
              <a:t>Empat fitur utama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1901952" y="4096512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0B1F53"/>
                </a:solidFill>
              </a:rPr>
              <a:t>Perspective Correction, MediaPipe Pose, Measurement, dan File Result</a:t>
            </a:r>
            <a:endParaRPr lang="en-US" sz="910" dirty="0"/>
          </a:p>
        </p:txBody>
      </p:sp>
      <p:sp>
        <p:nvSpPr>
          <p:cNvPr id="77" name="Shape 75"/>
          <p:cNvSpPr/>
          <p:nvPr/>
        </p:nvSpPr>
        <p:spPr>
          <a:xfrm>
            <a:off x="713232" y="4672584"/>
            <a:ext cx="457200" cy="45720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713232" y="468172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1170432" y="4901184"/>
            <a:ext cx="502920" cy="0"/>
          </a:xfrm>
          <a:prstGeom prst="line">
            <a:avLst/>
          </a:prstGeom>
          <a:noFill/>
          <a:ln w="17780">
            <a:solidFill>
              <a:srgbClr val="6E3FE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691640" y="4626864"/>
            <a:ext cx="315468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1901952" y="4709160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E3FE5"/>
                </a:solidFill>
              </a:rPr>
              <a:t>Usage Tips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1901952" y="4901184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0B1F53"/>
                </a:solidFill>
              </a:rPr>
              <a:t>Membantu pengguna memahami fungsi tiap menu</a:t>
            </a:r>
            <a:endParaRPr lang="en-US" sz="910" dirty="0"/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B8EE3FC-9F99-8129-BEF4-2E0620100542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109" name="Shape 51">
              <a:extLst>
                <a:ext uri="{FF2B5EF4-FFF2-40B4-BE49-F238E27FC236}">
                  <a16:creationId xmlns:a16="http://schemas.microsoft.com/office/drawing/2014/main" id="{995F8BCD-E675-170F-4421-12F11E53D8E9}"/>
                </a:ext>
              </a:extLst>
            </p:cNvPr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110" name="Text 54">
              <a:extLst>
                <a:ext uri="{FF2B5EF4-FFF2-40B4-BE49-F238E27FC236}">
                  <a16:creationId xmlns:a16="http://schemas.microsoft.com/office/drawing/2014/main" id="{2E563F00-211C-2868-9028-C8764050410E}"/>
                </a:ext>
              </a:extLst>
            </p:cNvPr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111" name="Text 55">
              <a:extLst>
                <a:ext uri="{FF2B5EF4-FFF2-40B4-BE49-F238E27FC236}">
                  <a16:creationId xmlns:a16="http://schemas.microsoft.com/office/drawing/2014/main" id="{204A426E-A937-7C98-E6E3-CFEF84011923}"/>
                </a:ext>
              </a:extLst>
            </p:cNvPr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112" name="Shape 56">
              <a:extLst>
                <a:ext uri="{FF2B5EF4-FFF2-40B4-BE49-F238E27FC236}">
                  <a16:creationId xmlns:a16="http://schemas.microsoft.com/office/drawing/2014/main" id="{DB5D3DCB-AECB-405D-7FB9-CDEF7658BB85}"/>
                </a:ext>
              </a:extLst>
            </p:cNvPr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113" name="Text 58">
              <a:extLst>
                <a:ext uri="{FF2B5EF4-FFF2-40B4-BE49-F238E27FC236}">
                  <a16:creationId xmlns:a16="http://schemas.microsoft.com/office/drawing/2014/main" id="{428FA39E-B3E2-689B-0D5B-7F0C723DA746}"/>
                </a:ext>
              </a:extLst>
            </p:cNvPr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26605A9A-E75C-8525-A3D3-B7EBB20C6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CA4229F8-5C02-3E71-6139-2F5E117707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  <p:pic>
        <p:nvPicPr>
          <p:cNvPr id="117" name="Picture 116">
            <a:extLst>
              <a:ext uri="{FF2B5EF4-FFF2-40B4-BE49-F238E27FC236}">
                <a16:creationId xmlns:a16="http://schemas.microsoft.com/office/drawing/2014/main" id="{EA419A6B-3257-BF88-F09C-908AC9B679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7815" y="155448"/>
            <a:ext cx="3857625" cy="6858000"/>
          </a:xfrm>
          <a:prstGeom prst="rect">
            <a:avLst/>
          </a:prstGeom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id="{B3B17B00-0259-306B-E56D-D68AFC856A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3907" y="91440"/>
            <a:ext cx="385762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CA713A-CDBD-3F06-46FD-C5BC55DC5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BDE697-BB8D-7B79-EAB5-7D86C3C27F87}"/>
              </a:ext>
            </a:extLst>
          </p:cNvPr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EE9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CA082E8-BD18-7937-B687-CFFFE7A234A1}"/>
              </a:ext>
            </a:extLst>
          </p:cNvPr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2F2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4B43BAE-F55A-46DB-D4B4-66194D80B64D}"/>
              </a:ext>
            </a:extLst>
          </p:cNvPr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5966928-2C19-A759-8037-A3FBEF5389FC}"/>
              </a:ext>
            </a:extLst>
          </p:cNvPr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3201FE1-D46D-842D-9E63-65B042F8B083}"/>
              </a:ext>
            </a:extLst>
          </p:cNvPr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37EB6C6-D7DD-5D93-F194-A5CA8BD196F8}"/>
              </a:ext>
            </a:extLst>
          </p:cNvPr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AECBDDA-14B0-B3BA-2EAC-6661D059F359}"/>
              </a:ext>
            </a:extLst>
          </p:cNvPr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282DCD8-4B0A-25BD-5841-56252D31E82C}"/>
              </a:ext>
            </a:extLst>
          </p:cNvPr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16D2FB2-1D87-CC85-BFED-87BEA195D572}"/>
              </a:ext>
            </a:extLst>
          </p:cNvPr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B861BB7-0021-B3EE-266C-1C0B27FB2BF1}"/>
              </a:ext>
            </a:extLst>
          </p:cNvPr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7BD2E12-CBBF-7AA8-3EEB-12639D45ACC4}"/>
              </a:ext>
            </a:extLst>
          </p:cNvPr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31DB21C4-A5C4-0E86-7AA8-FC123E947D90}"/>
              </a:ext>
            </a:extLst>
          </p:cNvPr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CE945A99-87D2-19BE-DA3B-221F42ABC97F}"/>
              </a:ext>
            </a:extLst>
          </p:cNvPr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49BE4E7D-27CA-CFA2-E9F4-2182C62A4157}"/>
              </a:ext>
            </a:extLst>
          </p:cNvPr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E58378B4-5406-FDA3-8AF5-3EE2079323CD}"/>
              </a:ext>
            </a:extLst>
          </p:cNvPr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0A3E06C1-E8D1-D15B-0521-B583A087E978}"/>
              </a:ext>
            </a:extLst>
          </p:cNvPr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38F40126-050F-81D9-BB48-CEFFA72A0371}"/>
              </a:ext>
            </a:extLst>
          </p:cNvPr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8D98BC67-04AF-4AFF-8173-50481FE7316F}"/>
              </a:ext>
            </a:extLst>
          </p:cNvPr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76C31E50-07CC-D934-09A7-3BA5D49B368F}"/>
              </a:ext>
            </a:extLst>
          </p:cNvPr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EFA6F1A6-B1AF-EC3A-A6B4-5DFA083C44D3}"/>
              </a:ext>
            </a:extLst>
          </p:cNvPr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0AD5FBE8-3BFA-E7B7-B835-A6488450F229}"/>
              </a:ext>
            </a:extLst>
          </p:cNvPr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1985C946-DD25-5B1E-CE37-50F87DEC74BE}"/>
              </a:ext>
            </a:extLst>
          </p:cNvPr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6639984E-F989-8CA7-55E0-4789E52F7811}"/>
              </a:ext>
            </a:extLst>
          </p:cNvPr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E94B3FF2-E271-B01F-6B21-F8A717BE40D1}"/>
              </a:ext>
            </a:extLst>
          </p:cNvPr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F5EB619C-A66E-321F-8334-7D7B0FC6653E}"/>
              </a:ext>
            </a:extLst>
          </p:cNvPr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56AA2ACA-83C7-6242-BB94-C4DDFA2D5563}"/>
              </a:ext>
            </a:extLst>
          </p:cNvPr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08FFEAF1-214F-0357-A513-D172E53B7282}"/>
              </a:ext>
            </a:extLst>
          </p:cNvPr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73D67820-EDE4-BBBB-54EC-ECCF67395E01}"/>
              </a:ext>
            </a:extLst>
          </p:cNvPr>
          <p:cNvSpPr/>
          <p:nvPr/>
        </p:nvSpPr>
        <p:spPr>
          <a:xfrm>
            <a:off x="283464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5C23D93E-B1B6-34AD-DA69-4EB9D6698D58}"/>
              </a:ext>
            </a:extLst>
          </p:cNvPr>
          <p:cNvSpPr/>
          <p:nvPr/>
        </p:nvSpPr>
        <p:spPr>
          <a:xfrm>
            <a:off x="2779776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EC2DCB09-B4AA-E04D-8856-9BA9FDEBF8E7}"/>
              </a:ext>
            </a:extLst>
          </p:cNvPr>
          <p:cNvSpPr/>
          <p:nvPr/>
        </p:nvSpPr>
        <p:spPr>
          <a:xfrm>
            <a:off x="772668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B8250212-B516-6DDF-DDEF-FEB77D09995F}"/>
              </a:ext>
            </a:extLst>
          </p:cNvPr>
          <p:cNvSpPr/>
          <p:nvPr/>
        </p:nvSpPr>
        <p:spPr>
          <a:xfrm>
            <a:off x="9372600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519C0A54-2173-48EC-C207-3EAA9EFD21B7}"/>
              </a:ext>
            </a:extLst>
          </p:cNvPr>
          <p:cNvSpPr/>
          <p:nvPr/>
        </p:nvSpPr>
        <p:spPr>
          <a:xfrm>
            <a:off x="4498848" y="10789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SEMINAR HASIL</a:t>
            </a:r>
            <a:endParaRPr lang="en-US" sz="2500" dirty="0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89D4232F-05C2-D4C9-3DB0-A1CF3465B5D5}"/>
              </a:ext>
            </a:extLst>
          </p:cNvPr>
          <p:cNvSpPr/>
          <p:nvPr/>
        </p:nvSpPr>
        <p:spPr>
          <a:xfrm>
            <a:off x="594360" y="1444752"/>
            <a:ext cx="11018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400" b="1" dirty="0" err="1">
                <a:solidFill>
                  <a:srgbClr val="0B1F53"/>
                </a:solidFill>
                <a:latin typeface="Aptos Display" pitchFamily="34" charset="0"/>
              </a:rPr>
              <a:t>Implementasi</a:t>
            </a:r>
            <a:r>
              <a:rPr lang="en-US" sz="3400" b="1" dirty="0">
                <a:solidFill>
                  <a:srgbClr val="0B1F53"/>
                </a:solidFill>
                <a:latin typeface="Aptos Display" pitchFamily="34" charset="0"/>
              </a:rPr>
              <a:t> pada </a:t>
            </a:r>
            <a:r>
              <a:rPr lang="en-US" sz="3400" b="1" dirty="0" err="1">
                <a:solidFill>
                  <a:srgbClr val="0B1F53"/>
                </a:solidFill>
                <a:latin typeface="Aptos Display" pitchFamily="34" charset="0"/>
              </a:rPr>
              <a:t>aplikasi</a:t>
            </a:r>
            <a:endParaRPr lang="en-US" sz="3400" b="1" dirty="0">
              <a:solidFill>
                <a:srgbClr val="0B1F53"/>
              </a:solidFill>
              <a:latin typeface="Aptos Display" pitchFamily="34" charset="0"/>
            </a:endParaRP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534F7D60-35C7-2921-B2BC-4D970C5DFDD3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103" name="Shape 51">
              <a:extLst>
                <a:ext uri="{FF2B5EF4-FFF2-40B4-BE49-F238E27FC236}">
                  <a16:creationId xmlns:a16="http://schemas.microsoft.com/office/drawing/2014/main" id="{16F1C0AC-6D0F-5BC1-BF63-31221C31FBCF}"/>
                </a:ext>
              </a:extLst>
            </p:cNvPr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104" name="Text 54">
              <a:extLst>
                <a:ext uri="{FF2B5EF4-FFF2-40B4-BE49-F238E27FC236}">
                  <a16:creationId xmlns:a16="http://schemas.microsoft.com/office/drawing/2014/main" id="{8D9CC213-18EB-DB2A-8163-7D7A529DC2A5}"/>
                </a:ext>
              </a:extLst>
            </p:cNvPr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105" name="Text 55">
              <a:extLst>
                <a:ext uri="{FF2B5EF4-FFF2-40B4-BE49-F238E27FC236}">
                  <a16:creationId xmlns:a16="http://schemas.microsoft.com/office/drawing/2014/main" id="{10925954-2F7A-2012-4019-07C66E96CF79}"/>
                </a:ext>
              </a:extLst>
            </p:cNvPr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106" name="Shape 56">
              <a:extLst>
                <a:ext uri="{FF2B5EF4-FFF2-40B4-BE49-F238E27FC236}">
                  <a16:creationId xmlns:a16="http://schemas.microsoft.com/office/drawing/2014/main" id="{A8DE7FFF-F426-82C5-DA85-FCE95D0759A6}"/>
                </a:ext>
              </a:extLst>
            </p:cNvPr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107" name="Text 58">
              <a:extLst>
                <a:ext uri="{FF2B5EF4-FFF2-40B4-BE49-F238E27FC236}">
                  <a16:creationId xmlns:a16="http://schemas.microsoft.com/office/drawing/2014/main" id="{C631A713-CE4E-552D-A329-21C86D9F75E2}"/>
                </a:ext>
              </a:extLst>
            </p:cNvPr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EFACB316-43F0-DCDB-3428-231C96581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B298DB26-D836-E1D0-A841-A4EC7054D12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  <p:pic>
        <p:nvPicPr>
          <p:cNvPr id="54" name="Gray Minimalist Notification Spa Your Story  (1)">
            <a:hlinkClick r:id="" action="ppaction://media"/>
            <a:extLst>
              <a:ext uri="{FF2B5EF4-FFF2-40B4-BE49-F238E27FC236}">
                <a16:creationId xmlns:a16="http://schemas.microsoft.com/office/drawing/2014/main" id="{DFB14BC8-5CBE-18AD-A62E-A27EE9E0C45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883838" y="2020824"/>
            <a:ext cx="2285651" cy="4063379"/>
          </a:xfrm>
          <a:prstGeom prst="rect">
            <a:avLst/>
          </a:prstGeom>
        </p:spPr>
      </p:pic>
      <p:pic>
        <p:nvPicPr>
          <p:cNvPr id="56" name="Gray Minimalist Notification Spa Your Story  (2)">
            <a:hlinkClick r:id="" action="ppaction://media"/>
            <a:extLst>
              <a:ext uri="{FF2B5EF4-FFF2-40B4-BE49-F238E27FC236}">
                <a16:creationId xmlns:a16="http://schemas.microsoft.com/office/drawing/2014/main" id="{0A12CBB3-D702-D8BE-67F5-6007CE65B097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5102352" y="2039126"/>
            <a:ext cx="2283714" cy="405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59377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950" fill="hold"/>
                                        <p:tgtEl>
                                          <p:spTgt spid="5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50317" fill="hold"/>
                                        <p:tgtEl>
                                          <p:spTgt spid="5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54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5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56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5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EE9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01984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1984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1984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Shape 60"/>
          <p:cNvSpPr/>
          <p:nvPr/>
        </p:nvSpPr>
        <p:spPr>
          <a:xfrm>
            <a:off x="283464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79776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2668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72600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98848" y="10789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SEMINAR HASIL</a:t>
            </a:r>
            <a:endParaRPr lang="en-US" sz="2500" dirty="0"/>
          </a:p>
        </p:txBody>
      </p:sp>
      <p:sp>
        <p:nvSpPr>
          <p:cNvPr id="67" name="Text 65"/>
          <p:cNvSpPr/>
          <p:nvPr/>
        </p:nvSpPr>
        <p:spPr>
          <a:xfrm>
            <a:off x="594360" y="1444752"/>
            <a:ext cx="11018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Kesimpulan</a:t>
            </a:r>
            <a:endParaRPr lang="en-US" sz="3400" dirty="0"/>
          </a:p>
        </p:txBody>
      </p:sp>
      <p:sp>
        <p:nvSpPr>
          <p:cNvPr id="68" name="Shape 66"/>
          <p:cNvSpPr/>
          <p:nvPr/>
        </p:nvSpPr>
        <p:spPr>
          <a:xfrm>
            <a:off x="1097280" y="2176272"/>
            <a:ext cx="9966960" cy="530352"/>
          </a:xfrm>
          <a:prstGeom prst="roundRect">
            <a:avLst>
              <a:gd name="adj" fmla="val 31034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1325880" y="2267712"/>
            <a:ext cx="310896" cy="310896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1325880" y="227685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✓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1874520" y="2304288"/>
            <a:ext cx="8549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B1F53"/>
                </a:solidFill>
              </a:rPr>
              <a:t>Aplikasi Android berhasil mengintegrasikan ArUco marker, perspective correction, dan MediaPipe Pose untuk estimasi tinggi badan berbasis citra tubuh penuh.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1097280" y="2980944"/>
            <a:ext cx="9966960" cy="530352"/>
          </a:xfrm>
          <a:prstGeom prst="roundRect">
            <a:avLst>
              <a:gd name="adj" fmla="val 31034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1325880" y="3072384"/>
            <a:ext cx="310896" cy="310896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1325880" y="3081528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✓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1874520" y="3108960"/>
            <a:ext cx="8549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0B1F53"/>
                </a:solidFill>
              </a:rPr>
              <a:t>PX_PER_CELL = 120 dan koefisien top head 0,35/0,10 dipilih sebagai konfigurasi utama.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1097280" y="3785616"/>
            <a:ext cx="9966960" cy="530352"/>
          </a:xfrm>
          <a:prstGeom prst="roundRect">
            <a:avLst>
              <a:gd name="adj" fmla="val 31034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1325880" y="3877056"/>
            <a:ext cx="310896" cy="310896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1325880" y="3886200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✓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1874520" y="3913632"/>
            <a:ext cx="8549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0B1F53"/>
                </a:solidFill>
              </a:rPr>
              <a:t>Pengujian utama: 15 citra tanpa kontrol jarak menghasilkan MAE 1,59 cm dan galat maksimum 4,9 cm.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1097280" y="4590288"/>
            <a:ext cx="9966960" cy="530352"/>
          </a:xfrm>
          <a:prstGeom prst="roundRect">
            <a:avLst>
              <a:gd name="adj" fmla="val 31034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1325880" y="4681728"/>
            <a:ext cx="310896" cy="310896"/>
          </a:xfrm>
          <a:prstGeom prst="ellipse">
            <a:avLst/>
          </a:prstGeom>
          <a:solidFill>
            <a:srgbClr val="D73737"/>
          </a:solidFill>
          <a:ln w="12700">
            <a:solidFill>
              <a:srgbClr val="D73737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1325880" y="4690872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!</a:t>
            </a:r>
            <a:endParaRPr lang="en-US" sz="1300" dirty="0"/>
          </a:p>
        </p:txBody>
      </p:sp>
      <p:sp>
        <p:nvSpPr>
          <p:cNvPr id="83" name="Text 81"/>
          <p:cNvSpPr/>
          <p:nvPr/>
        </p:nvSpPr>
        <p:spPr>
          <a:xfrm>
            <a:off x="1874520" y="4718304"/>
            <a:ext cx="8549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0B1F53"/>
                </a:solidFill>
              </a:rPr>
              <a:t>Uji lanjutan: 5 cm memberi MAE terendah (1,78 cm), sehingga jarak marker-objek perlu dikendalikan.</a:t>
            </a:r>
            <a:endParaRPr lang="en-US" sz="1300" dirty="0"/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8CB8D51-19BB-A447-9367-4297E9B44807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102" name="Shape 51">
              <a:extLst>
                <a:ext uri="{FF2B5EF4-FFF2-40B4-BE49-F238E27FC236}">
                  <a16:creationId xmlns:a16="http://schemas.microsoft.com/office/drawing/2014/main" id="{1C05F8E3-FBE6-1E67-2563-7771653238CC}"/>
                </a:ext>
              </a:extLst>
            </p:cNvPr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103" name="Text 54">
              <a:extLst>
                <a:ext uri="{FF2B5EF4-FFF2-40B4-BE49-F238E27FC236}">
                  <a16:creationId xmlns:a16="http://schemas.microsoft.com/office/drawing/2014/main" id="{72D24660-D775-7CBC-071A-7A29C3A374F7}"/>
                </a:ext>
              </a:extLst>
            </p:cNvPr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104" name="Text 55">
              <a:extLst>
                <a:ext uri="{FF2B5EF4-FFF2-40B4-BE49-F238E27FC236}">
                  <a16:creationId xmlns:a16="http://schemas.microsoft.com/office/drawing/2014/main" id="{B593E7F5-CC6C-9758-D0E1-6C6BDEA9F5F1}"/>
                </a:ext>
              </a:extLst>
            </p:cNvPr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105" name="Shape 56">
              <a:extLst>
                <a:ext uri="{FF2B5EF4-FFF2-40B4-BE49-F238E27FC236}">
                  <a16:creationId xmlns:a16="http://schemas.microsoft.com/office/drawing/2014/main" id="{5816A3F4-4B9B-ED5D-8B98-D01EC251EF71}"/>
                </a:ext>
              </a:extLst>
            </p:cNvPr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106" name="Text 58">
              <a:extLst>
                <a:ext uri="{FF2B5EF4-FFF2-40B4-BE49-F238E27FC236}">
                  <a16:creationId xmlns:a16="http://schemas.microsoft.com/office/drawing/2014/main" id="{2A01C273-3DA2-EC98-DD3E-3563A67CF7A6}"/>
                </a:ext>
              </a:extLst>
            </p:cNvPr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107" name="Picture 106">
              <a:extLst>
                <a:ext uri="{FF2B5EF4-FFF2-40B4-BE49-F238E27FC236}">
                  <a16:creationId xmlns:a16="http://schemas.microsoft.com/office/drawing/2014/main" id="{F3DF6294-6763-88B6-4079-460C307255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FC9FBE3F-DAC4-75DF-1698-C159E06F94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2F2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EE9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01984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1984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1984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44200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63072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81944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00816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219688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338560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Text 60"/>
          <p:cNvSpPr/>
          <p:nvPr/>
        </p:nvSpPr>
        <p:spPr>
          <a:xfrm>
            <a:off x="1440180" y="2792299"/>
            <a:ext cx="9372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TERIMA KASIH</a:t>
            </a:r>
            <a:endParaRPr lang="en-US" sz="5000" dirty="0"/>
          </a:p>
        </p:txBody>
      </p:sp>
      <p:sp>
        <p:nvSpPr>
          <p:cNvPr id="68" name="Text 66"/>
          <p:cNvSpPr/>
          <p:nvPr/>
        </p:nvSpPr>
        <p:spPr>
          <a:xfrm>
            <a:off x="4892040" y="56692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53"/>
                </a:solidFill>
              </a:rPr>
              <a:t>Khayla Giri Fitriani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3913632" y="592531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87385"/>
                </a:solidFill>
              </a:rPr>
              <a:t>Program Studi Informatika — Institut Teknologi Nasional Bandung</a:t>
            </a:r>
            <a:endParaRPr lang="en-US" sz="950" dirty="0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D90315AB-55ED-4B86-DADB-FAB22E31269E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73" name="Shape 51">
              <a:extLst>
                <a:ext uri="{FF2B5EF4-FFF2-40B4-BE49-F238E27FC236}">
                  <a16:creationId xmlns:a16="http://schemas.microsoft.com/office/drawing/2014/main" id="{492EE586-8E71-3450-6A69-9B084B73DEC0}"/>
                </a:ext>
              </a:extLst>
            </p:cNvPr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74" name="Text 54">
              <a:extLst>
                <a:ext uri="{FF2B5EF4-FFF2-40B4-BE49-F238E27FC236}">
                  <a16:creationId xmlns:a16="http://schemas.microsoft.com/office/drawing/2014/main" id="{23F8130A-69D7-6D2B-86FA-11701077F851}"/>
                </a:ext>
              </a:extLst>
            </p:cNvPr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75" name="Text 55">
              <a:extLst>
                <a:ext uri="{FF2B5EF4-FFF2-40B4-BE49-F238E27FC236}">
                  <a16:creationId xmlns:a16="http://schemas.microsoft.com/office/drawing/2014/main" id="{6F6D5309-DB49-C637-A045-E430163AD026}"/>
                </a:ext>
              </a:extLst>
            </p:cNvPr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76" name="Shape 56">
              <a:extLst>
                <a:ext uri="{FF2B5EF4-FFF2-40B4-BE49-F238E27FC236}">
                  <a16:creationId xmlns:a16="http://schemas.microsoft.com/office/drawing/2014/main" id="{7363D341-CC56-3596-8602-423ED3BD86DB}"/>
                </a:ext>
              </a:extLst>
            </p:cNvPr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77" name="Text 58">
              <a:extLst>
                <a:ext uri="{FF2B5EF4-FFF2-40B4-BE49-F238E27FC236}">
                  <a16:creationId xmlns:a16="http://schemas.microsoft.com/office/drawing/2014/main" id="{75F25AE6-C972-5EA9-EB64-EDEDA552F6C3}"/>
                </a:ext>
              </a:extLst>
            </p:cNvPr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9A8DC90E-1141-3F08-5738-EC95FBBFF5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73AFE4B0-DF4E-AEAF-9113-599AD3C688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6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2F2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EE9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01984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1984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1984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44200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63072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81944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00816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219688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338560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744200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863072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981944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100816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219688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338560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744200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863072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81944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100816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219688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338560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Shape 60"/>
          <p:cNvSpPr/>
          <p:nvPr/>
        </p:nvSpPr>
        <p:spPr>
          <a:xfrm>
            <a:off x="283464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79776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2668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72600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98848" y="10789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SEMINAR HASIL</a:t>
            </a:r>
            <a:endParaRPr lang="en-US" sz="2500" dirty="0"/>
          </a:p>
        </p:txBody>
      </p:sp>
      <p:sp>
        <p:nvSpPr>
          <p:cNvPr id="67" name="Text 65"/>
          <p:cNvSpPr/>
          <p:nvPr/>
        </p:nvSpPr>
        <p:spPr>
          <a:xfrm>
            <a:off x="594360" y="1444752"/>
            <a:ext cx="11018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Arah Penelitian di Masa Depan</a:t>
            </a:r>
            <a:endParaRPr lang="en-US" sz="3400" dirty="0"/>
          </a:p>
        </p:txBody>
      </p:sp>
      <p:sp>
        <p:nvSpPr>
          <p:cNvPr id="68" name="Shape 66"/>
          <p:cNvSpPr/>
          <p:nvPr/>
        </p:nvSpPr>
        <p:spPr>
          <a:xfrm>
            <a:off x="685800" y="2788920"/>
            <a:ext cx="2057400" cy="187452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1435608" y="2532888"/>
            <a:ext cx="475488" cy="475488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1435608" y="254203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2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👥</a:t>
            </a:r>
            <a:endParaRPr lang="en-US" sz="1352" dirty="0"/>
          </a:p>
        </p:txBody>
      </p:sp>
      <p:sp>
        <p:nvSpPr>
          <p:cNvPr id="71" name="Shape 69"/>
          <p:cNvSpPr/>
          <p:nvPr/>
        </p:nvSpPr>
        <p:spPr>
          <a:xfrm>
            <a:off x="1508760" y="2267712"/>
            <a:ext cx="310896" cy="274320"/>
          </a:xfrm>
          <a:prstGeom prst="roundRect">
            <a:avLst>
              <a:gd name="adj" fmla="val 26667"/>
            </a:avLst>
          </a:prstGeom>
          <a:solidFill>
            <a:srgbClr val="6E3FE5"/>
          </a:solidFill>
          <a:ln w="12700">
            <a:solidFill>
              <a:srgbClr val="6E3FE5">
                <a:alpha val="90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508760" y="230428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850392" y="3172968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6E3FE5"/>
                </a:solidFill>
              </a:rPr>
              <a:t>Deteksi multi-person</a:t>
            </a:r>
            <a:endParaRPr lang="en-US" sz="1270" dirty="0"/>
          </a:p>
        </p:txBody>
      </p:sp>
      <p:sp>
        <p:nvSpPr>
          <p:cNvPr id="74" name="Text 72"/>
          <p:cNvSpPr/>
          <p:nvPr/>
        </p:nvSpPr>
        <p:spPr>
          <a:xfrm>
            <a:off x="886968" y="3593592"/>
            <a:ext cx="1655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0B1F53"/>
                </a:solidFill>
              </a:rPr>
              <a:t>Agar aplikasi tidak terbatas pada satu subjek.</a:t>
            </a:r>
            <a:endParaRPr lang="en-US" sz="980" dirty="0"/>
          </a:p>
        </p:txBody>
      </p:sp>
      <p:sp>
        <p:nvSpPr>
          <p:cNvPr id="75" name="Shape 73"/>
          <p:cNvSpPr/>
          <p:nvPr/>
        </p:nvSpPr>
        <p:spPr>
          <a:xfrm>
            <a:off x="2761488" y="3502152"/>
            <a:ext cx="201168" cy="0"/>
          </a:xfrm>
          <a:prstGeom prst="line">
            <a:avLst/>
          </a:prstGeom>
          <a:noFill/>
          <a:ln w="16510">
            <a:solidFill>
              <a:srgbClr val="6E3FE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944368" y="3438144"/>
            <a:ext cx="128016" cy="128016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971800" y="2788920"/>
            <a:ext cx="2057400" cy="187452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3721608" y="2532888"/>
            <a:ext cx="475488" cy="475488"/>
          </a:xfrm>
          <a:prstGeom prst="ellipse">
            <a:avLst/>
          </a:prstGeom>
          <a:solidFill>
            <a:srgbClr val="4AA3FF"/>
          </a:solidFill>
          <a:ln w="12700">
            <a:solidFill>
              <a:srgbClr val="4AA3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3721608" y="254203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2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📷</a:t>
            </a:r>
            <a:endParaRPr lang="en-US" sz="1352" dirty="0"/>
          </a:p>
        </p:txBody>
      </p:sp>
      <p:sp>
        <p:nvSpPr>
          <p:cNvPr id="80" name="Shape 78"/>
          <p:cNvSpPr/>
          <p:nvPr/>
        </p:nvSpPr>
        <p:spPr>
          <a:xfrm>
            <a:off x="3794760" y="2267712"/>
            <a:ext cx="310896" cy="274320"/>
          </a:xfrm>
          <a:prstGeom prst="roundRect">
            <a:avLst>
              <a:gd name="adj" fmla="val 26667"/>
            </a:avLst>
          </a:prstGeom>
          <a:solidFill>
            <a:srgbClr val="6E3FE5"/>
          </a:solidFill>
          <a:ln w="12700">
            <a:solidFill>
              <a:srgbClr val="6E3FE5">
                <a:alpha val="9000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794760" y="230428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3136392" y="3172968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>
                <a:solidFill>
                  <a:srgbClr val="6E3FE5"/>
                </a:solidFill>
              </a:rPr>
              <a:t>Kontrol jarak marker-objek</a:t>
            </a:r>
            <a:endParaRPr lang="en-US" sz="1270" dirty="0"/>
          </a:p>
        </p:txBody>
      </p:sp>
      <p:sp>
        <p:nvSpPr>
          <p:cNvPr id="83" name="Text 81"/>
          <p:cNvSpPr/>
          <p:nvPr/>
        </p:nvSpPr>
        <p:spPr>
          <a:xfrm>
            <a:off x="3172968" y="3593592"/>
            <a:ext cx="1655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sv-SE" sz="980">
                <a:solidFill>
                  <a:srgbClr val="0B1F53"/>
                </a:solidFill>
              </a:rPr>
              <a:t>Panduan otomatis agar jarak mendekati 5 cm.</a:t>
            </a:r>
            <a:endParaRPr lang="en-US" sz="980" dirty="0"/>
          </a:p>
        </p:txBody>
      </p:sp>
      <p:sp>
        <p:nvSpPr>
          <p:cNvPr id="84" name="Shape 82"/>
          <p:cNvSpPr/>
          <p:nvPr/>
        </p:nvSpPr>
        <p:spPr>
          <a:xfrm>
            <a:off x="5047488" y="3502152"/>
            <a:ext cx="201168" cy="0"/>
          </a:xfrm>
          <a:prstGeom prst="line">
            <a:avLst/>
          </a:prstGeom>
          <a:noFill/>
          <a:ln w="16510">
            <a:solidFill>
              <a:srgbClr val="6E3FE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230368" y="3438144"/>
            <a:ext cx="128016" cy="128016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257800" y="2788920"/>
            <a:ext cx="2057400" cy="187452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6007608" y="2532888"/>
            <a:ext cx="475488" cy="475488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6007608" y="254203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2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352" dirty="0"/>
          </a:p>
        </p:txBody>
      </p:sp>
      <p:sp>
        <p:nvSpPr>
          <p:cNvPr id="89" name="Shape 87"/>
          <p:cNvSpPr/>
          <p:nvPr/>
        </p:nvSpPr>
        <p:spPr>
          <a:xfrm>
            <a:off x="6080760" y="2267712"/>
            <a:ext cx="310896" cy="274320"/>
          </a:xfrm>
          <a:prstGeom prst="roundRect">
            <a:avLst>
              <a:gd name="adj" fmla="val 26667"/>
            </a:avLst>
          </a:prstGeom>
          <a:solidFill>
            <a:srgbClr val="6E3FE5"/>
          </a:solidFill>
          <a:ln w="12700">
            <a:solidFill>
              <a:srgbClr val="6E3FE5">
                <a:alpha val="90000"/>
              </a:srgbClr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080760" y="230428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5422392" y="3172968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6E3FE5"/>
                </a:solidFill>
              </a:rPr>
              <a:t>Pengujian variasi kondisi</a:t>
            </a:r>
            <a:endParaRPr lang="en-US" sz="1270" dirty="0"/>
          </a:p>
        </p:txBody>
      </p:sp>
      <p:sp>
        <p:nvSpPr>
          <p:cNvPr id="92" name="Text 90"/>
          <p:cNvSpPr/>
          <p:nvPr/>
        </p:nvSpPr>
        <p:spPr>
          <a:xfrm>
            <a:off x="5458968" y="3593592"/>
            <a:ext cx="1655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0B1F53"/>
                </a:solidFill>
              </a:rPr>
              <a:t>Pencahayaan, sudut kamera, citra buram, dan marker tertutup.</a:t>
            </a:r>
            <a:endParaRPr lang="en-US" sz="980" dirty="0"/>
          </a:p>
        </p:txBody>
      </p:sp>
      <p:sp>
        <p:nvSpPr>
          <p:cNvPr id="93" name="Shape 91"/>
          <p:cNvSpPr/>
          <p:nvPr/>
        </p:nvSpPr>
        <p:spPr>
          <a:xfrm>
            <a:off x="7333488" y="3502152"/>
            <a:ext cx="201168" cy="0"/>
          </a:xfrm>
          <a:prstGeom prst="line">
            <a:avLst/>
          </a:prstGeom>
          <a:noFill/>
          <a:ln w="16510">
            <a:solidFill>
              <a:srgbClr val="6E3FE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516368" y="3438144"/>
            <a:ext cx="128016" cy="128016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543800" y="2788920"/>
            <a:ext cx="2057400" cy="187452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96" name="Shape 94"/>
          <p:cNvSpPr/>
          <p:nvPr/>
        </p:nvSpPr>
        <p:spPr>
          <a:xfrm>
            <a:off x="8293608" y="2532888"/>
            <a:ext cx="475488" cy="475488"/>
          </a:xfrm>
          <a:prstGeom prst="ellipse">
            <a:avLst/>
          </a:prstGeom>
          <a:solidFill>
            <a:srgbClr val="4AA3FF"/>
          </a:solidFill>
          <a:ln w="12700">
            <a:solidFill>
              <a:srgbClr val="4AA3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97" name="Text 95"/>
          <p:cNvSpPr/>
          <p:nvPr/>
        </p:nvSpPr>
        <p:spPr>
          <a:xfrm>
            <a:off x="8293608" y="254203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2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⌖</a:t>
            </a:r>
            <a:endParaRPr lang="en-US" sz="1352" dirty="0"/>
          </a:p>
        </p:txBody>
      </p:sp>
      <p:sp>
        <p:nvSpPr>
          <p:cNvPr id="98" name="Shape 96"/>
          <p:cNvSpPr/>
          <p:nvPr/>
        </p:nvSpPr>
        <p:spPr>
          <a:xfrm>
            <a:off x="8366760" y="2267712"/>
            <a:ext cx="310896" cy="274320"/>
          </a:xfrm>
          <a:prstGeom prst="roundRect">
            <a:avLst>
              <a:gd name="adj" fmla="val 26667"/>
            </a:avLst>
          </a:prstGeom>
          <a:solidFill>
            <a:srgbClr val="6E3FE5"/>
          </a:solidFill>
          <a:ln w="12700">
            <a:solidFill>
              <a:srgbClr val="6E3FE5">
                <a:alpha val="90000"/>
              </a:srgbClr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366760" y="230428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7708392" y="3172968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6E3FE5"/>
                </a:solidFill>
              </a:rPr>
              <a:t>Evaluasi deteksi kontur</a:t>
            </a:r>
            <a:endParaRPr lang="en-US" sz="1270" dirty="0"/>
          </a:p>
        </p:txBody>
      </p:sp>
      <p:sp>
        <p:nvSpPr>
          <p:cNvPr id="101" name="Text 99"/>
          <p:cNvSpPr/>
          <p:nvPr/>
        </p:nvSpPr>
        <p:spPr>
          <a:xfrm>
            <a:off x="7744968" y="3593592"/>
            <a:ext cx="1655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0B1F53"/>
                </a:solidFill>
              </a:rPr>
              <a:t>Menguji peran kontur sebagai informasi pendukung.</a:t>
            </a:r>
            <a:endParaRPr lang="en-US" sz="980" dirty="0"/>
          </a:p>
        </p:txBody>
      </p:sp>
      <p:sp>
        <p:nvSpPr>
          <p:cNvPr id="102" name="Shape 100"/>
          <p:cNvSpPr/>
          <p:nvPr/>
        </p:nvSpPr>
        <p:spPr>
          <a:xfrm>
            <a:off x="9619488" y="3502152"/>
            <a:ext cx="201168" cy="0"/>
          </a:xfrm>
          <a:prstGeom prst="line">
            <a:avLst/>
          </a:prstGeom>
          <a:noFill/>
          <a:ln w="16510">
            <a:solidFill>
              <a:srgbClr val="6E3FE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802368" y="3438144"/>
            <a:ext cx="128016" cy="128016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829800" y="2788920"/>
            <a:ext cx="2057400" cy="187452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105" name="Shape 103"/>
          <p:cNvSpPr/>
          <p:nvPr/>
        </p:nvSpPr>
        <p:spPr>
          <a:xfrm>
            <a:off x="10579608" y="2532888"/>
            <a:ext cx="475488" cy="475488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106" name="Text 104"/>
          <p:cNvSpPr/>
          <p:nvPr/>
        </p:nvSpPr>
        <p:spPr>
          <a:xfrm>
            <a:off x="10579608" y="254203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2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1352" dirty="0"/>
          </a:p>
        </p:txBody>
      </p:sp>
      <p:sp>
        <p:nvSpPr>
          <p:cNvPr id="107" name="Shape 105"/>
          <p:cNvSpPr/>
          <p:nvPr/>
        </p:nvSpPr>
        <p:spPr>
          <a:xfrm>
            <a:off x="10652760" y="2267712"/>
            <a:ext cx="310896" cy="274320"/>
          </a:xfrm>
          <a:prstGeom prst="roundRect">
            <a:avLst>
              <a:gd name="adj" fmla="val 26667"/>
            </a:avLst>
          </a:prstGeom>
          <a:solidFill>
            <a:srgbClr val="6E3FE5"/>
          </a:solidFill>
          <a:ln w="12700">
            <a:solidFill>
              <a:srgbClr val="6E3FE5">
                <a:alpha val="90000"/>
              </a:srgbClr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0652760" y="230428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109" name="Text 107"/>
          <p:cNvSpPr/>
          <p:nvPr/>
        </p:nvSpPr>
        <p:spPr>
          <a:xfrm>
            <a:off x="9994392" y="3172968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6E3FE5"/>
                </a:solidFill>
              </a:rPr>
              <a:t>Peningkatan UI/UX</a:t>
            </a:r>
            <a:endParaRPr lang="en-US" sz="1270" dirty="0"/>
          </a:p>
        </p:txBody>
      </p:sp>
      <p:sp>
        <p:nvSpPr>
          <p:cNvPr id="110" name="Text 108"/>
          <p:cNvSpPr/>
          <p:nvPr/>
        </p:nvSpPr>
        <p:spPr>
          <a:xfrm>
            <a:off x="10030968" y="3593592"/>
            <a:ext cx="1655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0B1F53"/>
                </a:solidFill>
              </a:rPr>
              <a:t>Antarmuka lebih adaptif, informatif, dan nyaman digunakan.</a:t>
            </a:r>
            <a:endParaRPr lang="en-US" sz="980" dirty="0"/>
          </a:p>
        </p:txBody>
      </p:sp>
      <p:sp>
        <p:nvSpPr>
          <p:cNvPr id="111" name="Shape 109"/>
          <p:cNvSpPr/>
          <p:nvPr/>
        </p:nvSpPr>
        <p:spPr>
          <a:xfrm>
            <a:off x="1828800" y="5522976"/>
            <a:ext cx="8549640" cy="502920"/>
          </a:xfrm>
          <a:prstGeom prst="roundRect">
            <a:avLst>
              <a:gd name="adj" fmla="val 32727"/>
            </a:avLst>
          </a:prstGeom>
          <a:solidFill>
            <a:srgbClr val="F6F2FF"/>
          </a:solidFill>
          <a:ln w="12700">
            <a:solidFill>
              <a:srgbClr val="D8CCFF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112" name="Text 110"/>
          <p:cNvSpPr/>
          <p:nvPr/>
        </p:nvSpPr>
        <p:spPr>
          <a:xfrm>
            <a:off x="2057400" y="5678424"/>
            <a:ext cx="8138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B1F53"/>
                </a:solidFill>
              </a:rPr>
              <a:t>Fokus pengembangan: sistem lebih akurat, adaptif, dan siap digunakan pada kondisi nyata.</a:t>
            </a:r>
            <a:endParaRPr lang="en-US" sz="1220" dirty="0"/>
          </a:p>
        </p:txBody>
      </p:sp>
      <p:sp>
        <p:nvSpPr>
          <p:cNvPr id="113" name="Text 111">
            <a:hlinkClick r:id="rId3" action="ppaction://hlinksldjump" tooltip="Kembali ke Agenda"/>
          </p:cNvPr>
          <p:cNvSpPr/>
          <p:nvPr/>
        </p:nvSpPr>
        <p:spPr>
          <a:xfrm>
            <a:off x="201168" y="6428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u="sng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3" action="ppaction://hlinksldjump" tooltip="Kembali k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</a:t>
            </a:r>
            <a:endParaRPr lang="en-US" sz="1600" dirty="0"/>
          </a:p>
        </p:txBody>
      </p:sp>
      <p:sp>
        <p:nvSpPr>
          <p:cNvPr id="114" name="Shape 112"/>
          <p:cNvSpPr/>
          <p:nvPr/>
        </p:nvSpPr>
        <p:spPr>
          <a:xfrm>
            <a:off x="731520" y="6254496"/>
            <a:ext cx="146304" cy="14630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96112" y="6327648"/>
            <a:ext cx="1947672" cy="0"/>
          </a:xfrm>
          <a:prstGeom prst="line">
            <a:avLst/>
          </a:prstGeom>
          <a:noFill/>
          <a:ln w="15240">
            <a:solidFill>
              <a:srgbClr val="DDE8F7"/>
            </a:solidFill>
            <a:prstDash val="solid"/>
          </a:ln>
        </p:spPr>
      </p:sp>
      <p:sp>
        <p:nvSpPr>
          <p:cNvPr id="116" name="Text 114">
            <a:hlinkClick r:id="rId3" action="ppaction://hlinksldjump" tooltip="Menuju Pendahuluan"/>
          </p:cNvPr>
          <p:cNvSpPr/>
          <p:nvPr/>
        </p:nvSpPr>
        <p:spPr>
          <a:xfrm>
            <a:off x="475488" y="646480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u="sng" dirty="0">
                <a:solidFill>
                  <a:srgbClr val="687385"/>
                </a:solidFill>
                <a:hlinkClick r:id="rId3" action="ppaction://hlinksldjump" tooltip="Menuju Pendahulu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Pendahuluan</a:t>
            </a:r>
            <a:endParaRPr lang="en-US" sz="680" dirty="0"/>
          </a:p>
        </p:txBody>
      </p:sp>
      <p:sp>
        <p:nvSpPr>
          <p:cNvPr id="117" name="Shape 115"/>
          <p:cNvSpPr/>
          <p:nvPr/>
        </p:nvSpPr>
        <p:spPr>
          <a:xfrm>
            <a:off x="2880360" y="6254496"/>
            <a:ext cx="146304" cy="14630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044952" y="6327648"/>
            <a:ext cx="1947672" cy="0"/>
          </a:xfrm>
          <a:prstGeom prst="line">
            <a:avLst/>
          </a:prstGeom>
          <a:noFill/>
          <a:ln w="15240">
            <a:solidFill>
              <a:srgbClr val="DDE8F7"/>
            </a:solidFill>
            <a:prstDash val="solid"/>
          </a:ln>
        </p:spPr>
      </p:sp>
      <p:sp>
        <p:nvSpPr>
          <p:cNvPr id="119" name="Text 117">
            <a:hlinkClick r:id="rId4" action="ppaction://hlinksldjump" tooltip="Menuju Metode"/>
          </p:cNvPr>
          <p:cNvSpPr/>
          <p:nvPr/>
        </p:nvSpPr>
        <p:spPr>
          <a:xfrm>
            <a:off x="2624328" y="646480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u="sng" dirty="0">
                <a:solidFill>
                  <a:srgbClr val="687385"/>
                </a:solidFill>
                <a:hlinkClick r:id="rId4" action="ppaction://hlinksldjump" tooltip="Menuju Meto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Metode</a:t>
            </a:r>
            <a:endParaRPr lang="en-US" sz="680" dirty="0"/>
          </a:p>
        </p:txBody>
      </p:sp>
      <p:sp>
        <p:nvSpPr>
          <p:cNvPr id="120" name="Shape 118"/>
          <p:cNvSpPr/>
          <p:nvPr/>
        </p:nvSpPr>
        <p:spPr>
          <a:xfrm>
            <a:off x="5029200" y="6254496"/>
            <a:ext cx="146304" cy="14630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193792" y="6327648"/>
            <a:ext cx="1947672" cy="0"/>
          </a:xfrm>
          <a:prstGeom prst="line">
            <a:avLst/>
          </a:prstGeom>
          <a:noFill/>
          <a:ln w="15240">
            <a:solidFill>
              <a:srgbClr val="DDE8F7"/>
            </a:solidFill>
            <a:prstDash val="solid"/>
          </a:ln>
        </p:spPr>
      </p:sp>
      <p:sp>
        <p:nvSpPr>
          <p:cNvPr id="122" name="Text 120">
            <a:hlinkClick r:id="rId5" action="ppaction://hlinksldjump" tooltip="Menuju Implementasi"/>
          </p:cNvPr>
          <p:cNvSpPr/>
          <p:nvPr/>
        </p:nvSpPr>
        <p:spPr>
          <a:xfrm>
            <a:off x="4773168" y="646480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u="sng" dirty="0">
                <a:solidFill>
                  <a:srgbClr val="687385"/>
                </a:solidFill>
                <a:hlinkClick r:id="rId5" action="ppaction://hlinksldjump" tooltip="Menuju Implementas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Implementasi</a:t>
            </a:r>
            <a:endParaRPr lang="en-US" sz="680" dirty="0"/>
          </a:p>
        </p:txBody>
      </p:sp>
      <p:sp>
        <p:nvSpPr>
          <p:cNvPr id="123" name="Shape 121"/>
          <p:cNvSpPr/>
          <p:nvPr/>
        </p:nvSpPr>
        <p:spPr>
          <a:xfrm>
            <a:off x="7178040" y="6254496"/>
            <a:ext cx="146304" cy="14630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342632" y="6327648"/>
            <a:ext cx="1947672" cy="0"/>
          </a:xfrm>
          <a:prstGeom prst="line">
            <a:avLst/>
          </a:prstGeom>
          <a:noFill/>
          <a:ln w="15240">
            <a:solidFill>
              <a:srgbClr val="DDE8F7"/>
            </a:solidFill>
            <a:prstDash val="solid"/>
          </a:ln>
        </p:spPr>
      </p:sp>
      <p:sp>
        <p:nvSpPr>
          <p:cNvPr id="125" name="Text 123">
            <a:hlinkClick r:id="rId6" action="ppaction://hlinksldjump" tooltip="Menuju Pengujian"/>
          </p:cNvPr>
          <p:cNvSpPr/>
          <p:nvPr/>
        </p:nvSpPr>
        <p:spPr>
          <a:xfrm>
            <a:off x="6922008" y="646480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u="sng" dirty="0">
                <a:solidFill>
                  <a:srgbClr val="687385"/>
                </a:solidFill>
                <a:hlinkClick r:id="rId6" action="ppaction://hlinksldjump" tooltip="Menuju Penguj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Pengujian</a:t>
            </a:r>
            <a:endParaRPr lang="en-US" sz="680" dirty="0"/>
          </a:p>
        </p:txBody>
      </p:sp>
      <p:sp>
        <p:nvSpPr>
          <p:cNvPr id="126" name="Shape 124"/>
          <p:cNvSpPr/>
          <p:nvPr/>
        </p:nvSpPr>
        <p:spPr>
          <a:xfrm>
            <a:off x="9326880" y="6254496"/>
            <a:ext cx="146304" cy="146304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127" name="Text 125">
            <a:hlinkClick r:id="rId7" action="ppaction://hlinksldjump" tooltip="Menuju Penutup"/>
          </p:cNvPr>
          <p:cNvSpPr/>
          <p:nvPr/>
        </p:nvSpPr>
        <p:spPr>
          <a:xfrm>
            <a:off x="9070848" y="646480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u="sng" dirty="0">
                <a:solidFill>
                  <a:srgbClr val="6E3FE5"/>
                </a:solidFill>
                <a:hlinkClick r:id="rId7" action="ppaction://hlinksldjump" tooltip="Menuju Penutu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Penutup</a:t>
            </a:r>
            <a:endParaRPr lang="en-US" sz="680" dirty="0"/>
          </a:p>
        </p:txBody>
      </p:sp>
      <p:sp>
        <p:nvSpPr>
          <p:cNvPr id="128" name="Shape 126"/>
          <p:cNvSpPr/>
          <p:nvPr/>
        </p:nvSpPr>
        <p:spPr>
          <a:xfrm>
            <a:off x="9784080" y="6455664"/>
            <a:ext cx="1783080" cy="246888"/>
          </a:xfrm>
          <a:prstGeom prst="roundRect">
            <a:avLst>
              <a:gd name="adj" fmla="val 2963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CE8F8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9893808" y="6492240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873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 •  Penutup</a:t>
            </a:r>
            <a:endParaRPr lang="en-US" sz="80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49C0DEE-66DB-3A3C-CC85-4B9350077433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3977640" y="256032"/>
            <a:ext cx="4251960" cy="71323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7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EE9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2F2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01984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1984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1984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44200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63072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81944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00816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219688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338560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744200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863072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981944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100816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219688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338560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744200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863072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81944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100816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219688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338560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Text 60"/>
          <p:cNvSpPr/>
          <p:nvPr/>
        </p:nvSpPr>
        <p:spPr>
          <a:xfrm>
            <a:off x="594360" y="1444752"/>
            <a:ext cx="11018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Referensi Singkat</a:t>
            </a:r>
            <a:endParaRPr lang="en-US" sz="3400" dirty="0"/>
          </a:p>
        </p:txBody>
      </p:sp>
      <p:sp>
        <p:nvSpPr>
          <p:cNvPr id="63" name="Shape 61"/>
          <p:cNvSpPr/>
          <p:nvPr/>
        </p:nvSpPr>
        <p:spPr>
          <a:xfrm>
            <a:off x="1143000" y="1901952"/>
            <a:ext cx="9921240" cy="402336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1444752" y="2240280"/>
            <a:ext cx="182880" cy="18288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755648" y="22128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0B1F53"/>
                </a:solidFill>
              </a:rPr>
              <a:t>Mocini et al. (2023) — Antropometri dan tinggi badan.</a:t>
            </a:r>
            <a:endParaRPr lang="en-US" sz="1130" dirty="0"/>
          </a:p>
        </p:txBody>
      </p:sp>
      <p:sp>
        <p:nvSpPr>
          <p:cNvPr id="66" name="Shape 64"/>
          <p:cNvSpPr/>
          <p:nvPr/>
        </p:nvSpPr>
        <p:spPr>
          <a:xfrm>
            <a:off x="1444752" y="2679192"/>
            <a:ext cx="182880" cy="18288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755648" y="265176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0B1F53"/>
                </a:solidFill>
              </a:rPr>
              <a:t>Graybeal et al. (2023) — Evaluasi pengukuran antropometri berbasis smartphone.</a:t>
            </a:r>
            <a:endParaRPr lang="en-US" sz="1130" dirty="0"/>
          </a:p>
        </p:txBody>
      </p:sp>
      <p:sp>
        <p:nvSpPr>
          <p:cNvPr id="68" name="Shape 66"/>
          <p:cNvSpPr/>
          <p:nvPr/>
        </p:nvSpPr>
        <p:spPr>
          <a:xfrm>
            <a:off x="1444752" y="3118104"/>
            <a:ext cx="182880" cy="18288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755648" y="3090672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0B1F53"/>
                </a:solidFill>
              </a:rPr>
              <a:t>Majmudar et al. (2022); Tinsley et al. (2024) — Smartphone imaging untuk pengukuran tubuh.</a:t>
            </a:r>
            <a:endParaRPr lang="en-US" sz="1130" dirty="0"/>
          </a:p>
        </p:txBody>
      </p:sp>
      <p:sp>
        <p:nvSpPr>
          <p:cNvPr id="70" name="Shape 68"/>
          <p:cNvSpPr/>
          <p:nvPr/>
        </p:nvSpPr>
        <p:spPr>
          <a:xfrm>
            <a:off x="1444752" y="3557016"/>
            <a:ext cx="182880" cy="18288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755648" y="352958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0B1F53"/>
                </a:solidFill>
              </a:rPr>
              <a:t>Nguyen Trung et al. (2024) — Non-contact height measurement dan skala piksel.</a:t>
            </a:r>
            <a:endParaRPr lang="en-US" sz="1130" dirty="0"/>
          </a:p>
        </p:txBody>
      </p:sp>
      <p:sp>
        <p:nvSpPr>
          <p:cNvPr id="72" name="Shape 70"/>
          <p:cNvSpPr/>
          <p:nvPr/>
        </p:nvSpPr>
        <p:spPr>
          <a:xfrm>
            <a:off x="1444752" y="3995928"/>
            <a:ext cx="182880" cy="18288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755648" y="3968496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0B1F53"/>
                </a:solidFill>
              </a:rPr>
              <a:t>Kalaitzakis et al. (2021); Jurado-Rodriguez et al. (2023) — Fiducial marker dan pose estimation.</a:t>
            </a:r>
            <a:endParaRPr lang="en-US" sz="1130" dirty="0"/>
          </a:p>
        </p:txBody>
      </p:sp>
      <p:sp>
        <p:nvSpPr>
          <p:cNvPr id="74" name="Shape 72"/>
          <p:cNvSpPr/>
          <p:nvPr/>
        </p:nvSpPr>
        <p:spPr>
          <a:xfrm>
            <a:off x="1444752" y="4434840"/>
            <a:ext cx="182880" cy="18288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755648" y="440740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0B1F53"/>
                </a:solidFill>
              </a:rPr>
              <a:t>Luo et al. (2023); Wang et al. (2025) — Homografi dan koreksi distorsi perspektif.</a:t>
            </a:r>
            <a:endParaRPr lang="en-US" sz="1130" dirty="0"/>
          </a:p>
        </p:txBody>
      </p:sp>
      <p:sp>
        <p:nvSpPr>
          <p:cNvPr id="76" name="Shape 74"/>
          <p:cNvSpPr/>
          <p:nvPr/>
        </p:nvSpPr>
        <p:spPr>
          <a:xfrm>
            <a:off x="1444752" y="4873752"/>
            <a:ext cx="182880" cy="18288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755648" y="484632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0B1F53"/>
                </a:solidFill>
              </a:rPr>
              <a:t>Kim et al. (2023); Roggio et al. (2024) — MediaPipe Pose dan landmark tubuh.</a:t>
            </a:r>
            <a:endParaRPr lang="en-US" sz="1130" dirty="0"/>
          </a:p>
        </p:txBody>
      </p:sp>
      <p:sp>
        <p:nvSpPr>
          <p:cNvPr id="78" name="Text 76"/>
          <p:cNvSpPr/>
          <p:nvPr/>
        </p:nvSpPr>
        <p:spPr>
          <a:xfrm>
            <a:off x="3474720" y="562356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87385"/>
                </a:solidFill>
              </a:rPr>
              <a:t>Daftar pustaka lengkap mengikuti dokumen/jurnal penelitian.</a:t>
            </a:r>
            <a:endParaRPr lang="en-US" sz="1050" dirty="0"/>
          </a:p>
        </p:txBody>
      </p:sp>
      <p:sp>
        <p:nvSpPr>
          <p:cNvPr id="79" name="Text 77">
            <a:hlinkClick r:id="rId3" action="ppaction://hlinksldjump" tooltip="Kembali ke Agenda"/>
          </p:cNvPr>
          <p:cNvSpPr/>
          <p:nvPr/>
        </p:nvSpPr>
        <p:spPr>
          <a:xfrm>
            <a:off x="201168" y="6428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u="sng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3" action="ppaction://hlinksldjump" tooltip="Kembali k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731520" y="6254496"/>
            <a:ext cx="146304" cy="14630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96112" y="6327648"/>
            <a:ext cx="1947672" cy="0"/>
          </a:xfrm>
          <a:prstGeom prst="line">
            <a:avLst/>
          </a:prstGeom>
          <a:noFill/>
          <a:ln w="15240">
            <a:solidFill>
              <a:srgbClr val="DDE8F7"/>
            </a:solidFill>
            <a:prstDash val="solid"/>
          </a:ln>
        </p:spPr>
      </p:sp>
      <p:sp>
        <p:nvSpPr>
          <p:cNvPr id="82" name="Text 80">
            <a:hlinkClick r:id="rId3" action="ppaction://hlinksldjump" tooltip="Menuju Pendahuluan"/>
          </p:cNvPr>
          <p:cNvSpPr/>
          <p:nvPr/>
        </p:nvSpPr>
        <p:spPr>
          <a:xfrm>
            <a:off x="475488" y="646480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u="sng" dirty="0">
                <a:solidFill>
                  <a:srgbClr val="687385"/>
                </a:solidFill>
                <a:hlinkClick r:id="rId3" action="ppaction://hlinksldjump" tooltip="Menuju Pendahulu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Pendahuluan</a:t>
            </a:r>
            <a:endParaRPr lang="en-US" sz="680" dirty="0"/>
          </a:p>
        </p:txBody>
      </p:sp>
      <p:sp>
        <p:nvSpPr>
          <p:cNvPr id="83" name="Shape 81"/>
          <p:cNvSpPr/>
          <p:nvPr/>
        </p:nvSpPr>
        <p:spPr>
          <a:xfrm>
            <a:off x="2880360" y="6254496"/>
            <a:ext cx="146304" cy="14630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044952" y="6327648"/>
            <a:ext cx="1947672" cy="0"/>
          </a:xfrm>
          <a:prstGeom prst="line">
            <a:avLst/>
          </a:prstGeom>
          <a:noFill/>
          <a:ln w="15240">
            <a:solidFill>
              <a:srgbClr val="DDE8F7"/>
            </a:solidFill>
            <a:prstDash val="solid"/>
          </a:ln>
        </p:spPr>
      </p:sp>
      <p:sp>
        <p:nvSpPr>
          <p:cNvPr id="85" name="Text 83">
            <a:hlinkClick r:id="rId4" action="ppaction://hlinksldjump" tooltip="Menuju Metode"/>
          </p:cNvPr>
          <p:cNvSpPr/>
          <p:nvPr/>
        </p:nvSpPr>
        <p:spPr>
          <a:xfrm>
            <a:off x="2624328" y="646480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u="sng" dirty="0">
                <a:solidFill>
                  <a:srgbClr val="687385"/>
                </a:solidFill>
                <a:hlinkClick r:id="rId4" action="ppaction://hlinksldjump" tooltip="Menuju Meto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Metode</a:t>
            </a:r>
            <a:endParaRPr lang="en-US" sz="680" dirty="0"/>
          </a:p>
        </p:txBody>
      </p:sp>
      <p:sp>
        <p:nvSpPr>
          <p:cNvPr id="86" name="Shape 84"/>
          <p:cNvSpPr/>
          <p:nvPr/>
        </p:nvSpPr>
        <p:spPr>
          <a:xfrm>
            <a:off x="5029200" y="6254496"/>
            <a:ext cx="146304" cy="14630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193792" y="6327648"/>
            <a:ext cx="1947672" cy="0"/>
          </a:xfrm>
          <a:prstGeom prst="line">
            <a:avLst/>
          </a:prstGeom>
          <a:noFill/>
          <a:ln w="15240">
            <a:solidFill>
              <a:srgbClr val="DDE8F7"/>
            </a:solidFill>
            <a:prstDash val="solid"/>
          </a:ln>
        </p:spPr>
      </p:sp>
      <p:sp>
        <p:nvSpPr>
          <p:cNvPr id="88" name="Text 86">
            <a:hlinkClick r:id="rId5" action="ppaction://hlinksldjump" tooltip="Menuju Implementasi"/>
          </p:cNvPr>
          <p:cNvSpPr/>
          <p:nvPr/>
        </p:nvSpPr>
        <p:spPr>
          <a:xfrm>
            <a:off x="4773168" y="646480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u="sng" dirty="0">
                <a:solidFill>
                  <a:srgbClr val="687385"/>
                </a:solidFill>
                <a:hlinkClick r:id="rId5" action="ppaction://hlinksldjump" tooltip="Menuju Implementas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Implementasi</a:t>
            </a:r>
            <a:endParaRPr lang="en-US" sz="680" dirty="0"/>
          </a:p>
        </p:txBody>
      </p:sp>
      <p:sp>
        <p:nvSpPr>
          <p:cNvPr id="89" name="Shape 87"/>
          <p:cNvSpPr/>
          <p:nvPr/>
        </p:nvSpPr>
        <p:spPr>
          <a:xfrm>
            <a:off x="7178040" y="6254496"/>
            <a:ext cx="146304" cy="14630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342632" y="6327648"/>
            <a:ext cx="1947672" cy="0"/>
          </a:xfrm>
          <a:prstGeom prst="line">
            <a:avLst/>
          </a:prstGeom>
          <a:noFill/>
          <a:ln w="15240">
            <a:solidFill>
              <a:srgbClr val="DDE8F7"/>
            </a:solidFill>
            <a:prstDash val="solid"/>
          </a:ln>
        </p:spPr>
      </p:sp>
      <p:sp>
        <p:nvSpPr>
          <p:cNvPr id="91" name="Text 89">
            <a:hlinkClick r:id="rId6" action="ppaction://hlinksldjump" tooltip="Menuju Pengujian"/>
          </p:cNvPr>
          <p:cNvSpPr/>
          <p:nvPr/>
        </p:nvSpPr>
        <p:spPr>
          <a:xfrm>
            <a:off x="6922008" y="646480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u="sng" dirty="0">
                <a:solidFill>
                  <a:srgbClr val="687385"/>
                </a:solidFill>
                <a:hlinkClick r:id="rId6" action="ppaction://hlinksldjump" tooltip="Menuju Penguj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Pengujian</a:t>
            </a:r>
            <a:endParaRPr lang="en-US" sz="680" dirty="0"/>
          </a:p>
        </p:txBody>
      </p:sp>
      <p:sp>
        <p:nvSpPr>
          <p:cNvPr id="92" name="Shape 90"/>
          <p:cNvSpPr/>
          <p:nvPr/>
        </p:nvSpPr>
        <p:spPr>
          <a:xfrm>
            <a:off x="9326880" y="6254496"/>
            <a:ext cx="146304" cy="146304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93" name="Text 91">
            <a:hlinkClick r:id="rId7" action="ppaction://hlinksldjump" tooltip="Menuju Penutup"/>
          </p:cNvPr>
          <p:cNvSpPr/>
          <p:nvPr/>
        </p:nvSpPr>
        <p:spPr>
          <a:xfrm>
            <a:off x="9070848" y="646480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u="sng" dirty="0">
                <a:solidFill>
                  <a:srgbClr val="6E3FE5"/>
                </a:solidFill>
                <a:hlinkClick r:id="rId7" action="ppaction://hlinksldjump" tooltip="Menuju Penutu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Penutup</a:t>
            </a:r>
            <a:endParaRPr lang="en-US" sz="680" dirty="0"/>
          </a:p>
        </p:txBody>
      </p:sp>
      <p:sp>
        <p:nvSpPr>
          <p:cNvPr id="94" name="Shape 92"/>
          <p:cNvSpPr/>
          <p:nvPr/>
        </p:nvSpPr>
        <p:spPr>
          <a:xfrm>
            <a:off x="9784080" y="6455664"/>
            <a:ext cx="1783080" cy="246888"/>
          </a:xfrm>
          <a:prstGeom prst="roundRect">
            <a:avLst>
              <a:gd name="adj" fmla="val 2963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CE8F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893808" y="6492240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873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  •  Referensi</a:t>
            </a:r>
            <a:endParaRPr lang="en-US" sz="800" dirty="0"/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E539FB85-CEB6-FA48-4118-BDAED2DFB34F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97" name="Shape 51">
              <a:extLst>
                <a:ext uri="{FF2B5EF4-FFF2-40B4-BE49-F238E27FC236}">
                  <a16:creationId xmlns:a16="http://schemas.microsoft.com/office/drawing/2014/main" id="{1C7EE56C-961E-D3CB-6D80-26B1C62C9321}"/>
                </a:ext>
              </a:extLst>
            </p:cNvPr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98" name="Text 54">
              <a:extLst>
                <a:ext uri="{FF2B5EF4-FFF2-40B4-BE49-F238E27FC236}">
                  <a16:creationId xmlns:a16="http://schemas.microsoft.com/office/drawing/2014/main" id="{205AFABB-7E0C-C4BE-A080-A8F2CB7B4317}"/>
                </a:ext>
              </a:extLst>
            </p:cNvPr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99" name="Text 55">
              <a:extLst>
                <a:ext uri="{FF2B5EF4-FFF2-40B4-BE49-F238E27FC236}">
                  <a16:creationId xmlns:a16="http://schemas.microsoft.com/office/drawing/2014/main" id="{95889A2C-A273-09E0-F03B-5DFC6E4E316D}"/>
                </a:ext>
              </a:extLst>
            </p:cNvPr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100" name="Shape 56">
              <a:extLst>
                <a:ext uri="{FF2B5EF4-FFF2-40B4-BE49-F238E27FC236}">
                  <a16:creationId xmlns:a16="http://schemas.microsoft.com/office/drawing/2014/main" id="{DCD31316-29C2-E7E0-248F-BC49040881F7}"/>
                </a:ext>
              </a:extLst>
            </p:cNvPr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101" name="Text 58">
              <a:extLst>
                <a:ext uri="{FF2B5EF4-FFF2-40B4-BE49-F238E27FC236}">
                  <a16:creationId xmlns:a16="http://schemas.microsoft.com/office/drawing/2014/main" id="{7696E3B0-C20E-9883-731E-C8BD0670AECA}"/>
                </a:ext>
              </a:extLst>
            </p:cNvPr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7A3C31C7-3A35-F59F-1AC3-0FF35DA79F8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3A9B08A8-2C68-6D6C-1F31-6FE60A1C21D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942</TotalTime>
  <Words>1453</Words>
  <Application>Microsoft Office PowerPoint</Application>
  <PresentationFormat>Widescreen</PresentationFormat>
  <Paragraphs>380</Paragraphs>
  <Slides>19</Slides>
  <Notes>19</Notes>
  <HiddenSlides>2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Seminar Hasil - Pengukuran Tinggi Badan Berbasis Computer Vision</dc:title>
  <dc:subject>Seminar Hasil</dc:subject>
  <dc:creator>OpenAI</dc:creator>
  <cp:lastModifiedBy>khayla fitriani</cp:lastModifiedBy>
  <cp:revision>5</cp:revision>
  <dcterms:created xsi:type="dcterms:W3CDTF">2026-07-13T00:14:55Z</dcterms:created>
  <dcterms:modified xsi:type="dcterms:W3CDTF">2026-07-14T00:16:44Z</dcterms:modified>
</cp:coreProperties>
</file>