
<file path=[Content_Types].xml><?xml version="1.0" encoding="utf-8"?>
<Types xmlns="http://schemas.openxmlformats.org/package/2006/content-types"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8" r:id="rId3"/>
    <p:sldId id="259" r:id="rId4"/>
    <p:sldId id="260" r:id="rId5"/>
    <p:sldId id="261" r:id="rId6"/>
    <p:sldId id="262" r:id="rId7"/>
    <p:sldId id="264" r:id="rId8"/>
    <p:sldId id="265" r:id="rId9"/>
    <p:sldId id="266" r:id="rId10"/>
    <p:sldId id="267" r:id="rId11"/>
    <p:sldId id="268" r:id="rId12"/>
    <p:sldId id="269" r:id="rId13"/>
    <p:sldId id="263" r:id="rId14"/>
    <p:sldId id="274" r:id="rId15"/>
    <p:sldId id="270" r:id="rId16"/>
    <p:sldId id="273" r:id="rId17"/>
    <p:sldId id="271" r:id="rId18"/>
    <p:sldId id="272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271528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47BCEE-543B-D915-D139-A13C16650A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60AF2ED-DD03-8145-7A9A-7A4EE53387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F3502E0-B153-DD82-8330-157C29884B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9E5997-5396-3A17-299D-6314B6F0DB3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481721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5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2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2.jp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jpg"/><Relationship Id="rId3" Type="http://schemas.microsoft.com/office/2007/relationships/media" Target="../media/media2.mp4"/><Relationship Id="rId7" Type="http://schemas.openxmlformats.org/officeDocument/2006/relationships/image" Target="../media/image1.jp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notesSlide" Target="../notesSlides/notesSlide14.xml"/><Relationship Id="rId5" Type="http://schemas.openxmlformats.org/officeDocument/2006/relationships/slideLayout" Target="../slideLayouts/slideLayout2.xml"/><Relationship Id="rId10" Type="http://schemas.openxmlformats.org/officeDocument/2006/relationships/image" Target="../media/image8.png"/><Relationship Id="rId4" Type="http://schemas.openxmlformats.org/officeDocument/2006/relationships/video" Target="../media/media2.mp4"/><Relationship Id="rId9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g"/><Relationship Id="rId3" Type="http://schemas.openxmlformats.org/officeDocument/2006/relationships/slide" Target="slide2.xml"/><Relationship Id="rId7" Type="http://schemas.openxmlformats.org/officeDocument/2006/relationships/slide" Target="slide15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slide" Target="slide9.xml"/><Relationship Id="rId5" Type="http://schemas.openxmlformats.org/officeDocument/2006/relationships/slide" Target="slide13.xml"/><Relationship Id="rId4" Type="http://schemas.openxmlformats.org/officeDocument/2006/relationships/slide" Target="slide6.xml"/><Relationship Id="rId9" Type="http://schemas.openxmlformats.org/officeDocument/2006/relationships/image" Target="../media/image2.jp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g"/><Relationship Id="rId3" Type="http://schemas.openxmlformats.org/officeDocument/2006/relationships/slide" Target="slide2.xml"/><Relationship Id="rId7" Type="http://schemas.openxmlformats.org/officeDocument/2006/relationships/slide" Target="slide15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slide" Target="slide9.xml"/><Relationship Id="rId5" Type="http://schemas.openxmlformats.org/officeDocument/2006/relationships/slide" Target="slide13.xml"/><Relationship Id="rId4" Type="http://schemas.openxmlformats.org/officeDocument/2006/relationships/slide" Target="slide6.xml"/><Relationship Id="rId9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73152"/>
            <a:ext cx="1234440" cy="749808"/>
          </a:xfrm>
          <a:prstGeom prst="ellipse">
            <a:avLst/>
          </a:prstGeom>
          <a:solidFill>
            <a:srgbClr val="EEE9FF">
              <a:alpha val="8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588752" y="5897880"/>
            <a:ext cx="1261872" cy="658368"/>
          </a:xfrm>
          <a:prstGeom prst="ellipse">
            <a:avLst/>
          </a:prstGeom>
          <a:solidFill>
            <a:srgbClr val="E2F2FF">
              <a:alpha val="8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" y="1143000"/>
            <a:ext cx="502920" cy="0"/>
          </a:xfrm>
          <a:prstGeom prst="line">
            <a:avLst/>
          </a:prstGeom>
          <a:noFill/>
          <a:ln w="8890">
            <a:solidFill>
              <a:srgbClr val="BFD8FF">
                <a:alpha val="6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106424"/>
            <a:ext cx="54864" cy="54864"/>
          </a:xfrm>
          <a:prstGeom prst="ellipse">
            <a:avLst/>
          </a:prstGeom>
          <a:solidFill>
            <a:srgbClr val="FFFFFF">
              <a:alpha val="0"/>
            </a:srgbClr>
          </a:solidFill>
          <a:ln w="8890">
            <a:solidFill>
              <a:srgbClr val="BFD8FF">
                <a:alpha val="6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384280" y="2743200"/>
            <a:ext cx="438912" cy="0"/>
          </a:xfrm>
          <a:prstGeom prst="line">
            <a:avLst/>
          </a:prstGeom>
          <a:noFill/>
          <a:ln w="8890">
            <a:solidFill>
              <a:srgbClr val="BFD8FF">
                <a:alpha val="6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301984" y="2706624"/>
            <a:ext cx="54864" cy="54864"/>
          </a:xfrm>
          <a:prstGeom prst="ellipse">
            <a:avLst/>
          </a:prstGeom>
          <a:solidFill>
            <a:srgbClr val="FFFFFF">
              <a:alpha val="0"/>
            </a:srgbClr>
          </a:solidFill>
          <a:ln w="8890">
            <a:solidFill>
              <a:srgbClr val="BFD8FF">
                <a:alpha val="6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4592" y="1581912"/>
            <a:ext cx="502920" cy="0"/>
          </a:xfrm>
          <a:prstGeom prst="line">
            <a:avLst/>
          </a:prstGeom>
          <a:noFill/>
          <a:ln w="8890">
            <a:solidFill>
              <a:srgbClr val="BFD8FF">
                <a:alpha val="6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1545336"/>
            <a:ext cx="54864" cy="54864"/>
          </a:xfrm>
          <a:prstGeom prst="ellipse">
            <a:avLst/>
          </a:prstGeom>
          <a:solidFill>
            <a:srgbClr val="FFFFFF">
              <a:alpha val="0"/>
            </a:srgbClr>
          </a:solidFill>
          <a:ln w="8890">
            <a:solidFill>
              <a:srgbClr val="BFD8FF">
                <a:alpha val="6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384280" y="3182112"/>
            <a:ext cx="438912" cy="0"/>
          </a:xfrm>
          <a:prstGeom prst="line">
            <a:avLst/>
          </a:prstGeom>
          <a:noFill/>
          <a:ln w="8890">
            <a:solidFill>
              <a:srgbClr val="BFD8FF">
                <a:alpha val="6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301984" y="3145536"/>
            <a:ext cx="54864" cy="54864"/>
          </a:xfrm>
          <a:prstGeom prst="ellipse">
            <a:avLst/>
          </a:prstGeom>
          <a:solidFill>
            <a:srgbClr val="FFFFFF">
              <a:alpha val="0"/>
            </a:srgbClr>
          </a:solidFill>
          <a:ln w="8890">
            <a:solidFill>
              <a:srgbClr val="BFD8FF">
                <a:alpha val="6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64592" y="2020824"/>
            <a:ext cx="502920" cy="0"/>
          </a:xfrm>
          <a:prstGeom prst="line">
            <a:avLst/>
          </a:prstGeom>
          <a:noFill/>
          <a:ln w="8890">
            <a:solidFill>
              <a:srgbClr val="BFD8FF">
                <a:alpha val="62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5800" y="1984248"/>
            <a:ext cx="54864" cy="54864"/>
          </a:xfrm>
          <a:prstGeom prst="ellipse">
            <a:avLst/>
          </a:prstGeom>
          <a:solidFill>
            <a:srgbClr val="FFFFFF">
              <a:alpha val="0"/>
            </a:srgbClr>
          </a:solidFill>
          <a:ln w="8890">
            <a:solidFill>
              <a:srgbClr val="BFD8FF">
                <a:alpha val="6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384280" y="3621024"/>
            <a:ext cx="438912" cy="0"/>
          </a:xfrm>
          <a:prstGeom prst="line">
            <a:avLst/>
          </a:prstGeom>
          <a:noFill/>
          <a:ln w="8890">
            <a:solidFill>
              <a:srgbClr val="BFD8FF">
                <a:alpha val="6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301984" y="3584448"/>
            <a:ext cx="54864" cy="54864"/>
          </a:xfrm>
          <a:prstGeom prst="ellipse">
            <a:avLst/>
          </a:prstGeom>
          <a:solidFill>
            <a:srgbClr val="FFFFFF">
              <a:alpha val="0"/>
            </a:srgbClr>
          </a:solidFill>
          <a:ln w="8890">
            <a:solidFill>
              <a:srgbClr val="BFD8FF">
                <a:alpha val="6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331720" y="694944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744200" y="6153912"/>
            <a:ext cx="27432" cy="27432"/>
          </a:xfrm>
          <a:prstGeom prst="ellipse">
            <a:avLst/>
          </a:prstGeom>
          <a:solidFill>
            <a:srgbClr val="D7CBFF">
              <a:alpha val="65000"/>
            </a:srgbClr>
          </a:solidFill>
          <a:ln w="12700">
            <a:solidFill>
              <a:srgbClr val="D7CBFF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450592" y="694944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863072" y="6153912"/>
            <a:ext cx="27432" cy="27432"/>
          </a:xfrm>
          <a:prstGeom prst="ellipse">
            <a:avLst/>
          </a:prstGeom>
          <a:solidFill>
            <a:srgbClr val="D7CBFF">
              <a:alpha val="65000"/>
            </a:srgbClr>
          </a:solidFill>
          <a:ln w="12700">
            <a:solidFill>
              <a:srgbClr val="D7CBFF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569464" y="694944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981944" y="6153912"/>
            <a:ext cx="27432" cy="27432"/>
          </a:xfrm>
          <a:prstGeom prst="ellipse">
            <a:avLst/>
          </a:prstGeom>
          <a:solidFill>
            <a:srgbClr val="D7CBFF">
              <a:alpha val="65000"/>
            </a:srgbClr>
          </a:solidFill>
          <a:ln w="12700">
            <a:solidFill>
              <a:srgbClr val="D7CBFF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688336" y="694944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100816" y="6153912"/>
            <a:ext cx="27432" cy="27432"/>
          </a:xfrm>
          <a:prstGeom prst="ellipse">
            <a:avLst/>
          </a:prstGeom>
          <a:solidFill>
            <a:srgbClr val="D7CBFF">
              <a:alpha val="65000"/>
            </a:srgbClr>
          </a:solidFill>
          <a:ln w="12700">
            <a:solidFill>
              <a:srgbClr val="D7CBFF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807208" y="694944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219688" y="6153912"/>
            <a:ext cx="27432" cy="27432"/>
          </a:xfrm>
          <a:prstGeom prst="ellipse">
            <a:avLst/>
          </a:prstGeom>
          <a:solidFill>
            <a:srgbClr val="D7CBFF">
              <a:alpha val="65000"/>
            </a:srgbClr>
          </a:solidFill>
          <a:ln w="12700">
            <a:solidFill>
              <a:srgbClr val="D7CBFF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926080" y="694944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338560" y="6153912"/>
            <a:ext cx="27432" cy="27432"/>
          </a:xfrm>
          <a:prstGeom prst="ellipse">
            <a:avLst/>
          </a:prstGeom>
          <a:solidFill>
            <a:srgbClr val="D7CBFF">
              <a:alpha val="65000"/>
            </a:srgbClr>
          </a:solidFill>
          <a:ln w="12700">
            <a:solidFill>
              <a:srgbClr val="D7CBFF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31720" y="813816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744200" y="6272784"/>
            <a:ext cx="27432" cy="27432"/>
          </a:xfrm>
          <a:prstGeom prst="ellipse">
            <a:avLst/>
          </a:prstGeom>
          <a:solidFill>
            <a:srgbClr val="D7CBFF">
              <a:alpha val="65000"/>
            </a:srgbClr>
          </a:solidFill>
          <a:ln w="12700">
            <a:solidFill>
              <a:srgbClr val="D7CBFF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450592" y="813816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0863072" y="6272784"/>
            <a:ext cx="27432" cy="27432"/>
          </a:xfrm>
          <a:prstGeom prst="ellipse">
            <a:avLst/>
          </a:prstGeom>
          <a:solidFill>
            <a:srgbClr val="D7CBFF">
              <a:alpha val="65000"/>
            </a:srgbClr>
          </a:solidFill>
          <a:ln w="12700">
            <a:solidFill>
              <a:srgbClr val="D7CBFF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569464" y="813816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0981944" y="6272784"/>
            <a:ext cx="27432" cy="27432"/>
          </a:xfrm>
          <a:prstGeom prst="ellipse">
            <a:avLst/>
          </a:prstGeom>
          <a:solidFill>
            <a:srgbClr val="D7CBFF">
              <a:alpha val="65000"/>
            </a:srgbClr>
          </a:solidFill>
          <a:ln w="12700">
            <a:solidFill>
              <a:srgbClr val="D7CBFF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688336" y="813816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1100816" y="6272784"/>
            <a:ext cx="27432" cy="27432"/>
          </a:xfrm>
          <a:prstGeom prst="ellipse">
            <a:avLst/>
          </a:prstGeom>
          <a:solidFill>
            <a:srgbClr val="D7CBFF">
              <a:alpha val="65000"/>
            </a:srgbClr>
          </a:solidFill>
          <a:ln w="12700">
            <a:solidFill>
              <a:srgbClr val="D7CBFF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807208" y="813816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1219688" y="6272784"/>
            <a:ext cx="27432" cy="27432"/>
          </a:xfrm>
          <a:prstGeom prst="ellipse">
            <a:avLst/>
          </a:prstGeom>
          <a:solidFill>
            <a:srgbClr val="D7CBFF">
              <a:alpha val="65000"/>
            </a:srgbClr>
          </a:solidFill>
          <a:ln w="12700">
            <a:solidFill>
              <a:srgbClr val="D7CBFF">
                <a:alpha val="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926080" y="813816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1338560" y="6272784"/>
            <a:ext cx="27432" cy="27432"/>
          </a:xfrm>
          <a:prstGeom prst="ellipse">
            <a:avLst/>
          </a:prstGeom>
          <a:solidFill>
            <a:srgbClr val="D7CBFF">
              <a:alpha val="65000"/>
            </a:srgbClr>
          </a:solidFill>
          <a:ln w="12700">
            <a:solidFill>
              <a:srgbClr val="D7CBFF">
                <a:alpha val="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331720" y="932688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0744200" y="6391656"/>
            <a:ext cx="27432" cy="27432"/>
          </a:xfrm>
          <a:prstGeom prst="ellipse">
            <a:avLst/>
          </a:prstGeom>
          <a:solidFill>
            <a:srgbClr val="D7CBFF">
              <a:alpha val="65000"/>
            </a:srgbClr>
          </a:solidFill>
          <a:ln w="12700">
            <a:solidFill>
              <a:srgbClr val="D7CBFF">
                <a:alpha val="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450592" y="932688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0863072" y="6391656"/>
            <a:ext cx="27432" cy="27432"/>
          </a:xfrm>
          <a:prstGeom prst="ellipse">
            <a:avLst/>
          </a:prstGeom>
          <a:solidFill>
            <a:srgbClr val="D7CBFF">
              <a:alpha val="65000"/>
            </a:srgbClr>
          </a:solidFill>
          <a:ln w="12700">
            <a:solidFill>
              <a:srgbClr val="D7CBFF">
                <a:alpha val="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569464" y="932688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0981944" y="6391656"/>
            <a:ext cx="27432" cy="27432"/>
          </a:xfrm>
          <a:prstGeom prst="ellipse">
            <a:avLst/>
          </a:prstGeom>
          <a:solidFill>
            <a:srgbClr val="D7CBFF">
              <a:alpha val="65000"/>
            </a:srgbClr>
          </a:solidFill>
          <a:ln w="12700">
            <a:solidFill>
              <a:srgbClr val="D7CBFF">
                <a:alpha val="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688336" y="932688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1100816" y="6391656"/>
            <a:ext cx="27432" cy="27432"/>
          </a:xfrm>
          <a:prstGeom prst="ellipse">
            <a:avLst/>
          </a:prstGeom>
          <a:solidFill>
            <a:srgbClr val="D7CBFF">
              <a:alpha val="65000"/>
            </a:srgbClr>
          </a:solidFill>
          <a:ln w="12700">
            <a:solidFill>
              <a:srgbClr val="D7CBFF">
                <a:alpha val="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807208" y="932688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1219688" y="6391656"/>
            <a:ext cx="27432" cy="27432"/>
          </a:xfrm>
          <a:prstGeom prst="ellipse">
            <a:avLst/>
          </a:prstGeom>
          <a:solidFill>
            <a:srgbClr val="D7CBFF">
              <a:alpha val="65000"/>
            </a:srgbClr>
          </a:solidFill>
          <a:ln w="12700">
            <a:solidFill>
              <a:srgbClr val="D7CBFF">
                <a:alpha val="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2926080" y="932688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1338560" y="6391656"/>
            <a:ext cx="27432" cy="27432"/>
          </a:xfrm>
          <a:prstGeom prst="ellipse">
            <a:avLst/>
          </a:prstGeom>
          <a:solidFill>
            <a:srgbClr val="D7CBFF">
              <a:alpha val="65000"/>
            </a:srgbClr>
          </a:solidFill>
          <a:ln w="12700">
            <a:solidFill>
              <a:srgbClr val="D7CBFF">
                <a:alpha val="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0058400" y="438912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dirty="0">
                <a:solidFill>
                  <a:srgbClr val="6EA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✦</a:t>
            </a:r>
            <a:endParaRPr lang="en-US" sz="2300" dirty="0"/>
          </a:p>
        </p:txBody>
      </p:sp>
      <p:sp>
        <p:nvSpPr>
          <p:cNvPr id="62" name="Shape 60"/>
          <p:cNvSpPr/>
          <p:nvPr/>
        </p:nvSpPr>
        <p:spPr>
          <a:xfrm>
            <a:off x="2651760" y="1600200"/>
            <a:ext cx="1828800" cy="0"/>
          </a:xfrm>
          <a:prstGeom prst="line">
            <a:avLst/>
          </a:prstGeom>
          <a:noFill/>
          <a:ln w="17780">
            <a:solidFill>
              <a:srgbClr val="6E3FE5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2587752" y="1563624"/>
            <a:ext cx="73152" cy="73152"/>
          </a:xfrm>
          <a:prstGeom prst="ellipse">
            <a:avLst/>
          </a:prstGeom>
          <a:solidFill>
            <a:srgbClr val="6E3FE5"/>
          </a:solidFill>
          <a:ln w="12700">
            <a:solidFill>
              <a:srgbClr val="6E3FE5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7726680" y="1600200"/>
            <a:ext cx="1920240" cy="0"/>
          </a:xfrm>
          <a:prstGeom prst="line">
            <a:avLst/>
          </a:prstGeom>
          <a:noFill/>
          <a:ln w="17780">
            <a:solidFill>
              <a:srgbClr val="6E3FE5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9646920" y="1563624"/>
            <a:ext cx="73152" cy="73152"/>
          </a:xfrm>
          <a:prstGeom prst="ellipse">
            <a:avLst/>
          </a:prstGeom>
          <a:solidFill>
            <a:srgbClr val="6E3FE5"/>
          </a:solidFill>
          <a:ln w="12700">
            <a:solidFill>
              <a:srgbClr val="6E3FE5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526280" y="1389888"/>
            <a:ext cx="3246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6E3FE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SEMINAR HASIL</a:t>
            </a:r>
            <a:endParaRPr lang="en-US" sz="2500" dirty="0"/>
          </a:p>
        </p:txBody>
      </p:sp>
      <p:sp>
        <p:nvSpPr>
          <p:cNvPr id="67" name="Shape 65"/>
          <p:cNvSpPr/>
          <p:nvPr/>
        </p:nvSpPr>
        <p:spPr>
          <a:xfrm>
            <a:off x="1143000" y="1993392"/>
            <a:ext cx="9921240" cy="233172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2E8F7">
                <a:alpha val="90000"/>
              </a:srgbClr>
            </a:solidFill>
            <a:prstDash val="solid"/>
          </a:ln>
          <a:effectLst>
            <a:outerShdw blurRad="25400" dist="50800" dir="2700000" algn="bl" rotWithShape="0">
              <a:srgbClr val="94A3B8">
                <a:alpha val="14000"/>
              </a:srgbClr>
            </a:outerShdw>
          </a:effectLst>
        </p:spPr>
      </p:sp>
      <p:sp>
        <p:nvSpPr>
          <p:cNvPr id="68" name="Text 66"/>
          <p:cNvSpPr/>
          <p:nvPr/>
        </p:nvSpPr>
        <p:spPr>
          <a:xfrm>
            <a:off x="1600200" y="2377440"/>
            <a:ext cx="90068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3100" b="1" dirty="0">
                <a:solidFill>
                  <a:srgbClr val="0B1F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Pengukuran Tinggi Badan Berbasis</a:t>
            </a:r>
            <a:endParaRPr lang="en-US" sz="3100" dirty="0"/>
          </a:p>
          <a:p>
            <a:pPr marL="0" indent="0" algn="ctr">
              <a:buNone/>
            </a:pPr>
            <a:r>
              <a:rPr lang="en-US" sz="3100" b="1" dirty="0">
                <a:solidFill>
                  <a:srgbClr val="0B1F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Computer Vision dengan Menggunakan</a:t>
            </a:r>
            <a:endParaRPr lang="en-US" sz="3100" dirty="0"/>
          </a:p>
          <a:p>
            <a:pPr marL="0" indent="0" algn="ctr">
              <a:buNone/>
            </a:pPr>
            <a:r>
              <a:rPr lang="en-US" sz="3100" b="1" dirty="0">
                <a:solidFill>
                  <a:srgbClr val="0B1F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Perspective Correction dan Pose Estimation</a:t>
            </a:r>
            <a:endParaRPr lang="en-US" sz="3100" dirty="0"/>
          </a:p>
          <a:p>
            <a:pPr marL="0" indent="0" algn="ctr">
              <a:buNone/>
            </a:pPr>
            <a:r>
              <a:rPr lang="en-US" sz="3100" b="1" dirty="0">
                <a:solidFill>
                  <a:srgbClr val="0B1F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untuk Meningkatkan Robustness Sistem</a:t>
            </a:r>
            <a:endParaRPr lang="en-US" sz="3100" dirty="0"/>
          </a:p>
        </p:txBody>
      </p:sp>
      <p:sp>
        <p:nvSpPr>
          <p:cNvPr id="69" name="Shape 67"/>
          <p:cNvSpPr/>
          <p:nvPr/>
        </p:nvSpPr>
        <p:spPr>
          <a:xfrm>
            <a:off x="1417320" y="4572000"/>
            <a:ext cx="2267712" cy="640080"/>
          </a:xfrm>
          <a:prstGeom prst="roundRect">
            <a:avLst>
              <a:gd name="adj" fmla="val 25714"/>
            </a:avLst>
          </a:prstGeom>
          <a:solidFill>
            <a:srgbClr val="FFFFFF"/>
          </a:solidFill>
          <a:ln w="12700">
            <a:solidFill>
              <a:srgbClr val="EEF2FF">
                <a:alpha val="90000"/>
              </a:srgbClr>
            </a:solidFill>
            <a:prstDash val="solid"/>
          </a:ln>
          <a:effectLst>
            <a:outerShdw blurRad="25400" dist="50800" dir="2700000" algn="bl" rotWithShape="0">
              <a:srgbClr val="94A3B8">
                <a:alpha val="14000"/>
              </a:srgbClr>
            </a:outerShdw>
          </a:effectLst>
        </p:spPr>
      </p:sp>
      <p:sp>
        <p:nvSpPr>
          <p:cNvPr id="70" name="Shape 68"/>
          <p:cNvSpPr/>
          <p:nvPr/>
        </p:nvSpPr>
        <p:spPr>
          <a:xfrm>
            <a:off x="1618488" y="4700016"/>
            <a:ext cx="384048" cy="38404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  <a:effectLst>
            <a:outerShdw blurRad="12700" dist="50800" dir="2700000" algn="bl" rotWithShape="0">
              <a:srgbClr val="64748B">
                <a:alpha val="12000"/>
              </a:srgbClr>
            </a:outerShdw>
          </a:effectLst>
        </p:spPr>
      </p:sp>
      <p:sp>
        <p:nvSpPr>
          <p:cNvPr id="71" name="Text 69"/>
          <p:cNvSpPr/>
          <p:nvPr/>
        </p:nvSpPr>
        <p:spPr>
          <a:xfrm>
            <a:off x="1618488" y="4709160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92" dirty="0">
                <a:solidFill>
                  <a:srgbClr val="FFFFFF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⌗</a:t>
            </a:r>
            <a:endParaRPr lang="en-US" sz="1092" dirty="0"/>
          </a:p>
        </p:txBody>
      </p:sp>
      <p:sp>
        <p:nvSpPr>
          <p:cNvPr id="72" name="Text 70"/>
          <p:cNvSpPr/>
          <p:nvPr/>
        </p:nvSpPr>
        <p:spPr>
          <a:xfrm>
            <a:off x="2103120" y="4718304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6E3FE5"/>
                </a:solidFill>
              </a:rPr>
              <a:t>Perspective</a:t>
            </a: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6E3FE5"/>
                </a:solidFill>
              </a:rPr>
              <a:t>Correction</a:t>
            </a:r>
            <a:endParaRPr lang="en-US" sz="1150" dirty="0"/>
          </a:p>
        </p:txBody>
      </p:sp>
      <p:sp>
        <p:nvSpPr>
          <p:cNvPr id="73" name="Shape 71"/>
          <p:cNvSpPr/>
          <p:nvPr/>
        </p:nvSpPr>
        <p:spPr>
          <a:xfrm>
            <a:off x="3931920" y="4572000"/>
            <a:ext cx="2267712" cy="640080"/>
          </a:xfrm>
          <a:prstGeom prst="roundRect">
            <a:avLst>
              <a:gd name="adj" fmla="val 25714"/>
            </a:avLst>
          </a:prstGeom>
          <a:solidFill>
            <a:srgbClr val="FFFFFF"/>
          </a:solidFill>
          <a:ln w="12700">
            <a:solidFill>
              <a:srgbClr val="EEF2FF">
                <a:alpha val="90000"/>
              </a:srgbClr>
            </a:solidFill>
            <a:prstDash val="solid"/>
          </a:ln>
          <a:effectLst>
            <a:outerShdw blurRad="25400" dist="50800" dir="2700000" algn="bl" rotWithShape="0">
              <a:srgbClr val="94A3B8">
                <a:alpha val="14000"/>
              </a:srgbClr>
            </a:outerShdw>
          </a:effectLst>
        </p:spPr>
      </p:sp>
      <p:sp>
        <p:nvSpPr>
          <p:cNvPr id="74" name="Shape 72"/>
          <p:cNvSpPr/>
          <p:nvPr/>
        </p:nvSpPr>
        <p:spPr>
          <a:xfrm>
            <a:off x="4133088" y="4700016"/>
            <a:ext cx="384048" cy="38404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  <a:effectLst>
            <a:outerShdw blurRad="12700" dist="50800" dir="2700000" algn="bl" rotWithShape="0">
              <a:srgbClr val="64748B">
                <a:alpha val="12000"/>
              </a:srgbClr>
            </a:outerShdw>
          </a:effectLst>
        </p:spPr>
      </p:sp>
      <p:sp>
        <p:nvSpPr>
          <p:cNvPr id="75" name="Text 73"/>
          <p:cNvSpPr/>
          <p:nvPr/>
        </p:nvSpPr>
        <p:spPr>
          <a:xfrm>
            <a:off x="4133088" y="4709160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92" dirty="0">
                <a:solidFill>
                  <a:srgbClr val="FFFFFF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◉</a:t>
            </a:r>
            <a:endParaRPr lang="en-US" sz="1092" dirty="0"/>
          </a:p>
        </p:txBody>
      </p:sp>
      <p:sp>
        <p:nvSpPr>
          <p:cNvPr id="76" name="Text 74"/>
          <p:cNvSpPr/>
          <p:nvPr/>
        </p:nvSpPr>
        <p:spPr>
          <a:xfrm>
            <a:off x="4617720" y="4718304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6E3FE5"/>
                </a:solidFill>
              </a:rPr>
              <a:t>Pose</a:t>
            </a: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6E3FE5"/>
                </a:solidFill>
              </a:rPr>
              <a:t>Estimation</a:t>
            </a:r>
            <a:endParaRPr lang="en-US" sz="1150" dirty="0"/>
          </a:p>
        </p:txBody>
      </p:sp>
      <p:sp>
        <p:nvSpPr>
          <p:cNvPr id="77" name="Shape 75"/>
          <p:cNvSpPr/>
          <p:nvPr/>
        </p:nvSpPr>
        <p:spPr>
          <a:xfrm>
            <a:off x="6446520" y="4572000"/>
            <a:ext cx="2267712" cy="640080"/>
          </a:xfrm>
          <a:prstGeom prst="roundRect">
            <a:avLst>
              <a:gd name="adj" fmla="val 25714"/>
            </a:avLst>
          </a:prstGeom>
          <a:solidFill>
            <a:srgbClr val="FFFFFF"/>
          </a:solidFill>
          <a:ln w="12700">
            <a:solidFill>
              <a:srgbClr val="EEF2FF">
                <a:alpha val="90000"/>
              </a:srgbClr>
            </a:solidFill>
            <a:prstDash val="solid"/>
          </a:ln>
          <a:effectLst>
            <a:outerShdw blurRad="25400" dist="50800" dir="2700000" algn="bl" rotWithShape="0">
              <a:srgbClr val="94A3B8">
                <a:alpha val="14000"/>
              </a:srgbClr>
            </a:outerShdw>
          </a:effectLst>
        </p:spPr>
      </p:sp>
      <p:sp>
        <p:nvSpPr>
          <p:cNvPr id="78" name="Shape 76"/>
          <p:cNvSpPr/>
          <p:nvPr/>
        </p:nvSpPr>
        <p:spPr>
          <a:xfrm>
            <a:off x="6647688" y="4700016"/>
            <a:ext cx="384048" cy="38404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  <a:effectLst>
            <a:outerShdw blurRad="12700" dist="50800" dir="2700000" algn="bl" rotWithShape="0">
              <a:srgbClr val="64748B">
                <a:alpha val="12000"/>
              </a:srgbClr>
            </a:outerShdw>
          </a:effectLst>
        </p:spPr>
      </p:sp>
      <p:sp>
        <p:nvSpPr>
          <p:cNvPr id="79" name="Text 77"/>
          <p:cNvSpPr/>
          <p:nvPr/>
        </p:nvSpPr>
        <p:spPr>
          <a:xfrm>
            <a:off x="6647688" y="4709160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92" dirty="0">
                <a:solidFill>
                  <a:srgbClr val="FFFFFF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⌖</a:t>
            </a:r>
            <a:endParaRPr lang="en-US" sz="1092" dirty="0"/>
          </a:p>
        </p:txBody>
      </p:sp>
      <p:sp>
        <p:nvSpPr>
          <p:cNvPr id="80" name="Text 78"/>
          <p:cNvSpPr/>
          <p:nvPr/>
        </p:nvSpPr>
        <p:spPr>
          <a:xfrm>
            <a:off x="7132320" y="4718304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6E3FE5"/>
                </a:solidFill>
              </a:rPr>
              <a:t>Contour</a:t>
            </a: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6E3FE5"/>
                </a:solidFill>
              </a:rPr>
              <a:t>Measurement</a:t>
            </a:r>
            <a:endParaRPr lang="en-US" sz="1150" dirty="0"/>
          </a:p>
        </p:txBody>
      </p:sp>
      <p:sp>
        <p:nvSpPr>
          <p:cNvPr id="81" name="Shape 79"/>
          <p:cNvSpPr/>
          <p:nvPr/>
        </p:nvSpPr>
        <p:spPr>
          <a:xfrm>
            <a:off x="8961120" y="4572000"/>
            <a:ext cx="2267712" cy="640080"/>
          </a:xfrm>
          <a:prstGeom prst="roundRect">
            <a:avLst>
              <a:gd name="adj" fmla="val 25714"/>
            </a:avLst>
          </a:prstGeom>
          <a:solidFill>
            <a:srgbClr val="FFFFFF"/>
          </a:solidFill>
          <a:ln w="12700">
            <a:solidFill>
              <a:srgbClr val="EEF2FF">
                <a:alpha val="90000"/>
              </a:srgbClr>
            </a:solidFill>
            <a:prstDash val="solid"/>
          </a:ln>
          <a:effectLst>
            <a:outerShdw blurRad="25400" dist="50800" dir="2700000" algn="bl" rotWithShape="0">
              <a:srgbClr val="94A3B8">
                <a:alpha val="14000"/>
              </a:srgbClr>
            </a:outerShdw>
          </a:effectLst>
        </p:spPr>
      </p:sp>
      <p:sp>
        <p:nvSpPr>
          <p:cNvPr id="82" name="Shape 80"/>
          <p:cNvSpPr/>
          <p:nvPr/>
        </p:nvSpPr>
        <p:spPr>
          <a:xfrm>
            <a:off x="9162288" y="4700016"/>
            <a:ext cx="384048" cy="38404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  <a:effectLst>
            <a:outerShdw blurRad="12700" dist="50800" dir="2700000" algn="bl" rotWithShape="0">
              <a:srgbClr val="64748B">
                <a:alpha val="12000"/>
              </a:srgbClr>
            </a:outerShdw>
          </a:effectLst>
        </p:spPr>
      </p:sp>
      <p:sp>
        <p:nvSpPr>
          <p:cNvPr id="83" name="Text 81"/>
          <p:cNvSpPr/>
          <p:nvPr/>
        </p:nvSpPr>
        <p:spPr>
          <a:xfrm>
            <a:off x="9162288" y="4709160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92" dirty="0">
                <a:solidFill>
                  <a:srgbClr val="FFFFFF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▤</a:t>
            </a:r>
            <a:endParaRPr lang="en-US" sz="1092" dirty="0"/>
          </a:p>
        </p:txBody>
      </p:sp>
      <p:sp>
        <p:nvSpPr>
          <p:cNvPr id="84" name="Text 82"/>
          <p:cNvSpPr/>
          <p:nvPr/>
        </p:nvSpPr>
        <p:spPr>
          <a:xfrm>
            <a:off x="9646920" y="4718304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6E3FE5"/>
                </a:solidFill>
              </a:rPr>
              <a:t>File</a:t>
            </a: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6E3FE5"/>
                </a:solidFill>
              </a:rPr>
              <a:t>Result</a:t>
            </a:r>
            <a:endParaRPr lang="en-US" sz="1150" dirty="0"/>
          </a:p>
        </p:txBody>
      </p:sp>
      <p:sp>
        <p:nvSpPr>
          <p:cNvPr id="85" name="Shape 83"/>
          <p:cNvSpPr/>
          <p:nvPr/>
        </p:nvSpPr>
        <p:spPr>
          <a:xfrm>
            <a:off x="1325880" y="5532120"/>
            <a:ext cx="9509760" cy="713232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 w="12700">
            <a:solidFill>
              <a:srgbClr val="E2E8F7">
                <a:alpha val="90000"/>
              </a:srgbClr>
            </a:solidFill>
            <a:prstDash val="solid"/>
          </a:ln>
          <a:effectLst>
            <a:outerShdw blurRad="25400" dist="50800" dir="2700000" algn="bl" rotWithShape="0">
              <a:srgbClr val="94A3B8">
                <a:alpha val="14000"/>
              </a:srgbClr>
            </a:outerShdw>
          </a:effectLst>
        </p:spPr>
      </p:sp>
      <p:sp>
        <p:nvSpPr>
          <p:cNvPr id="86" name="Shape 84"/>
          <p:cNvSpPr/>
          <p:nvPr/>
        </p:nvSpPr>
        <p:spPr>
          <a:xfrm>
            <a:off x="1554480" y="5687568"/>
            <a:ext cx="384048" cy="384048"/>
          </a:xfrm>
          <a:prstGeom prst="ellipse">
            <a:avLst/>
          </a:prstGeom>
          <a:solidFill>
            <a:srgbClr val="6E3FE5"/>
          </a:solidFill>
          <a:ln w="12700">
            <a:solidFill>
              <a:srgbClr val="6E3FE5">
                <a:alpha val="0"/>
              </a:srgbClr>
            </a:solidFill>
            <a:prstDash val="solid"/>
          </a:ln>
          <a:effectLst>
            <a:outerShdw blurRad="12700" dist="50800" dir="2700000" algn="bl" rotWithShape="0">
              <a:srgbClr val="64748B">
                <a:alpha val="12000"/>
              </a:srgbClr>
            </a:outerShdw>
          </a:effectLst>
        </p:spPr>
      </p:sp>
      <p:sp>
        <p:nvSpPr>
          <p:cNvPr id="87" name="Text 85"/>
          <p:cNvSpPr/>
          <p:nvPr/>
        </p:nvSpPr>
        <p:spPr>
          <a:xfrm>
            <a:off x="1554480" y="5696712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92" dirty="0">
                <a:solidFill>
                  <a:srgbClr val="FFFFFF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👤</a:t>
            </a:r>
            <a:endParaRPr lang="en-US" sz="1092" dirty="0"/>
          </a:p>
        </p:txBody>
      </p:sp>
      <p:sp>
        <p:nvSpPr>
          <p:cNvPr id="88" name="Text 86"/>
          <p:cNvSpPr/>
          <p:nvPr/>
        </p:nvSpPr>
        <p:spPr>
          <a:xfrm>
            <a:off x="2075688" y="565099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0B1F53"/>
                </a:solidFill>
              </a:rPr>
              <a:t>Khayla Giri Fitriani</a:t>
            </a:r>
            <a:endParaRPr lang="en-US" sz="950" dirty="0"/>
          </a:p>
          <a:p>
            <a:pPr marL="0" indent="0">
              <a:buNone/>
            </a:pPr>
            <a:r>
              <a:rPr lang="en-US" sz="950" b="1" dirty="0">
                <a:solidFill>
                  <a:srgbClr val="0B1F53"/>
                </a:solidFill>
              </a:rPr>
              <a:t>Presenter</a:t>
            </a:r>
            <a:endParaRPr lang="en-US" sz="950" dirty="0"/>
          </a:p>
        </p:txBody>
      </p:sp>
      <p:sp>
        <p:nvSpPr>
          <p:cNvPr id="89" name="Shape 87"/>
          <p:cNvSpPr/>
          <p:nvPr/>
        </p:nvSpPr>
        <p:spPr>
          <a:xfrm>
            <a:off x="3950208" y="5687568"/>
            <a:ext cx="0" cy="384048"/>
          </a:xfrm>
          <a:prstGeom prst="line">
            <a:avLst/>
          </a:prstGeom>
          <a:noFill/>
          <a:ln w="12700">
            <a:solidFill>
              <a:srgbClr val="D4D9EF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4206240" y="5687568"/>
            <a:ext cx="384048" cy="384048"/>
          </a:xfrm>
          <a:prstGeom prst="ellipse">
            <a:avLst/>
          </a:prstGeom>
          <a:solidFill>
            <a:srgbClr val="4AA3FF"/>
          </a:solidFill>
          <a:ln w="12700">
            <a:solidFill>
              <a:srgbClr val="4AA3FF">
                <a:alpha val="0"/>
              </a:srgbClr>
            </a:solidFill>
            <a:prstDash val="solid"/>
          </a:ln>
          <a:effectLst>
            <a:outerShdw blurRad="12700" dist="50800" dir="2700000" algn="bl" rotWithShape="0">
              <a:srgbClr val="64748B">
                <a:alpha val="12000"/>
              </a:srgbClr>
            </a:outerShdw>
          </a:effectLst>
        </p:spPr>
      </p:sp>
      <p:sp>
        <p:nvSpPr>
          <p:cNvPr id="91" name="Text 89"/>
          <p:cNvSpPr/>
          <p:nvPr/>
        </p:nvSpPr>
        <p:spPr>
          <a:xfrm>
            <a:off x="4206240" y="5696712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92" dirty="0">
                <a:solidFill>
                  <a:srgbClr val="FFFFFF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🏛</a:t>
            </a:r>
            <a:endParaRPr lang="en-US" sz="1092" dirty="0"/>
          </a:p>
        </p:txBody>
      </p:sp>
      <p:sp>
        <p:nvSpPr>
          <p:cNvPr id="92" name="Text 90"/>
          <p:cNvSpPr/>
          <p:nvPr/>
        </p:nvSpPr>
        <p:spPr>
          <a:xfrm>
            <a:off x="4736592" y="5650992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0B1F53"/>
                </a:solidFill>
              </a:rPr>
              <a:t>Program Studi </a:t>
            </a:r>
            <a:r>
              <a:rPr lang="en-US" sz="920" dirty="0" err="1">
                <a:solidFill>
                  <a:srgbClr val="0B1F53"/>
                </a:solidFill>
              </a:rPr>
              <a:t>Informatika</a:t>
            </a:r>
            <a:r>
              <a:rPr lang="en-US" sz="920" dirty="0">
                <a:solidFill>
                  <a:srgbClr val="0B1F53"/>
                </a:solidFill>
              </a:rPr>
              <a:t>,</a:t>
            </a:r>
          </a:p>
          <a:p>
            <a:pPr marL="0" indent="0">
              <a:buNone/>
            </a:pPr>
            <a:r>
              <a:rPr lang="en-US" sz="920" dirty="0" err="1"/>
              <a:t>Fakultas</a:t>
            </a:r>
            <a:r>
              <a:rPr lang="en-US" sz="920" dirty="0"/>
              <a:t> </a:t>
            </a:r>
            <a:r>
              <a:rPr lang="en-US" sz="920" dirty="0" err="1"/>
              <a:t>Teknologi</a:t>
            </a:r>
            <a:r>
              <a:rPr lang="en-US" sz="920" dirty="0"/>
              <a:t> Industri</a:t>
            </a:r>
          </a:p>
          <a:p>
            <a:pPr marL="0" indent="0">
              <a:buNone/>
            </a:pPr>
            <a:r>
              <a:rPr lang="en-US" sz="920" dirty="0">
                <a:solidFill>
                  <a:srgbClr val="0B1F53"/>
                </a:solidFill>
              </a:rPr>
              <a:t>Institut Teknologi Nasional Bandung</a:t>
            </a:r>
            <a:endParaRPr lang="en-US" sz="920" dirty="0"/>
          </a:p>
        </p:txBody>
      </p:sp>
      <p:sp>
        <p:nvSpPr>
          <p:cNvPr id="93" name="Shape 91"/>
          <p:cNvSpPr/>
          <p:nvPr/>
        </p:nvSpPr>
        <p:spPr>
          <a:xfrm>
            <a:off x="7626096" y="5687568"/>
            <a:ext cx="0" cy="384048"/>
          </a:xfrm>
          <a:prstGeom prst="line">
            <a:avLst/>
          </a:prstGeom>
          <a:noFill/>
          <a:ln w="12700">
            <a:solidFill>
              <a:srgbClr val="D4D9EF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7909560" y="5687568"/>
            <a:ext cx="384048" cy="38404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  <a:effectLst>
            <a:outerShdw blurRad="12700" dist="50800" dir="2700000" algn="bl" rotWithShape="0">
              <a:srgbClr val="64748B">
                <a:alpha val="12000"/>
              </a:srgbClr>
            </a:outerShdw>
          </a:effectLst>
        </p:spPr>
      </p:sp>
      <p:sp>
        <p:nvSpPr>
          <p:cNvPr id="95" name="Text 93"/>
          <p:cNvSpPr/>
          <p:nvPr/>
        </p:nvSpPr>
        <p:spPr>
          <a:xfrm>
            <a:off x="7909560" y="5696712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92" dirty="0">
                <a:solidFill>
                  <a:srgbClr val="FFFFFF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🎓</a:t>
            </a:r>
            <a:endParaRPr lang="en-US" sz="1092" dirty="0"/>
          </a:p>
        </p:txBody>
      </p:sp>
      <p:sp>
        <p:nvSpPr>
          <p:cNvPr id="96" name="Text 94"/>
          <p:cNvSpPr/>
          <p:nvPr/>
        </p:nvSpPr>
        <p:spPr>
          <a:xfrm>
            <a:off x="8430768" y="5678424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890" dirty="0">
                <a:solidFill>
                  <a:srgbClr val="0B1F53"/>
                </a:solidFill>
              </a:rPr>
              <a:t>Pembimbing:</a:t>
            </a:r>
            <a:endParaRPr lang="en-US" sz="890" dirty="0"/>
          </a:p>
          <a:p>
            <a:pPr marL="0" indent="0">
              <a:buNone/>
            </a:pPr>
            <a:r>
              <a:rPr lang="en-US" sz="890" dirty="0">
                <a:solidFill>
                  <a:srgbClr val="0B1F53"/>
                </a:solidFill>
              </a:rPr>
              <a:t>Lisa Kristiana dan Auralius Oberman Manurung</a:t>
            </a:r>
            <a:endParaRPr lang="en-US" sz="890" dirty="0"/>
          </a:p>
        </p:txBody>
      </p:sp>
      <p:sp>
        <p:nvSpPr>
          <p:cNvPr id="97" name="Shape 95"/>
          <p:cNvSpPr/>
          <p:nvPr/>
        </p:nvSpPr>
        <p:spPr>
          <a:xfrm>
            <a:off x="9784080" y="6455664"/>
            <a:ext cx="1783080" cy="246888"/>
          </a:xfrm>
          <a:prstGeom prst="roundRect">
            <a:avLst>
              <a:gd name="adj" fmla="val 29630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DCE8F8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9893808" y="6492240"/>
            <a:ext cx="1554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873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 •  Cover</a:t>
            </a:r>
            <a:endParaRPr lang="en-US" sz="800" dirty="0"/>
          </a:p>
        </p:txBody>
      </p: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7E770753-7A09-9CBA-E351-E831A0007580}"/>
              </a:ext>
            </a:extLst>
          </p:cNvPr>
          <p:cNvGrpSpPr/>
          <p:nvPr/>
        </p:nvGrpSpPr>
        <p:grpSpPr>
          <a:xfrm>
            <a:off x="3977640" y="256032"/>
            <a:ext cx="4251960" cy="713232"/>
            <a:chOff x="3977640" y="256032"/>
            <a:chExt cx="4251960" cy="713232"/>
          </a:xfrm>
        </p:grpSpPr>
        <p:sp>
          <p:nvSpPr>
            <p:cNvPr id="53" name="Shape 51"/>
            <p:cNvSpPr/>
            <p:nvPr/>
          </p:nvSpPr>
          <p:spPr>
            <a:xfrm>
              <a:off x="3977640" y="256032"/>
              <a:ext cx="4251960" cy="713232"/>
            </a:xfrm>
            <a:prstGeom prst="roundRect">
              <a:avLst>
                <a:gd name="adj" fmla="val 17949"/>
              </a:avLst>
            </a:prstGeom>
            <a:solidFill>
              <a:srgbClr val="FFFFFF"/>
            </a:solidFill>
            <a:ln w="12700">
              <a:solidFill>
                <a:srgbClr val="E0E8F6">
                  <a:alpha val="85000"/>
                </a:srgbClr>
              </a:solidFill>
              <a:prstDash val="solid"/>
            </a:ln>
            <a:effectLst>
              <a:outerShdw blurRad="25400" dist="50800" dir="2700000" algn="bl" rotWithShape="0">
                <a:srgbClr val="97A6BF">
                  <a:alpha val="12000"/>
                </a:srgbClr>
              </a:outerShdw>
            </a:effectLst>
          </p:spPr>
        </p:sp>
        <p:sp>
          <p:nvSpPr>
            <p:cNvPr id="56" name="Text 54"/>
            <p:cNvSpPr/>
            <p:nvPr/>
          </p:nvSpPr>
          <p:spPr>
            <a:xfrm>
              <a:off x="4727448" y="402336"/>
              <a:ext cx="114300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800" b="1" dirty="0">
                  <a:solidFill>
                    <a:srgbClr val="0B1F53"/>
                  </a:solidFill>
                  <a:latin typeface="Aptos Display" pitchFamily="34" charset="0"/>
                  <a:ea typeface="Aptos Display" pitchFamily="34" charset="-122"/>
                  <a:cs typeface="Aptos Display" pitchFamily="34" charset="-120"/>
                </a:rPr>
                <a:t>ITENAS</a:t>
              </a:r>
              <a:endParaRPr lang="en-US" sz="1800" dirty="0"/>
            </a:p>
          </p:txBody>
        </p:sp>
        <p:sp>
          <p:nvSpPr>
            <p:cNvPr id="57" name="Text 55"/>
            <p:cNvSpPr/>
            <p:nvPr/>
          </p:nvSpPr>
          <p:spPr>
            <a:xfrm>
              <a:off x="4736592" y="640080"/>
              <a:ext cx="123444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650" dirty="0">
                  <a:solidFill>
                    <a:srgbClr val="0B1F53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Institut Teknologi Nasional</a:t>
              </a:r>
              <a:endParaRPr lang="en-US" sz="650" dirty="0"/>
            </a:p>
            <a:p>
              <a:pPr marL="0" indent="0">
                <a:buNone/>
              </a:pPr>
              <a:r>
                <a:rPr lang="en-US" sz="650" dirty="0">
                  <a:solidFill>
                    <a:srgbClr val="0B1F53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Bandung</a:t>
              </a:r>
              <a:endParaRPr lang="en-US" sz="650" dirty="0"/>
            </a:p>
          </p:txBody>
        </p:sp>
        <p:sp>
          <p:nvSpPr>
            <p:cNvPr id="58" name="Shape 56"/>
            <p:cNvSpPr/>
            <p:nvPr/>
          </p:nvSpPr>
          <p:spPr>
            <a:xfrm>
              <a:off x="6126480" y="411480"/>
              <a:ext cx="0" cy="402336"/>
            </a:xfrm>
            <a:prstGeom prst="line">
              <a:avLst/>
            </a:prstGeom>
            <a:noFill/>
            <a:ln w="12700">
              <a:solidFill>
                <a:srgbClr val="B8C2E8"/>
              </a:solidFill>
              <a:prstDash val="solid"/>
            </a:ln>
          </p:spPr>
        </p:sp>
        <p:sp>
          <p:nvSpPr>
            <p:cNvPr id="60" name="Text 58"/>
            <p:cNvSpPr/>
            <p:nvPr/>
          </p:nvSpPr>
          <p:spPr>
            <a:xfrm>
              <a:off x="6830568" y="457200"/>
              <a:ext cx="109728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700" b="1" dirty="0">
                  <a:solidFill>
                    <a:srgbClr val="C00000"/>
                  </a:solidFill>
                  <a:latin typeface="Aptos Display" pitchFamily="34" charset="0"/>
                  <a:ea typeface="Aptos Display" pitchFamily="34" charset="-122"/>
                  <a:cs typeface="Aptos Display" pitchFamily="34" charset="-120"/>
                </a:rPr>
                <a:t>Informatika</a:t>
              </a:r>
              <a:endParaRPr lang="en-US" sz="1700" dirty="0">
                <a:solidFill>
                  <a:srgbClr val="C00000"/>
                </a:solidFill>
              </a:endParaRPr>
            </a:p>
          </p:txBody>
        </p:sp>
        <p:pic>
          <p:nvPicPr>
            <p:cNvPr id="99" name="Picture 98">
              <a:extLst>
                <a:ext uri="{FF2B5EF4-FFF2-40B4-BE49-F238E27FC236}">
                  <a16:creationId xmlns:a16="http://schemas.microsoft.com/office/drawing/2014/main" id="{3DD33EFE-FEA8-512C-2019-24DD71A1508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34755" t="29153" r="36238" b="33855"/>
            <a:stretch>
              <a:fillRect/>
            </a:stretch>
          </p:blipFill>
          <p:spPr>
            <a:xfrm>
              <a:off x="6300861" y="396716"/>
              <a:ext cx="346827" cy="345948"/>
            </a:xfrm>
            <a:prstGeom prst="rect">
              <a:avLst/>
            </a:prstGeom>
          </p:spPr>
        </p:pic>
        <p:pic>
          <p:nvPicPr>
            <p:cNvPr id="100" name="Picture 99">
              <a:extLst>
                <a:ext uri="{FF2B5EF4-FFF2-40B4-BE49-F238E27FC236}">
                  <a16:creationId xmlns:a16="http://schemas.microsoft.com/office/drawing/2014/main" id="{7F6D50F1-3B5A-BF79-853E-FD9D6989470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133088" y="339090"/>
              <a:ext cx="565404" cy="565404"/>
            </a:xfrm>
            <a:prstGeom prst="rect">
              <a:avLst/>
            </a:prstGeom>
          </p:spPr>
        </p:pic>
      </p:grp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73152"/>
            <a:ext cx="1234440" cy="749808"/>
          </a:xfrm>
          <a:prstGeom prst="ellipse">
            <a:avLst/>
          </a:prstGeom>
          <a:solidFill>
            <a:srgbClr val="EEE9FF">
              <a:alpha val="8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588752" y="5897880"/>
            <a:ext cx="1261872" cy="658368"/>
          </a:xfrm>
          <a:prstGeom prst="ellipse">
            <a:avLst/>
          </a:prstGeom>
          <a:solidFill>
            <a:srgbClr val="E2F2FF">
              <a:alpha val="8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" y="1143000"/>
            <a:ext cx="502920" cy="0"/>
          </a:xfrm>
          <a:prstGeom prst="line">
            <a:avLst/>
          </a:prstGeom>
          <a:noFill/>
          <a:ln w="8890">
            <a:solidFill>
              <a:srgbClr val="BFD8FF">
                <a:alpha val="6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106424"/>
            <a:ext cx="54864" cy="54864"/>
          </a:xfrm>
          <a:prstGeom prst="ellipse">
            <a:avLst/>
          </a:prstGeom>
          <a:solidFill>
            <a:srgbClr val="FFFFFF">
              <a:alpha val="0"/>
            </a:srgbClr>
          </a:solidFill>
          <a:ln w="8890">
            <a:solidFill>
              <a:srgbClr val="BFD8FF">
                <a:alpha val="6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384280" y="2743200"/>
            <a:ext cx="438912" cy="0"/>
          </a:xfrm>
          <a:prstGeom prst="line">
            <a:avLst/>
          </a:prstGeom>
          <a:noFill/>
          <a:ln w="8890">
            <a:solidFill>
              <a:srgbClr val="BFD8FF">
                <a:alpha val="6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301984" y="2706624"/>
            <a:ext cx="54864" cy="54864"/>
          </a:xfrm>
          <a:prstGeom prst="ellipse">
            <a:avLst/>
          </a:prstGeom>
          <a:solidFill>
            <a:srgbClr val="FFFFFF">
              <a:alpha val="0"/>
            </a:srgbClr>
          </a:solidFill>
          <a:ln w="8890">
            <a:solidFill>
              <a:srgbClr val="BFD8FF">
                <a:alpha val="6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4592" y="1581912"/>
            <a:ext cx="502920" cy="0"/>
          </a:xfrm>
          <a:prstGeom prst="line">
            <a:avLst/>
          </a:prstGeom>
          <a:noFill/>
          <a:ln w="8890">
            <a:solidFill>
              <a:srgbClr val="BFD8FF">
                <a:alpha val="6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1545336"/>
            <a:ext cx="54864" cy="54864"/>
          </a:xfrm>
          <a:prstGeom prst="ellipse">
            <a:avLst/>
          </a:prstGeom>
          <a:solidFill>
            <a:srgbClr val="FFFFFF">
              <a:alpha val="0"/>
            </a:srgbClr>
          </a:solidFill>
          <a:ln w="8890">
            <a:solidFill>
              <a:srgbClr val="BFD8FF">
                <a:alpha val="6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384280" y="3182112"/>
            <a:ext cx="438912" cy="0"/>
          </a:xfrm>
          <a:prstGeom prst="line">
            <a:avLst/>
          </a:prstGeom>
          <a:noFill/>
          <a:ln w="8890">
            <a:solidFill>
              <a:srgbClr val="BFD8FF">
                <a:alpha val="6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301984" y="3145536"/>
            <a:ext cx="54864" cy="54864"/>
          </a:xfrm>
          <a:prstGeom prst="ellipse">
            <a:avLst/>
          </a:prstGeom>
          <a:solidFill>
            <a:srgbClr val="FFFFFF">
              <a:alpha val="0"/>
            </a:srgbClr>
          </a:solidFill>
          <a:ln w="8890">
            <a:solidFill>
              <a:srgbClr val="BFD8FF">
                <a:alpha val="6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64592" y="2020824"/>
            <a:ext cx="502920" cy="0"/>
          </a:xfrm>
          <a:prstGeom prst="line">
            <a:avLst/>
          </a:prstGeom>
          <a:noFill/>
          <a:ln w="8890">
            <a:solidFill>
              <a:srgbClr val="BFD8FF">
                <a:alpha val="62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5800" y="1984248"/>
            <a:ext cx="54864" cy="54864"/>
          </a:xfrm>
          <a:prstGeom prst="ellipse">
            <a:avLst/>
          </a:prstGeom>
          <a:solidFill>
            <a:srgbClr val="FFFFFF">
              <a:alpha val="0"/>
            </a:srgbClr>
          </a:solidFill>
          <a:ln w="8890">
            <a:solidFill>
              <a:srgbClr val="BFD8FF">
                <a:alpha val="6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384280" y="3621024"/>
            <a:ext cx="438912" cy="0"/>
          </a:xfrm>
          <a:prstGeom prst="line">
            <a:avLst/>
          </a:prstGeom>
          <a:noFill/>
          <a:ln w="8890">
            <a:solidFill>
              <a:srgbClr val="BFD8FF">
                <a:alpha val="6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301984" y="3584448"/>
            <a:ext cx="54864" cy="54864"/>
          </a:xfrm>
          <a:prstGeom prst="ellipse">
            <a:avLst/>
          </a:prstGeom>
          <a:solidFill>
            <a:srgbClr val="FFFFFF">
              <a:alpha val="0"/>
            </a:srgbClr>
          </a:solidFill>
          <a:ln w="8890">
            <a:solidFill>
              <a:srgbClr val="BFD8FF">
                <a:alpha val="6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331720" y="694944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744200" y="6153912"/>
            <a:ext cx="27432" cy="27432"/>
          </a:xfrm>
          <a:prstGeom prst="ellipse">
            <a:avLst/>
          </a:prstGeom>
          <a:solidFill>
            <a:srgbClr val="D7CBFF">
              <a:alpha val="65000"/>
            </a:srgbClr>
          </a:solidFill>
          <a:ln w="12700">
            <a:solidFill>
              <a:srgbClr val="D7CBFF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450592" y="694944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863072" y="6153912"/>
            <a:ext cx="27432" cy="27432"/>
          </a:xfrm>
          <a:prstGeom prst="ellipse">
            <a:avLst/>
          </a:prstGeom>
          <a:solidFill>
            <a:srgbClr val="D7CBFF">
              <a:alpha val="65000"/>
            </a:srgbClr>
          </a:solidFill>
          <a:ln w="12700">
            <a:solidFill>
              <a:srgbClr val="D7CBFF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569464" y="694944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981944" y="6153912"/>
            <a:ext cx="27432" cy="27432"/>
          </a:xfrm>
          <a:prstGeom prst="ellipse">
            <a:avLst/>
          </a:prstGeom>
          <a:solidFill>
            <a:srgbClr val="D7CBFF">
              <a:alpha val="65000"/>
            </a:srgbClr>
          </a:solidFill>
          <a:ln w="12700">
            <a:solidFill>
              <a:srgbClr val="D7CBFF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688336" y="694944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100816" y="6153912"/>
            <a:ext cx="27432" cy="27432"/>
          </a:xfrm>
          <a:prstGeom prst="ellipse">
            <a:avLst/>
          </a:prstGeom>
          <a:solidFill>
            <a:srgbClr val="D7CBFF">
              <a:alpha val="65000"/>
            </a:srgbClr>
          </a:solidFill>
          <a:ln w="12700">
            <a:solidFill>
              <a:srgbClr val="D7CBFF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807208" y="694944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219688" y="6153912"/>
            <a:ext cx="27432" cy="27432"/>
          </a:xfrm>
          <a:prstGeom prst="ellipse">
            <a:avLst/>
          </a:prstGeom>
          <a:solidFill>
            <a:srgbClr val="D7CBFF">
              <a:alpha val="65000"/>
            </a:srgbClr>
          </a:solidFill>
          <a:ln w="12700">
            <a:solidFill>
              <a:srgbClr val="D7CBFF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926080" y="694944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338560" y="6153912"/>
            <a:ext cx="27432" cy="27432"/>
          </a:xfrm>
          <a:prstGeom prst="ellipse">
            <a:avLst/>
          </a:prstGeom>
          <a:solidFill>
            <a:srgbClr val="D7CBFF">
              <a:alpha val="65000"/>
            </a:srgbClr>
          </a:solidFill>
          <a:ln w="12700">
            <a:solidFill>
              <a:srgbClr val="D7CBFF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31720" y="813816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450592" y="813816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569464" y="813816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688336" y="813816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807208" y="813816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926080" y="813816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331720" y="932688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450592" y="932688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569464" y="932688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688336" y="932688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807208" y="932688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2926080" y="932688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0058400" y="438912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dirty="0">
                <a:solidFill>
                  <a:srgbClr val="6EA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✦</a:t>
            </a:r>
            <a:endParaRPr lang="en-US" sz="2300" dirty="0"/>
          </a:p>
        </p:txBody>
      </p:sp>
      <p:sp>
        <p:nvSpPr>
          <p:cNvPr id="62" name="Shape 60"/>
          <p:cNvSpPr/>
          <p:nvPr/>
        </p:nvSpPr>
        <p:spPr>
          <a:xfrm>
            <a:off x="2834640" y="1243584"/>
            <a:ext cx="1645920" cy="0"/>
          </a:xfrm>
          <a:prstGeom prst="line">
            <a:avLst/>
          </a:prstGeom>
          <a:noFill/>
          <a:ln w="19050">
            <a:solidFill>
              <a:srgbClr val="6E3FE5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2779776" y="1207008"/>
            <a:ext cx="73152" cy="73152"/>
          </a:xfrm>
          <a:prstGeom prst="ellipse">
            <a:avLst/>
          </a:prstGeom>
          <a:solidFill>
            <a:srgbClr val="6E3FE5"/>
          </a:solidFill>
          <a:ln w="12700">
            <a:solidFill>
              <a:srgbClr val="6E3FE5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7726680" y="1243584"/>
            <a:ext cx="1645920" cy="0"/>
          </a:xfrm>
          <a:prstGeom prst="line">
            <a:avLst/>
          </a:prstGeom>
          <a:noFill/>
          <a:ln w="19050">
            <a:solidFill>
              <a:srgbClr val="6E3FE5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9372600" y="1207008"/>
            <a:ext cx="73152" cy="73152"/>
          </a:xfrm>
          <a:prstGeom prst="ellipse">
            <a:avLst/>
          </a:prstGeom>
          <a:solidFill>
            <a:srgbClr val="6E3FE5"/>
          </a:solidFill>
          <a:ln w="12700">
            <a:solidFill>
              <a:srgbClr val="6E3FE5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498848" y="1078992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6E3FE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SEMINAR HASIL</a:t>
            </a:r>
            <a:endParaRPr lang="en-US" sz="2500" dirty="0"/>
          </a:p>
        </p:txBody>
      </p:sp>
      <p:sp>
        <p:nvSpPr>
          <p:cNvPr id="67" name="Shape 65"/>
          <p:cNvSpPr/>
          <p:nvPr/>
        </p:nvSpPr>
        <p:spPr>
          <a:xfrm>
            <a:off x="713232" y="1572768"/>
            <a:ext cx="10808208" cy="4507992"/>
          </a:xfrm>
          <a:prstGeom prst="roundRect">
            <a:avLst>
              <a:gd name="adj" fmla="val 3651"/>
            </a:avLst>
          </a:prstGeom>
          <a:solidFill>
            <a:srgbClr val="FFFFFF"/>
          </a:solidFill>
          <a:ln w="12700">
            <a:solidFill>
              <a:srgbClr val="E4ECF7">
                <a:alpha val="90000"/>
              </a:srgbClr>
            </a:solidFill>
            <a:prstDash val="solid"/>
          </a:ln>
          <a:effectLst>
            <a:outerShdw blurRad="25400" dist="50800" dir="2700000" algn="bl" rotWithShape="0">
              <a:srgbClr val="94A3B8">
                <a:alpha val="14000"/>
              </a:srgbClr>
            </a:outerShdw>
          </a:effectLst>
        </p:spPr>
      </p:sp>
      <p:sp>
        <p:nvSpPr>
          <p:cNvPr id="68" name="Shape 66"/>
          <p:cNvSpPr/>
          <p:nvPr/>
        </p:nvSpPr>
        <p:spPr>
          <a:xfrm>
            <a:off x="960120" y="1847088"/>
            <a:ext cx="438912" cy="438912"/>
          </a:xfrm>
          <a:prstGeom prst="ellipse">
            <a:avLst/>
          </a:prstGeom>
          <a:solidFill>
            <a:srgbClr val="6E3FE5"/>
          </a:solidFill>
          <a:ln w="12700">
            <a:solidFill>
              <a:srgbClr val="6E3FE5">
                <a:alpha val="0"/>
              </a:srgbClr>
            </a:solidFill>
            <a:prstDash val="solid"/>
          </a:ln>
          <a:effectLst>
            <a:outerShdw blurRad="12700" dist="50800" dir="2700000" algn="bl" rotWithShape="0">
              <a:srgbClr val="64748B">
                <a:alpha val="12000"/>
              </a:srgbClr>
            </a:outerShdw>
          </a:effectLst>
        </p:spPr>
      </p:sp>
      <p:sp>
        <p:nvSpPr>
          <p:cNvPr id="69" name="Text 67"/>
          <p:cNvSpPr/>
          <p:nvPr/>
        </p:nvSpPr>
        <p:spPr>
          <a:xfrm>
            <a:off x="960120" y="1856232"/>
            <a:ext cx="438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48" dirty="0">
                <a:solidFill>
                  <a:srgbClr val="FFFFFF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▤</a:t>
            </a:r>
            <a:endParaRPr lang="en-US" sz="1248" dirty="0"/>
          </a:p>
        </p:txBody>
      </p:sp>
      <p:sp>
        <p:nvSpPr>
          <p:cNvPr id="70" name="Text 68"/>
          <p:cNvSpPr/>
          <p:nvPr/>
        </p:nvSpPr>
        <p:spPr>
          <a:xfrm>
            <a:off x="1538097" y="184785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F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Latar Belakang</a:t>
            </a:r>
            <a:endParaRPr lang="en-US" sz="2400" dirty="0"/>
          </a:p>
        </p:txBody>
      </p:sp>
      <p:sp>
        <p:nvSpPr>
          <p:cNvPr id="71" name="Shape 69"/>
          <p:cNvSpPr/>
          <p:nvPr/>
        </p:nvSpPr>
        <p:spPr>
          <a:xfrm>
            <a:off x="1024128" y="2514600"/>
            <a:ext cx="310896" cy="310896"/>
          </a:xfrm>
          <a:prstGeom prst="ellipse">
            <a:avLst/>
          </a:prstGeom>
          <a:solidFill>
            <a:srgbClr val="6E3FE5"/>
          </a:solidFill>
          <a:ln w="12700">
            <a:solidFill>
              <a:srgbClr val="6E3FE5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1024128" y="2564892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73" name="Text 71"/>
          <p:cNvSpPr/>
          <p:nvPr/>
        </p:nvSpPr>
        <p:spPr>
          <a:xfrm>
            <a:off x="1508760" y="2478024"/>
            <a:ext cx="6720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0B1F53"/>
                </a:solidFill>
              </a:rPr>
              <a:t>Tinggi badan merupakan parameter antropometri yang penting untuk menilai status gizi, pertumbuhan, dan kondisi fisik.</a:t>
            </a:r>
            <a:endParaRPr lang="en-US" sz="1250" dirty="0"/>
          </a:p>
        </p:txBody>
      </p:sp>
      <p:sp>
        <p:nvSpPr>
          <p:cNvPr id="74" name="Shape 72"/>
          <p:cNvSpPr/>
          <p:nvPr/>
        </p:nvSpPr>
        <p:spPr>
          <a:xfrm>
            <a:off x="8394192" y="2514600"/>
            <a:ext cx="2423160" cy="292608"/>
          </a:xfrm>
          <a:prstGeom prst="roundRect">
            <a:avLst>
              <a:gd name="adj" fmla="val 18750"/>
            </a:avLst>
          </a:prstGeom>
          <a:solidFill>
            <a:srgbClr val="F1ECFF"/>
          </a:solidFill>
          <a:ln w="12700">
            <a:solidFill>
              <a:srgbClr val="D8CCFF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8485632" y="2592324"/>
            <a:ext cx="2240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90" b="1" dirty="0">
                <a:solidFill>
                  <a:srgbClr val="6E3FE5"/>
                </a:solidFill>
              </a:rPr>
              <a:t>Mocini et al., 2023</a:t>
            </a:r>
            <a:endParaRPr lang="en-US" sz="690" dirty="0"/>
          </a:p>
        </p:txBody>
      </p:sp>
      <p:sp>
        <p:nvSpPr>
          <p:cNvPr id="76" name="Shape 74"/>
          <p:cNvSpPr/>
          <p:nvPr/>
        </p:nvSpPr>
        <p:spPr>
          <a:xfrm>
            <a:off x="1024128" y="3136392"/>
            <a:ext cx="310896" cy="310896"/>
          </a:xfrm>
          <a:prstGeom prst="ellipse">
            <a:avLst/>
          </a:prstGeom>
          <a:solidFill>
            <a:srgbClr val="6E3FE5"/>
          </a:solidFill>
          <a:ln w="12700">
            <a:solidFill>
              <a:srgbClr val="6E3FE5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1024128" y="31866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78" name="Text 76"/>
          <p:cNvSpPr/>
          <p:nvPr/>
        </p:nvSpPr>
        <p:spPr>
          <a:xfrm>
            <a:off x="1508760" y="3099816"/>
            <a:ext cx="6720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0B1F53"/>
                </a:solidFill>
              </a:rPr>
              <a:t>Pengukuran manual masih dapat dipengaruhi oleh prosedur, postur subjek, pembacaan alat, dan konsistensi pengamat.</a:t>
            </a:r>
            <a:endParaRPr lang="en-US" sz="1250" dirty="0"/>
          </a:p>
        </p:txBody>
      </p:sp>
      <p:sp>
        <p:nvSpPr>
          <p:cNvPr id="79" name="Shape 77"/>
          <p:cNvSpPr/>
          <p:nvPr/>
        </p:nvSpPr>
        <p:spPr>
          <a:xfrm>
            <a:off x="8394192" y="3136392"/>
            <a:ext cx="2423160" cy="292608"/>
          </a:xfrm>
          <a:prstGeom prst="roundRect">
            <a:avLst>
              <a:gd name="adj" fmla="val 18750"/>
            </a:avLst>
          </a:prstGeom>
          <a:solidFill>
            <a:srgbClr val="F1ECFF"/>
          </a:solidFill>
          <a:ln w="12700">
            <a:solidFill>
              <a:srgbClr val="D8CCFF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8499348" y="3204972"/>
            <a:ext cx="2240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90" b="1" dirty="0">
                <a:solidFill>
                  <a:srgbClr val="6E3FE5"/>
                </a:solidFill>
              </a:rPr>
              <a:t>Graybeal et al., 2023</a:t>
            </a:r>
            <a:endParaRPr lang="en-US" sz="690" dirty="0"/>
          </a:p>
        </p:txBody>
      </p:sp>
      <p:sp>
        <p:nvSpPr>
          <p:cNvPr id="81" name="Shape 79"/>
          <p:cNvSpPr/>
          <p:nvPr/>
        </p:nvSpPr>
        <p:spPr>
          <a:xfrm>
            <a:off x="1024128" y="3758184"/>
            <a:ext cx="310896" cy="310896"/>
          </a:xfrm>
          <a:prstGeom prst="ellipse">
            <a:avLst/>
          </a:prstGeom>
          <a:solidFill>
            <a:srgbClr val="6E3FE5"/>
          </a:solidFill>
          <a:ln w="12700">
            <a:solidFill>
              <a:srgbClr val="6E3FE5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1024128" y="3808476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83" name="Text 81"/>
          <p:cNvSpPr/>
          <p:nvPr/>
        </p:nvSpPr>
        <p:spPr>
          <a:xfrm>
            <a:off x="1508760" y="3721608"/>
            <a:ext cx="6720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0B1F53"/>
                </a:solidFill>
              </a:rPr>
              <a:t>Kamera smartphone dan computer vision membuka peluang pengukuran tinggi badan secara lebih praktis dan efisien.</a:t>
            </a:r>
            <a:endParaRPr lang="en-US" sz="1250" dirty="0"/>
          </a:p>
        </p:txBody>
      </p:sp>
      <p:sp>
        <p:nvSpPr>
          <p:cNvPr id="84" name="Shape 82"/>
          <p:cNvSpPr/>
          <p:nvPr/>
        </p:nvSpPr>
        <p:spPr>
          <a:xfrm>
            <a:off x="8394192" y="3758184"/>
            <a:ext cx="2423160" cy="292608"/>
          </a:xfrm>
          <a:prstGeom prst="roundRect">
            <a:avLst>
              <a:gd name="adj" fmla="val 18750"/>
            </a:avLst>
          </a:prstGeom>
          <a:solidFill>
            <a:srgbClr val="F1ECFF"/>
          </a:solidFill>
          <a:ln w="12700">
            <a:solidFill>
              <a:srgbClr val="D8CCFF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8484108" y="3840481"/>
            <a:ext cx="2240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90" b="1" dirty="0">
                <a:solidFill>
                  <a:srgbClr val="6E3FE5"/>
                </a:solidFill>
              </a:rPr>
              <a:t>Majmudar et al., 2022; Tinsley et al., 2024</a:t>
            </a:r>
            <a:endParaRPr lang="en-US" sz="690" dirty="0"/>
          </a:p>
        </p:txBody>
      </p:sp>
      <p:sp>
        <p:nvSpPr>
          <p:cNvPr id="86" name="Shape 84"/>
          <p:cNvSpPr/>
          <p:nvPr/>
        </p:nvSpPr>
        <p:spPr>
          <a:xfrm>
            <a:off x="1024128" y="4379976"/>
            <a:ext cx="310896" cy="310896"/>
          </a:xfrm>
          <a:prstGeom prst="ellipse">
            <a:avLst/>
          </a:prstGeom>
          <a:solidFill>
            <a:srgbClr val="6E3FE5"/>
          </a:solidFill>
          <a:ln w="12700">
            <a:solidFill>
              <a:srgbClr val="6E3FE5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1024128" y="4430268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88" name="Text 86"/>
          <p:cNvSpPr/>
          <p:nvPr/>
        </p:nvSpPr>
        <p:spPr>
          <a:xfrm>
            <a:off x="1508760" y="4343400"/>
            <a:ext cx="6720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0B1F53"/>
                </a:solidFill>
              </a:rPr>
              <a:t>Pengukuran berbasis citra masih menghadapi distorsi perspektif, kebutuhan skala absolut, dan ketepatan batas tubuh.</a:t>
            </a:r>
            <a:endParaRPr lang="en-US" sz="1250" dirty="0"/>
          </a:p>
        </p:txBody>
      </p:sp>
      <p:sp>
        <p:nvSpPr>
          <p:cNvPr id="89" name="Shape 87"/>
          <p:cNvSpPr/>
          <p:nvPr/>
        </p:nvSpPr>
        <p:spPr>
          <a:xfrm>
            <a:off x="8394192" y="4379976"/>
            <a:ext cx="2423160" cy="292608"/>
          </a:xfrm>
          <a:prstGeom prst="roundRect">
            <a:avLst>
              <a:gd name="adj" fmla="val 18750"/>
            </a:avLst>
          </a:prstGeom>
          <a:solidFill>
            <a:srgbClr val="F1ECFF"/>
          </a:solidFill>
          <a:ln w="12700">
            <a:solidFill>
              <a:srgbClr val="D8CCFF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8503920" y="4448556"/>
            <a:ext cx="2240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90" b="1" dirty="0">
                <a:solidFill>
                  <a:srgbClr val="6E3FE5"/>
                </a:solidFill>
              </a:rPr>
              <a:t>Nguyen Trung et al., 2024; Wang et al., 2025</a:t>
            </a:r>
            <a:endParaRPr lang="en-US" sz="690" dirty="0"/>
          </a:p>
        </p:txBody>
      </p:sp>
      <p:sp>
        <p:nvSpPr>
          <p:cNvPr id="91" name="Shape 89"/>
          <p:cNvSpPr/>
          <p:nvPr/>
        </p:nvSpPr>
        <p:spPr>
          <a:xfrm>
            <a:off x="1024128" y="5001768"/>
            <a:ext cx="310896" cy="310896"/>
          </a:xfrm>
          <a:prstGeom prst="ellipse">
            <a:avLst/>
          </a:prstGeom>
          <a:solidFill>
            <a:srgbClr val="6E3FE5"/>
          </a:solidFill>
          <a:ln w="12700">
            <a:solidFill>
              <a:srgbClr val="6E3FE5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1024128" y="5052060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93" name="Text 91"/>
          <p:cNvSpPr/>
          <p:nvPr/>
        </p:nvSpPr>
        <p:spPr>
          <a:xfrm>
            <a:off x="1508760" y="4965192"/>
            <a:ext cx="6720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0B1F53"/>
                </a:solidFill>
              </a:rPr>
              <a:t>Penelitian ini mengintegrasikan ArUco marker, perspective correction, dan MediaPipe Pose untuk meningkatkan robustness sistem.</a:t>
            </a:r>
            <a:endParaRPr lang="en-US" sz="1250" dirty="0"/>
          </a:p>
        </p:txBody>
      </p: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14043D19-2FF0-846A-BBF0-E1AB27076F66}"/>
              </a:ext>
            </a:extLst>
          </p:cNvPr>
          <p:cNvGrpSpPr/>
          <p:nvPr/>
        </p:nvGrpSpPr>
        <p:grpSpPr>
          <a:xfrm>
            <a:off x="3977640" y="256032"/>
            <a:ext cx="4251960" cy="713232"/>
            <a:chOff x="3977640" y="256032"/>
            <a:chExt cx="4251960" cy="713232"/>
          </a:xfrm>
        </p:grpSpPr>
        <p:sp>
          <p:nvSpPr>
            <p:cNvPr id="116" name="Shape 51">
              <a:extLst>
                <a:ext uri="{FF2B5EF4-FFF2-40B4-BE49-F238E27FC236}">
                  <a16:creationId xmlns:a16="http://schemas.microsoft.com/office/drawing/2014/main" id="{A7F0B6D0-0802-3B7E-1AB1-56FEBCC3EDCB}"/>
                </a:ext>
              </a:extLst>
            </p:cNvPr>
            <p:cNvSpPr/>
            <p:nvPr/>
          </p:nvSpPr>
          <p:spPr>
            <a:xfrm>
              <a:off x="3977640" y="256032"/>
              <a:ext cx="4251960" cy="713232"/>
            </a:xfrm>
            <a:prstGeom prst="roundRect">
              <a:avLst>
                <a:gd name="adj" fmla="val 17949"/>
              </a:avLst>
            </a:prstGeom>
            <a:solidFill>
              <a:srgbClr val="FFFFFF"/>
            </a:solidFill>
            <a:ln w="12700">
              <a:solidFill>
                <a:srgbClr val="E0E8F6">
                  <a:alpha val="85000"/>
                </a:srgbClr>
              </a:solidFill>
              <a:prstDash val="solid"/>
            </a:ln>
            <a:effectLst>
              <a:outerShdw blurRad="25400" dist="50800" dir="2700000" algn="bl" rotWithShape="0">
                <a:srgbClr val="97A6BF">
                  <a:alpha val="12000"/>
                </a:srgbClr>
              </a:outerShdw>
            </a:effectLst>
          </p:spPr>
        </p:sp>
        <p:sp>
          <p:nvSpPr>
            <p:cNvPr id="117" name="Text 54">
              <a:extLst>
                <a:ext uri="{FF2B5EF4-FFF2-40B4-BE49-F238E27FC236}">
                  <a16:creationId xmlns:a16="http://schemas.microsoft.com/office/drawing/2014/main" id="{7D63501E-6C43-456F-15FB-671FBAA3E531}"/>
                </a:ext>
              </a:extLst>
            </p:cNvPr>
            <p:cNvSpPr/>
            <p:nvPr/>
          </p:nvSpPr>
          <p:spPr>
            <a:xfrm>
              <a:off x="4727448" y="402336"/>
              <a:ext cx="114300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800" b="1" dirty="0">
                  <a:solidFill>
                    <a:srgbClr val="0B1F53"/>
                  </a:solidFill>
                  <a:latin typeface="Aptos Display" pitchFamily="34" charset="0"/>
                  <a:ea typeface="Aptos Display" pitchFamily="34" charset="-122"/>
                  <a:cs typeface="Aptos Display" pitchFamily="34" charset="-120"/>
                </a:rPr>
                <a:t>ITENAS</a:t>
              </a:r>
              <a:endParaRPr lang="en-US" sz="1800" dirty="0"/>
            </a:p>
          </p:txBody>
        </p:sp>
        <p:sp>
          <p:nvSpPr>
            <p:cNvPr id="118" name="Text 55">
              <a:extLst>
                <a:ext uri="{FF2B5EF4-FFF2-40B4-BE49-F238E27FC236}">
                  <a16:creationId xmlns:a16="http://schemas.microsoft.com/office/drawing/2014/main" id="{C457BE8C-76F7-81FB-ACB7-C280D5EE662E}"/>
                </a:ext>
              </a:extLst>
            </p:cNvPr>
            <p:cNvSpPr/>
            <p:nvPr/>
          </p:nvSpPr>
          <p:spPr>
            <a:xfrm>
              <a:off x="4736592" y="640080"/>
              <a:ext cx="123444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650" dirty="0">
                  <a:solidFill>
                    <a:srgbClr val="0B1F53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Institut Teknologi Nasional</a:t>
              </a:r>
              <a:endParaRPr lang="en-US" sz="650" dirty="0"/>
            </a:p>
            <a:p>
              <a:pPr marL="0" indent="0">
                <a:buNone/>
              </a:pPr>
              <a:r>
                <a:rPr lang="en-US" sz="650" dirty="0">
                  <a:solidFill>
                    <a:srgbClr val="0B1F53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Bandung</a:t>
              </a:r>
              <a:endParaRPr lang="en-US" sz="650" dirty="0"/>
            </a:p>
          </p:txBody>
        </p:sp>
        <p:sp>
          <p:nvSpPr>
            <p:cNvPr id="119" name="Shape 56">
              <a:extLst>
                <a:ext uri="{FF2B5EF4-FFF2-40B4-BE49-F238E27FC236}">
                  <a16:creationId xmlns:a16="http://schemas.microsoft.com/office/drawing/2014/main" id="{4ED4C8E1-4834-2675-5974-494AC06BFA9F}"/>
                </a:ext>
              </a:extLst>
            </p:cNvPr>
            <p:cNvSpPr/>
            <p:nvPr/>
          </p:nvSpPr>
          <p:spPr>
            <a:xfrm>
              <a:off x="6126480" y="411480"/>
              <a:ext cx="0" cy="402336"/>
            </a:xfrm>
            <a:prstGeom prst="line">
              <a:avLst/>
            </a:prstGeom>
            <a:noFill/>
            <a:ln w="12700">
              <a:solidFill>
                <a:srgbClr val="B8C2E8"/>
              </a:solidFill>
              <a:prstDash val="solid"/>
            </a:ln>
          </p:spPr>
        </p:sp>
        <p:sp>
          <p:nvSpPr>
            <p:cNvPr id="120" name="Text 58">
              <a:extLst>
                <a:ext uri="{FF2B5EF4-FFF2-40B4-BE49-F238E27FC236}">
                  <a16:creationId xmlns:a16="http://schemas.microsoft.com/office/drawing/2014/main" id="{6AB7A691-F7C0-41F4-F050-646CCEC03146}"/>
                </a:ext>
              </a:extLst>
            </p:cNvPr>
            <p:cNvSpPr/>
            <p:nvPr/>
          </p:nvSpPr>
          <p:spPr>
            <a:xfrm>
              <a:off x="6830568" y="457200"/>
              <a:ext cx="109728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700" b="1" dirty="0">
                  <a:solidFill>
                    <a:srgbClr val="C00000"/>
                  </a:solidFill>
                  <a:latin typeface="Aptos Display" pitchFamily="34" charset="0"/>
                  <a:ea typeface="Aptos Display" pitchFamily="34" charset="-122"/>
                  <a:cs typeface="Aptos Display" pitchFamily="34" charset="-120"/>
                </a:rPr>
                <a:t>Informatika</a:t>
              </a:r>
              <a:endParaRPr lang="en-US" sz="1700" dirty="0">
                <a:solidFill>
                  <a:srgbClr val="C00000"/>
                </a:solidFill>
              </a:endParaRPr>
            </a:p>
          </p:txBody>
        </p:sp>
        <p:pic>
          <p:nvPicPr>
            <p:cNvPr id="121" name="Picture 120">
              <a:extLst>
                <a:ext uri="{FF2B5EF4-FFF2-40B4-BE49-F238E27FC236}">
                  <a16:creationId xmlns:a16="http://schemas.microsoft.com/office/drawing/2014/main" id="{9BF0D264-2E21-7E05-45EC-78056AE8837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34755" t="29153" r="36238" b="33855"/>
            <a:stretch>
              <a:fillRect/>
            </a:stretch>
          </p:blipFill>
          <p:spPr>
            <a:xfrm>
              <a:off x="6300861" y="396716"/>
              <a:ext cx="346827" cy="345948"/>
            </a:xfrm>
            <a:prstGeom prst="rect">
              <a:avLst/>
            </a:prstGeom>
          </p:spPr>
        </p:pic>
        <p:pic>
          <p:nvPicPr>
            <p:cNvPr id="122" name="Picture 121">
              <a:extLst>
                <a:ext uri="{FF2B5EF4-FFF2-40B4-BE49-F238E27FC236}">
                  <a16:creationId xmlns:a16="http://schemas.microsoft.com/office/drawing/2014/main" id="{BAE44934-CCCA-D9C2-8CFC-6980DB473A6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133088" y="339090"/>
              <a:ext cx="565404" cy="565404"/>
            </a:xfrm>
            <a:prstGeom prst="rect">
              <a:avLst/>
            </a:prstGeom>
          </p:spPr>
        </p:pic>
      </p:grp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73152"/>
            <a:ext cx="1234440" cy="749808"/>
          </a:xfrm>
          <a:prstGeom prst="ellipse">
            <a:avLst/>
          </a:prstGeom>
          <a:solidFill>
            <a:srgbClr val="E2F2FF">
              <a:alpha val="8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588752" y="5897880"/>
            <a:ext cx="1261872" cy="658368"/>
          </a:xfrm>
          <a:prstGeom prst="ellipse">
            <a:avLst/>
          </a:prstGeom>
          <a:solidFill>
            <a:srgbClr val="EEE9FF">
              <a:alpha val="8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" y="1143000"/>
            <a:ext cx="502920" cy="0"/>
          </a:xfrm>
          <a:prstGeom prst="line">
            <a:avLst/>
          </a:prstGeom>
          <a:noFill/>
          <a:ln w="8890">
            <a:solidFill>
              <a:srgbClr val="BFD8FF">
                <a:alpha val="6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106424"/>
            <a:ext cx="54864" cy="54864"/>
          </a:xfrm>
          <a:prstGeom prst="ellipse">
            <a:avLst/>
          </a:prstGeom>
          <a:solidFill>
            <a:srgbClr val="FFFFFF">
              <a:alpha val="0"/>
            </a:srgbClr>
          </a:solidFill>
          <a:ln w="8890">
            <a:solidFill>
              <a:srgbClr val="BFD8FF">
                <a:alpha val="6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384280" y="2743200"/>
            <a:ext cx="438912" cy="0"/>
          </a:xfrm>
          <a:prstGeom prst="line">
            <a:avLst/>
          </a:prstGeom>
          <a:noFill/>
          <a:ln w="8890">
            <a:solidFill>
              <a:srgbClr val="BFD8FF">
                <a:alpha val="6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4592" y="1581912"/>
            <a:ext cx="502920" cy="0"/>
          </a:xfrm>
          <a:prstGeom prst="line">
            <a:avLst/>
          </a:prstGeom>
          <a:noFill/>
          <a:ln w="8890">
            <a:solidFill>
              <a:srgbClr val="BFD8FF">
                <a:alpha val="6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1545336"/>
            <a:ext cx="54864" cy="54864"/>
          </a:xfrm>
          <a:prstGeom prst="ellipse">
            <a:avLst/>
          </a:prstGeom>
          <a:solidFill>
            <a:srgbClr val="FFFFFF">
              <a:alpha val="0"/>
            </a:srgbClr>
          </a:solidFill>
          <a:ln w="8890">
            <a:solidFill>
              <a:srgbClr val="BFD8FF">
                <a:alpha val="6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384280" y="3182112"/>
            <a:ext cx="438912" cy="0"/>
          </a:xfrm>
          <a:prstGeom prst="line">
            <a:avLst/>
          </a:prstGeom>
          <a:noFill/>
          <a:ln w="8890">
            <a:solidFill>
              <a:srgbClr val="BFD8FF">
                <a:alpha val="6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64592" y="2020824"/>
            <a:ext cx="502920" cy="0"/>
          </a:xfrm>
          <a:prstGeom prst="line">
            <a:avLst/>
          </a:prstGeom>
          <a:noFill/>
          <a:ln w="8890">
            <a:solidFill>
              <a:srgbClr val="BFD8FF">
                <a:alpha val="62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5800" y="1984248"/>
            <a:ext cx="54864" cy="54864"/>
          </a:xfrm>
          <a:prstGeom prst="ellipse">
            <a:avLst/>
          </a:prstGeom>
          <a:solidFill>
            <a:srgbClr val="FFFFFF">
              <a:alpha val="0"/>
            </a:srgbClr>
          </a:solidFill>
          <a:ln w="8890">
            <a:solidFill>
              <a:srgbClr val="BFD8FF">
                <a:alpha val="6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384280" y="3621024"/>
            <a:ext cx="438912" cy="0"/>
          </a:xfrm>
          <a:prstGeom prst="line">
            <a:avLst/>
          </a:prstGeom>
          <a:noFill/>
          <a:ln w="8890">
            <a:solidFill>
              <a:srgbClr val="BFD8FF">
                <a:alpha val="6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331720" y="694944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450592" y="694944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569464" y="694944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688336" y="694944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807208" y="694944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926080" y="694944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31720" y="813816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450592" y="813816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569464" y="813816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688336" y="813816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807208" y="813816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926080" y="813816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331720" y="932688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450592" y="932688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569464" y="932688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688336" y="932688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807208" y="932688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2926080" y="932688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0058400" y="438912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dirty="0">
                <a:solidFill>
                  <a:srgbClr val="6EA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✦</a:t>
            </a:r>
            <a:endParaRPr lang="en-US" sz="2300" dirty="0"/>
          </a:p>
        </p:txBody>
      </p:sp>
      <p:sp>
        <p:nvSpPr>
          <p:cNvPr id="62" name="Shape 60"/>
          <p:cNvSpPr/>
          <p:nvPr/>
        </p:nvSpPr>
        <p:spPr>
          <a:xfrm>
            <a:off x="2834640" y="1243584"/>
            <a:ext cx="1645920" cy="0"/>
          </a:xfrm>
          <a:prstGeom prst="line">
            <a:avLst/>
          </a:prstGeom>
          <a:noFill/>
          <a:ln w="19050">
            <a:solidFill>
              <a:srgbClr val="6E3FE5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2779776" y="1207008"/>
            <a:ext cx="73152" cy="73152"/>
          </a:xfrm>
          <a:prstGeom prst="ellipse">
            <a:avLst/>
          </a:prstGeom>
          <a:solidFill>
            <a:srgbClr val="6E3FE5"/>
          </a:solidFill>
          <a:ln w="12700">
            <a:solidFill>
              <a:srgbClr val="6E3FE5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7726680" y="1243584"/>
            <a:ext cx="1645920" cy="0"/>
          </a:xfrm>
          <a:prstGeom prst="line">
            <a:avLst/>
          </a:prstGeom>
          <a:noFill/>
          <a:ln w="19050">
            <a:solidFill>
              <a:srgbClr val="6E3FE5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9372600" y="1207008"/>
            <a:ext cx="73152" cy="73152"/>
          </a:xfrm>
          <a:prstGeom prst="ellipse">
            <a:avLst/>
          </a:prstGeom>
          <a:solidFill>
            <a:srgbClr val="6E3FE5"/>
          </a:solidFill>
          <a:ln w="12700">
            <a:solidFill>
              <a:srgbClr val="6E3FE5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498848" y="1078992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6E3FE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SEMINAR HASIL</a:t>
            </a:r>
            <a:endParaRPr lang="en-US" sz="2500" dirty="0"/>
          </a:p>
        </p:txBody>
      </p:sp>
      <p:sp>
        <p:nvSpPr>
          <p:cNvPr id="67" name="Text 65"/>
          <p:cNvSpPr/>
          <p:nvPr/>
        </p:nvSpPr>
        <p:spPr>
          <a:xfrm>
            <a:off x="594360" y="1444752"/>
            <a:ext cx="11018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B1F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Rumusan Masalah</a:t>
            </a:r>
            <a:endParaRPr lang="en-US" sz="3400" dirty="0"/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F0C2C65E-9F73-989D-411C-DE73C2C5DB2D}"/>
              </a:ext>
            </a:extLst>
          </p:cNvPr>
          <p:cNvGrpSpPr/>
          <p:nvPr/>
        </p:nvGrpSpPr>
        <p:grpSpPr>
          <a:xfrm>
            <a:off x="6308900" y="2322575"/>
            <a:ext cx="4983480" cy="1298448"/>
            <a:chOff x="914400" y="2359152"/>
            <a:chExt cx="4983480" cy="1298448"/>
          </a:xfrm>
        </p:grpSpPr>
        <p:sp>
          <p:nvSpPr>
            <p:cNvPr id="68" name="Shape 66"/>
            <p:cNvSpPr/>
            <p:nvPr/>
          </p:nvSpPr>
          <p:spPr>
            <a:xfrm>
              <a:off x="914400" y="2359152"/>
              <a:ext cx="4983480" cy="1298448"/>
            </a:xfrm>
            <a:prstGeom prst="roundRect">
              <a:avLst>
                <a:gd name="adj" fmla="val 12676"/>
              </a:avLst>
            </a:prstGeom>
            <a:solidFill>
              <a:srgbClr val="FFFFFF"/>
            </a:solidFill>
            <a:ln w="12700">
              <a:solidFill>
                <a:srgbClr val="DDE7F5">
                  <a:alpha val="90000"/>
                </a:srgbClr>
              </a:solidFill>
              <a:prstDash val="solid"/>
            </a:ln>
            <a:effectLst>
              <a:outerShdw blurRad="25400" dist="50800" dir="2700000" algn="bl" rotWithShape="0">
                <a:srgbClr val="94A3B8">
                  <a:alpha val="14000"/>
                </a:srgbClr>
              </a:outerShdw>
            </a:effectLst>
          </p:spPr>
        </p:sp>
        <p:sp>
          <p:nvSpPr>
            <p:cNvPr id="69" name="Shape 67"/>
            <p:cNvSpPr/>
            <p:nvPr/>
          </p:nvSpPr>
          <p:spPr>
            <a:xfrm>
              <a:off x="1143000" y="2633472"/>
              <a:ext cx="868680" cy="749808"/>
            </a:xfrm>
            <a:prstGeom prst="roundRect">
              <a:avLst>
                <a:gd name="adj" fmla="val 12195"/>
              </a:avLst>
            </a:prstGeom>
            <a:solidFill>
              <a:srgbClr val="6E3FE5"/>
            </a:solidFill>
            <a:ln w="12700">
              <a:solidFill>
                <a:srgbClr val="6E3FE5"/>
              </a:solidFill>
              <a:prstDash val="solid"/>
            </a:ln>
          </p:spPr>
        </p:sp>
        <p:sp>
          <p:nvSpPr>
            <p:cNvPr id="70" name="Text 68"/>
            <p:cNvSpPr/>
            <p:nvPr/>
          </p:nvSpPr>
          <p:spPr>
            <a:xfrm>
              <a:off x="1143000" y="2770632"/>
              <a:ext cx="86868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300" b="1" dirty="0">
                  <a:solidFill>
                    <a:srgbClr val="FFFFFF"/>
                  </a:solidFill>
                </a:rPr>
                <a:t>02</a:t>
              </a:r>
              <a:endParaRPr lang="en-US" sz="2300" dirty="0"/>
            </a:p>
          </p:txBody>
        </p:sp>
        <p:sp>
          <p:nvSpPr>
            <p:cNvPr id="71" name="Text 69"/>
            <p:cNvSpPr/>
            <p:nvPr/>
          </p:nvSpPr>
          <p:spPr>
            <a:xfrm>
              <a:off x="2240280" y="2633472"/>
              <a:ext cx="3017520" cy="6583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430" b="1" dirty="0">
                  <a:solidFill>
                    <a:srgbClr val="0B1F53"/>
                  </a:solidFill>
                </a:rPr>
                <a:t>Bagaimana </a:t>
              </a:r>
              <a:r>
                <a:rPr lang="en-US" sz="1430" b="1" dirty="0" err="1">
                  <a:solidFill>
                    <a:srgbClr val="0B1F53"/>
                  </a:solidFill>
                </a:rPr>
                <a:t>melakukan</a:t>
              </a:r>
              <a:r>
                <a:rPr lang="en-US" sz="1430" b="1" dirty="0">
                  <a:solidFill>
                    <a:srgbClr val="0B1F53"/>
                  </a:solidFill>
                </a:rPr>
                <a:t> perspective correction pada citra agar geometri papan referensi menjadi konsisten?</a:t>
              </a:r>
              <a:endParaRPr lang="en-US" sz="1430" dirty="0"/>
            </a:p>
          </p:txBody>
        </p:sp>
        <p:sp>
          <p:nvSpPr>
            <p:cNvPr id="72" name="Shape 70"/>
            <p:cNvSpPr/>
            <p:nvPr/>
          </p:nvSpPr>
          <p:spPr>
            <a:xfrm>
              <a:off x="5239512" y="2587752"/>
              <a:ext cx="384048" cy="384048"/>
            </a:xfrm>
            <a:prstGeom prst="ellipse">
              <a:avLst/>
            </a:prstGeom>
            <a:solidFill>
              <a:srgbClr val="F1ECFF"/>
            </a:solidFill>
            <a:ln w="12700">
              <a:solidFill>
                <a:srgbClr val="E2D6FF"/>
              </a:solidFill>
              <a:prstDash val="solid"/>
            </a:ln>
          </p:spPr>
        </p:sp>
        <p:sp>
          <p:nvSpPr>
            <p:cNvPr id="73" name="Text 71"/>
            <p:cNvSpPr/>
            <p:nvPr/>
          </p:nvSpPr>
          <p:spPr>
            <a:xfrm>
              <a:off x="5257800" y="2642616"/>
              <a:ext cx="347472" cy="1463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 fontScale="77500" lnSpcReduction="20000"/>
            </a:bodyPr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rgbClr val="6E3FE5"/>
                  </a:solidFill>
                </a:rPr>
                <a:t>⌗</a:t>
              </a:r>
              <a:endParaRPr lang="en-US" sz="1400" dirty="0"/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A4032F67-098E-F289-876F-E74DB9301FD6}"/>
              </a:ext>
            </a:extLst>
          </p:cNvPr>
          <p:cNvGrpSpPr/>
          <p:nvPr/>
        </p:nvGrpSpPr>
        <p:grpSpPr>
          <a:xfrm>
            <a:off x="877824" y="2304472"/>
            <a:ext cx="5065776" cy="1298448"/>
            <a:chOff x="6291072" y="2359152"/>
            <a:chExt cx="5065776" cy="1298448"/>
          </a:xfrm>
        </p:grpSpPr>
        <p:sp>
          <p:nvSpPr>
            <p:cNvPr id="7" name="Shape 5"/>
            <p:cNvSpPr/>
            <p:nvPr/>
          </p:nvSpPr>
          <p:spPr>
            <a:xfrm>
              <a:off x="11301984" y="2706624"/>
              <a:ext cx="54864" cy="54864"/>
            </a:xfrm>
            <a:prstGeom prst="ellipse">
              <a:avLst/>
            </a:prstGeom>
            <a:solidFill>
              <a:srgbClr val="FFFFFF">
                <a:alpha val="0"/>
              </a:srgbClr>
            </a:solidFill>
            <a:ln w="8890">
              <a:solidFill>
                <a:srgbClr val="BFD8FF">
                  <a:alpha val="65000"/>
                </a:srgbClr>
              </a:solidFill>
              <a:prstDash val="solid"/>
            </a:ln>
          </p:spPr>
        </p:sp>
        <p:sp>
          <p:nvSpPr>
            <p:cNvPr id="11" name="Shape 9"/>
            <p:cNvSpPr/>
            <p:nvPr/>
          </p:nvSpPr>
          <p:spPr>
            <a:xfrm>
              <a:off x="11301984" y="3145536"/>
              <a:ext cx="54864" cy="54864"/>
            </a:xfrm>
            <a:prstGeom prst="ellipse">
              <a:avLst/>
            </a:prstGeom>
            <a:solidFill>
              <a:srgbClr val="FFFFFF">
                <a:alpha val="0"/>
              </a:srgbClr>
            </a:solidFill>
            <a:ln w="8890">
              <a:solidFill>
                <a:srgbClr val="BFD8FF">
                  <a:alpha val="65000"/>
                </a:srgbClr>
              </a:solidFill>
              <a:prstDash val="solid"/>
            </a:ln>
          </p:spPr>
        </p:sp>
        <p:sp>
          <p:nvSpPr>
            <p:cNvPr id="15" name="Shape 13"/>
            <p:cNvSpPr/>
            <p:nvPr/>
          </p:nvSpPr>
          <p:spPr>
            <a:xfrm>
              <a:off x="11301984" y="3584448"/>
              <a:ext cx="54864" cy="54864"/>
            </a:xfrm>
            <a:prstGeom prst="ellipse">
              <a:avLst/>
            </a:prstGeom>
            <a:solidFill>
              <a:srgbClr val="FFFFFF">
                <a:alpha val="0"/>
              </a:srgbClr>
            </a:solidFill>
            <a:ln w="8890">
              <a:solidFill>
                <a:srgbClr val="BFD8FF">
                  <a:alpha val="65000"/>
                </a:srgbClr>
              </a:solidFill>
              <a:prstDash val="solid"/>
            </a:ln>
          </p:spPr>
        </p:sp>
        <p:sp>
          <p:nvSpPr>
            <p:cNvPr id="74" name="Shape 72"/>
            <p:cNvSpPr/>
            <p:nvPr/>
          </p:nvSpPr>
          <p:spPr>
            <a:xfrm>
              <a:off x="6291072" y="2359152"/>
              <a:ext cx="4983480" cy="1298448"/>
            </a:xfrm>
            <a:prstGeom prst="roundRect">
              <a:avLst>
                <a:gd name="adj" fmla="val 12676"/>
              </a:avLst>
            </a:prstGeom>
            <a:solidFill>
              <a:srgbClr val="FFFFFF"/>
            </a:solidFill>
            <a:ln w="12700">
              <a:solidFill>
                <a:srgbClr val="DDE7F5">
                  <a:alpha val="90000"/>
                </a:srgbClr>
              </a:solidFill>
              <a:prstDash val="solid"/>
            </a:ln>
            <a:effectLst>
              <a:outerShdw blurRad="25400" dist="50800" dir="2700000" algn="bl" rotWithShape="0">
                <a:srgbClr val="94A3B8">
                  <a:alpha val="14000"/>
                </a:srgbClr>
              </a:outerShdw>
            </a:effectLst>
          </p:spPr>
        </p:sp>
        <p:sp>
          <p:nvSpPr>
            <p:cNvPr id="75" name="Shape 73"/>
            <p:cNvSpPr/>
            <p:nvPr/>
          </p:nvSpPr>
          <p:spPr>
            <a:xfrm>
              <a:off x="6519672" y="2633472"/>
              <a:ext cx="868680" cy="749808"/>
            </a:xfrm>
            <a:prstGeom prst="roundRect">
              <a:avLst>
                <a:gd name="adj" fmla="val 12195"/>
              </a:avLst>
            </a:prstGeom>
            <a:solidFill>
              <a:srgbClr val="6E3FE5"/>
            </a:solidFill>
            <a:ln w="12700">
              <a:solidFill>
                <a:srgbClr val="6E3FE5"/>
              </a:solidFill>
              <a:prstDash val="soli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6" name="Text 74"/>
            <p:cNvSpPr/>
            <p:nvPr/>
          </p:nvSpPr>
          <p:spPr>
            <a:xfrm>
              <a:off x="6519672" y="2770632"/>
              <a:ext cx="86868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300" b="1" dirty="0">
                  <a:solidFill>
                    <a:srgbClr val="FFFFFF"/>
                  </a:solidFill>
                </a:rPr>
                <a:t>01</a:t>
              </a:r>
              <a:endParaRPr lang="en-US" sz="2300" dirty="0"/>
            </a:p>
          </p:txBody>
        </p:sp>
        <p:sp>
          <p:nvSpPr>
            <p:cNvPr id="77" name="Text 75"/>
            <p:cNvSpPr/>
            <p:nvPr/>
          </p:nvSpPr>
          <p:spPr>
            <a:xfrm>
              <a:off x="7616952" y="2633472"/>
              <a:ext cx="3017520" cy="6583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 fontScale="92500"/>
            </a:bodyPr>
            <a:lstStyle/>
            <a:p>
              <a:pPr marL="0" indent="0">
                <a:buNone/>
              </a:pPr>
              <a:r>
                <a:rPr lang="en-US" sz="1430" b="1" dirty="0">
                  <a:solidFill>
                    <a:srgbClr val="0B1F53"/>
                  </a:solidFill>
                </a:rPr>
                <a:t>Bagaimana memanfaatkan ArUco marker sebagai referensi skala dan </a:t>
              </a:r>
              <a:r>
                <a:rPr lang="en-US" sz="1430" b="1" dirty="0" err="1">
                  <a:solidFill>
                    <a:srgbClr val="0B1F53"/>
                  </a:solidFill>
                </a:rPr>
                <a:t>acuan</a:t>
              </a:r>
              <a:r>
                <a:rPr lang="en-US" sz="1430" b="1" dirty="0">
                  <a:solidFill>
                    <a:srgbClr val="0B1F53"/>
                  </a:solidFill>
                </a:rPr>
                <a:t> </a:t>
              </a:r>
              <a:r>
                <a:rPr lang="en-US" sz="1430" b="1" dirty="0" err="1">
                  <a:solidFill>
                    <a:srgbClr val="0B1F53"/>
                  </a:solidFill>
                </a:rPr>
                <a:t>dalam</a:t>
              </a:r>
              <a:r>
                <a:rPr lang="en-US" sz="1430" b="1" dirty="0">
                  <a:solidFill>
                    <a:srgbClr val="0B1F53"/>
                  </a:solidFill>
                </a:rPr>
                <a:t> pengukuran tinggi badan?</a:t>
              </a:r>
              <a:endParaRPr lang="en-US" sz="1430" dirty="0"/>
            </a:p>
          </p:txBody>
        </p:sp>
        <p:sp>
          <p:nvSpPr>
            <p:cNvPr id="78" name="Shape 76"/>
            <p:cNvSpPr/>
            <p:nvPr/>
          </p:nvSpPr>
          <p:spPr>
            <a:xfrm>
              <a:off x="10616184" y="2587752"/>
              <a:ext cx="384048" cy="384048"/>
            </a:xfrm>
            <a:prstGeom prst="ellipse">
              <a:avLst/>
            </a:prstGeom>
            <a:solidFill>
              <a:srgbClr val="F1ECFF"/>
            </a:solidFill>
            <a:ln w="12700">
              <a:solidFill>
                <a:srgbClr val="E2D6FF"/>
              </a:solidFill>
              <a:prstDash val="solid"/>
            </a:ln>
          </p:spPr>
        </p:sp>
        <p:sp>
          <p:nvSpPr>
            <p:cNvPr id="79" name="Text 77"/>
            <p:cNvSpPr/>
            <p:nvPr/>
          </p:nvSpPr>
          <p:spPr>
            <a:xfrm>
              <a:off x="10634472" y="2642616"/>
              <a:ext cx="347472" cy="1463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 fontScale="77500" lnSpcReduction="20000"/>
            </a:bodyPr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rgbClr val="6E3FE5"/>
                  </a:solidFill>
                </a:rPr>
                <a:t>▦</a:t>
              </a:r>
              <a:endParaRPr lang="en-US" sz="1400" dirty="0"/>
            </a:p>
          </p:txBody>
        </p: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4CAF8D33-D702-DFE5-DF1A-06CA4A819420}"/>
              </a:ext>
            </a:extLst>
          </p:cNvPr>
          <p:cNvGrpSpPr/>
          <p:nvPr/>
        </p:nvGrpSpPr>
        <p:grpSpPr>
          <a:xfrm>
            <a:off x="914400" y="4233672"/>
            <a:ext cx="4983480" cy="1298448"/>
            <a:chOff x="914400" y="4233672"/>
            <a:chExt cx="4983480" cy="1298448"/>
          </a:xfrm>
        </p:grpSpPr>
        <p:sp>
          <p:nvSpPr>
            <p:cNvPr id="80" name="Shape 78"/>
            <p:cNvSpPr/>
            <p:nvPr/>
          </p:nvSpPr>
          <p:spPr>
            <a:xfrm>
              <a:off x="914400" y="4233672"/>
              <a:ext cx="4983480" cy="1298448"/>
            </a:xfrm>
            <a:prstGeom prst="roundRect">
              <a:avLst>
                <a:gd name="adj" fmla="val 12676"/>
              </a:avLst>
            </a:prstGeom>
            <a:solidFill>
              <a:srgbClr val="FFFFFF"/>
            </a:solidFill>
            <a:ln w="12700">
              <a:solidFill>
                <a:srgbClr val="DDE7F5">
                  <a:alpha val="90000"/>
                </a:srgbClr>
              </a:solidFill>
              <a:prstDash val="solid"/>
            </a:ln>
            <a:effectLst>
              <a:outerShdw blurRad="25400" dist="50800" dir="2700000" algn="bl" rotWithShape="0">
                <a:srgbClr val="94A3B8">
                  <a:alpha val="14000"/>
                </a:srgbClr>
              </a:outerShdw>
            </a:effectLst>
          </p:spPr>
        </p:sp>
        <p:sp>
          <p:nvSpPr>
            <p:cNvPr id="81" name="Shape 79"/>
            <p:cNvSpPr/>
            <p:nvPr/>
          </p:nvSpPr>
          <p:spPr>
            <a:xfrm>
              <a:off x="1143000" y="4507992"/>
              <a:ext cx="868680" cy="749808"/>
            </a:xfrm>
            <a:prstGeom prst="roundRect">
              <a:avLst>
                <a:gd name="adj" fmla="val 12195"/>
              </a:avLst>
            </a:prstGeom>
            <a:solidFill>
              <a:srgbClr val="6E3FE5"/>
            </a:solidFill>
            <a:ln w="12700">
              <a:solidFill>
                <a:srgbClr val="6E3FE5"/>
              </a:solidFill>
              <a:prstDash val="solid"/>
            </a:ln>
          </p:spPr>
        </p:sp>
        <p:sp>
          <p:nvSpPr>
            <p:cNvPr id="82" name="Text 80"/>
            <p:cNvSpPr/>
            <p:nvPr/>
          </p:nvSpPr>
          <p:spPr>
            <a:xfrm>
              <a:off x="1143000" y="4645152"/>
              <a:ext cx="86868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300" b="1" dirty="0">
                  <a:solidFill>
                    <a:srgbClr val="FFFFFF"/>
                  </a:solidFill>
                </a:rPr>
                <a:t>03</a:t>
              </a:r>
              <a:endParaRPr lang="en-US" sz="2300" dirty="0"/>
            </a:p>
          </p:txBody>
        </p:sp>
        <p:sp>
          <p:nvSpPr>
            <p:cNvPr id="83" name="Text 81"/>
            <p:cNvSpPr/>
            <p:nvPr/>
          </p:nvSpPr>
          <p:spPr>
            <a:xfrm>
              <a:off x="2240280" y="4507992"/>
              <a:ext cx="3017520" cy="6583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 fontScale="92500"/>
            </a:bodyPr>
            <a:lstStyle/>
            <a:p>
              <a:pPr marL="0" indent="0">
                <a:buNone/>
              </a:pPr>
              <a:r>
                <a:rPr lang="en-US" sz="1430" b="1" dirty="0">
                  <a:solidFill>
                    <a:srgbClr val="0B1F53"/>
                  </a:solidFill>
                </a:rPr>
                <a:t>Bagaimana menentukan titik puncak kepala dan titik kaki terbawah dari hasil pose estimation secara memadai?</a:t>
              </a:r>
              <a:endParaRPr lang="en-US" sz="1430" dirty="0"/>
            </a:p>
          </p:txBody>
        </p:sp>
        <p:sp>
          <p:nvSpPr>
            <p:cNvPr id="84" name="Shape 82"/>
            <p:cNvSpPr/>
            <p:nvPr/>
          </p:nvSpPr>
          <p:spPr>
            <a:xfrm>
              <a:off x="5239512" y="4462272"/>
              <a:ext cx="384048" cy="384048"/>
            </a:xfrm>
            <a:prstGeom prst="ellipse">
              <a:avLst/>
            </a:prstGeom>
            <a:solidFill>
              <a:srgbClr val="F1ECFF"/>
            </a:solidFill>
            <a:ln w="12700">
              <a:solidFill>
                <a:srgbClr val="E2D6FF"/>
              </a:solidFill>
              <a:prstDash val="solid"/>
            </a:ln>
          </p:spPr>
        </p:sp>
        <p:sp>
          <p:nvSpPr>
            <p:cNvPr id="85" name="Text 83"/>
            <p:cNvSpPr/>
            <p:nvPr/>
          </p:nvSpPr>
          <p:spPr>
            <a:xfrm>
              <a:off x="5257800" y="4517136"/>
              <a:ext cx="347472" cy="1463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 fontScale="77500" lnSpcReduction="20000"/>
            </a:bodyPr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rgbClr val="6E3FE5"/>
                  </a:solidFill>
                </a:rPr>
                <a:t>🧍</a:t>
              </a:r>
              <a:endParaRPr lang="en-US" sz="1400" dirty="0"/>
            </a:p>
          </p:txBody>
        </p: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9626A607-0BCC-EB22-2AB4-C32BC51ACF5A}"/>
              </a:ext>
            </a:extLst>
          </p:cNvPr>
          <p:cNvGrpSpPr/>
          <p:nvPr/>
        </p:nvGrpSpPr>
        <p:grpSpPr>
          <a:xfrm>
            <a:off x="6291072" y="4233672"/>
            <a:ext cx="4983480" cy="1298448"/>
            <a:chOff x="6291072" y="4233672"/>
            <a:chExt cx="4983480" cy="1298448"/>
          </a:xfrm>
        </p:grpSpPr>
        <p:sp>
          <p:nvSpPr>
            <p:cNvPr id="86" name="Shape 84"/>
            <p:cNvSpPr/>
            <p:nvPr/>
          </p:nvSpPr>
          <p:spPr>
            <a:xfrm>
              <a:off x="6291072" y="4233672"/>
              <a:ext cx="4983480" cy="1298448"/>
            </a:xfrm>
            <a:prstGeom prst="roundRect">
              <a:avLst>
                <a:gd name="adj" fmla="val 12676"/>
              </a:avLst>
            </a:prstGeom>
            <a:solidFill>
              <a:srgbClr val="FFFFFF"/>
            </a:solidFill>
            <a:ln w="12700">
              <a:solidFill>
                <a:srgbClr val="DDE7F5">
                  <a:alpha val="90000"/>
                </a:srgbClr>
              </a:solidFill>
              <a:prstDash val="solid"/>
            </a:ln>
            <a:effectLst>
              <a:outerShdw blurRad="25400" dist="50800" dir="2700000" algn="bl" rotWithShape="0">
                <a:srgbClr val="94A3B8">
                  <a:alpha val="14000"/>
                </a:srgbClr>
              </a:outerShdw>
            </a:effectLst>
          </p:spPr>
        </p:sp>
        <p:sp>
          <p:nvSpPr>
            <p:cNvPr id="87" name="Shape 85"/>
            <p:cNvSpPr/>
            <p:nvPr/>
          </p:nvSpPr>
          <p:spPr>
            <a:xfrm>
              <a:off x="6519672" y="4507992"/>
              <a:ext cx="868680" cy="749808"/>
            </a:xfrm>
            <a:prstGeom prst="roundRect">
              <a:avLst>
                <a:gd name="adj" fmla="val 12195"/>
              </a:avLst>
            </a:prstGeom>
            <a:solidFill>
              <a:srgbClr val="6E3FE5"/>
            </a:solidFill>
            <a:ln w="12700">
              <a:solidFill>
                <a:srgbClr val="6E3FE5"/>
              </a:solidFill>
              <a:prstDash val="solid"/>
            </a:ln>
          </p:spPr>
        </p:sp>
        <p:sp>
          <p:nvSpPr>
            <p:cNvPr id="88" name="Text 86"/>
            <p:cNvSpPr/>
            <p:nvPr/>
          </p:nvSpPr>
          <p:spPr>
            <a:xfrm>
              <a:off x="6519672" y="4645152"/>
              <a:ext cx="86868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300" b="1" dirty="0">
                  <a:solidFill>
                    <a:srgbClr val="FFFFFF"/>
                  </a:solidFill>
                </a:rPr>
                <a:t>04</a:t>
              </a:r>
              <a:endParaRPr lang="en-US" sz="2300" dirty="0"/>
            </a:p>
          </p:txBody>
        </p:sp>
        <p:sp>
          <p:nvSpPr>
            <p:cNvPr id="89" name="Text 87"/>
            <p:cNvSpPr/>
            <p:nvPr/>
          </p:nvSpPr>
          <p:spPr>
            <a:xfrm>
              <a:off x="7616952" y="4507992"/>
              <a:ext cx="3017520" cy="6583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 fontScale="92500" lnSpcReduction="20000"/>
            </a:bodyPr>
            <a:lstStyle/>
            <a:p>
              <a:pPr marL="0" indent="0">
                <a:buNone/>
              </a:pPr>
              <a:r>
                <a:rPr lang="en-US" sz="1430" b="1" dirty="0">
                  <a:solidFill>
                    <a:srgbClr val="0B1F53"/>
                  </a:solidFill>
                </a:rPr>
                <a:t>Seberapa akurat hasil pengukuran aplikasi dibandingkan dengan pengukuran aktual menggunakan stadiometer?</a:t>
              </a:r>
              <a:endParaRPr lang="en-US" sz="1430" dirty="0"/>
            </a:p>
          </p:txBody>
        </p:sp>
        <p:sp>
          <p:nvSpPr>
            <p:cNvPr id="90" name="Shape 88"/>
            <p:cNvSpPr/>
            <p:nvPr/>
          </p:nvSpPr>
          <p:spPr>
            <a:xfrm>
              <a:off x="10616184" y="4462272"/>
              <a:ext cx="384048" cy="384048"/>
            </a:xfrm>
            <a:prstGeom prst="ellipse">
              <a:avLst/>
            </a:prstGeom>
            <a:solidFill>
              <a:srgbClr val="F1ECFF"/>
            </a:solidFill>
            <a:ln w="12700">
              <a:solidFill>
                <a:srgbClr val="E2D6FF"/>
              </a:solidFill>
              <a:prstDash val="solid"/>
            </a:ln>
          </p:spPr>
        </p:sp>
        <p:sp>
          <p:nvSpPr>
            <p:cNvPr id="91" name="Text 89"/>
            <p:cNvSpPr/>
            <p:nvPr/>
          </p:nvSpPr>
          <p:spPr>
            <a:xfrm>
              <a:off x="10634472" y="4517136"/>
              <a:ext cx="347472" cy="1463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 fontScale="77500" lnSpcReduction="20000"/>
            </a:bodyPr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rgbClr val="6E3FE5"/>
                  </a:solidFill>
                </a:rPr>
                <a:t>▥</a:t>
              </a:r>
              <a:endParaRPr lang="en-US" sz="1400" dirty="0"/>
            </a:p>
          </p:txBody>
        </p:sp>
      </p:grp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4FF8A9C5-0C8C-936C-02CE-A90865F523A9}"/>
              </a:ext>
            </a:extLst>
          </p:cNvPr>
          <p:cNvGrpSpPr/>
          <p:nvPr/>
        </p:nvGrpSpPr>
        <p:grpSpPr>
          <a:xfrm>
            <a:off x="3977640" y="256032"/>
            <a:ext cx="4251960" cy="713232"/>
            <a:chOff x="3977640" y="256032"/>
            <a:chExt cx="4251960" cy="713232"/>
          </a:xfrm>
        </p:grpSpPr>
        <p:sp>
          <p:nvSpPr>
            <p:cNvPr id="110" name="Shape 51">
              <a:extLst>
                <a:ext uri="{FF2B5EF4-FFF2-40B4-BE49-F238E27FC236}">
                  <a16:creationId xmlns:a16="http://schemas.microsoft.com/office/drawing/2014/main" id="{3D0F96AD-3073-31F8-0740-6DD8A8254F7A}"/>
                </a:ext>
              </a:extLst>
            </p:cNvPr>
            <p:cNvSpPr/>
            <p:nvPr/>
          </p:nvSpPr>
          <p:spPr>
            <a:xfrm>
              <a:off x="3977640" y="256032"/>
              <a:ext cx="4251960" cy="713232"/>
            </a:xfrm>
            <a:prstGeom prst="roundRect">
              <a:avLst>
                <a:gd name="adj" fmla="val 17949"/>
              </a:avLst>
            </a:prstGeom>
            <a:solidFill>
              <a:srgbClr val="FFFFFF"/>
            </a:solidFill>
            <a:ln w="12700">
              <a:solidFill>
                <a:srgbClr val="E0E8F6">
                  <a:alpha val="85000"/>
                </a:srgbClr>
              </a:solidFill>
              <a:prstDash val="solid"/>
            </a:ln>
            <a:effectLst>
              <a:outerShdw blurRad="25400" dist="50800" dir="2700000" algn="bl" rotWithShape="0">
                <a:srgbClr val="97A6BF">
                  <a:alpha val="12000"/>
                </a:srgbClr>
              </a:outerShdw>
            </a:effectLst>
          </p:spPr>
        </p:sp>
        <p:sp>
          <p:nvSpPr>
            <p:cNvPr id="111" name="Text 54">
              <a:extLst>
                <a:ext uri="{FF2B5EF4-FFF2-40B4-BE49-F238E27FC236}">
                  <a16:creationId xmlns:a16="http://schemas.microsoft.com/office/drawing/2014/main" id="{03880E34-2BBB-05D8-A260-69FCFC61756E}"/>
                </a:ext>
              </a:extLst>
            </p:cNvPr>
            <p:cNvSpPr/>
            <p:nvPr/>
          </p:nvSpPr>
          <p:spPr>
            <a:xfrm>
              <a:off x="4727448" y="402336"/>
              <a:ext cx="114300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800" b="1" dirty="0">
                  <a:solidFill>
                    <a:srgbClr val="0B1F53"/>
                  </a:solidFill>
                  <a:latin typeface="Aptos Display" pitchFamily="34" charset="0"/>
                  <a:ea typeface="Aptos Display" pitchFamily="34" charset="-122"/>
                  <a:cs typeface="Aptos Display" pitchFamily="34" charset="-120"/>
                </a:rPr>
                <a:t>ITENAS</a:t>
              </a:r>
              <a:endParaRPr lang="en-US" sz="1800" dirty="0"/>
            </a:p>
          </p:txBody>
        </p:sp>
        <p:sp>
          <p:nvSpPr>
            <p:cNvPr id="112" name="Text 55">
              <a:extLst>
                <a:ext uri="{FF2B5EF4-FFF2-40B4-BE49-F238E27FC236}">
                  <a16:creationId xmlns:a16="http://schemas.microsoft.com/office/drawing/2014/main" id="{7ECF625B-FB9B-A8B0-35A4-8F71512C6D31}"/>
                </a:ext>
              </a:extLst>
            </p:cNvPr>
            <p:cNvSpPr/>
            <p:nvPr/>
          </p:nvSpPr>
          <p:spPr>
            <a:xfrm>
              <a:off x="4736592" y="640080"/>
              <a:ext cx="123444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650" dirty="0">
                  <a:solidFill>
                    <a:srgbClr val="0B1F53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Institut Teknologi Nasional</a:t>
              </a:r>
              <a:endParaRPr lang="en-US" sz="650" dirty="0"/>
            </a:p>
            <a:p>
              <a:pPr marL="0" indent="0">
                <a:buNone/>
              </a:pPr>
              <a:r>
                <a:rPr lang="en-US" sz="650" dirty="0">
                  <a:solidFill>
                    <a:srgbClr val="0B1F53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Bandung</a:t>
              </a:r>
              <a:endParaRPr lang="en-US" sz="650" dirty="0"/>
            </a:p>
          </p:txBody>
        </p:sp>
        <p:sp>
          <p:nvSpPr>
            <p:cNvPr id="113" name="Shape 56">
              <a:extLst>
                <a:ext uri="{FF2B5EF4-FFF2-40B4-BE49-F238E27FC236}">
                  <a16:creationId xmlns:a16="http://schemas.microsoft.com/office/drawing/2014/main" id="{C55A3CFD-E59D-00A9-8772-BF5103C1E530}"/>
                </a:ext>
              </a:extLst>
            </p:cNvPr>
            <p:cNvSpPr/>
            <p:nvPr/>
          </p:nvSpPr>
          <p:spPr>
            <a:xfrm>
              <a:off x="6126480" y="411480"/>
              <a:ext cx="0" cy="402336"/>
            </a:xfrm>
            <a:prstGeom prst="line">
              <a:avLst/>
            </a:prstGeom>
            <a:noFill/>
            <a:ln w="12700">
              <a:solidFill>
                <a:srgbClr val="B8C2E8"/>
              </a:solidFill>
              <a:prstDash val="solid"/>
            </a:ln>
          </p:spPr>
        </p:sp>
        <p:sp>
          <p:nvSpPr>
            <p:cNvPr id="114" name="Text 58">
              <a:extLst>
                <a:ext uri="{FF2B5EF4-FFF2-40B4-BE49-F238E27FC236}">
                  <a16:creationId xmlns:a16="http://schemas.microsoft.com/office/drawing/2014/main" id="{ECF0C497-BC99-6A06-CC66-D25A50DD0D69}"/>
                </a:ext>
              </a:extLst>
            </p:cNvPr>
            <p:cNvSpPr/>
            <p:nvPr/>
          </p:nvSpPr>
          <p:spPr>
            <a:xfrm>
              <a:off x="6830568" y="457200"/>
              <a:ext cx="109728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700" b="1" dirty="0">
                  <a:solidFill>
                    <a:srgbClr val="C00000"/>
                  </a:solidFill>
                  <a:latin typeface="Aptos Display" pitchFamily="34" charset="0"/>
                  <a:ea typeface="Aptos Display" pitchFamily="34" charset="-122"/>
                  <a:cs typeface="Aptos Display" pitchFamily="34" charset="-120"/>
                </a:rPr>
                <a:t>Informatika</a:t>
              </a:r>
              <a:endParaRPr lang="en-US" sz="1700" dirty="0">
                <a:solidFill>
                  <a:srgbClr val="C00000"/>
                </a:solidFill>
              </a:endParaRPr>
            </a:p>
          </p:txBody>
        </p:sp>
        <p:pic>
          <p:nvPicPr>
            <p:cNvPr id="115" name="Picture 114">
              <a:extLst>
                <a:ext uri="{FF2B5EF4-FFF2-40B4-BE49-F238E27FC236}">
                  <a16:creationId xmlns:a16="http://schemas.microsoft.com/office/drawing/2014/main" id="{AAD3EFE2-3C2E-2E9E-FAF4-04CAC6FA136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34755" t="29153" r="36238" b="33855"/>
            <a:stretch>
              <a:fillRect/>
            </a:stretch>
          </p:blipFill>
          <p:spPr>
            <a:xfrm>
              <a:off x="6300861" y="396716"/>
              <a:ext cx="346827" cy="345948"/>
            </a:xfrm>
            <a:prstGeom prst="rect">
              <a:avLst/>
            </a:prstGeom>
          </p:spPr>
        </p:pic>
        <p:pic>
          <p:nvPicPr>
            <p:cNvPr id="116" name="Picture 115">
              <a:extLst>
                <a:ext uri="{FF2B5EF4-FFF2-40B4-BE49-F238E27FC236}">
                  <a16:creationId xmlns:a16="http://schemas.microsoft.com/office/drawing/2014/main" id="{16E1C26F-335F-6B58-DD64-14D85051841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133088" y="339090"/>
              <a:ext cx="565404" cy="565404"/>
            </a:xfrm>
            <a:prstGeom prst="rect">
              <a:avLst/>
            </a:prstGeom>
          </p:spPr>
        </p:pic>
      </p:grp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73152"/>
            <a:ext cx="1234440" cy="749808"/>
          </a:xfrm>
          <a:prstGeom prst="ellipse">
            <a:avLst/>
          </a:prstGeom>
          <a:solidFill>
            <a:srgbClr val="EEE9FF">
              <a:alpha val="8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588752" y="5897880"/>
            <a:ext cx="1261872" cy="658368"/>
          </a:xfrm>
          <a:prstGeom prst="ellipse">
            <a:avLst/>
          </a:prstGeom>
          <a:solidFill>
            <a:srgbClr val="E2F2FF">
              <a:alpha val="8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" y="1143000"/>
            <a:ext cx="502920" cy="0"/>
          </a:xfrm>
          <a:prstGeom prst="line">
            <a:avLst/>
          </a:prstGeom>
          <a:noFill/>
          <a:ln w="8890">
            <a:solidFill>
              <a:srgbClr val="BFD8FF">
                <a:alpha val="6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106424"/>
            <a:ext cx="54864" cy="54864"/>
          </a:xfrm>
          <a:prstGeom prst="ellipse">
            <a:avLst/>
          </a:prstGeom>
          <a:solidFill>
            <a:srgbClr val="FFFFFF">
              <a:alpha val="0"/>
            </a:srgbClr>
          </a:solidFill>
          <a:ln w="8890">
            <a:solidFill>
              <a:srgbClr val="BFD8FF">
                <a:alpha val="6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31652" y="2743200"/>
            <a:ext cx="438912" cy="0"/>
          </a:xfrm>
          <a:prstGeom prst="line">
            <a:avLst/>
          </a:prstGeom>
          <a:noFill/>
          <a:ln w="8890">
            <a:solidFill>
              <a:srgbClr val="BFD8FF">
                <a:alpha val="6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849356" y="2706624"/>
            <a:ext cx="54864" cy="54864"/>
          </a:xfrm>
          <a:prstGeom prst="ellipse">
            <a:avLst/>
          </a:prstGeom>
          <a:solidFill>
            <a:srgbClr val="FFFFFF">
              <a:alpha val="0"/>
            </a:srgbClr>
          </a:solidFill>
          <a:ln w="8890">
            <a:solidFill>
              <a:srgbClr val="BFD8FF">
                <a:alpha val="6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4592" y="1581912"/>
            <a:ext cx="502920" cy="0"/>
          </a:xfrm>
          <a:prstGeom prst="line">
            <a:avLst/>
          </a:prstGeom>
          <a:noFill/>
          <a:ln w="8890">
            <a:solidFill>
              <a:srgbClr val="BFD8FF">
                <a:alpha val="6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1545336"/>
            <a:ext cx="54864" cy="54864"/>
          </a:xfrm>
          <a:prstGeom prst="ellipse">
            <a:avLst/>
          </a:prstGeom>
          <a:solidFill>
            <a:srgbClr val="FFFFFF">
              <a:alpha val="0"/>
            </a:srgbClr>
          </a:solidFill>
          <a:ln w="8890">
            <a:solidFill>
              <a:srgbClr val="BFD8FF">
                <a:alpha val="6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931652" y="3182112"/>
            <a:ext cx="438912" cy="0"/>
          </a:xfrm>
          <a:prstGeom prst="line">
            <a:avLst/>
          </a:prstGeom>
          <a:noFill/>
          <a:ln w="8890">
            <a:solidFill>
              <a:srgbClr val="BFD8FF">
                <a:alpha val="6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849356" y="3145536"/>
            <a:ext cx="54864" cy="54864"/>
          </a:xfrm>
          <a:prstGeom prst="ellipse">
            <a:avLst/>
          </a:prstGeom>
          <a:solidFill>
            <a:srgbClr val="FFFFFF">
              <a:alpha val="0"/>
            </a:srgbClr>
          </a:solidFill>
          <a:ln w="8890">
            <a:solidFill>
              <a:srgbClr val="BFD8FF">
                <a:alpha val="6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64592" y="2020824"/>
            <a:ext cx="502920" cy="0"/>
          </a:xfrm>
          <a:prstGeom prst="line">
            <a:avLst/>
          </a:prstGeom>
          <a:noFill/>
          <a:ln w="8890">
            <a:solidFill>
              <a:srgbClr val="BFD8FF">
                <a:alpha val="62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5800" y="1984248"/>
            <a:ext cx="54864" cy="54864"/>
          </a:xfrm>
          <a:prstGeom prst="ellipse">
            <a:avLst/>
          </a:prstGeom>
          <a:solidFill>
            <a:srgbClr val="FFFFFF">
              <a:alpha val="0"/>
            </a:srgbClr>
          </a:solidFill>
          <a:ln w="8890">
            <a:solidFill>
              <a:srgbClr val="BFD8FF">
                <a:alpha val="6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931652" y="3621024"/>
            <a:ext cx="438912" cy="0"/>
          </a:xfrm>
          <a:prstGeom prst="line">
            <a:avLst/>
          </a:prstGeom>
          <a:noFill/>
          <a:ln w="8890">
            <a:solidFill>
              <a:srgbClr val="BFD8FF">
                <a:alpha val="6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849356" y="3584448"/>
            <a:ext cx="54864" cy="54864"/>
          </a:xfrm>
          <a:prstGeom prst="ellipse">
            <a:avLst/>
          </a:prstGeom>
          <a:solidFill>
            <a:srgbClr val="FFFFFF">
              <a:alpha val="0"/>
            </a:srgbClr>
          </a:solidFill>
          <a:ln w="8890">
            <a:solidFill>
              <a:srgbClr val="BFD8FF">
                <a:alpha val="6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331720" y="694944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450592" y="694944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569464" y="694944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688336" y="694944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807208" y="694944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926080" y="694944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31720" y="813816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450592" y="813816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569464" y="813816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688336" y="813816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807208" y="813816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926080" y="813816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331720" y="932688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450592" y="932688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569464" y="932688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688336" y="932688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807208" y="932688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2926080" y="932688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0058400" y="438912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dirty="0">
                <a:solidFill>
                  <a:srgbClr val="6EA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✦</a:t>
            </a:r>
            <a:endParaRPr lang="en-US" sz="2300" dirty="0"/>
          </a:p>
        </p:txBody>
      </p:sp>
      <p:sp>
        <p:nvSpPr>
          <p:cNvPr id="62" name="Shape 60"/>
          <p:cNvSpPr/>
          <p:nvPr/>
        </p:nvSpPr>
        <p:spPr>
          <a:xfrm>
            <a:off x="2834640" y="1243584"/>
            <a:ext cx="1645920" cy="0"/>
          </a:xfrm>
          <a:prstGeom prst="line">
            <a:avLst/>
          </a:prstGeom>
          <a:noFill/>
          <a:ln w="19050">
            <a:solidFill>
              <a:srgbClr val="6E3FE5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2779776" y="1207008"/>
            <a:ext cx="73152" cy="73152"/>
          </a:xfrm>
          <a:prstGeom prst="ellipse">
            <a:avLst/>
          </a:prstGeom>
          <a:solidFill>
            <a:srgbClr val="6E3FE5"/>
          </a:solidFill>
          <a:ln w="12700">
            <a:solidFill>
              <a:srgbClr val="6E3FE5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7726680" y="1243584"/>
            <a:ext cx="1645920" cy="0"/>
          </a:xfrm>
          <a:prstGeom prst="line">
            <a:avLst/>
          </a:prstGeom>
          <a:noFill/>
          <a:ln w="19050">
            <a:solidFill>
              <a:srgbClr val="6E3FE5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9372600" y="1207008"/>
            <a:ext cx="73152" cy="73152"/>
          </a:xfrm>
          <a:prstGeom prst="ellipse">
            <a:avLst/>
          </a:prstGeom>
          <a:solidFill>
            <a:srgbClr val="6E3FE5"/>
          </a:solidFill>
          <a:ln w="12700">
            <a:solidFill>
              <a:srgbClr val="6E3FE5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498848" y="1078992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6E3FE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SEMINAR HASIL</a:t>
            </a:r>
            <a:endParaRPr lang="en-US" sz="2500" dirty="0"/>
          </a:p>
        </p:txBody>
      </p:sp>
      <p:sp>
        <p:nvSpPr>
          <p:cNvPr id="67" name="Text 65"/>
          <p:cNvSpPr/>
          <p:nvPr/>
        </p:nvSpPr>
        <p:spPr>
          <a:xfrm>
            <a:off x="594360" y="1444752"/>
            <a:ext cx="11018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B1F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Tujuan Penelitian</a:t>
            </a:r>
            <a:endParaRPr lang="en-US" sz="3400" dirty="0"/>
          </a:p>
        </p:txBody>
      </p:sp>
      <p:sp>
        <p:nvSpPr>
          <p:cNvPr id="75" name="Shape 73"/>
          <p:cNvSpPr/>
          <p:nvPr/>
        </p:nvSpPr>
        <p:spPr>
          <a:xfrm>
            <a:off x="1330452" y="2468880"/>
            <a:ext cx="2606040" cy="26974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DE7F5">
                <a:alpha val="90000"/>
              </a:srgbClr>
            </a:solidFill>
            <a:prstDash val="solid"/>
          </a:ln>
          <a:effectLst>
            <a:outerShdw blurRad="25400" dist="50800" dir="2700000" algn="bl" rotWithShape="0">
              <a:srgbClr val="94A3B8">
                <a:alpha val="14000"/>
              </a:srgbClr>
            </a:outerShdw>
          </a:effectLst>
        </p:spPr>
      </p:sp>
      <p:sp>
        <p:nvSpPr>
          <p:cNvPr id="76" name="Shape 74"/>
          <p:cNvSpPr/>
          <p:nvPr/>
        </p:nvSpPr>
        <p:spPr>
          <a:xfrm>
            <a:off x="1559052" y="2697480"/>
            <a:ext cx="411480" cy="301752"/>
          </a:xfrm>
          <a:prstGeom prst="roundRect">
            <a:avLst>
              <a:gd name="adj" fmla="val 24242"/>
            </a:avLst>
          </a:prstGeom>
          <a:solidFill>
            <a:srgbClr val="6E3FE5"/>
          </a:solidFill>
          <a:ln w="12700">
            <a:solidFill>
              <a:srgbClr val="6E3FE5">
                <a:alpha val="90000"/>
              </a:srgbClr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1559052" y="2734056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200" dirty="0"/>
          </a:p>
        </p:txBody>
      </p:sp>
      <p:sp>
        <p:nvSpPr>
          <p:cNvPr id="78" name="Shape 76"/>
          <p:cNvSpPr/>
          <p:nvPr/>
        </p:nvSpPr>
        <p:spPr>
          <a:xfrm>
            <a:off x="2116836" y="2816352"/>
            <a:ext cx="960120" cy="731520"/>
          </a:xfrm>
          <a:prstGeom prst="roundRect">
            <a:avLst>
              <a:gd name="adj" fmla="val 11250"/>
            </a:avLst>
          </a:prstGeom>
          <a:solidFill>
            <a:srgbClr val="F1ECFF"/>
          </a:solidFill>
          <a:ln w="12700">
            <a:solidFill>
              <a:srgbClr val="E1D7FF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2263140" y="2953512"/>
            <a:ext cx="6583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100" dirty="0">
                <a:solidFill>
                  <a:srgbClr val="6E3FE5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▱</a:t>
            </a:r>
            <a:endParaRPr lang="en-US" sz="2100" dirty="0"/>
          </a:p>
        </p:txBody>
      </p:sp>
      <p:sp>
        <p:nvSpPr>
          <p:cNvPr id="80" name="Shape 78"/>
          <p:cNvSpPr/>
          <p:nvPr/>
        </p:nvSpPr>
        <p:spPr>
          <a:xfrm>
            <a:off x="2171700" y="3776472"/>
            <a:ext cx="868680" cy="0"/>
          </a:xfrm>
          <a:prstGeom prst="line">
            <a:avLst/>
          </a:prstGeom>
          <a:noFill/>
          <a:ln w="25400">
            <a:solidFill>
              <a:srgbClr val="6E3FE5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1650492" y="4041648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0B1F53"/>
                </a:solidFill>
              </a:rPr>
              <a:t>Menerapkan perspective correction </a:t>
            </a:r>
            <a:r>
              <a:rPr lang="en-US" sz="1300" dirty="0" err="1">
                <a:solidFill>
                  <a:srgbClr val="0B1F53"/>
                </a:solidFill>
              </a:rPr>
              <a:t>untuk</a:t>
            </a:r>
            <a:r>
              <a:rPr lang="en-US" sz="1300" dirty="0">
                <a:solidFill>
                  <a:srgbClr val="0B1F53"/>
                </a:solidFill>
              </a:rPr>
              <a:t> memperbaiki distorsi perspektif.</a:t>
            </a:r>
            <a:endParaRPr lang="en-US" sz="1300" dirty="0"/>
          </a:p>
        </p:txBody>
      </p:sp>
      <p:sp>
        <p:nvSpPr>
          <p:cNvPr id="82" name="Shape 80"/>
          <p:cNvSpPr/>
          <p:nvPr/>
        </p:nvSpPr>
        <p:spPr>
          <a:xfrm>
            <a:off x="5175504" y="2468880"/>
            <a:ext cx="2606040" cy="26974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DE7F5">
                <a:alpha val="90000"/>
              </a:srgbClr>
            </a:solidFill>
            <a:prstDash val="solid"/>
          </a:ln>
          <a:effectLst>
            <a:outerShdw blurRad="25400" dist="50800" dir="2700000" algn="bl" rotWithShape="0">
              <a:srgbClr val="94A3B8">
                <a:alpha val="14000"/>
              </a:srgbClr>
            </a:outerShdw>
          </a:effectLst>
        </p:spPr>
      </p:sp>
      <p:sp>
        <p:nvSpPr>
          <p:cNvPr id="83" name="Shape 81"/>
          <p:cNvSpPr/>
          <p:nvPr/>
        </p:nvSpPr>
        <p:spPr>
          <a:xfrm>
            <a:off x="5404104" y="2697480"/>
            <a:ext cx="411480" cy="301752"/>
          </a:xfrm>
          <a:prstGeom prst="roundRect">
            <a:avLst>
              <a:gd name="adj" fmla="val 24242"/>
            </a:avLst>
          </a:prstGeom>
          <a:solidFill>
            <a:srgbClr val="6E3FE5"/>
          </a:solidFill>
          <a:ln w="12700">
            <a:solidFill>
              <a:srgbClr val="6E3FE5">
                <a:alpha val="90000"/>
              </a:srgbClr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5404104" y="2734056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200" dirty="0"/>
          </a:p>
        </p:txBody>
      </p:sp>
      <p:sp>
        <p:nvSpPr>
          <p:cNvPr id="85" name="Shape 83"/>
          <p:cNvSpPr/>
          <p:nvPr/>
        </p:nvSpPr>
        <p:spPr>
          <a:xfrm>
            <a:off x="5961888" y="2816352"/>
            <a:ext cx="960120" cy="731520"/>
          </a:xfrm>
          <a:prstGeom prst="roundRect">
            <a:avLst>
              <a:gd name="adj" fmla="val 11250"/>
            </a:avLst>
          </a:prstGeom>
          <a:solidFill>
            <a:srgbClr val="F1ECFF"/>
          </a:solidFill>
          <a:ln w="12700">
            <a:solidFill>
              <a:srgbClr val="E1D7FF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6108192" y="2953512"/>
            <a:ext cx="6583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100" dirty="0">
                <a:solidFill>
                  <a:srgbClr val="6E3FE5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🧍</a:t>
            </a:r>
            <a:endParaRPr lang="en-US" sz="2100" dirty="0"/>
          </a:p>
        </p:txBody>
      </p:sp>
      <p:sp>
        <p:nvSpPr>
          <p:cNvPr id="87" name="Shape 85"/>
          <p:cNvSpPr/>
          <p:nvPr/>
        </p:nvSpPr>
        <p:spPr>
          <a:xfrm>
            <a:off x="6016752" y="3776472"/>
            <a:ext cx="868680" cy="0"/>
          </a:xfrm>
          <a:prstGeom prst="line">
            <a:avLst/>
          </a:prstGeom>
          <a:noFill/>
          <a:ln w="25400">
            <a:solidFill>
              <a:srgbClr val="6E3FE5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5495544" y="3831336"/>
            <a:ext cx="1965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300" dirty="0">
                <a:solidFill>
                  <a:srgbClr val="0B1F53"/>
                </a:solidFill>
              </a:rPr>
              <a:t>Menggunakan MediaPipe Pose untuk memperoleh landmark </a:t>
            </a:r>
            <a:r>
              <a:rPr lang="en-US" sz="1300" dirty="0" err="1">
                <a:solidFill>
                  <a:srgbClr val="0B1F53"/>
                </a:solidFill>
              </a:rPr>
              <a:t>tubuh</a:t>
            </a:r>
            <a:r>
              <a:rPr lang="en-US" sz="1300" dirty="0">
                <a:solidFill>
                  <a:srgbClr val="0B1F53"/>
                </a:solidFill>
              </a:rPr>
              <a:t> dan </a:t>
            </a:r>
            <a:r>
              <a:rPr lang="en-US" sz="1300" dirty="0" err="1">
                <a:solidFill>
                  <a:srgbClr val="0B1F53"/>
                </a:solidFill>
              </a:rPr>
              <a:t>memperoleh</a:t>
            </a:r>
            <a:r>
              <a:rPr lang="en-US" sz="1300" dirty="0">
                <a:solidFill>
                  <a:srgbClr val="0B1F53"/>
                </a:solidFill>
              </a:rPr>
              <a:t> estimasi titik kepala serta kaki.</a:t>
            </a:r>
            <a:endParaRPr lang="en-US" sz="1300" dirty="0"/>
          </a:p>
        </p:txBody>
      </p:sp>
      <p:sp>
        <p:nvSpPr>
          <p:cNvPr id="89" name="Shape 87"/>
          <p:cNvSpPr/>
          <p:nvPr/>
        </p:nvSpPr>
        <p:spPr>
          <a:xfrm>
            <a:off x="8846820" y="2468880"/>
            <a:ext cx="2606040" cy="26974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DE7F5">
                <a:alpha val="90000"/>
              </a:srgbClr>
            </a:solidFill>
            <a:prstDash val="solid"/>
          </a:ln>
          <a:effectLst>
            <a:outerShdw blurRad="25400" dist="50800" dir="2700000" algn="bl" rotWithShape="0">
              <a:srgbClr val="94A3B8">
                <a:alpha val="14000"/>
              </a:srgbClr>
            </a:outerShdw>
          </a:effectLst>
        </p:spPr>
      </p:sp>
      <p:sp>
        <p:nvSpPr>
          <p:cNvPr id="90" name="Shape 88"/>
          <p:cNvSpPr/>
          <p:nvPr/>
        </p:nvSpPr>
        <p:spPr>
          <a:xfrm>
            <a:off x="9075420" y="2697480"/>
            <a:ext cx="411480" cy="301752"/>
          </a:xfrm>
          <a:prstGeom prst="roundRect">
            <a:avLst>
              <a:gd name="adj" fmla="val 24242"/>
            </a:avLst>
          </a:prstGeom>
          <a:solidFill>
            <a:srgbClr val="6E3FE5"/>
          </a:solidFill>
          <a:ln w="12700">
            <a:solidFill>
              <a:srgbClr val="6E3FE5">
                <a:alpha val="90000"/>
              </a:srgbClr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9075420" y="2734056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200" dirty="0"/>
          </a:p>
        </p:txBody>
      </p:sp>
      <p:sp>
        <p:nvSpPr>
          <p:cNvPr id="92" name="Shape 90"/>
          <p:cNvSpPr/>
          <p:nvPr/>
        </p:nvSpPr>
        <p:spPr>
          <a:xfrm>
            <a:off x="9633204" y="2816352"/>
            <a:ext cx="960120" cy="731520"/>
          </a:xfrm>
          <a:prstGeom prst="roundRect">
            <a:avLst>
              <a:gd name="adj" fmla="val 11250"/>
            </a:avLst>
          </a:prstGeom>
          <a:solidFill>
            <a:srgbClr val="F1ECFF"/>
          </a:solidFill>
          <a:ln w="12700">
            <a:solidFill>
              <a:srgbClr val="E1D7FF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9779508" y="2953512"/>
            <a:ext cx="6583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100" dirty="0">
                <a:solidFill>
                  <a:srgbClr val="6E3FE5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📈</a:t>
            </a:r>
            <a:endParaRPr lang="en-US" sz="2100" dirty="0"/>
          </a:p>
        </p:txBody>
      </p:sp>
      <p:sp>
        <p:nvSpPr>
          <p:cNvPr id="94" name="Shape 92"/>
          <p:cNvSpPr/>
          <p:nvPr/>
        </p:nvSpPr>
        <p:spPr>
          <a:xfrm>
            <a:off x="9688068" y="3776472"/>
            <a:ext cx="868680" cy="0"/>
          </a:xfrm>
          <a:prstGeom prst="line">
            <a:avLst/>
          </a:prstGeom>
          <a:noFill/>
          <a:ln w="25400">
            <a:solidFill>
              <a:srgbClr val="6E3FE5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9166860" y="4041648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0B1F53"/>
                </a:solidFill>
              </a:rPr>
              <a:t>Mengukur tinggi badan dan mengevaluasi akurasi hasil aplikasi menggunakan galat absolut dan MAE.</a:t>
            </a:r>
            <a:endParaRPr lang="en-US" sz="1300" dirty="0"/>
          </a:p>
        </p:txBody>
      </p:sp>
      <p:grpSp>
        <p:nvGrpSpPr>
          <p:cNvPr id="113" name="Group 112">
            <a:extLst>
              <a:ext uri="{FF2B5EF4-FFF2-40B4-BE49-F238E27FC236}">
                <a16:creationId xmlns:a16="http://schemas.microsoft.com/office/drawing/2014/main" id="{9EA37741-8769-9F9A-81A0-F463D8547868}"/>
              </a:ext>
            </a:extLst>
          </p:cNvPr>
          <p:cNvGrpSpPr/>
          <p:nvPr/>
        </p:nvGrpSpPr>
        <p:grpSpPr>
          <a:xfrm>
            <a:off x="3977640" y="256032"/>
            <a:ext cx="4251960" cy="713232"/>
            <a:chOff x="3977640" y="256032"/>
            <a:chExt cx="4251960" cy="713232"/>
          </a:xfrm>
        </p:grpSpPr>
        <p:sp>
          <p:nvSpPr>
            <p:cNvPr id="114" name="Shape 51">
              <a:extLst>
                <a:ext uri="{FF2B5EF4-FFF2-40B4-BE49-F238E27FC236}">
                  <a16:creationId xmlns:a16="http://schemas.microsoft.com/office/drawing/2014/main" id="{BCB9FD85-309F-B2FB-E2B8-5FDD28B41B35}"/>
                </a:ext>
              </a:extLst>
            </p:cNvPr>
            <p:cNvSpPr/>
            <p:nvPr/>
          </p:nvSpPr>
          <p:spPr>
            <a:xfrm>
              <a:off x="3977640" y="256032"/>
              <a:ext cx="4251960" cy="713232"/>
            </a:xfrm>
            <a:prstGeom prst="roundRect">
              <a:avLst>
                <a:gd name="adj" fmla="val 17949"/>
              </a:avLst>
            </a:prstGeom>
            <a:solidFill>
              <a:srgbClr val="FFFFFF"/>
            </a:solidFill>
            <a:ln w="12700">
              <a:solidFill>
                <a:srgbClr val="E0E8F6">
                  <a:alpha val="85000"/>
                </a:srgbClr>
              </a:solidFill>
              <a:prstDash val="solid"/>
            </a:ln>
            <a:effectLst>
              <a:outerShdw blurRad="25400" dist="50800" dir="2700000" algn="bl" rotWithShape="0">
                <a:srgbClr val="97A6BF">
                  <a:alpha val="12000"/>
                </a:srgbClr>
              </a:outerShdw>
            </a:effectLst>
          </p:spPr>
        </p:sp>
        <p:sp>
          <p:nvSpPr>
            <p:cNvPr id="115" name="Text 54">
              <a:extLst>
                <a:ext uri="{FF2B5EF4-FFF2-40B4-BE49-F238E27FC236}">
                  <a16:creationId xmlns:a16="http://schemas.microsoft.com/office/drawing/2014/main" id="{F4E85A0B-FC42-5F3C-434E-092DE22B58EA}"/>
                </a:ext>
              </a:extLst>
            </p:cNvPr>
            <p:cNvSpPr/>
            <p:nvPr/>
          </p:nvSpPr>
          <p:spPr>
            <a:xfrm>
              <a:off x="4727448" y="402336"/>
              <a:ext cx="114300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800" b="1" dirty="0">
                  <a:solidFill>
                    <a:srgbClr val="0B1F53"/>
                  </a:solidFill>
                  <a:latin typeface="Aptos Display" pitchFamily="34" charset="0"/>
                  <a:ea typeface="Aptos Display" pitchFamily="34" charset="-122"/>
                  <a:cs typeface="Aptos Display" pitchFamily="34" charset="-120"/>
                </a:rPr>
                <a:t>ITENAS</a:t>
              </a:r>
              <a:endParaRPr lang="en-US" sz="1800" dirty="0"/>
            </a:p>
          </p:txBody>
        </p:sp>
        <p:sp>
          <p:nvSpPr>
            <p:cNvPr id="116" name="Text 55">
              <a:extLst>
                <a:ext uri="{FF2B5EF4-FFF2-40B4-BE49-F238E27FC236}">
                  <a16:creationId xmlns:a16="http://schemas.microsoft.com/office/drawing/2014/main" id="{169A79F5-A33B-454D-A55E-8E9AE2A2A55F}"/>
                </a:ext>
              </a:extLst>
            </p:cNvPr>
            <p:cNvSpPr/>
            <p:nvPr/>
          </p:nvSpPr>
          <p:spPr>
            <a:xfrm>
              <a:off x="4736592" y="640080"/>
              <a:ext cx="123444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650" dirty="0">
                  <a:solidFill>
                    <a:srgbClr val="0B1F53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Institut Teknologi Nasional</a:t>
              </a:r>
              <a:endParaRPr lang="en-US" sz="650" dirty="0"/>
            </a:p>
            <a:p>
              <a:pPr marL="0" indent="0">
                <a:buNone/>
              </a:pPr>
              <a:r>
                <a:rPr lang="en-US" sz="650" dirty="0">
                  <a:solidFill>
                    <a:srgbClr val="0B1F53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Bandung</a:t>
              </a:r>
              <a:endParaRPr lang="en-US" sz="650" dirty="0"/>
            </a:p>
          </p:txBody>
        </p:sp>
        <p:sp>
          <p:nvSpPr>
            <p:cNvPr id="117" name="Shape 56">
              <a:extLst>
                <a:ext uri="{FF2B5EF4-FFF2-40B4-BE49-F238E27FC236}">
                  <a16:creationId xmlns:a16="http://schemas.microsoft.com/office/drawing/2014/main" id="{7A343C1B-CFBC-85AF-B3C9-A17F89EE8894}"/>
                </a:ext>
              </a:extLst>
            </p:cNvPr>
            <p:cNvSpPr/>
            <p:nvPr/>
          </p:nvSpPr>
          <p:spPr>
            <a:xfrm>
              <a:off x="6126480" y="411480"/>
              <a:ext cx="0" cy="402336"/>
            </a:xfrm>
            <a:prstGeom prst="line">
              <a:avLst/>
            </a:prstGeom>
            <a:noFill/>
            <a:ln w="12700">
              <a:solidFill>
                <a:srgbClr val="B8C2E8"/>
              </a:solidFill>
              <a:prstDash val="solid"/>
            </a:ln>
          </p:spPr>
        </p:sp>
        <p:sp>
          <p:nvSpPr>
            <p:cNvPr id="118" name="Text 58">
              <a:extLst>
                <a:ext uri="{FF2B5EF4-FFF2-40B4-BE49-F238E27FC236}">
                  <a16:creationId xmlns:a16="http://schemas.microsoft.com/office/drawing/2014/main" id="{CD2D2C3A-9370-012D-CDEB-043DA77A917B}"/>
                </a:ext>
              </a:extLst>
            </p:cNvPr>
            <p:cNvSpPr/>
            <p:nvPr/>
          </p:nvSpPr>
          <p:spPr>
            <a:xfrm>
              <a:off x="6830568" y="457200"/>
              <a:ext cx="109728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700" b="1" dirty="0">
                  <a:solidFill>
                    <a:srgbClr val="C00000"/>
                  </a:solidFill>
                  <a:latin typeface="Aptos Display" pitchFamily="34" charset="0"/>
                  <a:ea typeface="Aptos Display" pitchFamily="34" charset="-122"/>
                  <a:cs typeface="Aptos Display" pitchFamily="34" charset="-120"/>
                </a:rPr>
                <a:t>Informatika</a:t>
              </a:r>
              <a:endParaRPr lang="en-US" sz="1700" dirty="0">
                <a:solidFill>
                  <a:srgbClr val="C00000"/>
                </a:solidFill>
              </a:endParaRPr>
            </a:p>
          </p:txBody>
        </p:sp>
        <p:pic>
          <p:nvPicPr>
            <p:cNvPr id="119" name="Picture 118">
              <a:extLst>
                <a:ext uri="{FF2B5EF4-FFF2-40B4-BE49-F238E27FC236}">
                  <a16:creationId xmlns:a16="http://schemas.microsoft.com/office/drawing/2014/main" id="{2D4B79F6-5F7E-6814-CE50-0C3E2A5C708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34755" t="29153" r="36238" b="33855"/>
            <a:stretch>
              <a:fillRect/>
            </a:stretch>
          </p:blipFill>
          <p:spPr>
            <a:xfrm>
              <a:off x="6300861" y="396716"/>
              <a:ext cx="346827" cy="345948"/>
            </a:xfrm>
            <a:prstGeom prst="rect">
              <a:avLst/>
            </a:prstGeom>
          </p:spPr>
        </p:pic>
        <p:pic>
          <p:nvPicPr>
            <p:cNvPr id="120" name="Picture 119">
              <a:extLst>
                <a:ext uri="{FF2B5EF4-FFF2-40B4-BE49-F238E27FC236}">
                  <a16:creationId xmlns:a16="http://schemas.microsoft.com/office/drawing/2014/main" id="{AE5560F6-A884-62B1-FD92-3631CBFF0EE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133088" y="339090"/>
              <a:ext cx="565404" cy="565404"/>
            </a:xfrm>
            <a:prstGeom prst="rect">
              <a:avLst/>
            </a:prstGeom>
          </p:spPr>
        </p:pic>
      </p:grp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73152"/>
            <a:ext cx="1234440" cy="749808"/>
          </a:xfrm>
          <a:prstGeom prst="ellipse">
            <a:avLst/>
          </a:prstGeom>
          <a:solidFill>
            <a:srgbClr val="E2F2FF">
              <a:alpha val="8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588752" y="5897880"/>
            <a:ext cx="1261872" cy="658368"/>
          </a:xfrm>
          <a:prstGeom prst="ellipse">
            <a:avLst/>
          </a:prstGeom>
          <a:solidFill>
            <a:srgbClr val="EEE9FF">
              <a:alpha val="8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" y="1143000"/>
            <a:ext cx="502920" cy="0"/>
          </a:xfrm>
          <a:prstGeom prst="line">
            <a:avLst/>
          </a:prstGeom>
          <a:noFill/>
          <a:ln w="8890">
            <a:solidFill>
              <a:srgbClr val="BFD8FF">
                <a:alpha val="6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106424"/>
            <a:ext cx="54864" cy="54864"/>
          </a:xfrm>
          <a:prstGeom prst="ellipse">
            <a:avLst/>
          </a:prstGeom>
          <a:solidFill>
            <a:srgbClr val="FFFFFF">
              <a:alpha val="0"/>
            </a:srgbClr>
          </a:solidFill>
          <a:ln w="8890">
            <a:solidFill>
              <a:srgbClr val="BFD8FF">
                <a:alpha val="6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384280" y="2743200"/>
            <a:ext cx="438912" cy="0"/>
          </a:xfrm>
          <a:prstGeom prst="line">
            <a:avLst/>
          </a:prstGeom>
          <a:noFill/>
          <a:ln w="8890">
            <a:solidFill>
              <a:srgbClr val="BFD8FF">
                <a:alpha val="6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301984" y="2706624"/>
            <a:ext cx="54864" cy="54864"/>
          </a:xfrm>
          <a:prstGeom prst="ellipse">
            <a:avLst/>
          </a:prstGeom>
          <a:solidFill>
            <a:srgbClr val="FFFFFF">
              <a:alpha val="0"/>
            </a:srgbClr>
          </a:solidFill>
          <a:ln w="8890">
            <a:solidFill>
              <a:srgbClr val="BFD8FF">
                <a:alpha val="6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4592" y="1581912"/>
            <a:ext cx="502920" cy="0"/>
          </a:xfrm>
          <a:prstGeom prst="line">
            <a:avLst/>
          </a:prstGeom>
          <a:noFill/>
          <a:ln w="8890">
            <a:solidFill>
              <a:srgbClr val="BFD8FF">
                <a:alpha val="6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1545336"/>
            <a:ext cx="54864" cy="54864"/>
          </a:xfrm>
          <a:prstGeom prst="ellipse">
            <a:avLst/>
          </a:prstGeom>
          <a:solidFill>
            <a:srgbClr val="FFFFFF">
              <a:alpha val="0"/>
            </a:srgbClr>
          </a:solidFill>
          <a:ln w="8890">
            <a:solidFill>
              <a:srgbClr val="BFD8FF">
                <a:alpha val="6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384280" y="3182112"/>
            <a:ext cx="438912" cy="0"/>
          </a:xfrm>
          <a:prstGeom prst="line">
            <a:avLst/>
          </a:prstGeom>
          <a:noFill/>
          <a:ln w="8890">
            <a:solidFill>
              <a:srgbClr val="BFD8FF">
                <a:alpha val="6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301984" y="3145536"/>
            <a:ext cx="54864" cy="54864"/>
          </a:xfrm>
          <a:prstGeom prst="ellipse">
            <a:avLst/>
          </a:prstGeom>
          <a:solidFill>
            <a:srgbClr val="FFFFFF">
              <a:alpha val="0"/>
            </a:srgbClr>
          </a:solidFill>
          <a:ln w="8890">
            <a:solidFill>
              <a:srgbClr val="BFD8FF">
                <a:alpha val="6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64592" y="2020824"/>
            <a:ext cx="502920" cy="0"/>
          </a:xfrm>
          <a:prstGeom prst="line">
            <a:avLst/>
          </a:prstGeom>
          <a:noFill/>
          <a:ln w="8890">
            <a:solidFill>
              <a:srgbClr val="BFD8FF">
                <a:alpha val="62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5800" y="1984248"/>
            <a:ext cx="54864" cy="54864"/>
          </a:xfrm>
          <a:prstGeom prst="ellipse">
            <a:avLst/>
          </a:prstGeom>
          <a:solidFill>
            <a:srgbClr val="FFFFFF">
              <a:alpha val="0"/>
            </a:srgbClr>
          </a:solidFill>
          <a:ln w="8890">
            <a:solidFill>
              <a:srgbClr val="BFD8FF">
                <a:alpha val="6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384280" y="3621024"/>
            <a:ext cx="438912" cy="0"/>
          </a:xfrm>
          <a:prstGeom prst="line">
            <a:avLst/>
          </a:prstGeom>
          <a:noFill/>
          <a:ln w="8890">
            <a:solidFill>
              <a:srgbClr val="BFD8FF">
                <a:alpha val="6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301984" y="3584448"/>
            <a:ext cx="54864" cy="54864"/>
          </a:xfrm>
          <a:prstGeom prst="ellipse">
            <a:avLst/>
          </a:prstGeom>
          <a:solidFill>
            <a:srgbClr val="FFFFFF">
              <a:alpha val="0"/>
            </a:srgbClr>
          </a:solidFill>
          <a:ln w="8890">
            <a:solidFill>
              <a:srgbClr val="BFD8FF">
                <a:alpha val="6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331720" y="694944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450592" y="694944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569464" y="694944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688336" y="694944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807208" y="694944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926080" y="694944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31720" y="813816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450592" y="813816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569464" y="813816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688336" y="813816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807208" y="813816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926080" y="813816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331720" y="932688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450592" y="932688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569464" y="932688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688336" y="932688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807208" y="932688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2926080" y="932688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0058400" y="438912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dirty="0">
                <a:solidFill>
                  <a:srgbClr val="6EA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✦</a:t>
            </a:r>
            <a:endParaRPr lang="en-US" sz="2300" dirty="0"/>
          </a:p>
        </p:txBody>
      </p:sp>
      <p:sp>
        <p:nvSpPr>
          <p:cNvPr id="62" name="Text 60"/>
          <p:cNvSpPr/>
          <p:nvPr/>
        </p:nvSpPr>
        <p:spPr>
          <a:xfrm>
            <a:off x="548640" y="1280160"/>
            <a:ext cx="11018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B1F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Ruang Lingkup Penelitian</a:t>
            </a:r>
            <a:endParaRPr lang="en-US" sz="3400" dirty="0"/>
          </a:p>
        </p:txBody>
      </p:sp>
      <p:sp>
        <p:nvSpPr>
          <p:cNvPr id="63" name="Shape 61"/>
          <p:cNvSpPr/>
          <p:nvPr/>
        </p:nvSpPr>
        <p:spPr>
          <a:xfrm>
            <a:off x="1234440" y="1810512"/>
            <a:ext cx="9738360" cy="429768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E2E8F7">
                <a:alpha val="90000"/>
              </a:srgbClr>
            </a:solidFill>
            <a:prstDash val="solid"/>
          </a:ln>
          <a:effectLst>
            <a:outerShdw blurRad="25400" dist="50800" dir="2700000" algn="bl" rotWithShape="0">
              <a:srgbClr val="94A3B8">
                <a:alpha val="14000"/>
              </a:srgbClr>
            </a:outerShdw>
          </a:effectLst>
        </p:spPr>
      </p:sp>
      <p:sp>
        <p:nvSpPr>
          <p:cNvPr id="64" name="Shape 62"/>
          <p:cNvSpPr/>
          <p:nvPr/>
        </p:nvSpPr>
        <p:spPr>
          <a:xfrm>
            <a:off x="1719072" y="2057400"/>
            <a:ext cx="8759952" cy="530352"/>
          </a:xfrm>
          <a:prstGeom prst="roundRect">
            <a:avLst>
              <a:gd name="adj" fmla="val 31034"/>
            </a:avLst>
          </a:prstGeom>
          <a:solidFill>
            <a:srgbClr val="FFFFFF"/>
          </a:solidFill>
          <a:ln w="12700">
            <a:solidFill>
              <a:srgbClr val="EDF2FF">
                <a:alpha val="90000"/>
              </a:srgbClr>
            </a:solidFill>
            <a:prstDash val="solid"/>
          </a:ln>
          <a:effectLst>
            <a:outerShdw blurRad="25400" dist="50800" dir="2700000" algn="bl" rotWithShape="0">
              <a:srgbClr val="94A3B8">
                <a:alpha val="14000"/>
              </a:srgbClr>
            </a:outerShdw>
          </a:effectLst>
        </p:spPr>
      </p:sp>
      <p:sp>
        <p:nvSpPr>
          <p:cNvPr id="65" name="Shape 63"/>
          <p:cNvSpPr/>
          <p:nvPr/>
        </p:nvSpPr>
        <p:spPr>
          <a:xfrm>
            <a:off x="1965960" y="2167128"/>
            <a:ext cx="457200" cy="310896"/>
          </a:xfrm>
          <a:prstGeom prst="roundRect">
            <a:avLst>
              <a:gd name="adj" fmla="val 20588"/>
            </a:avLst>
          </a:prstGeom>
          <a:solidFill>
            <a:srgbClr val="F1ECFF"/>
          </a:solidFill>
          <a:ln w="12700">
            <a:solidFill>
              <a:srgbClr val="DDD3FF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1965960" y="21945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6E3FE5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🖼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3063240" y="2148840"/>
            <a:ext cx="0" cy="347472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3383280" y="2194560"/>
            <a:ext cx="256032" cy="256032"/>
          </a:xfrm>
          <a:prstGeom prst="ellipse">
            <a:avLst/>
          </a:prstGeom>
          <a:solidFill>
            <a:srgbClr val="6E3FE5"/>
          </a:solidFill>
          <a:ln w="12700">
            <a:solidFill>
              <a:srgbClr val="6E3FE5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3383280" y="2244852"/>
            <a:ext cx="2560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3858767" y="2157984"/>
            <a:ext cx="6367263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B1F53"/>
                </a:solidFill>
              </a:rPr>
              <a:t>Input berupa citra </a:t>
            </a:r>
            <a:r>
              <a:rPr lang="en-US" sz="1300" b="1" dirty="0" err="1">
                <a:solidFill>
                  <a:srgbClr val="0B1F53"/>
                </a:solidFill>
              </a:rPr>
              <a:t>tubuh</a:t>
            </a:r>
            <a:r>
              <a:rPr lang="en-US" sz="1300" b="1" dirty="0">
                <a:solidFill>
                  <a:srgbClr val="0B1F53"/>
                </a:solidFill>
              </a:rPr>
              <a:t> </a:t>
            </a:r>
            <a:r>
              <a:rPr lang="en-US" sz="1300" b="1" dirty="0" err="1">
                <a:solidFill>
                  <a:srgbClr val="0B1F53"/>
                </a:solidFill>
              </a:rPr>
              <a:t>dengan</a:t>
            </a:r>
            <a:r>
              <a:rPr lang="en-US" sz="1300" b="1" dirty="0">
                <a:solidFill>
                  <a:srgbClr val="0B1F53"/>
                </a:solidFill>
              </a:rPr>
              <a:t> subjek berdiri di depan </a:t>
            </a:r>
            <a:r>
              <a:rPr lang="en-US" sz="1300" b="1" dirty="0" err="1">
                <a:solidFill>
                  <a:srgbClr val="0B1F53"/>
                </a:solidFill>
              </a:rPr>
              <a:t>papan</a:t>
            </a:r>
            <a:r>
              <a:rPr lang="en-US" sz="1300" b="1" dirty="0">
                <a:solidFill>
                  <a:srgbClr val="0B1F53"/>
                </a:solidFill>
              </a:rPr>
              <a:t> </a:t>
            </a:r>
            <a:r>
              <a:rPr lang="en-US" sz="1300" b="1" dirty="0" err="1">
                <a:solidFill>
                  <a:srgbClr val="0B1F53"/>
                </a:solidFill>
              </a:rPr>
              <a:t>ArUco</a:t>
            </a:r>
            <a:r>
              <a:rPr lang="en-US" sz="1300" b="1" dirty="0">
                <a:solidFill>
                  <a:srgbClr val="0B1F53"/>
                </a:solidFill>
              </a:rPr>
              <a:t> </a:t>
            </a:r>
            <a:r>
              <a:rPr lang="en-US" sz="1300" b="1" dirty="0" err="1">
                <a:solidFill>
                  <a:srgbClr val="0B1F53"/>
                </a:solidFill>
              </a:rPr>
              <a:t>ukuran</a:t>
            </a:r>
            <a:r>
              <a:rPr lang="en-US" sz="1300" b="1" dirty="0">
                <a:solidFill>
                  <a:srgbClr val="0B1F53"/>
                </a:solidFill>
              </a:rPr>
              <a:t> 200 cm</a:t>
            </a:r>
            <a:endParaRPr lang="en-US" sz="1300" dirty="0"/>
          </a:p>
        </p:txBody>
      </p:sp>
      <p:sp>
        <p:nvSpPr>
          <p:cNvPr id="71" name="Shape 69"/>
          <p:cNvSpPr/>
          <p:nvPr/>
        </p:nvSpPr>
        <p:spPr>
          <a:xfrm>
            <a:off x="1719072" y="2807208"/>
            <a:ext cx="8759952" cy="530352"/>
          </a:xfrm>
          <a:prstGeom prst="roundRect">
            <a:avLst>
              <a:gd name="adj" fmla="val 31034"/>
            </a:avLst>
          </a:prstGeom>
          <a:solidFill>
            <a:srgbClr val="FFFFFF"/>
          </a:solidFill>
          <a:ln w="12700">
            <a:solidFill>
              <a:srgbClr val="EDF2FF">
                <a:alpha val="90000"/>
              </a:srgbClr>
            </a:solidFill>
            <a:prstDash val="solid"/>
          </a:ln>
          <a:effectLst>
            <a:outerShdw blurRad="25400" dist="50800" dir="2700000" algn="bl" rotWithShape="0">
              <a:srgbClr val="94A3B8">
                <a:alpha val="14000"/>
              </a:srgbClr>
            </a:outerShdw>
          </a:effectLst>
        </p:spPr>
      </p:sp>
      <p:sp>
        <p:nvSpPr>
          <p:cNvPr id="72" name="Shape 70"/>
          <p:cNvSpPr/>
          <p:nvPr/>
        </p:nvSpPr>
        <p:spPr>
          <a:xfrm>
            <a:off x="1965960" y="2916936"/>
            <a:ext cx="457200" cy="310896"/>
          </a:xfrm>
          <a:prstGeom prst="roundRect">
            <a:avLst>
              <a:gd name="adj" fmla="val 20588"/>
            </a:avLst>
          </a:prstGeom>
          <a:solidFill>
            <a:srgbClr val="F1ECFF"/>
          </a:solidFill>
          <a:ln w="12700">
            <a:solidFill>
              <a:srgbClr val="DDD3FF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1965960" y="2980944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6E3FE5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⌖</a:t>
            </a:r>
            <a:endParaRPr lang="en-US" sz="1100" dirty="0"/>
          </a:p>
        </p:txBody>
      </p:sp>
      <p:sp>
        <p:nvSpPr>
          <p:cNvPr id="74" name="Shape 72"/>
          <p:cNvSpPr/>
          <p:nvPr/>
        </p:nvSpPr>
        <p:spPr>
          <a:xfrm>
            <a:off x="3063240" y="2898648"/>
            <a:ext cx="0" cy="347472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3383280" y="2944368"/>
            <a:ext cx="256032" cy="256032"/>
          </a:xfrm>
          <a:prstGeom prst="ellipse">
            <a:avLst/>
          </a:prstGeom>
          <a:solidFill>
            <a:srgbClr val="6E3FE5"/>
          </a:solidFill>
          <a:ln w="12700">
            <a:solidFill>
              <a:srgbClr val="6E3FE5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3383280" y="2994660"/>
            <a:ext cx="2560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77" name="Text 75"/>
          <p:cNvSpPr/>
          <p:nvPr/>
        </p:nvSpPr>
        <p:spPr>
          <a:xfrm>
            <a:off x="3858767" y="2907792"/>
            <a:ext cx="6367261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B1F53"/>
                </a:solidFill>
              </a:rPr>
              <a:t>Perspective correction dilakukan apabila sedikitnya empat marker valid terdeteksi.</a:t>
            </a:r>
            <a:endParaRPr lang="en-US" sz="1300" dirty="0"/>
          </a:p>
        </p:txBody>
      </p:sp>
      <p:sp>
        <p:nvSpPr>
          <p:cNvPr id="78" name="Shape 76"/>
          <p:cNvSpPr/>
          <p:nvPr/>
        </p:nvSpPr>
        <p:spPr>
          <a:xfrm>
            <a:off x="1719072" y="3557016"/>
            <a:ext cx="8759952" cy="530352"/>
          </a:xfrm>
          <a:prstGeom prst="roundRect">
            <a:avLst>
              <a:gd name="adj" fmla="val 31034"/>
            </a:avLst>
          </a:prstGeom>
          <a:solidFill>
            <a:srgbClr val="FFFFFF"/>
          </a:solidFill>
          <a:ln w="12700">
            <a:solidFill>
              <a:srgbClr val="EDF2FF">
                <a:alpha val="90000"/>
              </a:srgbClr>
            </a:solidFill>
            <a:prstDash val="solid"/>
          </a:ln>
          <a:effectLst>
            <a:outerShdw blurRad="25400" dist="50800" dir="2700000" algn="bl" rotWithShape="0">
              <a:srgbClr val="94A3B8">
                <a:alpha val="14000"/>
              </a:srgbClr>
            </a:outerShdw>
          </a:effectLst>
        </p:spPr>
      </p:sp>
      <p:sp>
        <p:nvSpPr>
          <p:cNvPr id="79" name="Shape 77"/>
          <p:cNvSpPr/>
          <p:nvPr/>
        </p:nvSpPr>
        <p:spPr>
          <a:xfrm>
            <a:off x="1965960" y="3666744"/>
            <a:ext cx="457200" cy="310896"/>
          </a:xfrm>
          <a:prstGeom prst="roundRect">
            <a:avLst>
              <a:gd name="adj" fmla="val 20588"/>
            </a:avLst>
          </a:prstGeom>
          <a:solidFill>
            <a:srgbClr val="F1ECFF"/>
          </a:solidFill>
          <a:ln w="12700">
            <a:solidFill>
              <a:srgbClr val="DDD3FF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1965960" y="3730752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6E3FE5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👤</a:t>
            </a:r>
            <a:endParaRPr lang="en-US" sz="1100" dirty="0"/>
          </a:p>
        </p:txBody>
      </p:sp>
      <p:sp>
        <p:nvSpPr>
          <p:cNvPr id="81" name="Shape 79"/>
          <p:cNvSpPr/>
          <p:nvPr/>
        </p:nvSpPr>
        <p:spPr>
          <a:xfrm>
            <a:off x="3063240" y="3648456"/>
            <a:ext cx="0" cy="347472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3383280" y="3694176"/>
            <a:ext cx="256032" cy="256032"/>
          </a:xfrm>
          <a:prstGeom prst="ellipse">
            <a:avLst/>
          </a:prstGeom>
          <a:solidFill>
            <a:srgbClr val="6E3FE5"/>
          </a:solidFill>
          <a:ln w="12700">
            <a:solidFill>
              <a:srgbClr val="6E3FE5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3383280" y="3744468"/>
            <a:ext cx="2560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84" name="Text 82"/>
          <p:cNvSpPr/>
          <p:nvPr/>
        </p:nvSpPr>
        <p:spPr>
          <a:xfrm>
            <a:off x="3858768" y="3657600"/>
            <a:ext cx="60807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B1F53"/>
                </a:solidFill>
              </a:rPr>
              <a:t>Sistem difokuskan pada satu subjek/orang dalam satu citra.</a:t>
            </a:r>
            <a:endParaRPr lang="en-US" sz="1300" dirty="0"/>
          </a:p>
        </p:txBody>
      </p:sp>
      <p:sp>
        <p:nvSpPr>
          <p:cNvPr id="85" name="Shape 83"/>
          <p:cNvSpPr/>
          <p:nvPr/>
        </p:nvSpPr>
        <p:spPr>
          <a:xfrm>
            <a:off x="1719072" y="4306824"/>
            <a:ext cx="8759952" cy="530352"/>
          </a:xfrm>
          <a:prstGeom prst="roundRect">
            <a:avLst>
              <a:gd name="adj" fmla="val 31034"/>
            </a:avLst>
          </a:prstGeom>
          <a:solidFill>
            <a:srgbClr val="FFFFFF"/>
          </a:solidFill>
          <a:ln w="12700">
            <a:solidFill>
              <a:srgbClr val="EDF2FF">
                <a:alpha val="90000"/>
              </a:srgbClr>
            </a:solidFill>
            <a:prstDash val="solid"/>
          </a:ln>
          <a:effectLst>
            <a:outerShdw blurRad="25400" dist="50800" dir="2700000" algn="bl" rotWithShape="0">
              <a:srgbClr val="94A3B8">
                <a:alpha val="14000"/>
              </a:srgbClr>
            </a:outerShdw>
          </a:effectLst>
        </p:spPr>
      </p:sp>
      <p:sp>
        <p:nvSpPr>
          <p:cNvPr id="86" name="Shape 84"/>
          <p:cNvSpPr/>
          <p:nvPr/>
        </p:nvSpPr>
        <p:spPr>
          <a:xfrm>
            <a:off x="1965960" y="4416552"/>
            <a:ext cx="457200" cy="310896"/>
          </a:xfrm>
          <a:prstGeom prst="roundRect">
            <a:avLst>
              <a:gd name="adj" fmla="val 20588"/>
            </a:avLst>
          </a:prstGeom>
          <a:solidFill>
            <a:srgbClr val="F1ECFF"/>
          </a:solidFill>
          <a:ln w="12700">
            <a:solidFill>
              <a:srgbClr val="DDD3FF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1965960" y="4480560"/>
            <a:ext cx="457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6E3FE5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⚙</a:t>
            </a:r>
            <a:endParaRPr lang="en-US" sz="1100" dirty="0"/>
          </a:p>
        </p:txBody>
      </p:sp>
      <p:sp>
        <p:nvSpPr>
          <p:cNvPr id="88" name="Shape 86"/>
          <p:cNvSpPr/>
          <p:nvPr/>
        </p:nvSpPr>
        <p:spPr>
          <a:xfrm>
            <a:off x="3063240" y="4398264"/>
            <a:ext cx="0" cy="347472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3383280" y="4443984"/>
            <a:ext cx="256032" cy="256032"/>
          </a:xfrm>
          <a:prstGeom prst="ellipse">
            <a:avLst/>
          </a:prstGeom>
          <a:solidFill>
            <a:srgbClr val="6E3FE5"/>
          </a:solidFill>
          <a:ln w="12700">
            <a:solidFill>
              <a:srgbClr val="6E3FE5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3383280" y="4494276"/>
            <a:ext cx="2560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91" name="Text 89"/>
          <p:cNvSpPr/>
          <p:nvPr/>
        </p:nvSpPr>
        <p:spPr>
          <a:xfrm>
            <a:off x="3858768" y="4407408"/>
            <a:ext cx="647395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B1F53"/>
                </a:solidFill>
              </a:rPr>
              <a:t>Pengolahan citra menggunakan OpenCV, sedangkan pose estimation menggunakan MediaPipe Pose pada platform Android.</a:t>
            </a:r>
            <a:endParaRPr lang="en-US" sz="1300" dirty="0"/>
          </a:p>
        </p:txBody>
      </p:sp>
      <p:sp>
        <p:nvSpPr>
          <p:cNvPr id="92" name="Shape 90"/>
          <p:cNvSpPr/>
          <p:nvPr/>
        </p:nvSpPr>
        <p:spPr>
          <a:xfrm>
            <a:off x="1719072" y="5056632"/>
            <a:ext cx="8759952" cy="530352"/>
          </a:xfrm>
          <a:prstGeom prst="roundRect">
            <a:avLst>
              <a:gd name="adj" fmla="val 31034"/>
            </a:avLst>
          </a:prstGeom>
          <a:solidFill>
            <a:srgbClr val="FFFFFF"/>
          </a:solidFill>
          <a:ln w="12700">
            <a:solidFill>
              <a:srgbClr val="EDF2FF">
                <a:alpha val="90000"/>
              </a:srgbClr>
            </a:solidFill>
            <a:prstDash val="solid"/>
          </a:ln>
          <a:effectLst>
            <a:outerShdw blurRad="25400" dist="50800" dir="2700000" algn="bl" rotWithShape="0">
              <a:srgbClr val="94A3B8">
                <a:alpha val="14000"/>
              </a:srgbClr>
            </a:outerShdw>
          </a:effectLst>
        </p:spPr>
      </p:sp>
      <p:sp>
        <p:nvSpPr>
          <p:cNvPr id="93" name="Shape 91"/>
          <p:cNvSpPr/>
          <p:nvPr/>
        </p:nvSpPr>
        <p:spPr>
          <a:xfrm>
            <a:off x="1965960" y="5166360"/>
            <a:ext cx="457200" cy="310896"/>
          </a:xfrm>
          <a:prstGeom prst="roundRect">
            <a:avLst>
              <a:gd name="adj" fmla="val 20588"/>
            </a:avLst>
          </a:prstGeom>
          <a:solidFill>
            <a:srgbClr val="F1ECFF"/>
          </a:solidFill>
          <a:ln w="12700">
            <a:solidFill>
              <a:srgbClr val="DDD3FF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1965960" y="5230368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6E3FE5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📏</a:t>
            </a:r>
            <a:endParaRPr lang="en-US" sz="1100" dirty="0"/>
          </a:p>
        </p:txBody>
      </p:sp>
      <p:sp>
        <p:nvSpPr>
          <p:cNvPr id="95" name="Shape 93"/>
          <p:cNvSpPr/>
          <p:nvPr/>
        </p:nvSpPr>
        <p:spPr>
          <a:xfrm>
            <a:off x="3063240" y="5148072"/>
            <a:ext cx="0" cy="347472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3383280" y="5193792"/>
            <a:ext cx="256032" cy="256032"/>
          </a:xfrm>
          <a:prstGeom prst="ellipse">
            <a:avLst/>
          </a:prstGeom>
          <a:solidFill>
            <a:srgbClr val="6E3FE5"/>
          </a:solidFill>
          <a:ln w="12700">
            <a:solidFill>
              <a:srgbClr val="6E3FE5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3383280" y="5244084"/>
            <a:ext cx="2560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5</a:t>
            </a:r>
            <a:endParaRPr lang="en-US" sz="900" dirty="0"/>
          </a:p>
        </p:txBody>
      </p:sp>
      <p:sp>
        <p:nvSpPr>
          <p:cNvPr id="98" name="Text 96"/>
          <p:cNvSpPr/>
          <p:nvPr/>
        </p:nvSpPr>
        <p:spPr>
          <a:xfrm>
            <a:off x="3858768" y="5157216"/>
            <a:ext cx="647395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B1F53"/>
                </a:solidFill>
              </a:rPr>
              <a:t>Evaluasi dilakukan pada 15 citra uji dengan pembanding tinggi aktual dari stadiometer.</a:t>
            </a:r>
            <a:endParaRPr lang="en-US" sz="1300" dirty="0"/>
          </a:p>
        </p:txBody>
      </p:sp>
      <p:grpSp>
        <p:nvGrpSpPr>
          <p:cNvPr id="116" name="Group 115">
            <a:extLst>
              <a:ext uri="{FF2B5EF4-FFF2-40B4-BE49-F238E27FC236}">
                <a16:creationId xmlns:a16="http://schemas.microsoft.com/office/drawing/2014/main" id="{2E791611-689A-1043-10FC-A3F2A77B4D14}"/>
              </a:ext>
            </a:extLst>
          </p:cNvPr>
          <p:cNvGrpSpPr/>
          <p:nvPr/>
        </p:nvGrpSpPr>
        <p:grpSpPr>
          <a:xfrm>
            <a:off x="3977640" y="256032"/>
            <a:ext cx="4251960" cy="713232"/>
            <a:chOff x="3977640" y="256032"/>
            <a:chExt cx="4251960" cy="713232"/>
          </a:xfrm>
        </p:grpSpPr>
        <p:sp>
          <p:nvSpPr>
            <p:cNvPr id="117" name="Shape 51">
              <a:extLst>
                <a:ext uri="{FF2B5EF4-FFF2-40B4-BE49-F238E27FC236}">
                  <a16:creationId xmlns:a16="http://schemas.microsoft.com/office/drawing/2014/main" id="{DEF895C8-312C-E71B-DBFD-741909744A58}"/>
                </a:ext>
              </a:extLst>
            </p:cNvPr>
            <p:cNvSpPr/>
            <p:nvPr/>
          </p:nvSpPr>
          <p:spPr>
            <a:xfrm>
              <a:off x="3977640" y="256032"/>
              <a:ext cx="4251960" cy="713232"/>
            </a:xfrm>
            <a:prstGeom prst="roundRect">
              <a:avLst>
                <a:gd name="adj" fmla="val 17949"/>
              </a:avLst>
            </a:prstGeom>
            <a:solidFill>
              <a:srgbClr val="FFFFFF"/>
            </a:solidFill>
            <a:ln w="12700">
              <a:solidFill>
                <a:srgbClr val="E0E8F6">
                  <a:alpha val="85000"/>
                </a:srgbClr>
              </a:solidFill>
              <a:prstDash val="solid"/>
            </a:ln>
            <a:effectLst>
              <a:outerShdw blurRad="25400" dist="50800" dir="2700000" algn="bl" rotWithShape="0">
                <a:srgbClr val="97A6BF">
                  <a:alpha val="12000"/>
                </a:srgbClr>
              </a:outerShdw>
            </a:effectLst>
          </p:spPr>
        </p:sp>
        <p:sp>
          <p:nvSpPr>
            <p:cNvPr id="118" name="Text 54">
              <a:extLst>
                <a:ext uri="{FF2B5EF4-FFF2-40B4-BE49-F238E27FC236}">
                  <a16:creationId xmlns:a16="http://schemas.microsoft.com/office/drawing/2014/main" id="{C590B523-3176-F187-737A-BF4910D494EB}"/>
                </a:ext>
              </a:extLst>
            </p:cNvPr>
            <p:cNvSpPr/>
            <p:nvPr/>
          </p:nvSpPr>
          <p:spPr>
            <a:xfrm>
              <a:off x="4727448" y="402336"/>
              <a:ext cx="114300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800" b="1" dirty="0">
                  <a:solidFill>
                    <a:srgbClr val="0B1F53"/>
                  </a:solidFill>
                  <a:latin typeface="Aptos Display" pitchFamily="34" charset="0"/>
                  <a:ea typeface="Aptos Display" pitchFamily="34" charset="-122"/>
                  <a:cs typeface="Aptos Display" pitchFamily="34" charset="-120"/>
                </a:rPr>
                <a:t>ITENAS</a:t>
              </a:r>
              <a:endParaRPr lang="en-US" sz="1800" dirty="0"/>
            </a:p>
          </p:txBody>
        </p:sp>
        <p:sp>
          <p:nvSpPr>
            <p:cNvPr id="119" name="Text 55">
              <a:extLst>
                <a:ext uri="{FF2B5EF4-FFF2-40B4-BE49-F238E27FC236}">
                  <a16:creationId xmlns:a16="http://schemas.microsoft.com/office/drawing/2014/main" id="{BBCA31EF-F341-05B6-4339-F5B4F27524C9}"/>
                </a:ext>
              </a:extLst>
            </p:cNvPr>
            <p:cNvSpPr/>
            <p:nvPr/>
          </p:nvSpPr>
          <p:spPr>
            <a:xfrm>
              <a:off x="4736592" y="640080"/>
              <a:ext cx="123444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650" dirty="0">
                  <a:solidFill>
                    <a:srgbClr val="0B1F53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Institut Teknologi Nasional</a:t>
              </a:r>
              <a:endParaRPr lang="en-US" sz="650" dirty="0"/>
            </a:p>
            <a:p>
              <a:pPr marL="0" indent="0">
                <a:buNone/>
              </a:pPr>
              <a:r>
                <a:rPr lang="en-US" sz="650" dirty="0">
                  <a:solidFill>
                    <a:srgbClr val="0B1F53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Bandung</a:t>
              </a:r>
              <a:endParaRPr lang="en-US" sz="650" dirty="0"/>
            </a:p>
          </p:txBody>
        </p:sp>
        <p:sp>
          <p:nvSpPr>
            <p:cNvPr id="120" name="Shape 56">
              <a:extLst>
                <a:ext uri="{FF2B5EF4-FFF2-40B4-BE49-F238E27FC236}">
                  <a16:creationId xmlns:a16="http://schemas.microsoft.com/office/drawing/2014/main" id="{03C93107-E9EC-FB87-96AE-9E6688CC8765}"/>
                </a:ext>
              </a:extLst>
            </p:cNvPr>
            <p:cNvSpPr/>
            <p:nvPr/>
          </p:nvSpPr>
          <p:spPr>
            <a:xfrm>
              <a:off x="6126480" y="411480"/>
              <a:ext cx="0" cy="402336"/>
            </a:xfrm>
            <a:prstGeom prst="line">
              <a:avLst/>
            </a:prstGeom>
            <a:noFill/>
            <a:ln w="12700">
              <a:solidFill>
                <a:srgbClr val="B8C2E8"/>
              </a:solidFill>
              <a:prstDash val="solid"/>
            </a:ln>
          </p:spPr>
        </p:sp>
        <p:sp>
          <p:nvSpPr>
            <p:cNvPr id="121" name="Text 58">
              <a:extLst>
                <a:ext uri="{FF2B5EF4-FFF2-40B4-BE49-F238E27FC236}">
                  <a16:creationId xmlns:a16="http://schemas.microsoft.com/office/drawing/2014/main" id="{80023372-9DF4-9AAD-F3B7-6D249CE0F3A0}"/>
                </a:ext>
              </a:extLst>
            </p:cNvPr>
            <p:cNvSpPr/>
            <p:nvPr/>
          </p:nvSpPr>
          <p:spPr>
            <a:xfrm>
              <a:off x="6830568" y="457200"/>
              <a:ext cx="109728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700" b="1" dirty="0">
                  <a:solidFill>
                    <a:srgbClr val="C00000"/>
                  </a:solidFill>
                  <a:latin typeface="Aptos Display" pitchFamily="34" charset="0"/>
                  <a:ea typeface="Aptos Display" pitchFamily="34" charset="-122"/>
                  <a:cs typeface="Aptos Display" pitchFamily="34" charset="-120"/>
                </a:rPr>
                <a:t>Informatika</a:t>
              </a:r>
              <a:endParaRPr lang="en-US" sz="1700" dirty="0">
                <a:solidFill>
                  <a:srgbClr val="C00000"/>
                </a:solidFill>
              </a:endParaRPr>
            </a:p>
          </p:txBody>
        </p:sp>
        <p:pic>
          <p:nvPicPr>
            <p:cNvPr id="122" name="Picture 121">
              <a:extLst>
                <a:ext uri="{FF2B5EF4-FFF2-40B4-BE49-F238E27FC236}">
                  <a16:creationId xmlns:a16="http://schemas.microsoft.com/office/drawing/2014/main" id="{0A85B5F6-2F93-E91B-7D8E-E3ADE2320F9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34755" t="29153" r="36238" b="33855"/>
            <a:stretch>
              <a:fillRect/>
            </a:stretch>
          </p:blipFill>
          <p:spPr>
            <a:xfrm>
              <a:off x="6300861" y="396716"/>
              <a:ext cx="346827" cy="345948"/>
            </a:xfrm>
            <a:prstGeom prst="rect">
              <a:avLst/>
            </a:prstGeom>
          </p:spPr>
        </p:pic>
        <p:pic>
          <p:nvPicPr>
            <p:cNvPr id="123" name="Picture 122">
              <a:extLst>
                <a:ext uri="{FF2B5EF4-FFF2-40B4-BE49-F238E27FC236}">
                  <a16:creationId xmlns:a16="http://schemas.microsoft.com/office/drawing/2014/main" id="{264FB637-FADC-A369-9C7E-1C48DF4D7FA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133088" y="339090"/>
              <a:ext cx="565404" cy="565404"/>
            </a:xfrm>
            <a:prstGeom prst="rect">
              <a:avLst/>
            </a:prstGeom>
          </p:spPr>
        </p:pic>
      </p:grp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73152"/>
            <a:ext cx="1234440" cy="749808"/>
          </a:xfrm>
          <a:prstGeom prst="ellipse">
            <a:avLst/>
          </a:prstGeom>
          <a:solidFill>
            <a:srgbClr val="EEE9FF">
              <a:alpha val="8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588752" y="5897880"/>
            <a:ext cx="1261872" cy="658368"/>
          </a:xfrm>
          <a:prstGeom prst="ellipse">
            <a:avLst/>
          </a:prstGeom>
          <a:solidFill>
            <a:srgbClr val="E2F2FF">
              <a:alpha val="8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" y="1143000"/>
            <a:ext cx="502920" cy="0"/>
          </a:xfrm>
          <a:prstGeom prst="line">
            <a:avLst/>
          </a:prstGeom>
          <a:noFill/>
          <a:ln w="8890">
            <a:solidFill>
              <a:srgbClr val="BFD8FF">
                <a:alpha val="6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106424"/>
            <a:ext cx="54864" cy="54864"/>
          </a:xfrm>
          <a:prstGeom prst="ellipse">
            <a:avLst/>
          </a:prstGeom>
          <a:solidFill>
            <a:srgbClr val="FFFFFF">
              <a:alpha val="0"/>
            </a:srgbClr>
          </a:solidFill>
          <a:ln w="8890">
            <a:solidFill>
              <a:srgbClr val="BFD8FF">
                <a:alpha val="6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384280" y="2743200"/>
            <a:ext cx="438912" cy="0"/>
          </a:xfrm>
          <a:prstGeom prst="line">
            <a:avLst/>
          </a:prstGeom>
          <a:noFill/>
          <a:ln w="8890">
            <a:solidFill>
              <a:srgbClr val="BFD8FF">
                <a:alpha val="6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301984" y="2706624"/>
            <a:ext cx="54864" cy="54864"/>
          </a:xfrm>
          <a:prstGeom prst="ellipse">
            <a:avLst/>
          </a:prstGeom>
          <a:solidFill>
            <a:srgbClr val="FFFFFF">
              <a:alpha val="0"/>
            </a:srgbClr>
          </a:solidFill>
          <a:ln w="8890">
            <a:solidFill>
              <a:srgbClr val="BFD8FF">
                <a:alpha val="6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4592" y="1581912"/>
            <a:ext cx="502920" cy="0"/>
          </a:xfrm>
          <a:prstGeom prst="line">
            <a:avLst/>
          </a:prstGeom>
          <a:noFill/>
          <a:ln w="8890">
            <a:solidFill>
              <a:srgbClr val="BFD8FF">
                <a:alpha val="6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1545336"/>
            <a:ext cx="54864" cy="54864"/>
          </a:xfrm>
          <a:prstGeom prst="ellipse">
            <a:avLst/>
          </a:prstGeom>
          <a:solidFill>
            <a:srgbClr val="FFFFFF">
              <a:alpha val="0"/>
            </a:srgbClr>
          </a:solidFill>
          <a:ln w="8890">
            <a:solidFill>
              <a:srgbClr val="BFD8FF">
                <a:alpha val="6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384280" y="3182112"/>
            <a:ext cx="438912" cy="0"/>
          </a:xfrm>
          <a:prstGeom prst="line">
            <a:avLst/>
          </a:prstGeom>
          <a:noFill/>
          <a:ln w="8890">
            <a:solidFill>
              <a:srgbClr val="BFD8FF">
                <a:alpha val="6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301984" y="3145536"/>
            <a:ext cx="54864" cy="54864"/>
          </a:xfrm>
          <a:prstGeom prst="ellipse">
            <a:avLst/>
          </a:prstGeom>
          <a:solidFill>
            <a:srgbClr val="FFFFFF">
              <a:alpha val="0"/>
            </a:srgbClr>
          </a:solidFill>
          <a:ln w="8890">
            <a:solidFill>
              <a:srgbClr val="BFD8FF">
                <a:alpha val="6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64592" y="2020824"/>
            <a:ext cx="502920" cy="0"/>
          </a:xfrm>
          <a:prstGeom prst="line">
            <a:avLst/>
          </a:prstGeom>
          <a:noFill/>
          <a:ln w="8890">
            <a:solidFill>
              <a:srgbClr val="BFD8FF">
                <a:alpha val="62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5800" y="1984248"/>
            <a:ext cx="54864" cy="54864"/>
          </a:xfrm>
          <a:prstGeom prst="ellipse">
            <a:avLst/>
          </a:prstGeom>
          <a:solidFill>
            <a:srgbClr val="FFFFFF">
              <a:alpha val="0"/>
            </a:srgbClr>
          </a:solidFill>
          <a:ln w="8890">
            <a:solidFill>
              <a:srgbClr val="BFD8FF">
                <a:alpha val="6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384280" y="3621024"/>
            <a:ext cx="438912" cy="0"/>
          </a:xfrm>
          <a:prstGeom prst="line">
            <a:avLst/>
          </a:prstGeom>
          <a:noFill/>
          <a:ln w="8890">
            <a:solidFill>
              <a:srgbClr val="BFD8FF">
                <a:alpha val="6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301984" y="3584448"/>
            <a:ext cx="54864" cy="54864"/>
          </a:xfrm>
          <a:prstGeom prst="ellipse">
            <a:avLst/>
          </a:prstGeom>
          <a:solidFill>
            <a:srgbClr val="FFFFFF">
              <a:alpha val="0"/>
            </a:srgbClr>
          </a:solidFill>
          <a:ln w="8890">
            <a:solidFill>
              <a:srgbClr val="BFD8FF">
                <a:alpha val="6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331720" y="694944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450592" y="694944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569464" y="694944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688336" y="694944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807208" y="694944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926080" y="694944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31720" y="813816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450592" y="813816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569464" y="813816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688336" y="813816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807208" y="813816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926080" y="813816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331720" y="932688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450592" y="932688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569464" y="932688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688336" y="932688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807208" y="932688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2926080" y="932688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0058400" y="438912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dirty="0">
                <a:solidFill>
                  <a:srgbClr val="6EA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✦</a:t>
            </a:r>
            <a:endParaRPr lang="en-US" sz="2300" dirty="0"/>
          </a:p>
        </p:txBody>
      </p:sp>
      <p:sp>
        <p:nvSpPr>
          <p:cNvPr id="62" name="Shape 60"/>
          <p:cNvSpPr/>
          <p:nvPr/>
        </p:nvSpPr>
        <p:spPr>
          <a:xfrm>
            <a:off x="2834640" y="1243584"/>
            <a:ext cx="1645920" cy="0"/>
          </a:xfrm>
          <a:prstGeom prst="line">
            <a:avLst/>
          </a:prstGeom>
          <a:noFill/>
          <a:ln w="19050">
            <a:solidFill>
              <a:srgbClr val="6E3FE5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2779776" y="1207008"/>
            <a:ext cx="73152" cy="73152"/>
          </a:xfrm>
          <a:prstGeom prst="ellipse">
            <a:avLst/>
          </a:prstGeom>
          <a:solidFill>
            <a:srgbClr val="6E3FE5"/>
          </a:solidFill>
          <a:ln w="12700">
            <a:solidFill>
              <a:srgbClr val="6E3FE5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7726680" y="1243584"/>
            <a:ext cx="1645920" cy="0"/>
          </a:xfrm>
          <a:prstGeom prst="line">
            <a:avLst/>
          </a:prstGeom>
          <a:noFill/>
          <a:ln w="19050">
            <a:solidFill>
              <a:srgbClr val="6E3FE5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9372600" y="1207008"/>
            <a:ext cx="73152" cy="73152"/>
          </a:xfrm>
          <a:prstGeom prst="ellipse">
            <a:avLst/>
          </a:prstGeom>
          <a:solidFill>
            <a:srgbClr val="6E3FE5"/>
          </a:solidFill>
          <a:ln w="12700">
            <a:solidFill>
              <a:srgbClr val="6E3FE5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498848" y="1078992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6E3FE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SEMINAR HASIL</a:t>
            </a:r>
            <a:endParaRPr lang="en-US" sz="2500" dirty="0"/>
          </a:p>
        </p:txBody>
      </p:sp>
      <p:sp>
        <p:nvSpPr>
          <p:cNvPr id="67" name="Text 65"/>
          <p:cNvSpPr/>
          <p:nvPr/>
        </p:nvSpPr>
        <p:spPr>
          <a:xfrm>
            <a:off x="594360" y="1444752"/>
            <a:ext cx="11018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B1F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Metode Penelitian</a:t>
            </a:r>
            <a:endParaRPr lang="en-US" sz="3400" dirty="0"/>
          </a:p>
        </p:txBody>
      </p:sp>
      <p:sp>
        <p:nvSpPr>
          <p:cNvPr id="68" name="Shape 66"/>
          <p:cNvSpPr/>
          <p:nvPr/>
        </p:nvSpPr>
        <p:spPr>
          <a:xfrm>
            <a:off x="594360" y="2788920"/>
            <a:ext cx="2121408" cy="1536192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DDE7F5">
                <a:alpha val="90000"/>
              </a:srgbClr>
            </a:solidFill>
            <a:prstDash val="solid"/>
          </a:ln>
          <a:effectLst>
            <a:outerShdw blurRad="25400" dist="50800" dir="2700000" algn="bl" rotWithShape="0">
              <a:srgbClr val="94A3B8">
                <a:alpha val="14000"/>
              </a:srgbClr>
            </a:outerShdw>
          </a:effectLst>
        </p:spPr>
      </p:sp>
      <p:sp>
        <p:nvSpPr>
          <p:cNvPr id="69" name="Shape 67"/>
          <p:cNvSpPr/>
          <p:nvPr/>
        </p:nvSpPr>
        <p:spPr>
          <a:xfrm>
            <a:off x="1371600" y="2496312"/>
            <a:ext cx="502920" cy="502920"/>
          </a:xfrm>
          <a:prstGeom prst="ellipse">
            <a:avLst/>
          </a:prstGeom>
          <a:solidFill>
            <a:srgbClr val="6E3FE5"/>
          </a:solidFill>
          <a:ln w="12700">
            <a:solidFill>
              <a:srgbClr val="6E3FE5">
                <a:alpha val="0"/>
              </a:srgbClr>
            </a:solidFill>
            <a:prstDash val="solid"/>
          </a:ln>
          <a:effectLst>
            <a:outerShdw blurRad="12700" dist="50800" dir="2700000" algn="bl" rotWithShape="0">
              <a:srgbClr val="64748B">
                <a:alpha val="12000"/>
              </a:srgbClr>
            </a:outerShdw>
          </a:effectLst>
        </p:spPr>
      </p:sp>
      <p:sp>
        <p:nvSpPr>
          <p:cNvPr id="70" name="Text 68"/>
          <p:cNvSpPr/>
          <p:nvPr/>
        </p:nvSpPr>
        <p:spPr>
          <a:xfrm>
            <a:off x="1371600" y="2505456"/>
            <a:ext cx="5029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30" dirty="0">
                <a:solidFill>
                  <a:srgbClr val="FFFFFF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📷</a:t>
            </a:r>
            <a:endParaRPr lang="en-US" sz="1430" dirty="0"/>
          </a:p>
        </p:txBody>
      </p:sp>
      <p:sp>
        <p:nvSpPr>
          <p:cNvPr id="71" name="Text 69"/>
          <p:cNvSpPr/>
          <p:nvPr/>
        </p:nvSpPr>
        <p:spPr>
          <a:xfrm>
            <a:off x="758952" y="3136392"/>
            <a:ext cx="17922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F53"/>
                </a:solidFill>
              </a:rPr>
              <a:t>Input Citra</a:t>
            </a:r>
            <a:endParaRPr lang="en-US" sz="1300" dirty="0"/>
          </a:p>
        </p:txBody>
      </p:sp>
      <p:sp>
        <p:nvSpPr>
          <p:cNvPr id="72" name="Text 70"/>
          <p:cNvSpPr/>
          <p:nvPr/>
        </p:nvSpPr>
        <p:spPr>
          <a:xfrm>
            <a:off x="777240" y="3502152"/>
            <a:ext cx="1755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300" dirty="0"/>
              <a:t>Foto </a:t>
            </a:r>
            <a:r>
              <a:rPr lang="en-US" sz="1300" dirty="0" err="1"/>
              <a:t>tubuh</a:t>
            </a:r>
            <a:r>
              <a:rPr lang="en-US" sz="1300" dirty="0"/>
              <a:t>  dipilih dari </a:t>
            </a:r>
            <a:r>
              <a:rPr lang="en-US" sz="1300" dirty="0" err="1"/>
              <a:t>perangkat</a:t>
            </a:r>
            <a:r>
              <a:rPr lang="en-US" sz="1300" dirty="0"/>
              <a:t> </a:t>
            </a:r>
            <a:r>
              <a:rPr lang="en-US" sz="1300" dirty="0" err="1"/>
              <a:t>galeri</a:t>
            </a:r>
            <a:r>
              <a:rPr lang="en-US" sz="1300" dirty="0"/>
              <a:t> </a:t>
            </a:r>
            <a:r>
              <a:rPr lang="en-US" sz="1300" dirty="0" err="1"/>
              <a:t>atau</a:t>
            </a:r>
            <a:r>
              <a:rPr lang="en-US" sz="1300" dirty="0"/>
              <a:t> </a:t>
            </a:r>
            <a:r>
              <a:rPr lang="en-US" sz="1300" dirty="0" err="1"/>
              <a:t>kamera</a:t>
            </a:r>
            <a:r>
              <a:rPr lang="en-US" sz="1300" dirty="0"/>
              <a:t>.</a:t>
            </a:r>
          </a:p>
        </p:txBody>
      </p:sp>
      <p:sp>
        <p:nvSpPr>
          <p:cNvPr id="73" name="Shape 71"/>
          <p:cNvSpPr/>
          <p:nvPr/>
        </p:nvSpPr>
        <p:spPr>
          <a:xfrm>
            <a:off x="2670048" y="3364992"/>
            <a:ext cx="347472" cy="310896"/>
          </a:xfrm>
          <a:prstGeom prst="rightArrow">
            <a:avLst/>
          </a:prstGeom>
          <a:solidFill>
            <a:srgbClr val="8B5CF6">
              <a:alpha val="90000"/>
            </a:srgbClr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2926080" y="2788920"/>
            <a:ext cx="2121408" cy="1536192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DDE7F5">
                <a:alpha val="90000"/>
              </a:srgbClr>
            </a:solidFill>
            <a:prstDash val="solid"/>
          </a:ln>
          <a:effectLst>
            <a:outerShdw blurRad="25400" dist="50800" dir="2700000" algn="bl" rotWithShape="0">
              <a:srgbClr val="94A3B8">
                <a:alpha val="14000"/>
              </a:srgbClr>
            </a:outerShdw>
          </a:effectLst>
        </p:spPr>
      </p:sp>
      <p:sp>
        <p:nvSpPr>
          <p:cNvPr id="75" name="Shape 73"/>
          <p:cNvSpPr/>
          <p:nvPr/>
        </p:nvSpPr>
        <p:spPr>
          <a:xfrm>
            <a:off x="3703320" y="2496312"/>
            <a:ext cx="502920" cy="502920"/>
          </a:xfrm>
          <a:prstGeom prst="ellipse">
            <a:avLst/>
          </a:prstGeom>
          <a:solidFill>
            <a:srgbClr val="4AA3FF"/>
          </a:solidFill>
          <a:ln w="12700">
            <a:solidFill>
              <a:srgbClr val="4AA3FF">
                <a:alpha val="0"/>
              </a:srgbClr>
            </a:solidFill>
            <a:prstDash val="solid"/>
          </a:ln>
          <a:effectLst>
            <a:outerShdw blurRad="12700" dist="50800" dir="2700000" algn="bl" rotWithShape="0">
              <a:srgbClr val="64748B">
                <a:alpha val="12000"/>
              </a:srgbClr>
            </a:outerShdw>
          </a:effectLst>
        </p:spPr>
      </p:sp>
      <p:sp>
        <p:nvSpPr>
          <p:cNvPr id="76" name="Text 74"/>
          <p:cNvSpPr/>
          <p:nvPr/>
        </p:nvSpPr>
        <p:spPr>
          <a:xfrm>
            <a:off x="3703320" y="2505456"/>
            <a:ext cx="5029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30" dirty="0">
                <a:solidFill>
                  <a:srgbClr val="FFFFFF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▦</a:t>
            </a:r>
            <a:endParaRPr lang="en-US" sz="1430" dirty="0"/>
          </a:p>
        </p:txBody>
      </p:sp>
      <p:sp>
        <p:nvSpPr>
          <p:cNvPr id="77" name="Text 75"/>
          <p:cNvSpPr/>
          <p:nvPr/>
        </p:nvSpPr>
        <p:spPr>
          <a:xfrm>
            <a:off x="3090672" y="3136392"/>
            <a:ext cx="17922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F53"/>
                </a:solidFill>
              </a:rPr>
              <a:t>Deteksi ArUco</a:t>
            </a:r>
            <a:endParaRPr lang="en-US" sz="1300" dirty="0"/>
          </a:p>
        </p:txBody>
      </p:sp>
      <p:sp>
        <p:nvSpPr>
          <p:cNvPr id="78" name="Text 76"/>
          <p:cNvSpPr/>
          <p:nvPr/>
        </p:nvSpPr>
        <p:spPr>
          <a:xfrm>
            <a:off x="3108960" y="3502152"/>
            <a:ext cx="1755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/>
              <a:t>Marker menjadi acuan geometri dan skala.</a:t>
            </a:r>
          </a:p>
        </p:txBody>
      </p:sp>
      <p:sp>
        <p:nvSpPr>
          <p:cNvPr id="79" name="Shape 77"/>
          <p:cNvSpPr/>
          <p:nvPr/>
        </p:nvSpPr>
        <p:spPr>
          <a:xfrm>
            <a:off x="5001768" y="3364992"/>
            <a:ext cx="347472" cy="310896"/>
          </a:xfrm>
          <a:prstGeom prst="rightArrow">
            <a:avLst/>
          </a:prstGeom>
          <a:solidFill>
            <a:srgbClr val="8B5CF6">
              <a:alpha val="90000"/>
            </a:srgbClr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5257800" y="2788920"/>
            <a:ext cx="2121408" cy="1536192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DDE7F5">
                <a:alpha val="90000"/>
              </a:srgbClr>
            </a:solidFill>
            <a:prstDash val="solid"/>
          </a:ln>
          <a:effectLst>
            <a:outerShdw blurRad="25400" dist="50800" dir="2700000" algn="bl" rotWithShape="0">
              <a:srgbClr val="94A3B8">
                <a:alpha val="14000"/>
              </a:srgbClr>
            </a:outerShdw>
          </a:effectLst>
        </p:spPr>
      </p:sp>
      <p:sp>
        <p:nvSpPr>
          <p:cNvPr id="81" name="Shape 79"/>
          <p:cNvSpPr/>
          <p:nvPr/>
        </p:nvSpPr>
        <p:spPr>
          <a:xfrm>
            <a:off x="6035040" y="2496312"/>
            <a:ext cx="502920" cy="502920"/>
          </a:xfrm>
          <a:prstGeom prst="ellipse">
            <a:avLst/>
          </a:prstGeom>
          <a:solidFill>
            <a:srgbClr val="6E3FE5"/>
          </a:solidFill>
          <a:ln w="12700">
            <a:solidFill>
              <a:srgbClr val="6E3FE5">
                <a:alpha val="0"/>
              </a:srgbClr>
            </a:solidFill>
            <a:prstDash val="solid"/>
          </a:ln>
          <a:effectLst>
            <a:outerShdw blurRad="12700" dist="50800" dir="2700000" algn="bl" rotWithShape="0">
              <a:srgbClr val="64748B">
                <a:alpha val="12000"/>
              </a:srgbClr>
            </a:outerShdw>
          </a:effectLst>
        </p:spPr>
      </p:sp>
      <p:sp>
        <p:nvSpPr>
          <p:cNvPr id="82" name="Text 80"/>
          <p:cNvSpPr/>
          <p:nvPr/>
        </p:nvSpPr>
        <p:spPr>
          <a:xfrm>
            <a:off x="6035040" y="2505456"/>
            <a:ext cx="5029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30" dirty="0">
                <a:solidFill>
                  <a:srgbClr val="FFFFFF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⌗</a:t>
            </a:r>
            <a:endParaRPr lang="en-US" sz="1430" dirty="0"/>
          </a:p>
        </p:txBody>
      </p:sp>
      <p:sp>
        <p:nvSpPr>
          <p:cNvPr id="83" name="Text 81"/>
          <p:cNvSpPr/>
          <p:nvPr/>
        </p:nvSpPr>
        <p:spPr>
          <a:xfrm>
            <a:off x="5422392" y="3136392"/>
            <a:ext cx="17922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F53"/>
                </a:solidFill>
              </a:rPr>
              <a:t>Homografi RANSAC</a:t>
            </a:r>
            <a:endParaRPr lang="en-US" sz="1300" dirty="0"/>
          </a:p>
        </p:txBody>
      </p:sp>
      <p:sp>
        <p:nvSpPr>
          <p:cNvPr id="84" name="Text 82"/>
          <p:cNvSpPr/>
          <p:nvPr/>
        </p:nvSpPr>
        <p:spPr>
          <a:xfrm>
            <a:off x="5440680" y="3502152"/>
            <a:ext cx="1755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300" dirty="0"/>
              <a:t>Koreksi perspektif dilakukan jika ≥ 4 marker valid.</a:t>
            </a:r>
          </a:p>
        </p:txBody>
      </p:sp>
      <p:sp>
        <p:nvSpPr>
          <p:cNvPr id="85" name="Shape 83"/>
          <p:cNvSpPr/>
          <p:nvPr/>
        </p:nvSpPr>
        <p:spPr>
          <a:xfrm>
            <a:off x="7333488" y="3364992"/>
            <a:ext cx="347472" cy="310896"/>
          </a:xfrm>
          <a:prstGeom prst="rightArrow">
            <a:avLst/>
          </a:prstGeom>
          <a:solidFill>
            <a:srgbClr val="8B5CF6">
              <a:alpha val="90000"/>
            </a:srgbClr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7589520" y="2788920"/>
            <a:ext cx="2121408" cy="1536192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DDE7F5">
                <a:alpha val="90000"/>
              </a:srgbClr>
            </a:solidFill>
            <a:prstDash val="solid"/>
          </a:ln>
          <a:effectLst>
            <a:outerShdw blurRad="25400" dist="50800" dir="2700000" algn="bl" rotWithShape="0">
              <a:srgbClr val="94A3B8">
                <a:alpha val="14000"/>
              </a:srgbClr>
            </a:outerShdw>
          </a:effectLst>
        </p:spPr>
      </p:sp>
      <p:sp>
        <p:nvSpPr>
          <p:cNvPr id="87" name="Shape 85"/>
          <p:cNvSpPr/>
          <p:nvPr/>
        </p:nvSpPr>
        <p:spPr>
          <a:xfrm>
            <a:off x="8366760" y="2496312"/>
            <a:ext cx="502920" cy="502920"/>
          </a:xfrm>
          <a:prstGeom prst="ellipse">
            <a:avLst/>
          </a:prstGeom>
          <a:solidFill>
            <a:srgbClr val="4AA3FF"/>
          </a:solidFill>
          <a:ln w="12700">
            <a:solidFill>
              <a:srgbClr val="4AA3FF">
                <a:alpha val="0"/>
              </a:srgbClr>
            </a:solidFill>
            <a:prstDash val="solid"/>
          </a:ln>
          <a:effectLst>
            <a:outerShdw blurRad="12700" dist="50800" dir="2700000" algn="bl" rotWithShape="0">
              <a:srgbClr val="64748B">
                <a:alpha val="12000"/>
              </a:srgbClr>
            </a:outerShdw>
          </a:effectLst>
        </p:spPr>
      </p:sp>
      <p:sp>
        <p:nvSpPr>
          <p:cNvPr id="88" name="Text 86"/>
          <p:cNvSpPr/>
          <p:nvPr/>
        </p:nvSpPr>
        <p:spPr>
          <a:xfrm>
            <a:off x="8366760" y="2505456"/>
            <a:ext cx="5029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30" dirty="0">
                <a:solidFill>
                  <a:srgbClr val="FFFFFF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🧍</a:t>
            </a:r>
            <a:endParaRPr lang="en-US" sz="1430" dirty="0"/>
          </a:p>
        </p:txBody>
      </p:sp>
      <p:sp>
        <p:nvSpPr>
          <p:cNvPr id="89" name="Text 87"/>
          <p:cNvSpPr/>
          <p:nvPr/>
        </p:nvSpPr>
        <p:spPr>
          <a:xfrm>
            <a:off x="7754112" y="3136392"/>
            <a:ext cx="17922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F53"/>
                </a:solidFill>
              </a:rPr>
              <a:t>MediaPipe Pose</a:t>
            </a:r>
            <a:endParaRPr lang="en-US" sz="1300" dirty="0"/>
          </a:p>
        </p:txBody>
      </p:sp>
      <p:sp>
        <p:nvSpPr>
          <p:cNvPr id="90" name="Text 88"/>
          <p:cNvSpPr/>
          <p:nvPr/>
        </p:nvSpPr>
        <p:spPr>
          <a:xfrm>
            <a:off x="7772400" y="3502152"/>
            <a:ext cx="1755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300" dirty="0"/>
              <a:t>Menghasilkan 33 landmark tubuh satu subjek.</a:t>
            </a:r>
          </a:p>
        </p:txBody>
      </p:sp>
      <p:sp>
        <p:nvSpPr>
          <p:cNvPr id="91" name="Shape 89"/>
          <p:cNvSpPr/>
          <p:nvPr/>
        </p:nvSpPr>
        <p:spPr>
          <a:xfrm>
            <a:off x="9665208" y="3364992"/>
            <a:ext cx="347472" cy="310896"/>
          </a:xfrm>
          <a:prstGeom prst="rightArrow">
            <a:avLst/>
          </a:prstGeom>
          <a:solidFill>
            <a:srgbClr val="8B5CF6">
              <a:alpha val="90000"/>
            </a:srgbClr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9921240" y="2788920"/>
            <a:ext cx="2121408" cy="1536192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DDE7F5">
                <a:alpha val="90000"/>
              </a:srgbClr>
            </a:solidFill>
            <a:prstDash val="solid"/>
          </a:ln>
          <a:effectLst>
            <a:outerShdw blurRad="25400" dist="50800" dir="2700000" algn="bl" rotWithShape="0">
              <a:srgbClr val="94A3B8">
                <a:alpha val="14000"/>
              </a:srgbClr>
            </a:outerShdw>
          </a:effectLst>
        </p:spPr>
      </p:sp>
      <p:sp>
        <p:nvSpPr>
          <p:cNvPr id="93" name="Shape 91"/>
          <p:cNvSpPr/>
          <p:nvPr/>
        </p:nvSpPr>
        <p:spPr>
          <a:xfrm>
            <a:off x="10698480" y="2496312"/>
            <a:ext cx="502920" cy="502920"/>
          </a:xfrm>
          <a:prstGeom prst="ellipse">
            <a:avLst/>
          </a:prstGeom>
          <a:solidFill>
            <a:srgbClr val="6E3FE5"/>
          </a:solidFill>
          <a:ln w="12700">
            <a:solidFill>
              <a:srgbClr val="6E3FE5">
                <a:alpha val="0"/>
              </a:srgbClr>
            </a:solidFill>
            <a:prstDash val="solid"/>
          </a:ln>
          <a:effectLst>
            <a:outerShdw blurRad="12700" dist="50800" dir="2700000" algn="bl" rotWithShape="0">
              <a:srgbClr val="64748B">
                <a:alpha val="12000"/>
              </a:srgbClr>
            </a:outerShdw>
          </a:effectLst>
        </p:spPr>
      </p:sp>
      <p:sp>
        <p:nvSpPr>
          <p:cNvPr id="94" name="Text 92"/>
          <p:cNvSpPr/>
          <p:nvPr/>
        </p:nvSpPr>
        <p:spPr>
          <a:xfrm>
            <a:off x="10698480" y="2505456"/>
            <a:ext cx="5029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30" dirty="0">
                <a:solidFill>
                  <a:srgbClr val="FFFFFF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📏</a:t>
            </a:r>
            <a:endParaRPr lang="en-US" sz="1430" dirty="0"/>
          </a:p>
        </p:txBody>
      </p:sp>
      <p:sp>
        <p:nvSpPr>
          <p:cNvPr id="95" name="Text 93"/>
          <p:cNvSpPr/>
          <p:nvPr/>
        </p:nvSpPr>
        <p:spPr>
          <a:xfrm>
            <a:off x="10085832" y="3136392"/>
            <a:ext cx="17922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F53"/>
                </a:solidFill>
              </a:rPr>
              <a:t>Estimasi Tinggi</a:t>
            </a:r>
            <a:endParaRPr lang="en-US" sz="1300" dirty="0"/>
          </a:p>
        </p:txBody>
      </p:sp>
      <p:sp>
        <p:nvSpPr>
          <p:cNvPr id="96" name="Text 94"/>
          <p:cNvSpPr/>
          <p:nvPr/>
        </p:nvSpPr>
        <p:spPr>
          <a:xfrm>
            <a:off x="10104120" y="3502152"/>
            <a:ext cx="1755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300" dirty="0"/>
              <a:t>Titik kepala–kaki dikonversi ke sentimeter.</a:t>
            </a:r>
          </a:p>
        </p:txBody>
      </p:sp>
      <p:sp>
        <p:nvSpPr>
          <p:cNvPr id="97" name="Shape 95"/>
          <p:cNvSpPr/>
          <p:nvPr/>
        </p:nvSpPr>
        <p:spPr>
          <a:xfrm>
            <a:off x="1143000" y="4800600"/>
            <a:ext cx="9875520" cy="658368"/>
          </a:xfrm>
          <a:prstGeom prst="roundRect">
            <a:avLst>
              <a:gd name="adj" fmla="val 25000"/>
            </a:avLst>
          </a:prstGeom>
          <a:solidFill>
            <a:srgbClr val="F7F3FF"/>
          </a:solidFill>
          <a:ln w="12700">
            <a:solidFill>
              <a:srgbClr val="D8CCFF">
                <a:alpha val="90000"/>
              </a:srgbClr>
            </a:solidFill>
            <a:prstDash val="solid"/>
          </a:ln>
          <a:effectLst>
            <a:outerShdw blurRad="25400" dist="50800" dir="2700000" algn="bl" rotWithShape="0">
              <a:srgbClr val="94A3B8">
                <a:alpha val="14000"/>
              </a:srgbClr>
            </a:outerShdw>
          </a:effectLst>
        </p:spPr>
      </p:sp>
      <p:sp>
        <p:nvSpPr>
          <p:cNvPr id="98" name="Text 96"/>
          <p:cNvSpPr/>
          <p:nvPr/>
        </p:nvSpPr>
        <p:spPr>
          <a:xfrm>
            <a:off x="1417320" y="4983480"/>
            <a:ext cx="9326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 err="1">
                <a:solidFill>
                  <a:srgbClr val="0B1F53"/>
                </a:solidFill>
              </a:rPr>
              <a:t>ArUco</a:t>
            </a:r>
            <a:r>
              <a:rPr lang="en-US" sz="1300" dirty="0">
                <a:solidFill>
                  <a:srgbClr val="0B1F53"/>
                </a:solidFill>
              </a:rPr>
              <a:t> marker menyediakan skala dan titik acuan, homografi memperbaiki perspektif, lalu landmark MediaPipe digunakan untuk estimasi tinggi badan.</a:t>
            </a:r>
            <a:endParaRPr lang="en-US" sz="1300" dirty="0"/>
          </a:p>
        </p:txBody>
      </p:sp>
      <p:grpSp>
        <p:nvGrpSpPr>
          <p:cNvPr id="116" name="Group 115">
            <a:extLst>
              <a:ext uri="{FF2B5EF4-FFF2-40B4-BE49-F238E27FC236}">
                <a16:creationId xmlns:a16="http://schemas.microsoft.com/office/drawing/2014/main" id="{F7FAA8B7-FFF1-327E-5A7E-3AB2BBC73FC0}"/>
              </a:ext>
            </a:extLst>
          </p:cNvPr>
          <p:cNvGrpSpPr/>
          <p:nvPr/>
        </p:nvGrpSpPr>
        <p:grpSpPr>
          <a:xfrm>
            <a:off x="3977640" y="256032"/>
            <a:ext cx="4251960" cy="713232"/>
            <a:chOff x="3977640" y="256032"/>
            <a:chExt cx="4251960" cy="713232"/>
          </a:xfrm>
        </p:grpSpPr>
        <p:sp>
          <p:nvSpPr>
            <p:cNvPr id="117" name="Shape 51">
              <a:extLst>
                <a:ext uri="{FF2B5EF4-FFF2-40B4-BE49-F238E27FC236}">
                  <a16:creationId xmlns:a16="http://schemas.microsoft.com/office/drawing/2014/main" id="{0E155A94-901E-24BC-7B0D-3B552E3FF026}"/>
                </a:ext>
              </a:extLst>
            </p:cNvPr>
            <p:cNvSpPr/>
            <p:nvPr/>
          </p:nvSpPr>
          <p:spPr>
            <a:xfrm>
              <a:off x="3977640" y="256032"/>
              <a:ext cx="4251960" cy="713232"/>
            </a:xfrm>
            <a:prstGeom prst="roundRect">
              <a:avLst>
                <a:gd name="adj" fmla="val 17949"/>
              </a:avLst>
            </a:prstGeom>
            <a:solidFill>
              <a:srgbClr val="FFFFFF"/>
            </a:solidFill>
            <a:ln w="12700">
              <a:solidFill>
                <a:srgbClr val="E0E8F6">
                  <a:alpha val="85000"/>
                </a:srgbClr>
              </a:solidFill>
              <a:prstDash val="solid"/>
            </a:ln>
            <a:effectLst>
              <a:outerShdw blurRad="25400" dist="50800" dir="2700000" algn="bl" rotWithShape="0">
                <a:srgbClr val="97A6BF">
                  <a:alpha val="12000"/>
                </a:srgbClr>
              </a:outerShdw>
            </a:effectLst>
          </p:spPr>
        </p:sp>
        <p:sp>
          <p:nvSpPr>
            <p:cNvPr id="118" name="Text 54">
              <a:extLst>
                <a:ext uri="{FF2B5EF4-FFF2-40B4-BE49-F238E27FC236}">
                  <a16:creationId xmlns:a16="http://schemas.microsoft.com/office/drawing/2014/main" id="{7DE399E7-F95F-B749-3B6A-6FC6BB173160}"/>
                </a:ext>
              </a:extLst>
            </p:cNvPr>
            <p:cNvSpPr/>
            <p:nvPr/>
          </p:nvSpPr>
          <p:spPr>
            <a:xfrm>
              <a:off x="4727448" y="402336"/>
              <a:ext cx="114300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800" b="1" dirty="0">
                  <a:solidFill>
                    <a:srgbClr val="0B1F53"/>
                  </a:solidFill>
                  <a:latin typeface="Aptos Display" pitchFamily="34" charset="0"/>
                  <a:ea typeface="Aptos Display" pitchFamily="34" charset="-122"/>
                  <a:cs typeface="Aptos Display" pitchFamily="34" charset="-120"/>
                </a:rPr>
                <a:t>ITENAS</a:t>
              </a:r>
              <a:endParaRPr lang="en-US" sz="1800" dirty="0"/>
            </a:p>
          </p:txBody>
        </p:sp>
        <p:sp>
          <p:nvSpPr>
            <p:cNvPr id="119" name="Text 55">
              <a:extLst>
                <a:ext uri="{FF2B5EF4-FFF2-40B4-BE49-F238E27FC236}">
                  <a16:creationId xmlns:a16="http://schemas.microsoft.com/office/drawing/2014/main" id="{55C18CC0-ECA5-61AC-92ED-5C727C7CFAC3}"/>
                </a:ext>
              </a:extLst>
            </p:cNvPr>
            <p:cNvSpPr/>
            <p:nvPr/>
          </p:nvSpPr>
          <p:spPr>
            <a:xfrm>
              <a:off x="4736592" y="640080"/>
              <a:ext cx="123444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650" dirty="0">
                  <a:solidFill>
                    <a:srgbClr val="0B1F53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Institut Teknologi Nasional</a:t>
              </a:r>
              <a:endParaRPr lang="en-US" sz="650" dirty="0"/>
            </a:p>
            <a:p>
              <a:pPr marL="0" indent="0">
                <a:buNone/>
              </a:pPr>
              <a:r>
                <a:rPr lang="en-US" sz="650" dirty="0">
                  <a:solidFill>
                    <a:srgbClr val="0B1F53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Bandung</a:t>
              </a:r>
              <a:endParaRPr lang="en-US" sz="650" dirty="0"/>
            </a:p>
          </p:txBody>
        </p:sp>
        <p:sp>
          <p:nvSpPr>
            <p:cNvPr id="120" name="Shape 56">
              <a:extLst>
                <a:ext uri="{FF2B5EF4-FFF2-40B4-BE49-F238E27FC236}">
                  <a16:creationId xmlns:a16="http://schemas.microsoft.com/office/drawing/2014/main" id="{030EF25D-74D1-C4AA-146C-A006CF425E40}"/>
                </a:ext>
              </a:extLst>
            </p:cNvPr>
            <p:cNvSpPr/>
            <p:nvPr/>
          </p:nvSpPr>
          <p:spPr>
            <a:xfrm>
              <a:off x="6126480" y="411480"/>
              <a:ext cx="0" cy="402336"/>
            </a:xfrm>
            <a:prstGeom prst="line">
              <a:avLst/>
            </a:prstGeom>
            <a:noFill/>
            <a:ln w="12700">
              <a:solidFill>
                <a:srgbClr val="B8C2E8"/>
              </a:solidFill>
              <a:prstDash val="solid"/>
            </a:ln>
          </p:spPr>
        </p:sp>
        <p:sp>
          <p:nvSpPr>
            <p:cNvPr id="121" name="Text 58">
              <a:extLst>
                <a:ext uri="{FF2B5EF4-FFF2-40B4-BE49-F238E27FC236}">
                  <a16:creationId xmlns:a16="http://schemas.microsoft.com/office/drawing/2014/main" id="{507E50C9-4D1E-A0A3-63D4-334130D095A6}"/>
                </a:ext>
              </a:extLst>
            </p:cNvPr>
            <p:cNvSpPr/>
            <p:nvPr/>
          </p:nvSpPr>
          <p:spPr>
            <a:xfrm>
              <a:off x="6830568" y="457200"/>
              <a:ext cx="109728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700" b="1" dirty="0">
                  <a:solidFill>
                    <a:srgbClr val="C00000"/>
                  </a:solidFill>
                  <a:latin typeface="Aptos Display" pitchFamily="34" charset="0"/>
                  <a:ea typeface="Aptos Display" pitchFamily="34" charset="-122"/>
                  <a:cs typeface="Aptos Display" pitchFamily="34" charset="-120"/>
                </a:rPr>
                <a:t>Informatika</a:t>
              </a:r>
              <a:endParaRPr lang="en-US" sz="1700" dirty="0">
                <a:solidFill>
                  <a:srgbClr val="C00000"/>
                </a:solidFill>
              </a:endParaRPr>
            </a:p>
          </p:txBody>
        </p:sp>
        <p:pic>
          <p:nvPicPr>
            <p:cNvPr id="122" name="Picture 121">
              <a:extLst>
                <a:ext uri="{FF2B5EF4-FFF2-40B4-BE49-F238E27FC236}">
                  <a16:creationId xmlns:a16="http://schemas.microsoft.com/office/drawing/2014/main" id="{0E0FCC1C-26CD-5A1B-C7FE-A87F5D436D8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34755" t="29153" r="36238" b="33855"/>
            <a:stretch>
              <a:fillRect/>
            </a:stretch>
          </p:blipFill>
          <p:spPr>
            <a:xfrm>
              <a:off x="6300861" y="396716"/>
              <a:ext cx="346827" cy="345948"/>
            </a:xfrm>
            <a:prstGeom prst="rect">
              <a:avLst/>
            </a:prstGeom>
          </p:spPr>
        </p:pic>
        <p:pic>
          <p:nvPicPr>
            <p:cNvPr id="123" name="Picture 122">
              <a:extLst>
                <a:ext uri="{FF2B5EF4-FFF2-40B4-BE49-F238E27FC236}">
                  <a16:creationId xmlns:a16="http://schemas.microsoft.com/office/drawing/2014/main" id="{155EDEEB-2E4E-F6E8-FA6F-3E8A6175B1A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133088" y="339090"/>
              <a:ext cx="565404" cy="565404"/>
            </a:xfrm>
            <a:prstGeom prst="rect">
              <a:avLst/>
            </a:prstGeom>
          </p:spPr>
        </p:pic>
      </p:grp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73152"/>
            <a:ext cx="1234440" cy="749808"/>
          </a:xfrm>
          <a:prstGeom prst="ellipse">
            <a:avLst/>
          </a:prstGeom>
          <a:solidFill>
            <a:srgbClr val="EEE9FF">
              <a:alpha val="8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588752" y="5897880"/>
            <a:ext cx="1261872" cy="658368"/>
          </a:xfrm>
          <a:prstGeom prst="ellipse">
            <a:avLst/>
          </a:prstGeom>
          <a:solidFill>
            <a:srgbClr val="E2F2FF">
              <a:alpha val="8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" y="1143000"/>
            <a:ext cx="502920" cy="0"/>
          </a:xfrm>
          <a:prstGeom prst="line">
            <a:avLst/>
          </a:prstGeom>
          <a:noFill/>
          <a:ln w="8890">
            <a:solidFill>
              <a:srgbClr val="BFD8FF">
                <a:alpha val="6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106424"/>
            <a:ext cx="54864" cy="54864"/>
          </a:xfrm>
          <a:prstGeom prst="ellipse">
            <a:avLst/>
          </a:prstGeom>
          <a:solidFill>
            <a:srgbClr val="FFFFFF">
              <a:alpha val="0"/>
            </a:srgbClr>
          </a:solidFill>
          <a:ln w="8890">
            <a:solidFill>
              <a:srgbClr val="BFD8FF">
                <a:alpha val="6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384280" y="2743200"/>
            <a:ext cx="438912" cy="0"/>
          </a:xfrm>
          <a:prstGeom prst="line">
            <a:avLst/>
          </a:prstGeom>
          <a:noFill/>
          <a:ln w="8890">
            <a:solidFill>
              <a:srgbClr val="BFD8FF">
                <a:alpha val="6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301984" y="2706624"/>
            <a:ext cx="54864" cy="54864"/>
          </a:xfrm>
          <a:prstGeom prst="ellipse">
            <a:avLst/>
          </a:prstGeom>
          <a:solidFill>
            <a:srgbClr val="FFFFFF">
              <a:alpha val="0"/>
            </a:srgbClr>
          </a:solidFill>
          <a:ln w="8890">
            <a:solidFill>
              <a:srgbClr val="BFD8FF">
                <a:alpha val="6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4592" y="1581912"/>
            <a:ext cx="502920" cy="0"/>
          </a:xfrm>
          <a:prstGeom prst="line">
            <a:avLst/>
          </a:prstGeom>
          <a:noFill/>
          <a:ln w="8890">
            <a:solidFill>
              <a:srgbClr val="BFD8FF">
                <a:alpha val="6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1545336"/>
            <a:ext cx="54864" cy="54864"/>
          </a:xfrm>
          <a:prstGeom prst="ellipse">
            <a:avLst/>
          </a:prstGeom>
          <a:solidFill>
            <a:srgbClr val="FFFFFF">
              <a:alpha val="0"/>
            </a:srgbClr>
          </a:solidFill>
          <a:ln w="8890">
            <a:solidFill>
              <a:srgbClr val="BFD8FF">
                <a:alpha val="6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384280" y="3182112"/>
            <a:ext cx="438912" cy="0"/>
          </a:xfrm>
          <a:prstGeom prst="line">
            <a:avLst/>
          </a:prstGeom>
          <a:noFill/>
          <a:ln w="8890">
            <a:solidFill>
              <a:srgbClr val="BFD8FF">
                <a:alpha val="6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301984" y="3145536"/>
            <a:ext cx="54864" cy="54864"/>
          </a:xfrm>
          <a:prstGeom prst="ellipse">
            <a:avLst/>
          </a:prstGeom>
          <a:solidFill>
            <a:srgbClr val="FFFFFF">
              <a:alpha val="0"/>
            </a:srgbClr>
          </a:solidFill>
          <a:ln w="8890">
            <a:solidFill>
              <a:srgbClr val="BFD8FF">
                <a:alpha val="6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64592" y="2020824"/>
            <a:ext cx="502920" cy="0"/>
          </a:xfrm>
          <a:prstGeom prst="line">
            <a:avLst/>
          </a:prstGeom>
          <a:noFill/>
          <a:ln w="8890">
            <a:solidFill>
              <a:srgbClr val="BFD8FF">
                <a:alpha val="62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5800" y="1984248"/>
            <a:ext cx="54864" cy="54864"/>
          </a:xfrm>
          <a:prstGeom prst="ellipse">
            <a:avLst/>
          </a:prstGeom>
          <a:solidFill>
            <a:srgbClr val="FFFFFF">
              <a:alpha val="0"/>
            </a:srgbClr>
          </a:solidFill>
          <a:ln w="8890">
            <a:solidFill>
              <a:srgbClr val="BFD8FF">
                <a:alpha val="6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384280" y="3621024"/>
            <a:ext cx="438912" cy="0"/>
          </a:xfrm>
          <a:prstGeom prst="line">
            <a:avLst/>
          </a:prstGeom>
          <a:noFill/>
          <a:ln w="8890">
            <a:solidFill>
              <a:srgbClr val="BFD8FF">
                <a:alpha val="6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301984" y="3584448"/>
            <a:ext cx="54864" cy="54864"/>
          </a:xfrm>
          <a:prstGeom prst="ellipse">
            <a:avLst/>
          </a:prstGeom>
          <a:solidFill>
            <a:srgbClr val="FFFFFF">
              <a:alpha val="0"/>
            </a:srgbClr>
          </a:solidFill>
          <a:ln w="8890">
            <a:solidFill>
              <a:srgbClr val="BFD8FF">
                <a:alpha val="6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331720" y="694944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450592" y="694944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569464" y="694944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688336" y="694944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807208" y="694944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926080" y="694944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31720" y="813816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450592" y="813816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569464" y="813816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688336" y="813816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807208" y="813816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926080" y="813816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331720" y="932688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450592" y="932688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569464" y="932688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688336" y="932688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807208" y="932688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2926080" y="932688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0058400" y="438912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dirty="0">
                <a:solidFill>
                  <a:srgbClr val="6EA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✦</a:t>
            </a:r>
            <a:endParaRPr lang="en-US" sz="2300" dirty="0"/>
          </a:p>
        </p:txBody>
      </p:sp>
      <p:sp>
        <p:nvSpPr>
          <p:cNvPr id="62" name="Shape 60"/>
          <p:cNvSpPr/>
          <p:nvPr/>
        </p:nvSpPr>
        <p:spPr>
          <a:xfrm>
            <a:off x="2834640" y="1243584"/>
            <a:ext cx="1645920" cy="0"/>
          </a:xfrm>
          <a:prstGeom prst="line">
            <a:avLst/>
          </a:prstGeom>
          <a:noFill/>
          <a:ln w="19050">
            <a:solidFill>
              <a:srgbClr val="6E3FE5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2779776" y="1207008"/>
            <a:ext cx="73152" cy="73152"/>
          </a:xfrm>
          <a:prstGeom prst="ellipse">
            <a:avLst/>
          </a:prstGeom>
          <a:solidFill>
            <a:srgbClr val="6E3FE5"/>
          </a:solidFill>
          <a:ln w="12700">
            <a:solidFill>
              <a:srgbClr val="6E3FE5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7726680" y="1243584"/>
            <a:ext cx="1645920" cy="0"/>
          </a:xfrm>
          <a:prstGeom prst="line">
            <a:avLst/>
          </a:prstGeom>
          <a:noFill/>
          <a:ln w="19050">
            <a:solidFill>
              <a:srgbClr val="6E3FE5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9372600" y="1207008"/>
            <a:ext cx="73152" cy="73152"/>
          </a:xfrm>
          <a:prstGeom prst="ellipse">
            <a:avLst/>
          </a:prstGeom>
          <a:solidFill>
            <a:srgbClr val="6E3FE5"/>
          </a:solidFill>
          <a:ln w="12700">
            <a:solidFill>
              <a:srgbClr val="6E3FE5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498848" y="1078992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6E3FE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SEMINAR HASIL</a:t>
            </a:r>
            <a:endParaRPr lang="en-US" sz="2500" dirty="0"/>
          </a:p>
        </p:txBody>
      </p:sp>
      <p:sp>
        <p:nvSpPr>
          <p:cNvPr id="67" name="Text 65"/>
          <p:cNvSpPr/>
          <p:nvPr/>
        </p:nvSpPr>
        <p:spPr>
          <a:xfrm>
            <a:off x="594360" y="1444752"/>
            <a:ext cx="11018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B1F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Implementasi Perspective Correction</a:t>
            </a:r>
            <a:endParaRPr lang="en-US" sz="3400" dirty="0"/>
          </a:p>
        </p:txBody>
      </p:sp>
      <p:sp>
        <p:nvSpPr>
          <p:cNvPr id="68" name="Shape 66"/>
          <p:cNvSpPr/>
          <p:nvPr/>
        </p:nvSpPr>
        <p:spPr>
          <a:xfrm>
            <a:off x="822960" y="2286000"/>
            <a:ext cx="4754880" cy="283464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2E8F7">
                <a:alpha val="90000"/>
              </a:srgbClr>
            </a:solidFill>
            <a:prstDash val="solid"/>
          </a:ln>
          <a:effectLst>
            <a:outerShdw blurRad="25400" dist="50800" dir="2700000" algn="bl" rotWithShape="0">
              <a:srgbClr val="94A3B8">
                <a:alpha val="14000"/>
              </a:srgbClr>
            </a:outerShdw>
          </a:effectLst>
        </p:spPr>
      </p:sp>
      <p:sp>
        <p:nvSpPr>
          <p:cNvPr id="69" name="Text 67"/>
          <p:cNvSpPr/>
          <p:nvPr/>
        </p:nvSpPr>
        <p:spPr>
          <a:xfrm>
            <a:off x="1115568" y="25420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1F53"/>
                </a:solidFill>
              </a:rPr>
              <a:t>Peran ArUco Marker</a:t>
            </a:r>
            <a:endParaRPr lang="en-US" sz="1700" dirty="0"/>
          </a:p>
        </p:txBody>
      </p:sp>
      <p:sp>
        <p:nvSpPr>
          <p:cNvPr id="70" name="Shape 68"/>
          <p:cNvSpPr/>
          <p:nvPr/>
        </p:nvSpPr>
        <p:spPr>
          <a:xfrm>
            <a:off x="1143000" y="3090672"/>
            <a:ext cx="201168" cy="201168"/>
          </a:xfrm>
          <a:prstGeom prst="ellipse">
            <a:avLst/>
          </a:prstGeom>
          <a:solidFill>
            <a:srgbClr val="6E3FE5"/>
          </a:solidFill>
          <a:ln w="12700">
            <a:solidFill>
              <a:srgbClr val="6E3FE5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1143000" y="3141537"/>
            <a:ext cx="20116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72" name="Text 70"/>
          <p:cNvSpPr/>
          <p:nvPr/>
        </p:nvSpPr>
        <p:spPr>
          <a:xfrm>
            <a:off x="1508759" y="3044952"/>
            <a:ext cx="388274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300" dirty="0"/>
              <a:t>DICT_6X6_1000 digunakan untuk mendeteksi marker.</a:t>
            </a:r>
          </a:p>
        </p:txBody>
      </p:sp>
      <p:sp>
        <p:nvSpPr>
          <p:cNvPr id="73" name="Shape 71"/>
          <p:cNvSpPr/>
          <p:nvPr/>
        </p:nvSpPr>
        <p:spPr>
          <a:xfrm>
            <a:off x="1143000" y="3602736"/>
            <a:ext cx="201168" cy="201168"/>
          </a:xfrm>
          <a:prstGeom prst="ellipse">
            <a:avLst/>
          </a:prstGeom>
          <a:solidFill>
            <a:srgbClr val="6E3FE5"/>
          </a:solidFill>
          <a:ln w="12700">
            <a:solidFill>
              <a:srgbClr val="6E3FE5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1143000" y="3658364"/>
            <a:ext cx="20116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75" name="Text 73"/>
          <p:cNvSpPr/>
          <p:nvPr/>
        </p:nvSpPr>
        <p:spPr>
          <a:xfrm>
            <a:off x="1508760" y="3557016"/>
            <a:ext cx="38827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0B1F53"/>
                </a:solidFill>
              </a:rPr>
              <a:t>Minimal empat marker valid diperlukan agar homografi dapat dihitung.</a:t>
            </a:r>
            <a:endParaRPr lang="en-US" sz="1300" dirty="0"/>
          </a:p>
        </p:txBody>
      </p:sp>
      <p:sp>
        <p:nvSpPr>
          <p:cNvPr id="76" name="Shape 74"/>
          <p:cNvSpPr/>
          <p:nvPr/>
        </p:nvSpPr>
        <p:spPr>
          <a:xfrm>
            <a:off x="1143000" y="4114800"/>
            <a:ext cx="201168" cy="201168"/>
          </a:xfrm>
          <a:prstGeom prst="ellipse">
            <a:avLst/>
          </a:prstGeom>
          <a:solidFill>
            <a:srgbClr val="6E3FE5"/>
          </a:solidFill>
          <a:ln w="12700">
            <a:solidFill>
              <a:srgbClr val="6E3FE5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1138237" y="4165665"/>
            <a:ext cx="20116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78" name="Text 76"/>
          <p:cNvSpPr/>
          <p:nvPr/>
        </p:nvSpPr>
        <p:spPr>
          <a:xfrm>
            <a:off x="1508760" y="4069080"/>
            <a:ext cx="38827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0B1F53"/>
                </a:solidFill>
              </a:rPr>
              <a:t>Tinggi papan referensi diketahui sebesar 200 cm sebagai skala fisik.</a:t>
            </a:r>
            <a:endParaRPr lang="en-US" sz="1300" dirty="0"/>
          </a:p>
        </p:txBody>
      </p:sp>
      <p:sp>
        <p:nvSpPr>
          <p:cNvPr id="79" name="Shape 77"/>
          <p:cNvSpPr/>
          <p:nvPr/>
        </p:nvSpPr>
        <p:spPr>
          <a:xfrm>
            <a:off x="6172200" y="2286000"/>
            <a:ext cx="5074920" cy="1673352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2E8F7">
                <a:alpha val="90000"/>
              </a:srgbClr>
            </a:solidFill>
            <a:prstDash val="solid"/>
          </a:ln>
          <a:effectLst>
            <a:outerShdw blurRad="25400" dist="50800" dir="2700000" algn="bl" rotWithShape="0">
              <a:srgbClr val="94A3B8">
                <a:alpha val="14000"/>
              </a:srgbClr>
            </a:outerShdw>
          </a:effectLst>
        </p:spPr>
      </p:sp>
      <p:sp>
        <p:nvSpPr>
          <p:cNvPr id="80" name="Text 78"/>
          <p:cNvSpPr/>
          <p:nvPr/>
        </p:nvSpPr>
        <p:spPr>
          <a:xfrm>
            <a:off x="6473952" y="254203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1F53"/>
                </a:solidFill>
              </a:rPr>
              <a:t>Transformasi Homografi</a:t>
            </a:r>
            <a:endParaRPr lang="en-US" sz="1700" dirty="0"/>
          </a:p>
        </p:txBody>
      </p:sp>
      <p:sp>
        <p:nvSpPr>
          <p:cNvPr id="82" name="Text 80"/>
          <p:cNvSpPr/>
          <p:nvPr/>
        </p:nvSpPr>
        <p:spPr>
          <a:xfrm>
            <a:off x="6502527" y="3059049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0B1F53"/>
                </a:solidFill>
              </a:rPr>
              <a:t>RANSAC digunakan untuk mengurangi pengaruh titik pasangan yang menyimpang sehingga hasil koreksi perspektif lebih stabil.</a:t>
            </a:r>
            <a:endParaRPr lang="en-US" sz="1200" dirty="0"/>
          </a:p>
        </p:txBody>
      </p:sp>
      <p:sp>
        <p:nvSpPr>
          <p:cNvPr id="83" name="Shape 81"/>
          <p:cNvSpPr/>
          <p:nvPr/>
        </p:nvSpPr>
        <p:spPr>
          <a:xfrm>
            <a:off x="6222492" y="4393691"/>
            <a:ext cx="5024628" cy="384048"/>
          </a:xfrm>
          <a:prstGeom prst="roundRect">
            <a:avLst>
              <a:gd name="adj" fmla="val 19048"/>
            </a:avLst>
          </a:prstGeom>
          <a:solidFill>
            <a:srgbClr val="6E3FE5"/>
          </a:solidFill>
          <a:ln w="12700">
            <a:solidFill>
              <a:srgbClr val="6E3FE5">
                <a:alpha val="90000"/>
              </a:srgbClr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5539740" y="4427601"/>
            <a:ext cx="6446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Hasil: bidang papan menjadi lebih konsisten sebelum pose estimation</a:t>
            </a:r>
            <a:endParaRPr lang="en-US" sz="1200" dirty="0"/>
          </a:p>
        </p:txBody>
      </p: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6D83C421-6B34-BF36-EA6A-9CAB98F50C97}"/>
              </a:ext>
            </a:extLst>
          </p:cNvPr>
          <p:cNvGrpSpPr/>
          <p:nvPr/>
        </p:nvGrpSpPr>
        <p:grpSpPr>
          <a:xfrm>
            <a:off x="3977640" y="256032"/>
            <a:ext cx="4251960" cy="713232"/>
            <a:chOff x="3977640" y="256032"/>
            <a:chExt cx="4251960" cy="713232"/>
          </a:xfrm>
        </p:grpSpPr>
        <p:sp>
          <p:nvSpPr>
            <p:cNvPr id="103" name="Shape 51">
              <a:extLst>
                <a:ext uri="{FF2B5EF4-FFF2-40B4-BE49-F238E27FC236}">
                  <a16:creationId xmlns:a16="http://schemas.microsoft.com/office/drawing/2014/main" id="{D2087EAA-E9B8-B5B9-A113-AF49B3798422}"/>
                </a:ext>
              </a:extLst>
            </p:cNvPr>
            <p:cNvSpPr/>
            <p:nvPr/>
          </p:nvSpPr>
          <p:spPr>
            <a:xfrm>
              <a:off x="3977640" y="256032"/>
              <a:ext cx="4251960" cy="713232"/>
            </a:xfrm>
            <a:prstGeom prst="roundRect">
              <a:avLst>
                <a:gd name="adj" fmla="val 17949"/>
              </a:avLst>
            </a:prstGeom>
            <a:solidFill>
              <a:srgbClr val="FFFFFF"/>
            </a:solidFill>
            <a:ln w="12700">
              <a:solidFill>
                <a:srgbClr val="E0E8F6">
                  <a:alpha val="85000"/>
                </a:srgbClr>
              </a:solidFill>
              <a:prstDash val="solid"/>
            </a:ln>
            <a:effectLst>
              <a:outerShdw blurRad="25400" dist="50800" dir="2700000" algn="bl" rotWithShape="0">
                <a:srgbClr val="97A6BF">
                  <a:alpha val="12000"/>
                </a:srgbClr>
              </a:outerShdw>
            </a:effectLst>
          </p:spPr>
        </p:sp>
        <p:sp>
          <p:nvSpPr>
            <p:cNvPr id="104" name="Text 54">
              <a:extLst>
                <a:ext uri="{FF2B5EF4-FFF2-40B4-BE49-F238E27FC236}">
                  <a16:creationId xmlns:a16="http://schemas.microsoft.com/office/drawing/2014/main" id="{37AE6F8D-D5F8-50CE-F9CE-5D3B8C517A02}"/>
                </a:ext>
              </a:extLst>
            </p:cNvPr>
            <p:cNvSpPr/>
            <p:nvPr/>
          </p:nvSpPr>
          <p:spPr>
            <a:xfrm>
              <a:off x="4727448" y="402336"/>
              <a:ext cx="114300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800" b="1" dirty="0">
                  <a:solidFill>
                    <a:srgbClr val="0B1F53"/>
                  </a:solidFill>
                  <a:latin typeface="Aptos Display" pitchFamily="34" charset="0"/>
                  <a:ea typeface="Aptos Display" pitchFamily="34" charset="-122"/>
                  <a:cs typeface="Aptos Display" pitchFamily="34" charset="-120"/>
                </a:rPr>
                <a:t>ITENAS</a:t>
              </a:r>
              <a:endParaRPr lang="en-US" sz="1800" dirty="0"/>
            </a:p>
          </p:txBody>
        </p:sp>
        <p:sp>
          <p:nvSpPr>
            <p:cNvPr id="105" name="Text 55">
              <a:extLst>
                <a:ext uri="{FF2B5EF4-FFF2-40B4-BE49-F238E27FC236}">
                  <a16:creationId xmlns:a16="http://schemas.microsoft.com/office/drawing/2014/main" id="{4AC0BA6F-F4D4-86AB-A84F-7F3C351E2532}"/>
                </a:ext>
              </a:extLst>
            </p:cNvPr>
            <p:cNvSpPr/>
            <p:nvPr/>
          </p:nvSpPr>
          <p:spPr>
            <a:xfrm>
              <a:off x="4736592" y="640080"/>
              <a:ext cx="123444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650" dirty="0">
                  <a:solidFill>
                    <a:srgbClr val="0B1F53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Institut Teknologi Nasional</a:t>
              </a:r>
              <a:endParaRPr lang="en-US" sz="650" dirty="0"/>
            </a:p>
            <a:p>
              <a:pPr marL="0" indent="0">
                <a:buNone/>
              </a:pPr>
              <a:r>
                <a:rPr lang="en-US" sz="650" dirty="0">
                  <a:solidFill>
                    <a:srgbClr val="0B1F53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Bandung</a:t>
              </a:r>
              <a:endParaRPr lang="en-US" sz="650" dirty="0"/>
            </a:p>
          </p:txBody>
        </p:sp>
        <p:sp>
          <p:nvSpPr>
            <p:cNvPr id="106" name="Shape 56">
              <a:extLst>
                <a:ext uri="{FF2B5EF4-FFF2-40B4-BE49-F238E27FC236}">
                  <a16:creationId xmlns:a16="http://schemas.microsoft.com/office/drawing/2014/main" id="{DA5D722D-58D0-941C-5B5B-0C72947201EF}"/>
                </a:ext>
              </a:extLst>
            </p:cNvPr>
            <p:cNvSpPr/>
            <p:nvPr/>
          </p:nvSpPr>
          <p:spPr>
            <a:xfrm>
              <a:off x="6126480" y="411480"/>
              <a:ext cx="0" cy="402336"/>
            </a:xfrm>
            <a:prstGeom prst="line">
              <a:avLst/>
            </a:prstGeom>
            <a:noFill/>
            <a:ln w="12700">
              <a:solidFill>
                <a:srgbClr val="B8C2E8"/>
              </a:solidFill>
              <a:prstDash val="solid"/>
            </a:ln>
          </p:spPr>
        </p:sp>
        <p:sp>
          <p:nvSpPr>
            <p:cNvPr id="107" name="Text 58">
              <a:extLst>
                <a:ext uri="{FF2B5EF4-FFF2-40B4-BE49-F238E27FC236}">
                  <a16:creationId xmlns:a16="http://schemas.microsoft.com/office/drawing/2014/main" id="{26EAC86A-7E9E-EA6D-5839-8078DC86AEEA}"/>
                </a:ext>
              </a:extLst>
            </p:cNvPr>
            <p:cNvSpPr/>
            <p:nvPr/>
          </p:nvSpPr>
          <p:spPr>
            <a:xfrm>
              <a:off x="6830568" y="457200"/>
              <a:ext cx="109728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700" b="1" dirty="0">
                  <a:solidFill>
                    <a:srgbClr val="C00000"/>
                  </a:solidFill>
                  <a:latin typeface="Aptos Display" pitchFamily="34" charset="0"/>
                  <a:ea typeface="Aptos Display" pitchFamily="34" charset="-122"/>
                  <a:cs typeface="Aptos Display" pitchFamily="34" charset="-120"/>
                </a:rPr>
                <a:t>Informatika</a:t>
              </a:r>
              <a:endParaRPr lang="en-US" sz="1700" dirty="0">
                <a:solidFill>
                  <a:srgbClr val="C00000"/>
                </a:solidFill>
              </a:endParaRPr>
            </a:p>
          </p:txBody>
        </p:sp>
        <p:pic>
          <p:nvPicPr>
            <p:cNvPr id="108" name="Picture 107">
              <a:extLst>
                <a:ext uri="{FF2B5EF4-FFF2-40B4-BE49-F238E27FC236}">
                  <a16:creationId xmlns:a16="http://schemas.microsoft.com/office/drawing/2014/main" id="{9C6663C9-E50C-A35B-FE17-BDCFD6323E6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34755" t="29153" r="36238" b="33855"/>
            <a:stretch>
              <a:fillRect/>
            </a:stretch>
          </p:blipFill>
          <p:spPr>
            <a:xfrm>
              <a:off x="6300861" y="396716"/>
              <a:ext cx="346827" cy="345948"/>
            </a:xfrm>
            <a:prstGeom prst="rect">
              <a:avLst/>
            </a:prstGeom>
          </p:spPr>
        </p:pic>
        <p:pic>
          <p:nvPicPr>
            <p:cNvPr id="109" name="Picture 108">
              <a:extLst>
                <a:ext uri="{FF2B5EF4-FFF2-40B4-BE49-F238E27FC236}">
                  <a16:creationId xmlns:a16="http://schemas.microsoft.com/office/drawing/2014/main" id="{B9969E97-D566-715F-BD13-5BC231D0A28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133088" y="339090"/>
              <a:ext cx="565404" cy="565404"/>
            </a:xfrm>
            <a:prstGeom prst="rect">
              <a:avLst/>
            </a:prstGeom>
          </p:spPr>
        </p:pic>
      </p:grp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73152"/>
            <a:ext cx="1234440" cy="749808"/>
          </a:xfrm>
          <a:prstGeom prst="ellipse">
            <a:avLst/>
          </a:prstGeom>
          <a:solidFill>
            <a:srgbClr val="E2F2FF">
              <a:alpha val="8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588752" y="5897880"/>
            <a:ext cx="1261872" cy="658368"/>
          </a:xfrm>
          <a:prstGeom prst="ellipse">
            <a:avLst/>
          </a:prstGeom>
          <a:solidFill>
            <a:srgbClr val="EEE9FF">
              <a:alpha val="8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" y="1143000"/>
            <a:ext cx="502920" cy="0"/>
          </a:xfrm>
          <a:prstGeom prst="line">
            <a:avLst/>
          </a:prstGeom>
          <a:noFill/>
          <a:ln w="8890">
            <a:solidFill>
              <a:srgbClr val="BFD8FF">
                <a:alpha val="6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106424"/>
            <a:ext cx="54864" cy="54864"/>
          </a:xfrm>
          <a:prstGeom prst="ellipse">
            <a:avLst/>
          </a:prstGeom>
          <a:solidFill>
            <a:srgbClr val="FFFFFF">
              <a:alpha val="0"/>
            </a:srgbClr>
          </a:solidFill>
          <a:ln w="8890">
            <a:solidFill>
              <a:srgbClr val="BFD8FF">
                <a:alpha val="6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384280" y="2743200"/>
            <a:ext cx="438912" cy="0"/>
          </a:xfrm>
          <a:prstGeom prst="line">
            <a:avLst/>
          </a:prstGeom>
          <a:noFill/>
          <a:ln w="8890">
            <a:solidFill>
              <a:srgbClr val="BFD8FF">
                <a:alpha val="6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301984" y="2706624"/>
            <a:ext cx="54864" cy="54864"/>
          </a:xfrm>
          <a:prstGeom prst="ellipse">
            <a:avLst/>
          </a:prstGeom>
          <a:solidFill>
            <a:srgbClr val="FFFFFF">
              <a:alpha val="0"/>
            </a:srgbClr>
          </a:solidFill>
          <a:ln w="8890">
            <a:solidFill>
              <a:srgbClr val="BFD8FF">
                <a:alpha val="6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4592" y="1581912"/>
            <a:ext cx="502920" cy="0"/>
          </a:xfrm>
          <a:prstGeom prst="line">
            <a:avLst/>
          </a:prstGeom>
          <a:noFill/>
          <a:ln w="8890">
            <a:solidFill>
              <a:srgbClr val="BFD8FF">
                <a:alpha val="6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1545336"/>
            <a:ext cx="54864" cy="54864"/>
          </a:xfrm>
          <a:prstGeom prst="ellipse">
            <a:avLst/>
          </a:prstGeom>
          <a:solidFill>
            <a:srgbClr val="FFFFFF">
              <a:alpha val="0"/>
            </a:srgbClr>
          </a:solidFill>
          <a:ln w="8890">
            <a:solidFill>
              <a:srgbClr val="BFD8FF">
                <a:alpha val="6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384280" y="3182112"/>
            <a:ext cx="438912" cy="0"/>
          </a:xfrm>
          <a:prstGeom prst="line">
            <a:avLst/>
          </a:prstGeom>
          <a:noFill/>
          <a:ln w="8890">
            <a:solidFill>
              <a:srgbClr val="BFD8FF">
                <a:alpha val="6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301984" y="3145536"/>
            <a:ext cx="54864" cy="54864"/>
          </a:xfrm>
          <a:prstGeom prst="ellipse">
            <a:avLst/>
          </a:prstGeom>
          <a:solidFill>
            <a:srgbClr val="FFFFFF">
              <a:alpha val="0"/>
            </a:srgbClr>
          </a:solidFill>
          <a:ln w="8890">
            <a:solidFill>
              <a:srgbClr val="BFD8FF">
                <a:alpha val="6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64592" y="2020824"/>
            <a:ext cx="502920" cy="0"/>
          </a:xfrm>
          <a:prstGeom prst="line">
            <a:avLst/>
          </a:prstGeom>
          <a:noFill/>
          <a:ln w="8890">
            <a:solidFill>
              <a:srgbClr val="BFD8FF">
                <a:alpha val="62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5800" y="1984248"/>
            <a:ext cx="54864" cy="54864"/>
          </a:xfrm>
          <a:prstGeom prst="ellipse">
            <a:avLst/>
          </a:prstGeom>
          <a:solidFill>
            <a:srgbClr val="FFFFFF">
              <a:alpha val="0"/>
            </a:srgbClr>
          </a:solidFill>
          <a:ln w="8890">
            <a:solidFill>
              <a:srgbClr val="BFD8FF">
                <a:alpha val="6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384280" y="3621024"/>
            <a:ext cx="438912" cy="0"/>
          </a:xfrm>
          <a:prstGeom prst="line">
            <a:avLst/>
          </a:prstGeom>
          <a:noFill/>
          <a:ln w="8890">
            <a:solidFill>
              <a:srgbClr val="BFD8FF">
                <a:alpha val="6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301984" y="3584448"/>
            <a:ext cx="54864" cy="54864"/>
          </a:xfrm>
          <a:prstGeom prst="ellipse">
            <a:avLst/>
          </a:prstGeom>
          <a:solidFill>
            <a:srgbClr val="FFFFFF">
              <a:alpha val="0"/>
            </a:srgbClr>
          </a:solidFill>
          <a:ln w="8890">
            <a:solidFill>
              <a:srgbClr val="BFD8FF">
                <a:alpha val="6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331720" y="694944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744200" y="6153912"/>
            <a:ext cx="27432" cy="27432"/>
          </a:xfrm>
          <a:prstGeom prst="ellipse">
            <a:avLst/>
          </a:prstGeom>
          <a:solidFill>
            <a:srgbClr val="D7CBFF">
              <a:alpha val="65000"/>
            </a:srgbClr>
          </a:solidFill>
          <a:ln w="12700">
            <a:solidFill>
              <a:srgbClr val="D7CBFF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450592" y="694944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863072" y="6153912"/>
            <a:ext cx="27432" cy="27432"/>
          </a:xfrm>
          <a:prstGeom prst="ellipse">
            <a:avLst/>
          </a:prstGeom>
          <a:solidFill>
            <a:srgbClr val="D7CBFF">
              <a:alpha val="65000"/>
            </a:srgbClr>
          </a:solidFill>
          <a:ln w="12700">
            <a:solidFill>
              <a:srgbClr val="D7CBFF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569464" y="694944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981944" y="6153912"/>
            <a:ext cx="27432" cy="27432"/>
          </a:xfrm>
          <a:prstGeom prst="ellipse">
            <a:avLst/>
          </a:prstGeom>
          <a:solidFill>
            <a:srgbClr val="D7CBFF">
              <a:alpha val="65000"/>
            </a:srgbClr>
          </a:solidFill>
          <a:ln w="12700">
            <a:solidFill>
              <a:srgbClr val="D7CBFF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688336" y="694944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100816" y="6153912"/>
            <a:ext cx="27432" cy="27432"/>
          </a:xfrm>
          <a:prstGeom prst="ellipse">
            <a:avLst/>
          </a:prstGeom>
          <a:solidFill>
            <a:srgbClr val="D7CBFF">
              <a:alpha val="65000"/>
            </a:srgbClr>
          </a:solidFill>
          <a:ln w="12700">
            <a:solidFill>
              <a:srgbClr val="D7CBFF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807208" y="694944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219688" y="6153912"/>
            <a:ext cx="27432" cy="27432"/>
          </a:xfrm>
          <a:prstGeom prst="ellipse">
            <a:avLst/>
          </a:prstGeom>
          <a:solidFill>
            <a:srgbClr val="D7CBFF">
              <a:alpha val="65000"/>
            </a:srgbClr>
          </a:solidFill>
          <a:ln w="12700">
            <a:solidFill>
              <a:srgbClr val="D7CBFF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926080" y="694944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338560" y="6153912"/>
            <a:ext cx="27432" cy="27432"/>
          </a:xfrm>
          <a:prstGeom prst="ellipse">
            <a:avLst/>
          </a:prstGeom>
          <a:solidFill>
            <a:srgbClr val="D7CBFF">
              <a:alpha val="65000"/>
            </a:srgbClr>
          </a:solidFill>
          <a:ln w="12700">
            <a:solidFill>
              <a:srgbClr val="D7CBFF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31720" y="813816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450592" y="813816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569464" y="813816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688336" y="813816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807208" y="813816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926080" y="813816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331720" y="932688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450592" y="932688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569464" y="932688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688336" y="932688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807208" y="932688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2926080" y="932688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0058400" y="438912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dirty="0">
                <a:solidFill>
                  <a:srgbClr val="6EA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✦</a:t>
            </a:r>
            <a:endParaRPr lang="en-US" sz="2300" dirty="0"/>
          </a:p>
        </p:txBody>
      </p:sp>
      <p:sp>
        <p:nvSpPr>
          <p:cNvPr id="62" name="Shape 60"/>
          <p:cNvSpPr/>
          <p:nvPr/>
        </p:nvSpPr>
        <p:spPr>
          <a:xfrm>
            <a:off x="2834640" y="1243584"/>
            <a:ext cx="1645920" cy="0"/>
          </a:xfrm>
          <a:prstGeom prst="line">
            <a:avLst/>
          </a:prstGeom>
          <a:noFill/>
          <a:ln w="19050">
            <a:solidFill>
              <a:srgbClr val="6E3FE5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2779776" y="1207008"/>
            <a:ext cx="73152" cy="73152"/>
          </a:xfrm>
          <a:prstGeom prst="ellipse">
            <a:avLst/>
          </a:prstGeom>
          <a:solidFill>
            <a:srgbClr val="6E3FE5"/>
          </a:solidFill>
          <a:ln w="12700">
            <a:solidFill>
              <a:srgbClr val="6E3FE5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7726680" y="1243584"/>
            <a:ext cx="1645920" cy="0"/>
          </a:xfrm>
          <a:prstGeom prst="line">
            <a:avLst/>
          </a:prstGeom>
          <a:noFill/>
          <a:ln w="19050">
            <a:solidFill>
              <a:srgbClr val="6E3FE5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9372600" y="1207008"/>
            <a:ext cx="73152" cy="73152"/>
          </a:xfrm>
          <a:prstGeom prst="ellipse">
            <a:avLst/>
          </a:prstGeom>
          <a:solidFill>
            <a:srgbClr val="6E3FE5"/>
          </a:solidFill>
          <a:ln w="12700">
            <a:solidFill>
              <a:srgbClr val="6E3FE5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498848" y="1078992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6E3FE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SEMINAR HASIL</a:t>
            </a:r>
            <a:endParaRPr lang="en-US" sz="2500" dirty="0"/>
          </a:p>
        </p:txBody>
      </p:sp>
      <p:sp>
        <p:nvSpPr>
          <p:cNvPr id="67" name="Text 65"/>
          <p:cNvSpPr/>
          <p:nvPr/>
        </p:nvSpPr>
        <p:spPr>
          <a:xfrm>
            <a:off x="594360" y="1444752"/>
            <a:ext cx="11018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B1F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Pose Estimation dan Perhitungan Tinggi</a:t>
            </a:r>
            <a:endParaRPr lang="en-US" sz="3400" dirty="0"/>
          </a:p>
        </p:txBody>
      </p:sp>
      <p:sp>
        <p:nvSpPr>
          <p:cNvPr id="68" name="Shape 66"/>
          <p:cNvSpPr/>
          <p:nvPr/>
        </p:nvSpPr>
        <p:spPr>
          <a:xfrm>
            <a:off x="731520" y="2240280"/>
            <a:ext cx="3383280" cy="301752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2E8F7">
                <a:alpha val="90000"/>
              </a:srgbClr>
            </a:solidFill>
            <a:prstDash val="solid"/>
          </a:ln>
          <a:effectLst>
            <a:outerShdw blurRad="25400" dist="50800" dir="2700000" algn="bl" rotWithShape="0">
              <a:srgbClr val="94A3B8">
                <a:alpha val="14000"/>
              </a:srgbClr>
            </a:outerShdw>
          </a:effectLst>
        </p:spPr>
      </p:sp>
      <p:sp>
        <p:nvSpPr>
          <p:cNvPr id="69" name="Shape 67"/>
          <p:cNvSpPr/>
          <p:nvPr/>
        </p:nvSpPr>
        <p:spPr>
          <a:xfrm>
            <a:off x="2084832" y="2487168"/>
            <a:ext cx="640080" cy="640080"/>
          </a:xfrm>
          <a:prstGeom prst="ellipse">
            <a:avLst/>
          </a:prstGeom>
          <a:solidFill>
            <a:srgbClr val="6E3FE5"/>
          </a:solidFill>
          <a:ln w="12700">
            <a:solidFill>
              <a:srgbClr val="6E3FE5">
                <a:alpha val="0"/>
              </a:srgbClr>
            </a:solidFill>
            <a:prstDash val="solid"/>
          </a:ln>
          <a:effectLst>
            <a:outerShdw blurRad="12700" dist="50800" dir="2700000" algn="bl" rotWithShape="0">
              <a:srgbClr val="64748B">
                <a:alpha val="12000"/>
              </a:srgbClr>
            </a:outerShdw>
          </a:effectLst>
        </p:spPr>
      </p:sp>
      <p:sp>
        <p:nvSpPr>
          <p:cNvPr id="70" name="Text 68"/>
          <p:cNvSpPr/>
          <p:nvPr/>
        </p:nvSpPr>
        <p:spPr>
          <a:xfrm>
            <a:off x="2084832" y="2496312"/>
            <a:ext cx="640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3200" dirty="0">
                <a:solidFill>
                  <a:srgbClr val="FFFFFF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🧍</a:t>
            </a:r>
            <a:endParaRPr lang="en-US" sz="3200" dirty="0"/>
          </a:p>
        </p:txBody>
      </p:sp>
      <p:sp>
        <p:nvSpPr>
          <p:cNvPr id="71" name="Text 69"/>
          <p:cNvSpPr/>
          <p:nvPr/>
        </p:nvSpPr>
        <p:spPr>
          <a:xfrm>
            <a:off x="1005840" y="327355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1F53"/>
                </a:solidFill>
              </a:rPr>
              <a:t>MediaPipe Pose</a:t>
            </a:r>
            <a:endParaRPr lang="en-US" sz="1800" dirty="0"/>
          </a:p>
        </p:txBody>
      </p:sp>
      <p:sp>
        <p:nvSpPr>
          <p:cNvPr id="72" name="Text 70"/>
          <p:cNvSpPr/>
          <p:nvPr/>
        </p:nvSpPr>
        <p:spPr>
          <a:xfrm>
            <a:off x="1078992" y="3685032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300" dirty="0"/>
              <a:t>Menghasilkan 33 landmark tubuh pada implementasi aplikasi ini untuk satu subjek/orang.</a:t>
            </a:r>
          </a:p>
        </p:txBody>
      </p:sp>
      <p:sp>
        <p:nvSpPr>
          <p:cNvPr id="73" name="Shape 71"/>
          <p:cNvSpPr/>
          <p:nvPr/>
        </p:nvSpPr>
        <p:spPr>
          <a:xfrm>
            <a:off x="4434840" y="2240280"/>
            <a:ext cx="3383280" cy="301752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2E8F7">
                <a:alpha val="90000"/>
              </a:srgbClr>
            </a:solidFill>
            <a:prstDash val="solid"/>
          </a:ln>
          <a:effectLst>
            <a:outerShdw blurRad="25400" dist="50800" dir="2700000" algn="bl" rotWithShape="0">
              <a:srgbClr val="94A3B8">
                <a:alpha val="14000"/>
              </a:srgbClr>
            </a:outerShdw>
          </a:effectLst>
        </p:spPr>
      </p:sp>
      <p:sp>
        <p:nvSpPr>
          <p:cNvPr id="74" name="Shape 72"/>
          <p:cNvSpPr/>
          <p:nvPr/>
        </p:nvSpPr>
        <p:spPr>
          <a:xfrm>
            <a:off x="5779008" y="2487168"/>
            <a:ext cx="640080" cy="640080"/>
          </a:xfrm>
          <a:prstGeom prst="ellipse">
            <a:avLst/>
          </a:prstGeom>
          <a:solidFill>
            <a:srgbClr val="4AA3FF"/>
          </a:solidFill>
          <a:ln w="12700">
            <a:solidFill>
              <a:srgbClr val="4AA3FF">
                <a:alpha val="0"/>
              </a:srgbClr>
            </a:solidFill>
            <a:prstDash val="solid"/>
          </a:ln>
          <a:effectLst>
            <a:outerShdw blurRad="12700" dist="50800" dir="2700000" algn="bl" rotWithShape="0">
              <a:srgbClr val="64748B">
                <a:alpha val="12000"/>
              </a:srgbClr>
            </a:outerShdw>
          </a:effectLst>
        </p:spPr>
      </p:sp>
      <p:sp>
        <p:nvSpPr>
          <p:cNvPr id="75" name="Text 73"/>
          <p:cNvSpPr/>
          <p:nvPr/>
        </p:nvSpPr>
        <p:spPr>
          <a:xfrm>
            <a:off x="5779008" y="2496312"/>
            <a:ext cx="640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3200" dirty="0">
                <a:solidFill>
                  <a:srgbClr val="FFFFFF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⌃</a:t>
            </a:r>
            <a:endParaRPr lang="en-US" sz="3200" dirty="0"/>
          </a:p>
        </p:txBody>
      </p:sp>
      <p:sp>
        <p:nvSpPr>
          <p:cNvPr id="76" name="Text 74"/>
          <p:cNvSpPr/>
          <p:nvPr/>
        </p:nvSpPr>
        <p:spPr>
          <a:xfrm>
            <a:off x="4709160" y="327355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1F53"/>
                </a:solidFill>
              </a:rPr>
              <a:t>Estimasi Titik Tubuh</a:t>
            </a:r>
            <a:endParaRPr lang="en-US" sz="1800" dirty="0"/>
          </a:p>
        </p:txBody>
      </p:sp>
      <p:sp>
        <p:nvSpPr>
          <p:cNvPr id="77" name="Text 75"/>
          <p:cNvSpPr/>
          <p:nvPr/>
        </p:nvSpPr>
        <p:spPr>
          <a:xfrm>
            <a:off x="4709160" y="3685032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300" dirty="0"/>
              <a:t>Puncak kepala diperkirakan dari landmark wajah dan bahu. Titik kaki terbawah dipilih dari pergelangan kaki, tumit, dan ujung kaki.</a:t>
            </a:r>
          </a:p>
        </p:txBody>
      </p:sp>
      <p:sp>
        <p:nvSpPr>
          <p:cNvPr id="78" name="Shape 76"/>
          <p:cNvSpPr/>
          <p:nvPr/>
        </p:nvSpPr>
        <p:spPr>
          <a:xfrm>
            <a:off x="8138160" y="2240280"/>
            <a:ext cx="3337560" cy="301752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2E8F7">
                <a:alpha val="90000"/>
              </a:srgbClr>
            </a:solidFill>
            <a:prstDash val="solid"/>
          </a:ln>
          <a:effectLst>
            <a:outerShdw blurRad="25400" dist="50800" dir="2700000" algn="bl" rotWithShape="0">
              <a:srgbClr val="94A3B8">
                <a:alpha val="14000"/>
              </a:srgbClr>
            </a:outerShdw>
          </a:effectLst>
        </p:spPr>
      </p:sp>
      <p:sp>
        <p:nvSpPr>
          <p:cNvPr id="79" name="Shape 77"/>
          <p:cNvSpPr/>
          <p:nvPr/>
        </p:nvSpPr>
        <p:spPr>
          <a:xfrm>
            <a:off x="9464040" y="2487168"/>
            <a:ext cx="640080" cy="64008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  <a:effectLst>
            <a:outerShdw blurRad="12700" dist="50800" dir="2700000" algn="bl" rotWithShape="0">
              <a:srgbClr val="64748B">
                <a:alpha val="12000"/>
              </a:srgbClr>
            </a:outerShdw>
          </a:effectLst>
        </p:spPr>
      </p:sp>
      <p:sp>
        <p:nvSpPr>
          <p:cNvPr id="80" name="Text 78"/>
          <p:cNvSpPr/>
          <p:nvPr/>
        </p:nvSpPr>
        <p:spPr>
          <a:xfrm>
            <a:off x="9464040" y="2496312"/>
            <a:ext cx="640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800" dirty="0">
                <a:solidFill>
                  <a:srgbClr val="FFFFFF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📏</a:t>
            </a:r>
            <a:endParaRPr lang="en-US" sz="2800" dirty="0"/>
          </a:p>
        </p:txBody>
      </p:sp>
      <p:sp>
        <p:nvSpPr>
          <p:cNvPr id="81" name="Text 79"/>
          <p:cNvSpPr/>
          <p:nvPr/>
        </p:nvSpPr>
        <p:spPr>
          <a:xfrm>
            <a:off x="8412480" y="327355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1F53"/>
                </a:solidFill>
              </a:rPr>
              <a:t>Konversi ke cm</a:t>
            </a:r>
            <a:endParaRPr lang="en-US" sz="1800" dirty="0"/>
          </a:p>
        </p:txBody>
      </p:sp>
      <p:sp>
        <p:nvSpPr>
          <p:cNvPr id="82" name="Text 80"/>
          <p:cNvSpPr/>
          <p:nvPr/>
        </p:nvSpPr>
        <p:spPr>
          <a:xfrm>
            <a:off x="8394192" y="365760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300" dirty="0"/>
              <a:t>Jarak piksel kepala–kaki dikonversi menggunakan tinggi papan 200 cm, kemudian disesuaikan dengan koreksi kedalaman dan kalibrasi.</a:t>
            </a:r>
          </a:p>
        </p:txBody>
      </p: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6915D4C7-3D2E-6EC5-E80E-50B26FCA5832}"/>
              </a:ext>
            </a:extLst>
          </p:cNvPr>
          <p:cNvGrpSpPr/>
          <p:nvPr/>
        </p:nvGrpSpPr>
        <p:grpSpPr>
          <a:xfrm>
            <a:off x="3977640" y="256032"/>
            <a:ext cx="4251960" cy="713232"/>
            <a:chOff x="3977640" y="256032"/>
            <a:chExt cx="4251960" cy="713232"/>
          </a:xfrm>
        </p:grpSpPr>
        <p:sp>
          <p:nvSpPr>
            <p:cNvPr id="103" name="Shape 51">
              <a:extLst>
                <a:ext uri="{FF2B5EF4-FFF2-40B4-BE49-F238E27FC236}">
                  <a16:creationId xmlns:a16="http://schemas.microsoft.com/office/drawing/2014/main" id="{78E8668F-183D-EA52-5453-2BBAD76F85E3}"/>
                </a:ext>
              </a:extLst>
            </p:cNvPr>
            <p:cNvSpPr/>
            <p:nvPr/>
          </p:nvSpPr>
          <p:spPr>
            <a:xfrm>
              <a:off x="3977640" y="256032"/>
              <a:ext cx="4251960" cy="713232"/>
            </a:xfrm>
            <a:prstGeom prst="roundRect">
              <a:avLst>
                <a:gd name="adj" fmla="val 17949"/>
              </a:avLst>
            </a:prstGeom>
            <a:solidFill>
              <a:srgbClr val="FFFFFF"/>
            </a:solidFill>
            <a:ln w="12700">
              <a:solidFill>
                <a:srgbClr val="E0E8F6">
                  <a:alpha val="85000"/>
                </a:srgbClr>
              </a:solidFill>
              <a:prstDash val="solid"/>
            </a:ln>
            <a:effectLst>
              <a:outerShdw blurRad="25400" dist="50800" dir="2700000" algn="bl" rotWithShape="0">
                <a:srgbClr val="97A6BF">
                  <a:alpha val="12000"/>
                </a:srgbClr>
              </a:outerShdw>
            </a:effectLst>
          </p:spPr>
        </p:sp>
        <p:sp>
          <p:nvSpPr>
            <p:cNvPr id="104" name="Text 54">
              <a:extLst>
                <a:ext uri="{FF2B5EF4-FFF2-40B4-BE49-F238E27FC236}">
                  <a16:creationId xmlns:a16="http://schemas.microsoft.com/office/drawing/2014/main" id="{F967A10A-7311-79A7-7231-7168643BF642}"/>
                </a:ext>
              </a:extLst>
            </p:cNvPr>
            <p:cNvSpPr/>
            <p:nvPr/>
          </p:nvSpPr>
          <p:spPr>
            <a:xfrm>
              <a:off x="4727448" y="402336"/>
              <a:ext cx="114300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800" b="1" dirty="0">
                  <a:solidFill>
                    <a:srgbClr val="0B1F53"/>
                  </a:solidFill>
                  <a:latin typeface="Aptos Display" pitchFamily="34" charset="0"/>
                  <a:ea typeface="Aptos Display" pitchFamily="34" charset="-122"/>
                  <a:cs typeface="Aptos Display" pitchFamily="34" charset="-120"/>
                </a:rPr>
                <a:t>ITENAS</a:t>
              </a:r>
              <a:endParaRPr lang="en-US" sz="1800" dirty="0"/>
            </a:p>
          </p:txBody>
        </p:sp>
        <p:sp>
          <p:nvSpPr>
            <p:cNvPr id="105" name="Text 55">
              <a:extLst>
                <a:ext uri="{FF2B5EF4-FFF2-40B4-BE49-F238E27FC236}">
                  <a16:creationId xmlns:a16="http://schemas.microsoft.com/office/drawing/2014/main" id="{288A78D3-6565-DD41-3F8D-D1CF87B9C6C3}"/>
                </a:ext>
              </a:extLst>
            </p:cNvPr>
            <p:cNvSpPr/>
            <p:nvPr/>
          </p:nvSpPr>
          <p:spPr>
            <a:xfrm>
              <a:off x="4736592" y="640080"/>
              <a:ext cx="123444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650" dirty="0">
                  <a:solidFill>
                    <a:srgbClr val="0B1F53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Institut Teknologi Nasional</a:t>
              </a:r>
              <a:endParaRPr lang="en-US" sz="650" dirty="0"/>
            </a:p>
            <a:p>
              <a:pPr marL="0" indent="0">
                <a:buNone/>
              </a:pPr>
              <a:r>
                <a:rPr lang="en-US" sz="650" dirty="0">
                  <a:solidFill>
                    <a:srgbClr val="0B1F53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Bandung</a:t>
              </a:r>
              <a:endParaRPr lang="en-US" sz="650" dirty="0"/>
            </a:p>
          </p:txBody>
        </p:sp>
        <p:sp>
          <p:nvSpPr>
            <p:cNvPr id="106" name="Shape 56">
              <a:extLst>
                <a:ext uri="{FF2B5EF4-FFF2-40B4-BE49-F238E27FC236}">
                  <a16:creationId xmlns:a16="http://schemas.microsoft.com/office/drawing/2014/main" id="{E5B39BBB-AEF0-214B-1852-0D9600484D87}"/>
                </a:ext>
              </a:extLst>
            </p:cNvPr>
            <p:cNvSpPr/>
            <p:nvPr/>
          </p:nvSpPr>
          <p:spPr>
            <a:xfrm>
              <a:off x="6126480" y="411480"/>
              <a:ext cx="0" cy="402336"/>
            </a:xfrm>
            <a:prstGeom prst="line">
              <a:avLst/>
            </a:prstGeom>
            <a:noFill/>
            <a:ln w="12700">
              <a:solidFill>
                <a:srgbClr val="B8C2E8"/>
              </a:solidFill>
              <a:prstDash val="solid"/>
            </a:ln>
          </p:spPr>
        </p:sp>
        <p:sp>
          <p:nvSpPr>
            <p:cNvPr id="107" name="Text 58">
              <a:extLst>
                <a:ext uri="{FF2B5EF4-FFF2-40B4-BE49-F238E27FC236}">
                  <a16:creationId xmlns:a16="http://schemas.microsoft.com/office/drawing/2014/main" id="{38101591-6F08-314A-63DB-CB2087C563F1}"/>
                </a:ext>
              </a:extLst>
            </p:cNvPr>
            <p:cNvSpPr/>
            <p:nvPr/>
          </p:nvSpPr>
          <p:spPr>
            <a:xfrm>
              <a:off x="6830568" y="457200"/>
              <a:ext cx="109728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700" b="1" dirty="0">
                  <a:solidFill>
                    <a:srgbClr val="C00000"/>
                  </a:solidFill>
                  <a:latin typeface="Aptos Display" pitchFamily="34" charset="0"/>
                  <a:ea typeface="Aptos Display" pitchFamily="34" charset="-122"/>
                  <a:cs typeface="Aptos Display" pitchFamily="34" charset="-120"/>
                </a:rPr>
                <a:t>Informatika</a:t>
              </a:r>
              <a:endParaRPr lang="en-US" sz="1700" dirty="0">
                <a:solidFill>
                  <a:srgbClr val="C00000"/>
                </a:solidFill>
              </a:endParaRPr>
            </a:p>
          </p:txBody>
        </p:sp>
        <p:pic>
          <p:nvPicPr>
            <p:cNvPr id="108" name="Picture 107">
              <a:extLst>
                <a:ext uri="{FF2B5EF4-FFF2-40B4-BE49-F238E27FC236}">
                  <a16:creationId xmlns:a16="http://schemas.microsoft.com/office/drawing/2014/main" id="{864AC998-7A8A-F84F-3E55-7FA35F289F2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34755" t="29153" r="36238" b="33855"/>
            <a:stretch>
              <a:fillRect/>
            </a:stretch>
          </p:blipFill>
          <p:spPr>
            <a:xfrm>
              <a:off x="6300861" y="396716"/>
              <a:ext cx="346827" cy="345948"/>
            </a:xfrm>
            <a:prstGeom prst="rect">
              <a:avLst/>
            </a:prstGeom>
          </p:spPr>
        </p:pic>
        <p:pic>
          <p:nvPicPr>
            <p:cNvPr id="109" name="Picture 108">
              <a:extLst>
                <a:ext uri="{FF2B5EF4-FFF2-40B4-BE49-F238E27FC236}">
                  <a16:creationId xmlns:a16="http://schemas.microsoft.com/office/drawing/2014/main" id="{AFCB8840-8A7E-CCE9-D3B6-F5C716C8151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133088" y="339090"/>
              <a:ext cx="565404" cy="565404"/>
            </a:xfrm>
            <a:prstGeom prst="rect">
              <a:avLst/>
            </a:prstGeom>
          </p:spPr>
        </p:pic>
      </p:grp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73152"/>
            <a:ext cx="1234440" cy="749808"/>
          </a:xfrm>
          <a:prstGeom prst="ellipse">
            <a:avLst/>
          </a:prstGeom>
          <a:solidFill>
            <a:srgbClr val="EEE9FF">
              <a:alpha val="8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588752" y="5897880"/>
            <a:ext cx="1261872" cy="658368"/>
          </a:xfrm>
          <a:prstGeom prst="ellipse">
            <a:avLst/>
          </a:prstGeom>
          <a:solidFill>
            <a:srgbClr val="E2F2FF">
              <a:alpha val="8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" y="1143000"/>
            <a:ext cx="502920" cy="0"/>
          </a:xfrm>
          <a:prstGeom prst="line">
            <a:avLst/>
          </a:prstGeom>
          <a:noFill/>
          <a:ln w="8890">
            <a:solidFill>
              <a:srgbClr val="BFD8FF">
                <a:alpha val="6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106424"/>
            <a:ext cx="54864" cy="54864"/>
          </a:xfrm>
          <a:prstGeom prst="ellipse">
            <a:avLst/>
          </a:prstGeom>
          <a:solidFill>
            <a:srgbClr val="FFFFFF">
              <a:alpha val="0"/>
            </a:srgbClr>
          </a:solidFill>
          <a:ln w="8890">
            <a:solidFill>
              <a:srgbClr val="BFD8FF">
                <a:alpha val="6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384280" y="2743200"/>
            <a:ext cx="438912" cy="0"/>
          </a:xfrm>
          <a:prstGeom prst="line">
            <a:avLst/>
          </a:prstGeom>
          <a:noFill/>
          <a:ln w="8890">
            <a:solidFill>
              <a:srgbClr val="BFD8FF">
                <a:alpha val="6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301984" y="2706624"/>
            <a:ext cx="54864" cy="54864"/>
          </a:xfrm>
          <a:prstGeom prst="ellipse">
            <a:avLst/>
          </a:prstGeom>
          <a:solidFill>
            <a:srgbClr val="FFFFFF">
              <a:alpha val="0"/>
            </a:srgbClr>
          </a:solidFill>
          <a:ln w="8890">
            <a:solidFill>
              <a:srgbClr val="BFD8FF">
                <a:alpha val="6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4592" y="1581912"/>
            <a:ext cx="502920" cy="0"/>
          </a:xfrm>
          <a:prstGeom prst="line">
            <a:avLst/>
          </a:prstGeom>
          <a:noFill/>
          <a:ln w="8890">
            <a:solidFill>
              <a:srgbClr val="BFD8FF">
                <a:alpha val="6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1545336"/>
            <a:ext cx="54864" cy="54864"/>
          </a:xfrm>
          <a:prstGeom prst="ellipse">
            <a:avLst/>
          </a:prstGeom>
          <a:solidFill>
            <a:srgbClr val="FFFFFF">
              <a:alpha val="0"/>
            </a:srgbClr>
          </a:solidFill>
          <a:ln w="8890">
            <a:solidFill>
              <a:srgbClr val="BFD8FF">
                <a:alpha val="6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384280" y="3182112"/>
            <a:ext cx="438912" cy="0"/>
          </a:xfrm>
          <a:prstGeom prst="line">
            <a:avLst/>
          </a:prstGeom>
          <a:noFill/>
          <a:ln w="8890">
            <a:solidFill>
              <a:srgbClr val="BFD8FF">
                <a:alpha val="6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301984" y="3145536"/>
            <a:ext cx="54864" cy="54864"/>
          </a:xfrm>
          <a:prstGeom prst="ellipse">
            <a:avLst/>
          </a:prstGeom>
          <a:solidFill>
            <a:srgbClr val="FFFFFF">
              <a:alpha val="0"/>
            </a:srgbClr>
          </a:solidFill>
          <a:ln w="8890">
            <a:solidFill>
              <a:srgbClr val="BFD8FF">
                <a:alpha val="6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64592" y="2020824"/>
            <a:ext cx="502920" cy="0"/>
          </a:xfrm>
          <a:prstGeom prst="line">
            <a:avLst/>
          </a:prstGeom>
          <a:noFill/>
          <a:ln w="8890">
            <a:solidFill>
              <a:srgbClr val="BFD8FF">
                <a:alpha val="62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5800" y="1984248"/>
            <a:ext cx="54864" cy="54864"/>
          </a:xfrm>
          <a:prstGeom prst="ellipse">
            <a:avLst/>
          </a:prstGeom>
          <a:solidFill>
            <a:srgbClr val="FFFFFF">
              <a:alpha val="0"/>
            </a:srgbClr>
          </a:solidFill>
          <a:ln w="8890">
            <a:solidFill>
              <a:srgbClr val="BFD8FF">
                <a:alpha val="6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384280" y="3621024"/>
            <a:ext cx="438912" cy="0"/>
          </a:xfrm>
          <a:prstGeom prst="line">
            <a:avLst/>
          </a:prstGeom>
          <a:noFill/>
          <a:ln w="8890">
            <a:solidFill>
              <a:srgbClr val="BFD8FF">
                <a:alpha val="6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301984" y="3584448"/>
            <a:ext cx="54864" cy="54864"/>
          </a:xfrm>
          <a:prstGeom prst="ellipse">
            <a:avLst/>
          </a:prstGeom>
          <a:solidFill>
            <a:srgbClr val="FFFFFF">
              <a:alpha val="0"/>
            </a:srgbClr>
          </a:solidFill>
          <a:ln w="8890">
            <a:solidFill>
              <a:srgbClr val="BFD8FF">
                <a:alpha val="6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331720" y="694944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450592" y="694944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569464" y="694944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688336" y="694944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807208" y="694944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926080" y="694944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31720" y="813816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450592" y="813816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569464" y="813816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688336" y="813816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807208" y="813816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926080" y="813816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331720" y="932688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450592" y="932688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569464" y="932688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688336" y="932688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807208" y="932688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2926080" y="932688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0058400" y="438912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dirty="0">
                <a:solidFill>
                  <a:srgbClr val="6EA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✦</a:t>
            </a:r>
            <a:endParaRPr lang="en-US" sz="2300" dirty="0"/>
          </a:p>
        </p:txBody>
      </p:sp>
      <p:sp>
        <p:nvSpPr>
          <p:cNvPr id="62" name="Shape 60"/>
          <p:cNvSpPr/>
          <p:nvPr/>
        </p:nvSpPr>
        <p:spPr>
          <a:xfrm>
            <a:off x="2834640" y="1243584"/>
            <a:ext cx="1645920" cy="0"/>
          </a:xfrm>
          <a:prstGeom prst="line">
            <a:avLst/>
          </a:prstGeom>
          <a:noFill/>
          <a:ln w="19050">
            <a:solidFill>
              <a:srgbClr val="6E3FE5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2779776" y="1207008"/>
            <a:ext cx="73152" cy="73152"/>
          </a:xfrm>
          <a:prstGeom prst="ellipse">
            <a:avLst/>
          </a:prstGeom>
          <a:solidFill>
            <a:srgbClr val="6E3FE5"/>
          </a:solidFill>
          <a:ln w="12700">
            <a:solidFill>
              <a:srgbClr val="6E3FE5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7726680" y="1243584"/>
            <a:ext cx="1645920" cy="0"/>
          </a:xfrm>
          <a:prstGeom prst="line">
            <a:avLst/>
          </a:prstGeom>
          <a:noFill/>
          <a:ln w="19050">
            <a:solidFill>
              <a:srgbClr val="6E3FE5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9372600" y="1207008"/>
            <a:ext cx="73152" cy="73152"/>
          </a:xfrm>
          <a:prstGeom prst="ellipse">
            <a:avLst/>
          </a:prstGeom>
          <a:solidFill>
            <a:srgbClr val="6E3FE5"/>
          </a:solidFill>
          <a:ln w="12700">
            <a:solidFill>
              <a:srgbClr val="6E3FE5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498848" y="1078992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6E3FE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SEMINAR HASIL</a:t>
            </a:r>
            <a:endParaRPr lang="en-US" sz="2500" dirty="0"/>
          </a:p>
        </p:txBody>
      </p:sp>
      <p:sp>
        <p:nvSpPr>
          <p:cNvPr id="67" name="Text 65"/>
          <p:cNvSpPr/>
          <p:nvPr/>
        </p:nvSpPr>
        <p:spPr>
          <a:xfrm>
            <a:off x="594360" y="1444752"/>
            <a:ext cx="11018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B1F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Skenario Pengujian Sistem</a:t>
            </a:r>
            <a:endParaRPr lang="en-US" sz="3400" dirty="0"/>
          </a:p>
        </p:txBody>
      </p:sp>
      <p:sp>
        <p:nvSpPr>
          <p:cNvPr id="68" name="Shape 66"/>
          <p:cNvSpPr/>
          <p:nvPr/>
        </p:nvSpPr>
        <p:spPr>
          <a:xfrm>
            <a:off x="914400" y="2194560"/>
            <a:ext cx="10332720" cy="3246120"/>
          </a:xfrm>
          <a:prstGeom prst="roundRect">
            <a:avLst>
              <a:gd name="adj" fmla="val 5070"/>
            </a:avLst>
          </a:prstGeom>
          <a:solidFill>
            <a:srgbClr val="FFFFFF"/>
          </a:solidFill>
          <a:ln w="12700">
            <a:solidFill>
              <a:srgbClr val="E2E8F7">
                <a:alpha val="90000"/>
              </a:srgbClr>
            </a:solidFill>
            <a:prstDash val="solid"/>
          </a:ln>
          <a:effectLst>
            <a:outerShdw blurRad="25400" dist="50800" dir="2700000" algn="bl" rotWithShape="0">
              <a:srgbClr val="94A3B8">
                <a:alpha val="14000"/>
              </a:srgbClr>
            </a:outerShdw>
          </a:effectLst>
        </p:spPr>
      </p:sp>
      <p:sp>
        <p:nvSpPr>
          <p:cNvPr id="69" name="Shape 67"/>
          <p:cNvSpPr/>
          <p:nvPr/>
        </p:nvSpPr>
        <p:spPr>
          <a:xfrm>
            <a:off x="1143000" y="2423160"/>
            <a:ext cx="9875520" cy="411480"/>
          </a:xfrm>
          <a:prstGeom prst="roundRect">
            <a:avLst>
              <a:gd name="adj" fmla="val 15556"/>
            </a:avLst>
          </a:prstGeom>
          <a:solidFill>
            <a:srgbClr val="6E3FE5"/>
          </a:solidFill>
          <a:ln w="12700">
            <a:solidFill>
              <a:srgbClr val="6E3FE5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1353312" y="2542032"/>
            <a:ext cx="1645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Pengujian</a:t>
            </a:r>
            <a:endParaRPr lang="en-US" sz="1300" dirty="0"/>
          </a:p>
        </p:txBody>
      </p:sp>
      <p:sp>
        <p:nvSpPr>
          <p:cNvPr id="71" name="Text 69"/>
          <p:cNvSpPr/>
          <p:nvPr/>
        </p:nvSpPr>
        <p:spPr>
          <a:xfrm>
            <a:off x="3291840" y="2542032"/>
            <a:ext cx="2560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Parameter</a:t>
            </a:r>
            <a:endParaRPr lang="en-US" sz="1300" dirty="0"/>
          </a:p>
        </p:txBody>
      </p:sp>
      <p:sp>
        <p:nvSpPr>
          <p:cNvPr id="72" name="Text 70"/>
          <p:cNvSpPr/>
          <p:nvPr/>
        </p:nvSpPr>
        <p:spPr>
          <a:xfrm>
            <a:off x="6400800" y="2542032"/>
            <a:ext cx="2743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Tujuan</a:t>
            </a:r>
            <a:endParaRPr lang="en-US" sz="1300" dirty="0"/>
          </a:p>
        </p:txBody>
      </p:sp>
      <p:sp>
        <p:nvSpPr>
          <p:cNvPr id="73" name="Shape 71"/>
          <p:cNvSpPr/>
          <p:nvPr/>
        </p:nvSpPr>
        <p:spPr>
          <a:xfrm>
            <a:off x="1143000" y="2971800"/>
            <a:ext cx="9875520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EDF2FF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1353312" y="3099816"/>
            <a:ext cx="1371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E3FE5"/>
                </a:solidFill>
              </a:rPr>
              <a:t>Pengujian 1</a:t>
            </a:r>
            <a:endParaRPr lang="en-US" sz="1300" dirty="0"/>
          </a:p>
        </p:txBody>
      </p:sp>
      <p:sp>
        <p:nvSpPr>
          <p:cNvPr id="75" name="Text 73"/>
          <p:cNvSpPr/>
          <p:nvPr/>
        </p:nvSpPr>
        <p:spPr>
          <a:xfrm>
            <a:off x="3291840" y="3099816"/>
            <a:ext cx="2560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0B1F53"/>
                </a:solidFill>
              </a:rPr>
              <a:t>Dimensi dan susunan marker</a:t>
            </a:r>
            <a:endParaRPr lang="en-US" sz="1300" dirty="0"/>
          </a:p>
        </p:txBody>
      </p:sp>
      <p:sp>
        <p:nvSpPr>
          <p:cNvPr id="76" name="Text 74"/>
          <p:cNvSpPr/>
          <p:nvPr/>
        </p:nvSpPr>
        <p:spPr>
          <a:xfrm>
            <a:off x="6400800" y="3099816"/>
            <a:ext cx="3977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687385"/>
                </a:solidFill>
              </a:rPr>
              <a:t>Memastikan ukuran fisik sesuai geometri kode</a:t>
            </a:r>
            <a:endParaRPr lang="en-US" sz="1300" dirty="0"/>
          </a:p>
        </p:txBody>
      </p:sp>
      <p:sp>
        <p:nvSpPr>
          <p:cNvPr id="77" name="Shape 75"/>
          <p:cNvSpPr/>
          <p:nvPr/>
        </p:nvSpPr>
        <p:spPr>
          <a:xfrm>
            <a:off x="1143000" y="3502152"/>
            <a:ext cx="9875520" cy="420624"/>
          </a:xfrm>
          <a:prstGeom prst="roundRect">
            <a:avLst>
              <a:gd name="adj" fmla="val 13043"/>
            </a:avLst>
          </a:prstGeom>
          <a:solidFill>
            <a:srgbClr val="F8FAFF"/>
          </a:solidFill>
          <a:ln w="12700">
            <a:solidFill>
              <a:srgbClr val="EDF2FF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1353312" y="3630168"/>
            <a:ext cx="1371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E3FE5"/>
                </a:solidFill>
              </a:rPr>
              <a:t>Pengujian 2</a:t>
            </a:r>
            <a:endParaRPr lang="en-US" sz="1300" dirty="0"/>
          </a:p>
        </p:txBody>
      </p:sp>
      <p:sp>
        <p:nvSpPr>
          <p:cNvPr id="79" name="Text 77"/>
          <p:cNvSpPr/>
          <p:nvPr/>
        </p:nvSpPr>
        <p:spPr>
          <a:xfrm>
            <a:off x="3291840" y="3630168"/>
            <a:ext cx="2560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0B1F53"/>
                </a:solidFill>
              </a:rPr>
              <a:t>PX_PER_CELL 100, 120, 150</a:t>
            </a:r>
            <a:endParaRPr lang="en-US" sz="1300" dirty="0"/>
          </a:p>
        </p:txBody>
      </p:sp>
      <p:sp>
        <p:nvSpPr>
          <p:cNvPr id="80" name="Text 78"/>
          <p:cNvSpPr/>
          <p:nvPr/>
        </p:nvSpPr>
        <p:spPr>
          <a:xfrm>
            <a:off x="6400800" y="3630168"/>
            <a:ext cx="3977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687385"/>
                </a:solidFill>
              </a:rPr>
              <a:t>Memilih skala bidang tujuan dengan MAE terkecil</a:t>
            </a:r>
            <a:endParaRPr lang="en-US" sz="1300" dirty="0"/>
          </a:p>
        </p:txBody>
      </p:sp>
      <p:sp>
        <p:nvSpPr>
          <p:cNvPr id="81" name="Shape 79"/>
          <p:cNvSpPr/>
          <p:nvPr/>
        </p:nvSpPr>
        <p:spPr>
          <a:xfrm>
            <a:off x="1143000" y="4032504"/>
            <a:ext cx="9875520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EDF2FF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1353312" y="4160520"/>
            <a:ext cx="1371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E3FE5"/>
                </a:solidFill>
              </a:rPr>
              <a:t>Pengujian 3</a:t>
            </a:r>
            <a:endParaRPr lang="en-US" sz="1300" dirty="0"/>
          </a:p>
        </p:txBody>
      </p:sp>
      <p:sp>
        <p:nvSpPr>
          <p:cNvPr id="83" name="Text 81"/>
          <p:cNvSpPr/>
          <p:nvPr/>
        </p:nvSpPr>
        <p:spPr>
          <a:xfrm>
            <a:off x="3291840" y="4160520"/>
            <a:ext cx="2560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0B1F53"/>
                </a:solidFill>
              </a:rPr>
              <a:t>Hasil aplikasi vs tinggi aktual</a:t>
            </a:r>
            <a:endParaRPr lang="en-US" sz="1300" dirty="0"/>
          </a:p>
        </p:txBody>
      </p:sp>
      <p:sp>
        <p:nvSpPr>
          <p:cNvPr id="84" name="Text 82"/>
          <p:cNvSpPr/>
          <p:nvPr/>
        </p:nvSpPr>
        <p:spPr>
          <a:xfrm>
            <a:off x="6400800" y="4160520"/>
            <a:ext cx="3977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687385"/>
                </a:solidFill>
              </a:rPr>
              <a:t>Menilai akurasi pengukuran dengan stadiometer</a:t>
            </a:r>
            <a:endParaRPr lang="en-US" sz="1300" dirty="0"/>
          </a:p>
        </p:txBody>
      </p:sp>
      <p:sp>
        <p:nvSpPr>
          <p:cNvPr id="85" name="Shape 83"/>
          <p:cNvSpPr/>
          <p:nvPr/>
        </p:nvSpPr>
        <p:spPr>
          <a:xfrm>
            <a:off x="1143000" y="4562856"/>
            <a:ext cx="9875520" cy="420624"/>
          </a:xfrm>
          <a:prstGeom prst="roundRect">
            <a:avLst>
              <a:gd name="adj" fmla="val 13043"/>
            </a:avLst>
          </a:prstGeom>
          <a:solidFill>
            <a:srgbClr val="F8FAFF"/>
          </a:solidFill>
          <a:ln w="12700">
            <a:solidFill>
              <a:srgbClr val="EDF2FF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1353312" y="4690872"/>
            <a:ext cx="1371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E3FE5"/>
                </a:solidFill>
              </a:rPr>
              <a:t>Pengujian 4</a:t>
            </a:r>
            <a:endParaRPr lang="en-US" sz="1300" dirty="0"/>
          </a:p>
        </p:txBody>
      </p:sp>
      <p:sp>
        <p:nvSpPr>
          <p:cNvPr id="87" name="Text 85"/>
          <p:cNvSpPr/>
          <p:nvPr/>
        </p:nvSpPr>
        <p:spPr>
          <a:xfrm>
            <a:off x="3291840" y="4690872"/>
            <a:ext cx="2560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0B1F53"/>
                </a:solidFill>
              </a:rPr>
              <a:t>Koefisien top head</a:t>
            </a:r>
            <a:endParaRPr lang="en-US" sz="1300" dirty="0"/>
          </a:p>
        </p:txBody>
      </p:sp>
      <p:sp>
        <p:nvSpPr>
          <p:cNvPr id="88" name="Text 86"/>
          <p:cNvSpPr/>
          <p:nvPr/>
        </p:nvSpPr>
        <p:spPr>
          <a:xfrm>
            <a:off x="6400800" y="4690872"/>
            <a:ext cx="3977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687385"/>
                </a:solidFill>
              </a:rPr>
              <a:t>Memilih kombinasi eyeToShoulder dan earToEye</a:t>
            </a:r>
            <a:endParaRPr lang="en-US" sz="1300" dirty="0"/>
          </a:p>
        </p:txBody>
      </p: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7142F329-258D-0A8D-665F-C4144C3AD17C}"/>
              </a:ext>
            </a:extLst>
          </p:cNvPr>
          <p:cNvGrpSpPr/>
          <p:nvPr/>
        </p:nvGrpSpPr>
        <p:grpSpPr>
          <a:xfrm>
            <a:off x="3977640" y="256032"/>
            <a:ext cx="4251960" cy="713232"/>
            <a:chOff x="3977640" y="256032"/>
            <a:chExt cx="4251960" cy="713232"/>
          </a:xfrm>
        </p:grpSpPr>
        <p:sp>
          <p:nvSpPr>
            <p:cNvPr id="109" name="Shape 51">
              <a:extLst>
                <a:ext uri="{FF2B5EF4-FFF2-40B4-BE49-F238E27FC236}">
                  <a16:creationId xmlns:a16="http://schemas.microsoft.com/office/drawing/2014/main" id="{34ED03DC-CEA0-A77D-14A2-50B52554AC89}"/>
                </a:ext>
              </a:extLst>
            </p:cNvPr>
            <p:cNvSpPr/>
            <p:nvPr/>
          </p:nvSpPr>
          <p:spPr>
            <a:xfrm>
              <a:off x="3977640" y="256032"/>
              <a:ext cx="4251960" cy="713232"/>
            </a:xfrm>
            <a:prstGeom prst="roundRect">
              <a:avLst>
                <a:gd name="adj" fmla="val 17949"/>
              </a:avLst>
            </a:prstGeom>
            <a:solidFill>
              <a:srgbClr val="FFFFFF"/>
            </a:solidFill>
            <a:ln w="12700">
              <a:solidFill>
                <a:srgbClr val="E0E8F6">
                  <a:alpha val="85000"/>
                </a:srgbClr>
              </a:solidFill>
              <a:prstDash val="solid"/>
            </a:ln>
            <a:effectLst>
              <a:outerShdw blurRad="25400" dist="50800" dir="2700000" algn="bl" rotWithShape="0">
                <a:srgbClr val="97A6BF">
                  <a:alpha val="12000"/>
                </a:srgbClr>
              </a:outerShdw>
            </a:effectLst>
          </p:spPr>
        </p:sp>
        <p:sp>
          <p:nvSpPr>
            <p:cNvPr id="110" name="Text 54">
              <a:extLst>
                <a:ext uri="{FF2B5EF4-FFF2-40B4-BE49-F238E27FC236}">
                  <a16:creationId xmlns:a16="http://schemas.microsoft.com/office/drawing/2014/main" id="{D496A3EE-7C87-FA69-5C41-1634A0443B62}"/>
                </a:ext>
              </a:extLst>
            </p:cNvPr>
            <p:cNvSpPr/>
            <p:nvPr/>
          </p:nvSpPr>
          <p:spPr>
            <a:xfrm>
              <a:off x="4727448" y="402336"/>
              <a:ext cx="114300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800" b="1" dirty="0">
                  <a:solidFill>
                    <a:srgbClr val="0B1F53"/>
                  </a:solidFill>
                  <a:latin typeface="Aptos Display" pitchFamily="34" charset="0"/>
                  <a:ea typeface="Aptos Display" pitchFamily="34" charset="-122"/>
                  <a:cs typeface="Aptos Display" pitchFamily="34" charset="-120"/>
                </a:rPr>
                <a:t>ITENAS</a:t>
              </a:r>
              <a:endParaRPr lang="en-US" sz="1800" dirty="0"/>
            </a:p>
          </p:txBody>
        </p:sp>
        <p:sp>
          <p:nvSpPr>
            <p:cNvPr id="111" name="Text 55">
              <a:extLst>
                <a:ext uri="{FF2B5EF4-FFF2-40B4-BE49-F238E27FC236}">
                  <a16:creationId xmlns:a16="http://schemas.microsoft.com/office/drawing/2014/main" id="{4245EB4A-4D3F-4D2A-1A9C-2985A5017342}"/>
                </a:ext>
              </a:extLst>
            </p:cNvPr>
            <p:cNvSpPr/>
            <p:nvPr/>
          </p:nvSpPr>
          <p:spPr>
            <a:xfrm>
              <a:off x="4736592" y="640080"/>
              <a:ext cx="123444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650" dirty="0">
                  <a:solidFill>
                    <a:srgbClr val="0B1F53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Institut Teknologi Nasional</a:t>
              </a:r>
              <a:endParaRPr lang="en-US" sz="650" dirty="0"/>
            </a:p>
            <a:p>
              <a:pPr marL="0" indent="0">
                <a:buNone/>
              </a:pPr>
              <a:r>
                <a:rPr lang="en-US" sz="650" dirty="0">
                  <a:solidFill>
                    <a:srgbClr val="0B1F53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Bandung</a:t>
              </a:r>
              <a:endParaRPr lang="en-US" sz="650" dirty="0"/>
            </a:p>
          </p:txBody>
        </p:sp>
        <p:sp>
          <p:nvSpPr>
            <p:cNvPr id="112" name="Shape 56">
              <a:extLst>
                <a:ext uri="{FF2B5EF4-FFF2-40B4-BE49-F238E27FC236}">
                  <a16:creationId xmlns:a16="http://schemas.microsoft.com/office/drawing/2014/main" id="{204ADBA9-0492-66D0-31A6-7F6D29AC1A3D}"/>
                </a:ext>
              </a:extLst>
            </p:cNvPr>
            <p:cNvSpPr/>
            <p:nvPr/>
          </p:nvSpPr>
          <p:spPr>
            <a:xfrm>
              <a:off x="6126480" y="411480"/>
              <a:ext cx="0" cy="402336"/>
            </a:xfrm>
            <a:prstGeom prst="line">
              <a:avLst/>
            </a:prstGeom>
            <a:noFill/>
            <a:ln w="12700">
              <a:solidFill>
                <a:srgbClr val="B8C2E8"/>
              </a:solidFill>
              <a:prstDash val="solid"/>
            </a:ln>
          </p:spPr>
        </p:sp>
        <p:sp>
          <p:nvSpPr>
            <p:cNvPr id="113" name="Text 58">
              <a:extLst>
                <a:ext uri="{FF2B5EF4-FFF2-40B4-BE49-F238E27FC236}">
                  <a16:creationId xmlns:a16="http://schemas.microsoft.com/office/drawing/2014/main" id="{02E41596-2DD4-2E15-1F9F-455C60E40ADE}"/>
                </a:ext>
              </a:extLst>
            </p:cNvPr>
            <p:cNvSpPr/>
            <p:nvPr/>
          </p:nvSpPr>
          <p:spPr>
            <a:xfrm>
              <a:off x="6830568" y="457200"/>
              <a:ext cx="109728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700" b="1" dirty="0">
                  <a:solidFill>
                    <a:srgbClr val="C00000"/>
                  </a:solidFill>
                  <a:latin typeface="Aptos Display" pitchFamily="34" charset="0"/>
                  <a:ea typeface="Aptos Display" pitchFamily="34" charset="-122"/>
                  <a:cs typeface="Aptos Display" pitchFamily="34" charset="-120"/>
                </a:rPr>
                <a:t>Informatika</a:t>
              </a:r>
              <a:endParaRPr lang="en-US" sz="1700" dirty="0">
                <a:solidFill>
                  <a:srgbClr val="C00000"/>
                </a:solidFill>
              </a:endParaRPr>
            </a:p>
          </p:txBody>
        </p:sp>
        <p:pic>
          <p:nvPicPr>
            <p:cNvPr id="114" name="Picture 113">
              <a:extLst>
                <a:ext uri="{FF2B5EF4-FFF2-40B4-BE49-F238E27FC236}">
                  <a16:creationId xmlns:a16="http://schemas.microsoft.com/office/drawing/2014/main" id="{1D41BB68-4A39-9F68-0DA2-0973CFAF8C7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34755" t="29153" r="36238" b="33855"/>
            <a:stretch>
              <a:fillRect/>
            </a:stretch>
          </p:blipFill>
          <p:spPr>
            <a:xfrm>
              <a:off x="6300861" y="396716"/>
              <a:ext cx="346827" cy="345948"/>
            </a:xfrm>
            <a:prstGeom prst="rect">
              <a:avLst/>
            </a:prstGeom>
          </p:spPr>
        </p:pic>
        <p:pic>
          <p:nvPicPr>
            <p:cNvPr id="115" name="Picture 114">
              <a:extLst>
                <a:ext uri="{FF2B5EF4-FFF2-40B4-BE49-F238E27FC236}">
                  <a16:creationId xmlns:a16="http://schemas.microsoft.com/office/drawing/2014/main" id="{2515F629-3555-E2C2-0989-7A2C2CDB7BA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133088" y="339090"/>
              <a:ext cx="565404" cy="565404"/>
            </a:xfrm>
            <a:prstGeom prst="rect">
              <a:avLst/>
            </a:prstGeom>
          </p:spPr>
        </p:pic>
      </p:grp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73152"/>
            <a:ext cx="1234440" cy="749808"/>
          </a:xfrm>
          <a:prstGeom prst="ellipse">
            <a:avLst/>
          </a:prstGeom>
          <a:solidFill>
            <a:srgbClr val="E2F2FF">
              <a:alpha val="8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588752" y="5897880"/>
            <a:ext cx="1261872" cy="658368"/>
          </a:xfrm>
          <a:prstGeom prst="ellipse">
            <a:avLst/>
          </a:prstGeom>
          <a:solidFill>
            <a:srgbClr val="EEE9FF">
              <a:alpha val="8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" y="1143000"/>
            <a:ext cx="502920" cy="0"/>
          </a:xfrm>
          <a:prstGeom prst="line">
            <a:avLst/>
          </a:prstGeom>
          <a:noFill/>
          <a:ln w="8890">
            <a:solidFill>
              <a:srgbClr val="BFD8FF">
                <a:alpha val="6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106424"/>
            <a:ext cx="54864" cy="54864"/>
          </a:xfrm>
          <a:prstGeom prst="ellipse">
            <a:avLst/>
          </a:prstGeom>
          <a:solidFill>
            <a:srgbClr val="FFFFFF">
              <a:alpha val="0"/>
            </a:srgbClr>
          </a:solidFill>
          <a:ln w="8890">
            <a:solidFill>
              <a:srgbClr val="BFD8FF">
                <a:alpha val="6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384280" y="2743200"/>
            <a:ext cx="438912" cy="0"/>
          </a:xfrm>
          <a:prstGeom prst="line">
            <a:avLst/>
          </a:prstGeom>
          <a:noFill/>
          <a:ln w="8890">
            <a:solidFill>
              <a:srgbClr val="BFD8FF">
                <a:alpha val="6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301984" y="2706624"/>
            <a:ext cx="54864" cy="54864"/>
          </a:xfrm>
          <a:prstGeom prst="ellipse">
            <a:avLst/>
          </a:prstGeom>
          <a:solidFill>
            <a:srgbClr val="FFFFFF">
              <a:alpha val="0"/>
            </a:srgbClr>
          </a:solidFill>
          <a:ln w="8890">
            <a:solidFill>
              <a:srgbClr val="BFD8FF">
                <a:alpha val="6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4592" y="1581912"/>
            <a:ext cx="502920" cy="0"/>
          </a:xfrm>
          <a:prstGeom prst="line">
            <a:avLst/>
          </a:prstGeom>
          <a:noFill/>
          <a:ln w="8890">
            <a:solidFill>
              <a:srgbClr val="BFD8FF">
                <a:alpha val="6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1545336"/>
            <a:ext cx="54864" cy="54864"/>
          </a:xfrm>
          <a:prstGeom prst="ellipse">
            <a:avLst/>
          </a:prstGeom>
          <a:solidFill>
            <a:srgbClr val="FFFFFF">
              <a:alpha val="0"/>
            </a:srgbClr>
          </a:solidFill>
          <a:ln w="8890">
            <a:solidFill>
              <a:srgbClr val="BFD8FF">
                <a:alpha val="6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384280" y="3182112"/>
            <a:ext cx="438912" cy="0"/>
          </a:xfrm>
          <a:prstGeom prst="line">
            <a:avLst/>
          </a:prstGeom>
          <a:noFill/>
          <a:ln w="8890">
            <a:solidFill>
              <a:srgbClr val="BFD8FF">
                <a:alpha val="6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301984" y="3145536"/>
            <a:ext cx="54864" cy="54864"/>
          </a:xfrm>
          <a:prstGeom prst="ellipse">
            <a:avLst/>
          </a:prstGeom>
          <a:solidFill>
            <a:srgbClr val="FFFFFF">
              <a:alpha val="0"/>
            </a:srgbClr>
          </a:solidFill>
          <a:ln w="8890">
            <a:solidFill>
              <a:srgbClr val="BFD8FF">
                <a:alpha val="6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64592" y="2020824"/>
            <a:ext cx="502920" cy="0"/>
          </a:xfrm>
          <a:prstGeom prst="line">
            <a:avLst/>
          </a:prstGeom>
          <a:noFill/>
          <a:ln w="8890">
            <a:solidFill>
              <a:srgbClr val="BFD8FF">
                <a:alpha val="62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5800" y="1984248"/>
            <a:ext cx="54864" cy="54864"/>
          </a:xfrm>
          <a:prstGeom prst="ellipse">
            <a:avLst/>
          </a:prstGeom>
          <a:solidFill>
            <a:srgbClr val="FFFFFF">
              <a:alpha val="0"/>
            </a:srgbClr>
          </a:solidFill>
          <a:ln w="8890">
            <a:solidFill>
              <a:srgbClr val="BFD8FF">
                <a:alpha val="6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384280" y="3621024"/>
            <a:ext cx="438912" cy="0"/>
          </a:xfrm>
          <a:prstGeom prst="line">
            <a:avLst/>
          </a:prstGeom>
          <a:noFill/>
          <a:ln w="8890">
            <a:solidFill>
              <a:srgbClr val="BFD8FF">
                <a:alpha val="6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301984" y="3584448"/>
            <a:ext cx="54864" cy="54864"/>
          </a:xfrm>
          <a:prstGeom prst="ellipse">
            <a:avLst/>
          </a:prstGeom>
          <a:solidFill>
            <a:srgbClr val="FFFFFF">
              <a:alpha val="0"/>
            </a:srgbClr>
          </a:solidFill>
          <a:ln w="8890">
            <a:solidFill>
              <a:srgbClr val="BFD8FF">
                <a:alpha val="6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331720" y="694944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450592" y="694944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569464" y="694944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688336" y="694944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807208" y="694944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926080" y="694944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31720" y="813816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450592" y="813816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569464" y="813816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688336" y="813816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807208" y="813816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926080" y="813816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331720" y="932688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450592" y="932688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569464" y="932688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688336" y="932688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807208" y="932688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2926080" y="932688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0058400" y="438912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dirty="0">
                <a:solidFill>
                  <a:srgbClr val="6EA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✦</a:t>
            </a:r>
            <a:endParaRPr lang="en-US" sz="2300" dirty="0"/>
          </a:p>
        </p:txBody>
      </p:sp>
      <p:sp>
        <p:nvSpPr>
          <p:cNvPr id="62" name="Shape 60"/>
          <p:cNvSpPr/>
          <p:nvPr/>
        </p:nvSpPr>
        <p:spPr>
          <a:xfrm>
            <a:off x="2834640" y="1243584"/>
            <a:ext cx="1645920" cy="0"/>
          </a:xfrm>
          <a:prstGeom prst="line">
            <a:avLst/>
          </a:prstGeom>
          <a:noFill/>
          <a:ln w="19050">
            <a:solidFill>
              <a:srgbClr val="6E3FE5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2779776" y="1207008"/>
            <a:ext cx="73152" cy="73152"/>
          </a:xfrm>
          <a:prstGeom prst="ellipse">
            <a:avLst/>
          </a:prstGeom>
          <a:solidFill>
            <a:srgbClr val="6E3FE5"/>
          </a:solidFill>
          <a:ln w="12700">
            <a:solidFill>
              <a:srgbClr val="6E3FE5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7726680" y="1243584"/>
            <a:ext cx="1645920" cy="0"/>
          </a:xfrm>
          <a:prstGeom prst="line">
            <a:avLst/>
          </a:prstGeom>
          <a:noFill/>
          <a:ln w="19050">
            <a:solidFill>
              <a:srgbClr val="6E3FE5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9372600" y="1207008"/>
            <a:ext cx="73152" cy="73152"/>
          </a:xfrm>
          <a:prstGeom prst="ellipse">
            <a:avLst/>
          </a:prstGeom>
          <a:solidFill>
            <a:srgbClr val="6E3FE5"/>
          </a:solidFill>
          <a:ln w="12700">
            <a:solidFill>
              <a:srgbClr val="6E3FE5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498848" y="1078992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6E3FE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SEMINAR HASIL</a:t>
            </a:r>
            <a:endParaRPr lang="en-US" sz="2500" dirty="0"/>
          </a:p>
        </p:txBody>
      </p:sp>
      <p:sp>
        <p:nvSpPr>
          <p:cNvPr id="67" name="Text 65"/>
          <p:cNvSpPr/>
          <p:nvPr/>
        </p:nvSpPr>
        <p:spPr>
          <a:xfrm>
            <a:off x="594360" y="1444752"/>
            <a:ext cx="11018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B1F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Hasil Pengujian Skala Piksel</a:t>
            </a:r>
            <a:endParaRPr lang="en-US" sz="3400" dirty="0"/>
          </a:p>
        </p:txBody>
      </p:sp>
      <p:sp>
        <p:nvSpPr>
          <p:cNvPr id="82" name="Shape 80"/>
          <p:cNvSpPr/>
          <p:nvPr/>
        </p:nvSpPr>
        <p:spPr>
          <a:xfrm>
            <a:off x="6812280" y="2103120"/>
            <a:ext cx="4297680" cy="3291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7">
                <a:alpha val="90000"/>
              </a:srgbClr>
            </a:solidFill>
            <a:prstDash val="solid"/>
          </a:ln>
          <a:effectLst>
            <a:outerShdw blurRad="25400" dist="50800" dir="2700000" algn="bl" rotWithShape="0">
              <a:srgbClr val="94A3B8">
                <a:alpha val="14000"/>
              </a:srgbClr>
            </a:outerShdw>
          </a:effectLst>
        </p:spPr>
      </p:sp>
      <p:sp>
        <p:nvSpPr>
          <p:cNvPr id="83" name="Text 81"/>
          <p:cNvSpPr/>
          <p:nvPr/>
        </p:nvSpPr>
        <p:spPr>
          <a:xfrm>
            <a:off x="7132320" y="239572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F53"/>
                </a:solidFill>
              </a:rPr>
              <a:t>Konfigurasi Terpilih</a:t>
            </a:r>
            <a:endParaRPr lang="en-US" sz="1800" dirty="0"/>
          </a:p>
        </p:txBody>
      </p:sp>
      <p:sp>
        <p:nvSpPr>
          <p:cNvPr id="84" name="Shape 82"/>
          <p:cNvSpPr/>
          <p:nvPr/>
        </p:nvSpPr>
        <p:spPr>
          <a:xfrm>
            <a:off x="7178040" y="2907792"/>
            <a:ext cx="3291840" cy="338328"/>
          </a:xfrm>
          <a:prstGeom prst="roundRect">
            <a:avLst>
              <a:gd name="adj" fmla="val 16216"/>
            </a:avLst>
          </a:prstGeom>
          <a:solidFill>
            <a:srgbClr val="F1ECFF"/>
          </a:solidFill>
          <a:ln w="12700">
            <a:solidFill>
              <a:srgbClr val="E5EAF6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7360920" y="3017520"/>
            <a:ext cx="13716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87385"/>
                </a:solidFill>
              </a:rPr>
              <a:t>PX_PER_CELL</a:t>
            </a:r>
            <a:endParaRPr lang="en-US" sz="1300" dirty="0"/>
          </a:p>
        </p:txBody>
      </p:sp>
      <p:sp>
        <p:nvSpPr>
          <p:cNvPr id="86" name="Text 84"/>
          <p:cNvSpPr/>
          <p:nvPr/>
        </p:nvSpPr>
        <p:spPr>
          <a:xfrm>
            <a:off x="8595360" y="2999232"/>
            <a:ext cx="16002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6E3FE5"/>
                </a:solidFill>
              </a:rPr>
              <a:t>120</a:t>
            </a:r>
            <a:endParaRPr lang="en-US" sz="1300" dirty="0"/>
          </a:p>
        </p:txBody>
      </p:sp>
      <p:sp>
        <p:nvSpPr>
          <p:cNvPr id="87" name="Shape 85"/>
          <p:cNvSpPr/>
          <p:nvPr/>
        </p:nvSpPr>
        <p:spPr>
          <a:xfrm>
            <a:off x="7178040" y="3410712"/>
            <a:ext cx="3291840" cy="338328"/>
          </a:xfrm>
          <a:prstGeom prst="roundRect">
            <a:avLst>
              <a:gd name="adj" fmla="val 16216"/>
            </a:avLst>
          </a:prstGeom>
          <a:solidFill>
            <a:srgbClr val="F8FAFF"/>
          </a:solidFill>
          <a:ln w="12700">
            <a:solidFill>
              <a:srgbClr val="E5EAF6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7360920" y="3520440"/>
            <a:ext cx="13716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87385"/>
                </a:solidFill>
              </a:rPr>
              <a:t>Tinggi papan</a:t>
            </a:r>
            <a:endParaRPr lang="en-US" sz="1300" dirty="0"/>
          </a:p>
        </p:txBody>
      </p:sp>
      <p:sp>
        <p:nvSpPr>
          <p:cNvPr id="89" name="Text 87"/>
          <p:cNvSpPr/>
          <p:nvPr/>
        </p:nvSpPr>
        <p:spPr>
          <a:xfrm>
            <a:off x="8595360" y="3502152"/>
            <a:ext cx="16002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B1F53"/>
                </a:solidFill>
              </a:rPr>
              <a:t>2.322 px</a:t>
            </a:r>
            <a:endParaRPr lang="en-US" sz="1300" dirty="0"/>
          </a:p>
        </p:txBody>
      </p:sp>
      <p:sp>
        <p:nvSpPr>
          <p:cNvPr id="90" name="Shape 88"/>
          <p:cNvSpPr/>
          <p:nvPr/>
        </p:nvSpPr>
        <p:spPr>
          <a:xfrm>
            <a:off x="7178040" y="3913632"/>
            <a:ext cx="3291840" cy="338328"/>
          </a:xfrm>
          <a:prstGeom prst="roundRect">
            <a:avLst>
              <a:gd name="adj" fmla="val 16216"/>
            </a:avLst>
          </a:prstGeom>
          <a:solidFill>
            <a:srgbClr val="F8FAFF"/>
          </a:solidFill>
          <a:ln w="12700">
            <a:solidFill>
              <a:srgbClr val="E5EAF6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7360920" y="4023360"/>
            <a:ext cx="13716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87385"/>
                </a:solidFill>
              </a:rPr>
              <a:t>Skala</a:t>
            </a:r>
            <a:endParaRPr lang="en-US" sz="1300" dirty="0"/>
          </a:p>
        </p:txBody>
      </p:sp>
      <p:sp>
        <p:nvSpPr>
          <p:cNvPr id="92" name="Text 90"/>
          <p:cNvSpPr/>
          <p:nvPr/>
        </p:nvSpPr>
        <p:spPr>
          <a:xfrm>
            <a:off x="8595360" y="4005072"/>
            <a:ext cx="16002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B1F53"/>
                </a:solidFill>
              </a:rPr>
              <a:t>0,08613 cm/px</a:t>
            </a:r>
            <a:endParaRPr lang="en-US" sz="1300" dirty="0"/>
          </a:p>
        </p:txBody>
      </p:sp>
      <p:sp>
        <p:nvSpPr>
          <p:cNvPr id="93" name="Shape 91"/>
          <p:cNvSpPr/>
          <p:nvPr/>
        </p:nvSpPr>
        <p:spPr>
          <a:xfrm>
            <a:off x="7178040" y="4416552"/>
            <a:ext cx="3291840" cy="338328"/>
          </a:xfrm>
          <a:prstGeom prst="roundRect">
            <a:avLst>
              <a:gd name="adj" fmla="val 16216"/>
            </a:avLst>
          </a:prstGeom>
          <a:solidFill>
            <a:srgbClr val="F8FAFF"/>
          </a:solidFill>
          <a:ln w="12700">
            <a:solidFill>
              <a:srgbClr val="E5EAF6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7360920" y="4526280"/>
            <a:ext cx="13716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87385"/>
                </a:solidFill>
              </a:rPr>
              <a:t>Output</a:t>
            </a:r>
            <a:endParaRPr lang="en-US" sz="1300" dirty="0"/>
          </a:p>
        </p:txBody>
      </p:sp>
      <p:sp>
        <p:nvSpPr>
          <p:cNvPr id="95" name="Text 93"/>
          <p:cNvSpPr/>
          <p:nvPr/>
        </p:nvSpPr>
        <p:spPr>
          <a:xfrm>
            <a:off x="8595360" y="4507992"/>
            <a:ext cx="16002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B1F53"/>
                </a:solidFill>
              </a:rPr>
              <a:t>1.320 × 3.036 px</a:t>
            </a:r>
            <a:endParaRPr lang="en-US" sz="1300" dirty="0"/>
          </a:p>
        </p:txBody>
      </p:sp>
      <p:sp>
        <p:nvSpPr>
          <p:cNvPr id="96" name="Shape 94"/>
          <p:cNvSpPr/>
          <p:nvPr/>
        </p:nvSpPr>
        <p:spPr>
          <a:xfrm>
            <a:off x="3063240" y="5715000"/>
            <a:ext cx="6172200" cy="384048"/>
          </a:xfrm>
          <a:prstGeom prst="roundRect">
            <a:avLst>
              <a:gd name="adj" fmla="val 19048"/>
            </a:avLst>
          </a:prstGeom>
          <a:solidFill>
            <a:srgbClr val="6E3FE5"/>
          </a:solidFill>
          <a:ln w="12700">
            <a:solidFill>
              <a:srgbClr val="6E3FE5">
                <a:alpha val="90000"/>
              </a:srgbClr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3063240" y="5751576"/>
            <a:ext cx="6172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Dipilih karena menghasilkan MAE paling kecil pada 15 citra uji</a:t>
            </a:r>
            <a:endParaRPr lang="en-US" sz="1300" dirty="0"/>
          </a:p>
        </p:txBody>
      </p: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C76DC85D-9F73-5859-3F10-CD41B9ACB7B5}"/>
              </a:ext>
            </a:extLst>
          </p:cNvPr>
          <p:cNvGrpSpPr/>
          <p:nvPr/>
        </p:nvGrpSpPr>
        <p:grpSpPr>
          <a:xfrm>
            <a:off x="3977640" y="256032"/>
            <a:ext cx="4251960" cy="713232"/>
            <a:chOff x="3977640" y="256032"/>
            <a:chExt cx="4251960" cy="713232"/>
          </a:xfrm>
        </p:grpSpPr>
        <p:sp>
          <p:nvSpPr>
            <p:cNvPr id="116" name="Shape 51">
              <a:extLst>
                <a:ext uri="{FF2B5EF4-FFF2-40B4-BE49-F238E27FC236}">
                  <a16:creationId xmlns:a16="http://schemas.microsoft.com/office/drawing/2014/main" id="{45811218-EE30-9203-B2FE-6D1B34791DF7}"/>
                </a:ext>
              </a:extLst>
            </p:cNvPr>
            <p:cNvSpPr/>
            <p:nvPr/>
          </p:nvSpPr>
          <p:spPr>
            <a:xfrm>
              <a:off x="3977640" y="256032"/>
              <a:ext cx="4251960" cy="713232"/>
            </a:xfrm>
            <a:prstGeom prst="roundRect">
              <a:avLst>
                <a:gd name="adj" fmla="val 17949"/>
              </a:avLst>
            </a:prstGeom>
            <a:solidFill>
              <a:srgbClr val="FFFFFF"/>
            </a:solidFill>
            <a:ln w="12700">
              <a:solidFill>
                <a:srgbClr val="E0E8F6">
                  <a:alpha val="85000"/>
                </a:srgbClr>
              </a:solidFill>
              <a:prstDash val="solid"/>
            </a:ln>
            <a:effectLst>
              <a:outerShdw blurRad="25400" dist="50800" dir="2700000" algn="bl" rotWithShape="0">
                <a:srgbClr val="97A6BF">
                  <a:alpha val="12000"/>
                </a:srgbClr>
              </a:outerShdw>
            </a:effectLst>
          </p:spPr>
        </p:sp>
        <p:sp>
          <p:nvSpPr>
            <p:cNvPr id="117" name="Text 54">
              <a:extLst>
                <a:ext uri="{FF2B5EF4-FFF2-40B4-BE49-F238E27FC236}">
                  <a16:creationId xmlns:a16="http://schemas.microsoft.com/office/drawing/2014/main" id="{E3753DA0-12C6-F4C0-5B89-1B54D12F8371}"/>
                </a:ext>
              </a:extLst>
            </p:cNvPr>
            <p:cNvSpPr/>
            <p:nvPr/>
          </p:nvSpPr>
          <p:spPr>
            <a:xfrm>
              <a:off x="4727448" y="402336"/>
              <a:ext cx="114300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800" b="1" dirty="0">
                  <a:solidFill>
                    <a:srgbClr val="0B1F53"/>
                  </a:solidFill>
                  <a:latin typeface="Aptos Display" pitchFamily="34" charset="0"/>
                  <a:ea typeface="Aptos Display" pitchFamily="34" charset="-122"/>
                  <a:cs typeface="Aptos Display" pitchFamily="34" charset="-120"/>
                </a:rPr>
                <a:t>ITENAS</a:t>
              </a:r>
              <a:endParaRPr lang="en-US" sz="1800" dirty="0"/>
            </a:p>
          </p:txBody>
        </p:sp>
        <p:sp>
          <p:nvSpPr>
            <p:cNvPr id="118" name="Text 55">
              <a:extLst>
                <a:ext uri="{FF2B5EF4-FFF2-40B4-BE49-F238E27FC236}">
                  <a16:creationId xmlns:a16="http://schemas.microsoft.com/office/drawing/2014/main" id="{D7C87393-4A57-E3E1-C71A-E4E7F02C2A0F}"/>
                </a:ext>
              </a:extLst>
            </p:cNvPr>
            <p:cNvSpPr/>
            <p:nvPr/>
          </p:nvSpPr>
          <p:spPr>
            <a:xfrm>
              <a:off x="4736592" y="640080"/>
              <a:ext cx="123444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650" dirty="0">
                  <a:solidFill>
                    <a:srgbClr val="0B1F53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Institut Teknologi Nasional</a:t>
              </a:r>
              <a:endParaRPr lang="en-US" sz="650" dirty="0"/>
            </a:p>
            <a:p>
              <a:pPr marL="0" indent="0">
                <a:buNone/>
              </a:pPr>
              <a:r>
                <a:rPr lang="en-US" sz="650" dirty="0">
                  <a:solidFill>
                    <a:srgbClr val="0B1F53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Bandung</a:t>
              </a:r>
              <a:endParaRPr lang="en-US" sz="650" dirty="0"/>
            </a:p>
          </p:txBody>
        </p:sp>
        <p:sp>
          <p:nvSpPr>
            <p:cNvPr id="119" name="Shape 56">
              <a:extLst>
                <a:ext uri="{FF2B5EF4-FFF2-40B4-BE49-F238E27FC236}">
                  <a16:creationId xmlns:a16="http://schemas.microsoft.com/office/drawing/2014/main" id="{A42DC49E-00F0-723D-3A22-75BC7464735E}"/>
                </a:ext>
              </a:extLst>
            </p:cNvPr>
            <p:cNvSpPr/>
            <p:nvPr/>
          </p:nvSpPr>
          <p:spPr>
            <a:xfrm>
              <a:off x="6126480" y="411480"/>
              <a:ext cx="0" cy="402336"/>
            </a:xfrm>
            <a:prstGeom prst="line">
              <a:avLst/>
            </a:prstGeom>
            <a:noFill/>
            <a:ln w="12700">
              <a:solidFill>
                <a:srgbClr val="B8C2E8"/>
              </a:solidFill>
              <a:prstDash val="solid"/>
            </a:ln>
          </p:spPr>
        </p:sp>
        <p:sp>
          <p:nvSpPr>
            <p:cNvPr id="120" name="Text 58">
              <a:extLst>
                <a:ext uri="{FF2B5EF4-FFF2-40B4-BE49-F238E27FC236}">
                  <a16:creationId xmlns:a16="http://schemas.microsoft.com/office/drawing/2014/main" id="{52DA5CF9-17D4-C4E0-D810-48B13771A17F}"/>
                </a:ext>
              </a:extLst>
            </p:cNvPr>
            <p:cNvSpPr/>
            <p:nvPr/>
          </p:nvSpPr>
          <p:spPr>
            <a:xfrm>
              <a:off x="6830568" y="457200"/>
              <a:ext cx="109728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700" b="1" dirty="0">
                  <a:solidFill>
                    <a:srgbClr val="C00000"/>
                  </a:solidFill>
                  <a:latin typeface="Aptos Display" pitchFamily="34" charset="0"/>
                  <a:ea typeface="Aptos Display" pitchFamily="34" charset="-122"/>
                  <a:cs typeface="Aptos Display" pitchFamily="34" charset="-120"/>
                </a:rPr>
                <a:t>Informatika</a:t>
              </a:r>
              <a:endParaRPr lang="en-US" sz="1700" dirty="0">
                <a:solidFill>
                  <a:srgbClr val="C00000"/>
                </a:solidFill>
              </a:endParaRPr>
            </a:p>
          </p:txBody>
        </p:sp>
        <p:pic>
          <p:nvPicPr>
            <p:cNvPr id="121" name="Picture 120">
              <a:extLst>
                <a:ext uri="{FF2B5EF4-FFF2-40B4-BE49-F238E27FC236}">
                  <a16:creationId xmlns:a16="http://schemas.microsoft.com/office/drawing/2014/main" id="{79ACB4A0-91B1-E00E-5EF1-613CA831024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34755" t="29153" r="36238" b="33855"/>
            <a:stretch>
              <a:fillRect/>
            </a:stretch>
          </p:blipFill>
          <p:spPr>
            <a:xfrm>
              <a:off x="6300861" y="396716"/>
              <a:ext cx="346827" cy="345948"/>
            </a:xfrm>
            <a:prstGeom prst="rect">
              <a:avLst/>
            </a:prstGeom>
          </p:spPr>
        </p:pic>
        <p:pic>
          <p:nvPicPr>
            <p:cNvPr id="122" name="Picture 121">
              <a:extLst>
                <a:ext uri="{FF2B5EF4-FFF2-40B4-BE49-F238E27FC236}">
                  <a16:creationId xmlns:a16="http://schemas.microsoft.com/office/drawing/2014/main" id="{5131E2E3-1E3D-B509-1576-6192873CA1B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133088" y="339090"/>
              <a:ext cx="565404" cy="565404"/>
            </a:xfrm>
            <a:prstGeom prst="rect">
              <a:avLst/>
            </a:prstGeom>
          </p:spPr>
        </p:pic>
      </p:grpSp>
      <p:pic>
        <p:nvPicPr>
          <p:cNvPr id="123" name="Picture 122">
            <a:extLst>
              <a:ext uri="{FF2B5EF4-FFF2-40B4-BE49-F238E27FC236}">
                <a16:creationId xmlns:a16="http://schemas.microsoft.com/office/drawing/2014/main" id="{1C655269-F731-3855-8012-89662D45FF2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5152" y="2322322"/>
            <a:ext cx="5214156" cy="287147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73152"/>
            <a:ext cx="1234440" cy="749808"/>
          </a:xfrm>
          <a:prstGeom prst="ellipse">
            <a:avLst/>
          </a:prstGeom>
          <a:solidFill>
            <a:srgbClr val="EEE9FF">
              <a:alpha val="8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588752" y="5897880"/>
            <a:ext cx="1261872" cy="658368"/>
          </a:xfrm>
          <a:prstGeom prst="ellipse">
            <a:avLst/>
          </a:prstGeom>
          <a:solidFill>
            <a:srgbClr val="E2F2FF">
              <a:alpha val="8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" y="1143000"/>
            <a:ext cx="502920" cy="0"/>
          </a:xfrm>
          <a:prstGeom prst="line">
            <a:avLst/>
          </a:prstGeom>
          <a:noFill/>
          <a:ln w="8890">
            <a:solidFill>
              <a:srgbClr val="BFD8FF">
                <a:alpha val="6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106424"/>
            <a:ext cx="54864" cy="54864"/>
          </a:xfrm>
          <a:prstGeom prst="ellipse">
            <a:avLst/>
          </a:prstGeom>
          <a:solidFill>
            <a:srgbClr val="FFFFFF">
              <a:alpha val="0"/>
            </a:srgbClr>
          </a:solidFill>
          <a:ln w="8890">
            <a:solidFill>
              <a:srgbClr val="BFD8FF">
                <a:alpha val="6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384280" y="2743200"/>
            <a:ext cx="438912" cy="0"/>
          </a:xfrm>
          <a:prstGeom prst="line">
            <a:avLst/>
          </a:prstGeom>
          <a:noFill/>
          <a:ln w="8890">
            <a:solidFill>
              <a:srgbClr val="BFD8FF">
                <a:alpha val="6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301984" y="2706624"/>
            <a:ext cx="54864" cy="54864"/>
          </a:xfrm>
          <a:prstGeom prst="ellipse">
            <a:avLst/>
          </a:prstGeom>
          <a:solidFill>
            <a:srgbClr val="FFFFFF">
              <a:alpha val="0"/>
            </a:srgbClr>
          </a:solidFill>
          <a:ln w="8890">
            <a:solidFill>
              <a:srgbClr val="BFD8FF">
                <a:alpha val="6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4592" y="1581912"/>
            <a:ext cx="502920" cy="0"/>
          </a:xfrm>
          <a:prstGeom prst="line">
            <a:avLst/>
          </a:prstGeom>
          <a:noFill/>
          <a:ln w="8890">
            <a:solidFill>
              <a:srgbClr val="BFD8FF">
                <a:alpha val="6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1545336"/>
            <a:ext cx="54864" cy="54864"/>
          </a:xfrm>
          <a:prstGeom prst="ellipse">
            <a:avLst/>
          </a:prstGeom>
          <a:solidFill>
            <a:srgbClr val="FFFFFF">
              <a:alpha val="0"/>
            </a:srgbClr>
          </a:solidFill>
          <a:ln w="8890">
            <a:solidFill>
              <a:srgbClr val="BFD8FF">
                <a:alpha val="6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384280" y="3182112"/>
            <a:ext cx="438912" cy="0"/>
          </a:xfrm>
          <a:prstGeom prst="line">
            <a:avLst/>
          </a:prstGeom>
          <a:noFill/>
          <a:ln w="8890">
            <a:solidFill>
              <a:srgbClr val="BFD8FF">
                <a:alpha val="6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301984" y="3145536"/>
            <a:ext cx="54864" cy="54864"/>
          </a:xfrm>
          <a:prstGeom prst="ellipse">
            <a:avLst/>
          </a:prstGeom>
          <a:solidFill>
            <a:srgbClr val="FFFFFF">
              <a:alpha val="0"/>
            </a:srgbClr>
          </a:solidFill>
          <a:ln w="8890">
            <a:solidFill>
              <a:srgbClr val="BFD8FF">
                <a:alpha val="6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64592" y="2020824"/>
            <a:ext cx="502920" cy="0"/>
          </a:xfrm>
          <a:prstGeom prst="line">
            <a:avLst/>
          </a:prstGeom>
          <a:noFill/>
          <a:ln w="8890">
            <a:solidFill>
              <a:srgbClr val="BFD8FF">
                <a:alpha val="62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5800" y="1984248"/>
            <a:ext cx="54864" cy="54864"/>
          </a:xfrm>
          <a:prstGeom prst="ellipse">
            <a:avLst/>
          </a:prstGeom>
          <a:solidFill>
            <a:srgbClr val="FFFFFF">
              <a:alpha val="0"/>
            </a:srgbClr>
          </a:solidFill>
          <a:ln w="8890">
            <a:solidFill>
              <a:srgbClr val="BFD8FF">
                <a:alpha val="6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384280" y="3621024"/>
            <a:ext cx="438912" cy="0"/>
          </a:xfrm>
          <a:prstGeom prst="line">
            <a:avLst/>
          </a:prstGeom>
          <a:noFill/>
          <a:ln w="8890">
            <a:solidFill>
              <a:srgbClr val="BFD8FF">
                <a:alpha val="6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301984" y="3584448"/>
            <a:ext cx="54864" cy="54864"/>
          </a:xfrm>
          <a:prstGeom prst="ellipse">
            <a:avLst/>
          </a:prstGeom>
          <a:solidFill>
            <a:srgbClr val="FFFFFF">
              <a:alpha val="0"/>
            </a:srgbClr>
          </a:solidFill>
          <a:ln w="8890">
            <a:solidFill>
              <a:srgbClr val="BFD8FF">
                <a:alpha val="6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331720" y="694944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450592" y="694944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569464" y="694944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688336" y="694944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807208" y="694944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926080" y="694944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31720" y="813816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450592" y="813816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569464" y="813816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688336" y="813816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807208" y="813816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926080" y="813816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331720" y="932688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450592" y="932688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569464" y="932688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688336" y="932688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807208" y="932688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2926080" y="932688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0058400" y="438912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dirty="0">
                <a:solidFill>
                  <a:srgbClr val="6EA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✦</a:t>
            </a:r>
            <a:endParaRPr lang="en-US" sz="2300" dirty="0"/>
          </a:p>
        </p:txBody>
      </p:sp>
      <p:sp>
        <p:nvSpPr>
          <p:cNvPr id="62" name="Shape 60"/>
          <p:cNvSpPr/>
          <p:nvPr/>
        </p:nvSpPr>
        <p:spPr>
          <a:xfrm>
            <a:off x="2834640" y="1243584"/>
            <a:ext cx="1645920" cy="0"/>
          </a:xfrm>
          <a:prstGeom prst="line">
            <a:avLst/>
          </a:prstGeom>
          <a:noFill/>
          <a:ln w="19050">
            <a:solidFill>
              <a:srgbClr val="6E3FE5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2779776" y="1207008"/>
            <a:ext cx="73152" cy="73152"/>
          </a:xfrm>
          <a:prstGeom prst="ellipse">
            <a:avLst/>
          </a:prstGeom>
          <a:solidFill>
            <a:srgbClr val="6E3FE5"/>
          </a:solidFill>
          <a:ln w="12700">
            <a:solidFill>
              <a:srgbClr val="6E3FE5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7726680" y="1243584"/>
            <a:ext cx="1645920" cy="0"/>
          </a:xfrm>
          <a:prstGeom prst="line">
            <a:avLst/>
          </a:prstGeom>
          <a:noFill/>
          <a:ln w="19050">
            <a:solidFill>
              <a:srgbClr val="6E3FE5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9372600" y="1207008"/>
            <a:ext cx="73152" cy="73152"/>
          </a:xfrm>
          <a:prstGeom prst="ellipse">
            <a:avLst/>
          </a:prstGeom>
          <a:solidFill>
            <a:srgbClr val="6E3FE5"/>
          </a:solidFill>
          <a:ln w="12700">
            <a:solidFill>
              <a:srgbClr val="6E3FE5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498848" y="1078992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6E3FE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SEMINAR HASIL</a:t>
            </a:r>
            <a:endParaRPr lang="en-US" sz="2500" dirty="0"/>
          </a:p>
        </p:txBody>
      </p:sp>
      <p:sp>
        <p:nvSpPr>
          <p:cNvPr id="67" name="Text 65"/>
          <p:cNvSpPr/>
          <p:nvPr/>
        </p:nvSpPr>
        <p:spPr>
          <a:xfrm>
            <a:off x="594360" y="1444752"/>
            <a:ext cx="11018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B1F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Akurasi Aplikasi Menggunakan MAE</a:t>
            </a:r>
            <a:endParaRPr lang="en-US" sz="3400" dirty="0"/>
          </a:p>
        </p:txBody>
      </p:sp>
      <p:sp>
        <p:nvSpPr>
          <p:cNvPr id="68" name="Shape 66"/>
          <p:cNvSpPr/>
          <p:nvPr/>
        </p:nvSpPr>
        <p:spPr>
          <a:xfrm>
            <a:off x="685800" y="2103120"/>
            <a:ext cx="6720840" cy="338328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E2E8F7">
                <a:alpha val="90000"/>
              </a:srgbClr>
            </a:solidFill>
            <a:prstDash val="solid"/>
          </a:ln>
          <a:effectLst>
            <a:outerShdw blurRad="25400" dist="50800" dir="2700000" algn="bl" rotWithShape="0">
              <a:srgbClr val="94A3B8">
                <a:alpha val="14000"/>
              </a:srgbClr>
            </a:outerShdw>
          </a:effectLst>
        </p:spPr>
      </p:sp>
      <p:sp>
        <p:nvSpPr>
          <p:cNvPr id="88" name="Shape 86"/>
          <p:cNvSpPr/>
          <p:nvPr/>
        </p:nvSpPr>
        <p:spPr>
          <a:xfrm>
            <a:off x="7818120" y="2103120"/>
            <a:ext cx="3657600" cy="338328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E2E8F7">
                <a:alpha val="90000"/>
              </a:srgbClr>
            </a:solidFill>
            <a:prstDash val="solid"/>
          </a:ln>
          <a:effectLst>
            <a:outerShdw blurRad="25400" dist="50800" dir="2700000" algn="bl" rotWithShape="0">
              <a:srgbClr val="94A3B8">
                <a:alpha val="14000"/>
              </a:srgbClr>
            </a:outerShdw>
          </a:effectLst>
        </p:spPr>
      </p:sp>
      <p:sp>
        <p:nvSpPr>
          <p:cNvPr id="89" name="Text 87"/>
          <p:cNvSpPr/>
          <p:nvPr/>
        </p:nvSpPr>
        <p:spPr>
          <a:xfrm>
            <a:off x="8138160" y="23774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F53"/>
                </a:solidFill>
              </a:rPr>
              <a:t>Ringkasan Nilai</a:t>
            </a:r>
            <a:endParaRPr lang="en-US" sz="1800" dirty="0"/>
          </a:p>
        </p:txBody>
      </p:sp>
      <p:sp>
        <p:nvSpPr>
          <p:cNvPr id="90" name="Shape 88"/>
          <p:cNvSpPr/>
          <p:nvPr/>
        </p:nvSpPr>
        <p:spPr>
          <a:xfrm>
            <a:off x="8092440" y="2807208"/>
            <a:ext cx="2926080" cy="310896"/>
          </a:xfrm>
          <a:prstGeom prst="roundRect">
            <a:avLst>
              <a:gd name="adj" fmla="val 17647"/>
            </a:avLst>
          </a:prstGeom>
          <a:solidFill>
            <a:srgbClr val="F8FAFF"/>
          </a:solidFill>
          <a:ln w="12700">
            <a:solidFill>
              <a:srgbClr val="E5EAF6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8266176" y="2907792"/>
            <a:ext cx="16002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87385"/>
                </a:solidFill>
              </a:rPr>
              <a:t>Total galat absolut</a:t>
            </a:r>
            <a:endParaRPr lang="en-US" sz="800" dirty="0"/>
          </a:p>
        </p:txBody>
      </p:sp>
      <p:sp>
        <p:nvSpPr>
          <p:cNvPr id="92" name="Text 90"/>
          <p:cNvSpPr/>
          <p:nvPr/>
        </p:nvSpPr>
        <p:spPr>
          <a:xfrm>
            <a:off x="9464040" y="2889504"/>
            <a:ext cx="13258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0B1F53"/>
                </a:solidFill>
              </a:rPr>
              <a:t>23,9 cm</a:t>
            </a:r>
            <a:endParaRPr lang="en-US" sz="1050" dirty="0"/>
          </a:p>
        </p:txBody>
      </p:sp>
      <p:sp>
        <p:nvSpPr>
          <p:cNvPr id="93" name="Shape 91"/>
          <p:cNvSpPr/>
          <p:nvPr/>
        </p:nvSpPr>
        <p:spPr>
          <a:xfrm>
            <a:off x="8092440" y="3246120"/>
            <a:ext cx="2926080" cy="310896"/>
          </a:xfrm>
          <a:prstGeom prst="roundRect">
            <a:avLst>
              <a:gd name="adj" fmla="val 17647"/>
            </a:avLst>
          </a:prstGeom>
          <a:solidFill>
            <a:srgbClr val="F1ECFF"/>
          </a:solidFill>
          <a:ln w="12700">
            <a:solidFill>
              <a:srgbClr val="E5EAF6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8266176" y="3346704"/>
            <a:ext cx="16002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87385"/>
                </a:solidFill>
              </a:rPr>
              <a:t>MAE</a:t>
            </a:r>
            <a:endParaRPr lang="en-US" sz="800" dirty="0"/>
          </a:p>
        </p:txBody>
      </p:sp>
      <p:sp>
        <p:nvSpPr>
          <p:cNvPr id="95" name="Text 93"/>
          <p:cNvSpPr/>
          <p:nvPr/>
        </p:nvSpPr>
        <p:spPr>
          <a:xfrm>
            <a:off x="9464040" y="3328416"/>
            <a:ext cx="13258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6E3FE5"/>
                </a:solidFill>
              </a:rPr>
              <a:t>1,59 cm</a:t>
            </a:r>
            <a:endParaRPr lang="en-US" sz="1050" dirty="0"/>
          </a:p>
        </p:txBody>
      </p:sp>
      <p:sp>
        <p:nvSpPr>
          <p:cNvPr id="96" name="Shape 94"/>
          <p:cNvSpPr/>
          <p:nvPr/>
        </p:nvSpPr>
        <p:spPr>
          <a:xfrm>
            <a:off x="8092440" y="3685032"/>
            <a:ext cx="2926080" cy="310896"/>
          </a:xfrm>
          <a:prstGeom prst="roundRect">
            <a:avLst>
              <a:gd name="adj" fmla="val 17647"/>
            </a:avLst>
          </a:prstGeom>
          <a:solidFill>
            <a:srgbClr val="F8FAFF"/>
          </a:solidFill>
          <a:ln w="12700">
            <a:solidFill>
              <a:srgbClr val="E5EAF6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8266176" y="3785616"/>
            <a:ext cx="16002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87385"/>
                </a:solidFill>
              </a:rPr>
              <a:t>Galat minimum</a:t>
            </a:r>
            <a:endParaRPr lang="en-US" sz="800" dirty="0"/>
          </a:p>
        </p:txBody>
      </p:sp>
      <p:sp>
        <p:nvSpPr>
          <p:cNvPr id="98" name="Text 96"/>
          <p:cNvSpPr/>
          <p:nvPr/>
        </p:nvSpPr>
        <p:spPr>
          <a:xfrm>
            <a:off x="9464040" y="3767328"/>
            <a:ext cx="13258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0B1F53"/>
                </a:solidFill>
              </a:rPr>
              <a:t>0,1 cm</a:t>
            </a:r>
            <a:endParaRPr lang="en-US" sz="1050" dirty="0"/>
          </a:p>
        </p:txBody>
      </p:sp>
      <p:sp>
        <p:nvSpPr>
          <p:cNvPr id="99" name="Shape 97"/>
          <p:cNvSpPr/>
          <p:nvPr/>
        </p:nvSpPr>
        <p:spPr>
          <a:xfrm>
            <a:off x="8092440" y="4123944"/>
            <a:ext cx="2926080" cy="310896"/>
          </a:xfrm>
          <a:prstGeom prst="roundRect">
            <a:avLst>
              <a:gd name="adj" fmla="val 17647"/>
            </a:avLst>
          </a:prstGeom>
          <a:solidFill>
            <a:srgbClr val="F8FAFF"/>
          </a:solidFill>
          <a:ln w="12700">
            <a:solidFill>
              <a:srgbClr val="E5EAF6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8266176" y="4224528"/>
            <a:ext cx="16002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87385"/>
                </a:solidFill>
              </a:rPr>
              <a:t>Galat maksimum</a:t>
            </a:r>
            <a:endParaRPr lang="en-US" sz="800" dirty="0"/>
          </a:p>
        </p:txBody>
      </p:sp>
      <p:sp>
        <p:nvSpPr>
          <p:cNvPr id="101" name="Text 99"/>
          <p:cNvSpPr/>
          <p:nvPr/>
        </p:nvSpPr>
        <p:spPr>
          <a:xfrm>
            <a:off x="9464040" y="4206240"/>
            <a:ext cx="13258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0B1F53"/>
                </a:solidFill>
              </a:rPr>
              <a:t>4,9 cm</a:t>
            </a:r>
            <a:endParaRPr lang="en-US" sz="1050" dirty="0"/>
          </a:p>
        </p:txBody>
      </p:sp>
      <p:sp>
        <p:nvSpPr>
          <p:cNvPr id="102" name="Shape 100"/>
          <p:cNvSpPr/>
          <p:nvPr/>
        </p:nvSpPr>
        <p:spPr>
          <a:xfrm>
            <a:off x="8092440" y="4562856"/>
            <a:ext cx="2926080" cy="310896"/>
          </a:xfrm>
          <a:prstGeom prst="roundRect">
            <a:avLst>
              <a:gd name="adj" fmla="val 17647"/>
            </a:avLst>
          </a:prstGeom>
          <a:solidFill>
            <a:srgbClr val="F8FAFF"/>
          </a:solidFill>
          <a:ln w="12700">
            <a:solidFill>
              <a:srgbClr val="E5EAF6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8266176" y="4663440"/>
            <a:ext cx="16002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87385"/>
                </a:solidFill>
              </a:rPr>
              <a:t>Rata-rata galat relatif</a:t>
            </a:r>
            <a:endParaRPr lang="en-US" sz="800" dirty="0"/>
          </a:p>
        </p:txBody>
      </p:sp>
      <p:sp>
        <p:nvSpPr>
          <p:cNvPr id="104" name="Text 102"/>
          <p:cNvSpPr/>
          <p:nvPr/>
        </p:nvSpPr>
        <p:spPr>
          <a:xfrm>
            <a:off x="9464040" y="4645152"/>
            <a:ext cx="13258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0B1F53"/>
                </a:solidFill>
              </a:rPr>
              <a:t>0,97%</a:t>
            </a:r>
            <a:endParaRPr lang="en-US" sz="1050" dirty="0"/>
          </a:p>
        </p:txBody>
      </p:sp>
      <p:sp>
        <p:nvSpPr>
          <p:cNvPr id="105" name="Shape 103"/>
          <p:cNvSpPr/>
          <p:nvPr/>
        </p:nvSpPr>
        <p:spPr>
          <a:xfrm>
            <a:off x="2560320" y="5760720"/>
            <a:ext cx="7086600" cy="384048"/>
          </a:xfrm>
          <a:prstGeom prst="roundRect">
            <a:avLst>
              <a:gd name="adj" fmla="val 19048"/>
            </a:avLst>
          </a:prstGeom>
          <a:solidFill>
            <a:srgbClr val="6E3FE5"/>
          </a:solidFill>
          <a:ln w="12700">
            <a:solidFill>
              <a:srgbClr val="6E3FE5">
                <a:alpha val="90000"/>
              </a:srgbClr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2560320" y="5797296"/>
            <a:ext cx="7086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Hasil estimasi cukup mendekati pengukuran stadiometer pada kondisi pengujian</a:t>
            </a:r>
            <a:endParaRPr lang="en-US" sz="1200" dirty="0"/>
          </a:p>
        </p:txBody>
      </p: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21B058A0-ADE0-F950-2916-EFDB064A7F1F}"/>
              </a:ext>
            </a:extLst>
          </p:cNvPr>
          <p:cNvGrpSpPr/>
          <p:nvPr/>
        </p:nvGrpSpPr>
        <p:grpSpPr>
          <a:xfrm>
            <a:off x="3977640" y="256032"/>
            <a:ext cx="4251960" cy="713232"/>
            <a:chOff x="3977640" y="256032"/>
            <a:chExt cx="4251960" cy="713232"/>
          </a:xfrm>
        </p:grpSpPr>
        <p:sp>
          <p:nvSpPr>
            <p:cNvPr id="125" name="Shape 51">
              <a:extLst>
                <a:ext uri="{FF2B5EF4-FFF2-40B4-BE49-F238E27FC236}">
                  <a16:creationId xmlns:a16="http://schemas.microsoft.com/office/drawing/2014/main" id="{4FDFAAFA-10E9-3CD4-FC16-78093DC2F0D7}"/>
                </a:ext>
              </a:extLst>
            </p:cNvPr>
            <p:cNvSpPr/>
            <p:nvPr/>
          </p:nvSpPr>
          <p:spPr>
            <a:xfrm>
              <a:off x="3977640" y="256032"/>
              <a:ext cx="4251960" cy="713232"/>
            </a:xfrm>
            <a:prstGeom prst="roundRect">
              <a:avLst>
                <a:gd name="adj" fmla="val 17949"/>
              </a:avLst>
            </a:prstGeom>
            <a:solidFill>
              <a:srgbClr val="FFFFFF"/>
            </a:solidFill>
            <a:ln w="12700">
              <a:solidFill>
                <a:srgbClr val="E0E8F6">
                  <a:alpha val="85000"/>
                </a:srgbClr>
              </a:solidFill>
              <a:prstDash val="solid"/>
            </a:ln>
            <a:effectLst>
              <a:outerShdw blurRad="25400" dist="50800" dir="2700000" algn="bl" rotWithShape="0">
                <a:srgbClr val="97A6BF">
                  <a:alpha val="12000"/>
                </a:srgbClr>
              </a:outerShdw>
            </a:effectLst>
          </p:spPr>
        </p:sp>
        <p:sp>
          <p:nvSpPr>
            <p:cNvPr id="126" name="Text 54">
              <a:extLst>
                <a:ext uri="{FF2B5EF4-FFF2-40B4-BE49-F238E27FC236}">
                  <a16:creationId xmlns:a16="http://schemas.microsoft.com/office/drawing/2014/main" id="{CBD5F749-1AB2-CFE4-94B0-CAE1E53D7EE4}"/>
                </a:ext>
              </a:extLst>
            </p:cNvPr>
            <p:cNvSpPr/>
            <p:nvPr/>
          </p:nvSpPr>
          <p:spPr>
            <a:xfrm>
              <a:off x="4727448" y="402336"/>
              <a:ext cx="114300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800" b="1" dirty="0">
                  <a:solidFill>
                    <a:srgbClr val="0B1F53"/>
                  </a:solidFill>
                  <a:latin typeface="Aptos Display" pitchFamily="34" charset="0"/>
                  <a:ea typeface="Aptos Display" pitchFamily="34" charset="-122"/>
                  <a:cs typeface="Aptos Display" pitchFamily="34" charset="-120"/>
                </a:rPr>
                <a:t>ITENAS</a:t>
              </a:r>
              <a:endParaRPr lang="en-US" sz="1800" dirty="0"/>
            </a:p>
          </p:txBody>
        </p:sp>
        <p:sp>
          <p:nvSpPr>
            <p:cNvPr id="127" name="Text 55">
              <a:extLst>
                <a:ext uri="{FF2B5EF4-FFF2-40B4-BE49-F238E27FC236}">
                  <a16:creationId xmlns:a16="http://schemas.microsoft.com/office/drawing/2014/main" id="{925020D0-09A0-15BA-6365-54D9B571CC14}"/>
                </a:ext>
              </a:extLst>
            </p:cNvPr>
            <p:cNvSpPr/>
            <p:nvPr/>
          </p:nvSpPr>
          <p:spPr>
            <a:xfrm>
              <a:off x="4736592" y="640080"/>
              <a:ext cx="123444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650" dirty="0">
                  <a:solidFill>
                    <a:srgbClr val="0B1F53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Institut Teknologi Nasional</a:t>
              </a:r>
              <a:endParaRPr lang="en-US" sz="650" dirty="0"/>
            </a:p>
            <a:p>
              <a:pPr marL="0" indent="0">
                <a:buNone/>
              </a:pPr>
              <a:r>
                <a:rPr lang="en-US" sz="650" dirty="0">
                  <a:solidFill>
                    <a:srgbClr val="0B1F53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Bandung</a:t>
              </a:r>
              <a:endParaRPr lang="en-US" sz="650" dirty="0"/>
            </a:p>
          </p:txBody>
        </p:sp>
        <p:sp>
          <p:nvSpPr>
            <p:cNvPr id="128" name="Shape 56">
              <a:extLst>
                <a:ext uri="{FF2B5EF4-FFF2-40B4-BE49-F238E27FC236}">
                  <a16:creationId xmlns:a16="http://schemas.microsoft.com/office/drawing/2014/main" id="{87D946AF-1059-1237-0D22-E41F589BAD14}"/>
                </a:ext>
              </a:extLst>
            </p:cNvPr>
            <p:cNvSpPr/>
            <p:nvPr/>
          </p:nvSpPr>
          <p:spPr>
            <a:xfrm>
              <a:off x="6126480" y="411480"/>
              <a:ext cx="0" cy="402336"/>
            </a:xfrm>
            <a:prstGeom prst="line">
              <a:avLst/>
            </a:prstGeom>
            <a:noFill/>
            <a:ln w="12700">
              <a:solidFill>
                <a:srgbClr val="B8C2E8"/>
              </a:solidFill>
              <a:prstDash val="solid"/>
            </a:ln>
          </p:spPr>
        </p:sp>
        <p:sp>
          <p:nvSpPr>
            <p:cNvPr id="129" name="Text 58">
              <a:extLst>
                <a:ext uri="{FF2B5EF4-FFF2-40B4-BE49-F238E27FC236}">
                  <a16:creationId xmlns:a16="http://schemas.microsoft.com/office/drawing/2014/main" id="{4FC6CE6F-E170-45CC-9080-F4B670768DC9}"/>
                </a:ext>
              </a:extLst>
            </p:cNvPr>
            <p:cNvSpPr/>
            <p:nvPr/>
          </p:nvSpPr>
          <p:spPr>
            <a:xfrm>
              <a:off x="6830568" y="457200"/>
              <a:ext cx="109728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700" b="1" dirty="0">
                  <a:solidFill>
                    <a:srgbClr val="C00000"/>
                  </a:solidFill>
                  <a:latin typeface="Aptos Display" pitchFamily="34" charset="0"/>
                  <a:ea typeface="Aptos Display" pitchFamily="34" charset="-122"/>
                  <a:cs typeface="Aptos Display" pitchFamily="34" charset="-120"/>
                </a:rPr>
                <a:t>Informatika</a:t>
              </a:r>
              <a:endParaRPr lang="en-US" sz="1700" dirty="0">
                <a:solidFill>
                  <a:srgbClr val="C00000"/>
                </a:solidFill>
              </a:endParaRPr>
            </a:p>
          </p:txBody>
        </p:sp>
        <p:pic>
          <p:nvPicPr>
            <p:cNvPr id="130" name="Picture 129">
              <a:extLst>
                <a:ext uri="{FF2B5EF4-FFF2-40B4-BE49-F238E27FC236}">
                  <a16:creationId xmlns:a16="http://schemas.microsoft.com/office/drawing/2014/main" id="{C7B23937-44C8-7C60-FE82-55D9E73DA1E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34755" t="29153" r="36238" b="33855"/>
            <a:stretch>
              <a:fillRect/>
            </a:stretch>
          </p:blipFill>
          <p:spPr>
            <a:xfrm>
              <a:off x="6300861" y="396716"/>
              <a:ext cx="346827" cy="345948"/>
            </a:xfrm>
            <a:prstGeom prst="rect">
              <a:avLst/>
            </a:prstGeom>
          </p:spPr>
        </p:pic>
        <p:pic>
          <p:nvPicPr>
            <p:cNvPr id="131" name="Picture 130">
              <a:extLst>
                <a:ext uri="{FF2B5EF4-FFF2-40B4-BE49-F238E27FC236}">
                  <a16:creationId xmlns:a16="http://schemas.microsoft.com/office/drawing/2014/main" id="{EF9EFDA1-E17E-718D-C7E7-CAF0964E60C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133088" y="339090"/>
              <a:ext cx="565404" cy="565404"/>
            </a:xfrm>
            <a:prstGeom prst="rect">
              <a:avLst/>
            </a:prstGeom>
          </p:spPr>
        </p:pic>
      </p:grpSp>
      <p:pic>
        <p:nvPicPr>
          <p:cNvPr id="132" name="Picture 131">
            <a:extLst>
              <a:ext uri="{FF2B5EF4-FFF2-40B4-BE49-F238E27FC236}">
                <a16:creationId xmlns:a16="http://schemas.microsoft.com/office/drawing/2014/main" id="{5A35516D-42F7-AC32-CF9A-B2193D8855A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7819" y="3108833"/>
            <a:ext cx="6435298" cy="211582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73152"/>
            <a:ext cx="1234440" cy="749808"/>
          </a:xfrm>
          <a:prstGeom prst="ellipse">
            <a:avLst/>
          </a:prstGeom>
          <a:solidFill>
            <a:srgbClr val="E2F2FF">
              <a:alpha val="8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588752" y="5897880"/>
            <a:ext cx="1261872" cy="658368"/>
          </a:xfrm>
          <a:prstGeom prst="ellipse">
            <a:avLst/>
          </a:prstGeom>
          <a:solidFill>
            <a:srgbClr val="EEE9FF">
              <a:alpha val="8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" y="1143000"/>
            <a:ext cx="502920" cy="0"/>
          </a:xfrm>
          <a:prstGeom prst="line">
            <a:avLst/>
          </a:prstGeom>
          <a:noFill/>
          <a:ln w="8890">
            <a:solidFill>
              <a:srgbClr val="BFD8FF">
                <a:alpha val="6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106424"/>
            <a:ext cx="54864" cy="54864"/>
          </a:xfrm>
          <a:prstGeom prst="ellipse">
            <a:avLst/>
          </a:prstGeom>
          <a:solidFill>
            <a:srgbClr val="FFFFFF">
              <a:alpha val="0"/>
            </a:srgbClr>
          </a:solidFill>
          <a:ln w="8890">
            <a:solidFill>
              <a:srgbClr val="BFD8FF">
                <a:alpha val="6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384280" y="2743200"/>
            <a:ext cx="438912" cy="0"/>
          </a:xfrm>
          <a:prstGeom prst="line">
            <a:avLst/>
          </a:prstGeom>
          <a:noFill/>
          <a:ln w="8890">
            <a:solidFill>
              <a:srgbClr val="BFD8FF">
                <a:alpha val="6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301984" y="2706624"/>
            <a:ext cx="54864" cy="54864"/>
          </a:xfrm>
          <a:prstGeom prst="ellipse">
            <a:avLst/>
          </a:prstGeom>
          <a:solidFill>
            <a:srgbClr val="FFFFFF">
              <a:alpha val="0"/>
            </a:srgbClr>
          </a:solidFill>
          <a:ln w="8890">
            <a:solidFill>
              <a:srgbClr val="BFD8FF">
                <a:alpha val="6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4592" y="1581912"/>
            <a:ext cx="502920" cy="0"/>
          </a:xfrm>
          <a:prstGeom prst="line">
            <a:avLst/>
          </a:prstGeom>
          <a:noFill/>
          <a:ln w="8890">
            <a:solidFill>
              <a:srgbClr val="BFD8FF">
                <a:alpha val="6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1545336"/>
            <a:ext cx="54864" cy="54864"/>
          </a:xfrm>
          <a:prstGeom prst="ellipse">
            <a:avLst/>
          </a:prstGeom>
          <a:solidFill>
            <a:srgbClr val="FFFFFF">
              <a:alpha val="0"/>
            </a:srgbClr>
          </a:solidFill>
          <a:ln w="8890">
            <a:solidFill>
              <a:srgbClr val="BFD8FF">
                <a:alpha val="6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384280" y="3182112"/>
            <a:ext cx="438912" cy="0"/>
          </a:xfrm>
          <a:prstGeom prst="line">
            <a:avLst/>
          </a:prstGeom>
          <a:noFill/>
          <a:ln w="8890">
            <a:solidFill>
              <a:srgbClr val="BFD8FF">
                <a:alpha val="6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301984" y="3145536"/>
            <a:ext cx="54864" cy="54864"/>
          </a:xfrm>
          <a:prstGeom prst="ellipse">
            <a:avLst/>
          </a:prstGeom>
          <a:solidFill>
            <a:srgbClr val="FFFFFF">
              <a:alpha val="0"/>
            </a:srgbClr>
          </a:solidFill>
          <a:ln w="8890">
            <a:solidFill>
              <a:srgbClr val="BFD8FF">
                <a:alpha val="6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64592" y="2020824"/>
            <a:ext cx="502920" cy="0"/>
          </a:xfrm>
          <a:prstGeom prst="line">
            <a:avLst/>
          </a:prstGeom>
          <a:noFill/>
          <a:ln w="8890">
            <a:solidFill>
              <a:srgbClr val="BFD8FF">
                <a:alpha val="62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5800" y="1984248"/>
            <a:ext cx="54864" cy="54864"/>
          </a:xfrm>
          <a:prstGeom prst="ellipse">
            <a:avLst/>
          </a:prstGeom>
          <a:solidFill>
            <a:srgbClr val="FFFFFF">
              <a:alpha val="0"/>
            </a:srgbClr>
          </a:solidFill>
          <a:ln w="8890">
            <a:solidFill>
              <a:srgbClr val="BFD8FF">
                <a:alpha val="6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384280" y="3621024"/>
            <a:ext cx="438912" cy="0"/>
          </a:xfrm>
          <a:prstGeom prst="line">
            <a:avLst/>
          </a:prstGeom>
          <a:noFill/>
          <a:ln w="8890">
            <a:solidFill>
              <a:srgbClr val="BFD8FF">
                <a:alpha val="6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301984" y="3584448"/>
            <a:ext cx="54864" cy="54864"/>
          </a:xfrm>
          <a:prstGeom prst="ellipse">
            <a:avLst/>
          </a:prstGeom>
          <a:solidFill>
            <a:srgbClr val="FFFFFF">
              <a:alpha val="0"/>
            </a:srgbClr>
          </a:solidFill>
          <a:ln w="8890">
            <a:solidFill>
              <a:srgbClr val="BFD8FF">
                <a:alpha val="6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331720" y="694944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450592" y="694944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569464" y="694944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688336" y="694944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807208" y="694944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926080" y="694944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31720" y="813816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450592" y="813816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569464" y="813816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688336" y="813816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807208" y="813816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926080" y="813816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331720" y="932688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450592" y="932688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569464" y="932688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688336" y="932688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807208" y="932688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2926080" y="932688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0058400" y="438912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dirty="0">
                <a:solidFill>
                  <a:srgbClr val="6EA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✦</a:t>
            </a:r>
            <a:endParaRPr lang="en-US" sz="2300" dirty="0"/>
          </a:p>
        </p:txBody>
      </p:sp>
      <p:sp>
        <p:nvSpPr>
          <p:cNvPr id="62" name="Text 60"/>
          <p:cNvSpPr/>
          <p:nvPr/>
        </p:nvSpPr>
        <p:spPr>
          <a:xfrm>
            <a:off x="594360" y="1197483"/>
            <a:ext cx="11018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B1F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Hasil dan Gap Sistem</a:t>
            </a:r>
            <a:endParaRPr lang="en-US" sz="3400" dirty="0"/>
          </a:p>
        </p:txBody>
      </p:sp>
      <p:sp>
        <p:nvSpPr>
          <p:cNvPr id="63" name="Shape 61"/>
          <p:cNvSpPr/>
          <p:nvPr/>
        </p:nvSpPr>
        <p:spPr>
          <a:xfrm>
            <a:off x="685800" y="2011680"/>
            <a:ext cx="5303520" cy="384048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E2E8F7">
                <a:alpha val="90000"/>
              </a:srgbClr>
            </a:solidFill>
            <a:prstDash val="solid"/>
          </a:ln>
          <a:effectLst>
            <a:outerShdw blurRad="25400" dist="50800" dir="2700000" algn="bl" rotWithShape="0">
              <a:srgbClr val="94A3B8">
                <a:alpha val="14000"/>
              </a:srgbClr>
            </a:outerShdw>
          </a:effectLst>
        </p:spPr>
      </p:sp>
      <p:sp>
        <p:nvSpPr>
          <p:cNvPr id="64" name="Shape 62"/>
          <p:cNvSpPr/>
          <p:nvPr/>
        </p:nvSpPr>
        <p:spPr>
          <a:xfrm>
            <a:off x="1645920" y="1856232"/>
            <a:ext cx="2926080" cy="457200"/>
          </a:xfrm>
          <a:prstGeom prst="roundRect">
            <a:avLst>
              <a:gd name="adj" fmla="val 16000"/>
            </a:avLst>
          </a:prstGeom>
          <a:solidFill>
            <a:srgbClr val="6E3FE5"/>
          </a:solidFill>
          <a:ln w="12700">
            <a:solidFill>
              <a:srgbClr val="6E3FE5">
                <a:alpha val="90000"/>
              </a:srgbClr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1645920" y="1892808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RINGKASAN HASIL</a:t>
            </a:r>
            <a:endParaRPr lang="en-US" sz="1500" dirty="0"/>
          </a:p>
        </p:txBody>
      </p:sp>
      <p:sp>
        <p:nvSpPr>
          <p:cNvPr id="66" name="Shape 64"/>
          <p:cNvSpPr/>
          <p:nvPr/>
        </p:nvSpPr>
        <p:spPr>
          <a:xfrm>
            <a:off x="1051560" y="2514600"/>
            <a:ext cx="4480560" cy="420624"/>
          </a:xfrm>
          <a:prstGeom prst="roundRect">
            <a:avLst>
              <a:gd name="adj" fmla="val 15217"/>
            </a:avLst>
          </a:prstGeom>
          <a:solidFill>
            <a:srgbClr val="F8FAFF"/>
          </a:solidFill>
          <a:ln w="12700">
            <a:solidFill>
              <a:srgbClr val="E5EAF6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1216152" y="2587752"/>
            <a:ext cx="274320" cy="274320"/>
          </a:xfrm>
          <a:prstGeom prst="ellipse">
            <a:avLst/>
          </a:prstGeom>
          <a:solidFill>
            <a:srgbClr val="6E3FE5"/>
          </a:solidFill>
          <a:ln w="12700">
            <a:solidFill>
              <a:srgbClr val="6E3FE5">
                <a:alpha val="0"/>
              </a:srgbClr>
            </a:solidFill>
            <a:prstDash val="solid"/>
          </a:ln>
          <a:effectLst>
            <a:outerShdw blurRad="12700" dist="50800" dir="2700000" algn="bl" rotWithShape="0">
              <a:srgbClr val="64748B">
                <a:alpha val="12000"/>
              </a:srgbClr>
            </a:outerShdw>
          </a:effectLst>
        </p:spPr>
      </p:sp>
      <p:sp>
        <p:nvSpPr>
          <p:cNvPr id="68" name="Text 66"/>
          <p:cNvSpPr/>
          <p:nvPr/>
        </p:nvSpPr>
        <p:spPr>
          <a:xfrm>
            <a:off x="1216152" y="2596896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👥</a:t>
            </a:r>
            <a:endParaRPr lang="en-US" sz="1300" dirty="0"/>
          </a:p>
        </p:txBody>
      </p:sp>
      <p:sp>
        <p:nvSpPr>
          <p:cNvPr id="69" name="Text 67"/>
          <p:cNvSpPr/>
          <p:nvPr/>
        </p:nvSpPr>
        <p:spPr>
          <a:xfrm>
            <a:off x="1783080" y="2651760"/>
            <a:ext cx="32918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B1F53"/>
                </a:solidFill>
              </a:rPr>
              <a:t>15 citra uji</a:t>
            </a:r>
            <a:endParaRPr lang="en-US" sz="1300" dirty="0"/>
          </a:p>
        </p:txBody>
      </p:sp>
      <p:sp>
        <p:nvSpPr>
          <p:cNvPr id="70" name="Shape 68"/>
          <p:cNvSpPr/>
          <p:nvPr/>
        </p:nvSpPr>
        <p:spPr>
          <a:xfrm>
            <a:off x="1051560" y="3108960"/>
            <a:ext cx="4480560" cy="420624"/>
          </a:xfrm>
          <a:prstGeom prst="roundRect">
            <a:avLst>
              <a:gd name="adj" fmla="val 15217"/>
            </a:avLst>
          </a:prstGeom>
          <a:solidFill>
            <a:srgbClr val="F8FAFF"/>
          </a:solidFill>
          <a:ln w="12700">
            <a:solidFill>
              <a:srgbClr val="E5EAF6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1216152" y="3182112"/>
            <a:ext cx="274320" cy="274320"/>
          </a:xfrm>
          <a:prstGeom prst="ellipse">
            <a:avLst/>
          </a:prstGeom>
          <a:solidFill>
            <a:srgbClr val="6E3FE5"/>
          </a:solidFill>
          <a:ln w="12700">
            <a:solidFill>
              <a:srgbClr val="6E3FE5">
                <a:alpha val="0"/>
              </a:srgbClr>
            </a:solidFill>
            <a:prstDash val="solid"/>
          </a:ln>
          <a:effectLst>
            <a:outerShdw blurRad="12700" dist="50800" dir="2700000" algn="bl" rotWithShape="0">
              <a:srgbClr val="64748B">
                <a:alpha val="12000"/>
              </a:srgbClr>
            </a:outerShdw>
          </a:effectLst>
        </p:spPr>
      </p:sp>
      <p:sp>
        <p:nvSpPr>
          <p:cNvPr id="72" name="Text 70"/>
          <p:cNvSpPr/>
          <p:nvPr/>
        </p:nvSpPr>
        <p:spPr>
          <a:xfrm>
            <a:off x="1216152" y="3191256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🎯</a:t>
            </a:r>
            <a:endParaRPr lang="en-US" sz="1300" dirty="0"/>
          </a:p>
        </p:txBody>
      </p:sp>
      <p:sp>
        <p:nvSpPr>
          <p:cNvPr id="73" name="Text 71"/>
          <p:cNvSpPr/>
          <p:nvPr/>
        </p:nvSpPr>
        <p:spPr>
          <a:xfrm>
            <a:off x="1783080" y="3246120"/>
            <a:ext cx="32918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B1F53"/>
                </a:solidFill>
              </a:rPr>
              <a:t>MAE = 1,59 cm</a:t>
            </a:r>
            <a:endParaRPr lang="en-US" sz="1300" dirty="0"/>
          </a:p>
        </p:txBody>
      </p:sp>
      <p:sp>
        <p:nvSpPr>
          <p:cNvPr id="74" name="Shape 72"/>
          <p:cNvSpPr/>
          <p:nvPr/>
        </p:nvSpPr>
        <p:spPr>
          <a:xfrm>
            <a:off x="1051560" y="3703320"/>
            <a:ext cx="4480560" cy="420624"/>
          </a:xfrm>
          <a:prstGeom prst="roundRect">
            <a:avLst>
              <a:gd name="adj" fmla="val 15217"/>
            </a:avLst>
          </a:prstGeom>
          <a:solidFill>
            <a:srgbClr val="F8FAFF"/>
          </a:solidFill>
          <a:ln w="12700">
            <a:solidFill>
              <a:srgbClr val="E5EAF6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1216152" y="3776472"/>
            <a:ext cx="274320" cy="274320"/>
          </a:xfrm>
          <a:prstGeom prst="ellipse">
            <a:avLst/>
          </a:prstGeom>
          <a:solidFill>
            <a:srgbClr val="6E3FE5"/>
          </a:solidFill>
          <a:ln w="12700">
            <a:solidFill>
              <a:srgbClr val="6E3FE5">
                <a:alpha val="0"/>
              </a:srgbClr>
            </a:solidFill>
            <a:prstDash val="solid"/>
          </a:ln>
          <a:effectLst>
            <a:outerShdw blurRad="12700" dist="50800" dir="2700000" algn="bl" rotWithShape="0">
              <a:srgbClr val="64748B">
                <a:alpha val="12000"/>
              </a:srgbClr>
            </a:outerShdw>
          </a:effectLst>
        </p:spPr>
      </p:sp>
      <p:sp>
        <p:nvSpPr>
          <p:cNvPr id="76" name="Text 74"/>
          <p:cNvSpPr/>
          <p:nvPr/>
        </p:nvSpPr>
        <p:spPr>
          <a:xfrm>
            <a:off x="1216152" y="3785616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↓</a:t>
            </a:r>
            <a:endParaRPr lang="en-US" sz="1300" dirty="0"/>
          </a:p>
        </p:txBody>
      </p:sp>
      <p:sp>
        <p:nvSpPr>
          <p:cNvPr id="77" name="Text 75"/>
          <p:cNvSpPr/>
          <p:nvPr/>
        </p:nvSpPr>
        <p:spPr>
          <a:xfrm>
            <a:off x="1783080" y="3840480"/>
            <a:ext cx="32918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B1F53"/>
                </a:solidFill>
              </a:rPr>
              <a:t>Galat minimum = 0,1 cm</a:t>
            </a:r>
            <a:endParaRPr lang="en-US" sz="1300" dirty="0"/>
          </a:p>
        </p:txBody>
      </p:sp>
      <p:sp>
        <p:nvSpPr>
          <p:cNvPr id="78" name="Shape 76"/>
          <p:cNvSpPr/>
          <p:nvPr/>
        </p:nvSpPr>
        <p:spPr>
          <a:xfrm>
            <a:off x="1051560" y="4297680"/>
            <a:ext cx="4480560" cy="420624"/>
          </a:xfrm>
          <a:prstGeom prst="roundRect">
            <a:avLst>
              <a:gd name="adj" fmla="val 15217"/>
            </a:avLst>
          </a:prstGeom>
          <a:solidFill>
            <a:srgbClr val="F8FAFF"/>
          </a:solidFill>
          <a:ln w="12700">
            <a:solidFill>
              <a:srgbClr val="E5EAF6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1216152" y="4370832"/>
            <a:ext cx="274320" cy="274320"/>
          </a:xfrm>
          <a:prstGeom prst="ellipse">
            <a:avLst/>
          </a:prstGeom>
          <a:solidFill>
            <a:srgbClr val="6E3FE5"/>
          </a:solidFill>
          <a:ln w="12700">
            <a:solidFill>
              <a:srgbClr val="6E3FE5">
                <a:alpha val="0"/>
              </a:srgbClr>
            </a:solidFill>
            <a:prstDash val="solid"/>
          </a:ln>
          <a:effectLst>
            <a:outerShdw blurRad="12700" dist="50800" dir="2700000" algn="bl" rotWithShape="0">
              <a:srgbClr val="64748B">
                <a:alpha val="12000"/>
              </a:srgbClr>
            </a:outerShdw>
          </a:effectLst>
        </p:spPr>
      </p:sp>
      <p:sp>
        <p:nvSpPr>
          <p:cNvPr id="80" name="Text 78"/>
          <p:cNvSpPr/>
          <p:nvPr/>
        </p:nvSpPr>
        <p:spPr>
          <a:xfrm>
            <a:off x="1216152" y="4379976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↑</a:t>
            </a:r>
            <a:endParaRPr lang="en-US" sz="1300" dirty="0"/>
          </a:p>
        </p:txBody>
      </p:sp>
      <p:sp>
        <p:nvSpPr>
          <p:cNvPr id="81" name="Text 79"/>
          <p:cNvSpPr/>
          <p:nvPr/>
        </p:nvSpPr>
        <p:spPr>
          <a:xfrm>
            <a:off x="1783080" y="4434840"/>
            <a:ext cx="32918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B1F53"/>
                </a:solidFill>
              </a:rPr>
              <a:t>Galat maksimum = 4,9 cm</a:t>
            </a:r>
            <a:endParaRPr lang="en-US" sz="1300" dirty="0"/>
          </a:p>
        </p:txBody>
      </p:sp>
      <p:sp>
        <p:nvSpPr>
          <p:cNvPr id="82" name="Shape 80"/>
          <p:cNvSpPr/>
          <p:nvPr/>
        </p:nvSpPr>
        <p:spPr>
          <a:xfrm>
            <a:off x="1143000" y="4983480"/>
            <a:ext cx="4480560" cy="0"/>
          </a:xfrm>
          <a:prstGeom prst="line">
            <a:avLst/>
          </a:prstGeom>
          <a:noFill/>
          <a:ln w="12700">
            <a:solidFill>
              <a:srgbClr val="6E3FE5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1143000" y="5175504"/>
            <a:ext cx="4526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40" dirty="0">
                <a:solidFill>
                  <a:srgbClr val="0B1F53"/>
                </a:solidFill>
              </a:rPr>
              <a:t>Hasil menunjukkan estimasi tinggi badan cukup mendekati pengukuran stadiometer pada kondisi pengujian.</a:t>
            </a:r>
            <a:endParaRPr lang="en-US" sz="1140" dirty="0"/>
          </a:p>
        </p:txBody>
      </p:sp>
      <p:sp>
        <p:nvSpPr>
          <p:cNvPr id="84" name="Shape 82"/>
          <p:cNvSpPr/>
          <p:nvPr/>
        </p:nvSpPr>
        <p:spPr>
          <a:xfrm>
            <a:off x="6309360" y="2011680"/>
            <a:ext cx="5212080" cy="3840480"/>
          </a:xfrm>
          <a:prstGeom prst="roundRect">
            <a:avLst>
              <a:gd name="adj" fmla="val 4286"/>
            </a:avLst>
          </a:prstGeom>
          <a:solidFill>
            <a:srgbClr val="FFF7F7"/>
          </a:solidFill>
          <a:ln w="12700">
            <a:solidFill>
              <a:srgbClr val="FFD7D7">
                <a:alpha val="90000"/>
              </a:srgbClr>
            </a:solidFill>
            <a:prstDash val="solid"/>
          </a:ln>
          <a:effectLst>
            <a:outerShdw blurRad="25400" dist="50800" dir="2700000" algn="bl" rotWithShape="0">
              <a:srgbClr val="94A3B8">
                <a:alpha val="14000"/>
              </a:srgbClr>
            </a:outerShdw>
          </a:effectLst>
        </p:spPr>
      </p:sp>
      <p:sp>
        <p:nvSpPr>
          <p:cNvPr id="85" name="Shape 83"/>
          <p:cNvSpPr/>
          <p:nvPr/>
        </p:nvSpPr>
        <p:spPr>
          <a:xfrm>
            <a:off x="7086600" y="1856232"/>
            <a:ext cx="3566160" cy="457200"/>
          </a:xfrm>
          <a:prstGeom prst="roundRect">
            <a:avLst>
              <a:gd name="adj" fmla="val 16000"/>
            </a:avLst>
          </a:prstGeom>
          <a:solidFill>
            <a:srgbClr val="D73737"/>
          </a:solidFill>
          <a:ln w="12700">
            <a:solidFill>
              <a:srgbClr val="D73737">
                <a:alpha val="90000"/>
              </a:srgbClr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7086600" y="1892808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GAP / KETERBATASAN SISTEM</a:t>
            </a:r>
            <a:endParaRPr lang="en-US" sz="1400" dirty="0"/>
          </a:p>
        </p:txBody>
      </p:sp>
      <p:sp>
        <p:nvSpPr>
          <p:cNvPr id="87" name="Shape 85"/>
          <p:cNvSpPr/>
          <p:nvPr/>
        </p:nvSpPr>
        <p:spPr>
          <a:xfrm>
            <a:off x="6629400" y="2487168"/>
            <a:ext cx="4526280" cy="704088"/>
          </a:xfrm>
          <a:prstGeom prst="roundRect">
            <a:avLst>
              <a:gd name="adj" fmla="val 10390"/>
            </a:avLst>
          </a:prstGeom>
          <a:solidFill>
            <a:srgbClr val="FFFFFF"/>
          </a:solidFill>
          <a:ln w="15240">
            <a:solidFill>
              <a:srgbClr val="D73737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6839712" y="2642616"/>
            <a:ext cx="365760" cy="365760"/>
          </a:xfrm>
          <a:prstGeom prst="ellipse">
            <a:avLst/>
          </a:prstGeom>
          <a:solidFill>
            <a:srgbClr val="D73737"/>
          </a:solidFill>
          <a:ln w="12700">
            <a:solidFill>
              <a:srgbClr val="D73737">
                <a:alpha val="0"/>
              </a:srgbClr>
            </a:solidFill>
            <a:prstDash val="solid"/>
          </a:ln>
          <a:effectLst>
            <a:outerShdw blurRad="12700" dist="50800" dir="2700000" algn="bl" rotWithShape="0">
              <a:srgbClr val="64748B">
                <a:alpha val="12000"/>
              </a:srgbClr>
            </a:outerShdw>
          </a:effectLst>
        </p:spPr>
      </p:sp>
      <p:sp>
        <p:nvSpPr>
          <p:cNvPr id="89" name="Text 87"/>
          <p:cNvSpPr/>
          <p:nvPr/>
        </p:nvSpPr>
        <p:spPr>
          <a:xfrm>
            <a:off x="6839712" y="2651760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40" dirty="0">
                <a:solidFill>
                  <a:srgbClr val="FFFFFF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👤</a:t>
            </a:r>
            <a:endParaRPr lang="en-US" sz="1040" dirty="0"/>
          </a:p>
        </p:txBody>
      </p:sp>
      <p:sp>
        <p:nvSpPr>
          <p:cNvPr id="90" name="Text 88"/>
          <p:cNvSpPr/>
          <p:nvPr/>
        </p:nvSpPr>
        <p:spPr>
          <a:xfrm>
            <a:off x="7406640" y="2633472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0000" lnSpcReduction="20000"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0F172A"/>
                </a:solidFill>
              </a:rPr>
              <a:t>Aplikasi saat ini hanya dapat</a:t>
            </a:r>
            <a:endParaRPr lang="en-US" sz="1550" dirty="0"/>
          </a:p>
          <a:p>
            <a:pPr marL="0" indent="0">
              <a:buNone/>
            </a:pPr>
            <a:r>
              <a:rPr lang="en-US" sz="1550" b="1" dirty="0">
                <a:solidFill>
                  <a:srgbClr val="0F172A"/>
                </a:solidFill>
              </a:rPr>
              <a:t>mendeteksi 1 orang dalam 1 citra.</a:t>
            </a:r>
            <a:endParaRPr lang="en-US" sz="1550" dirty="0"/>
          </a:p>
        </p:txBody>
      </p:sp>
      <p:sp>
        <p:nvSpPr>
          <p:cNvPr id="92" name="Shape 90"/>
          <p:cNvSpPr/>
          <p:nvPr/>
        </p:nvSpPr>
        <p:spPr>
          <a:xfrm>
            <a:off x="6629400" y="3456432"/>
            <a:ext cx="4526280" cy="530352"/>
          </a:xfrm>
          <a:prstGeom prst="roundRect">
            <a:avLst>
              <a:gd name="adj" fmla="val 10345"/>
            </a:avLst>
          </a:prstGeom>
          <a:solidFill>
            <a:srgbClr val="FFEAEA"/>
          </a:solidFill>
          <a:ln w="12700">
            <a:solidFill>
              <a:srgbClr val="FFD0D0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6793992" y="3602736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D73737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🧍</a:t>
            </a:r>
            <a:endParaRPr lang="en-US" sz="2000" dirty="0"/>
          </a:p>
        </p:txBody>
      </p:sp>
      <p:sp>
        <p:nvSpPr>
          <p:cNvPr id="94" name="Text 92"/>
          <p:cNvSpPr/>
          <p:nvPr/>
        </p:nvSpPr>
        <p:spPr>
          <a:xfrm>
            <a:off x="7360920" y="355701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0B1F53"/>
                </a:solidFill>
              </a:rPr>
              <a:t>Pada implementasi ini, MediaPipe Pose menghasilkan 33 landmark tubuh untuk satu subjek/orang.</a:t>
            </a:r>
            <a:endParaRPr lang="en-US" sz="1070" dirty="0"/>
          </a:p>
        </p:txBody>
      </p:sp>
      <p:sp>
        <p:nvSpPr>
          <p:cNvPr id="95" name="Shape 93"/>
          <p:cNvSpPr/>
          <p:nvPr/>
        </p:nvSpPr>
        <p:spPr>
          <a:xfrm>
            <a:off x="6629400" y="4169664"/>
            <a:ext cx="4526280" cy="530352"/>
          </a:xfrm>
          <a:prstGeom prst="roundRect">
            <a:avLst>
              <a:gd name="adj" fmla="val 10345"/>
            </a:avLst>
          </a:prstGeom>
          <a:solidFill>
            <a:srgbClr val="FFEAEA"/>
          </a:solidFill>
          <a:ln w="12700">
            <a:solidFill>
              <a:srgbClr val="FFD0D0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6793992" y="4315968"/>
            <a:ext cx="384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D73737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💡</a:t>
            </a:r>
            <a:endParaRPr lang="en-US" sz="2000" dirty="0"/>
          </a:p>
        </p:txBody>
      </p:sp>
      <p:sp>
        <p:nvSpPr>
          <p:cNvPr id="97" name="Text 95"/>
          <p:cNvSpPr/>
          <p:nvPr/>
        </p:nvSpPr>
        <p:spPr>
          <a:xfrm>
            <a:off x="7360920" y="427024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0B1F53"/>
                </a:solidFill>
              </a:rPr>
              <a:t>Akurasi masih dipengaruhi visibilitas marker, postur subjek, pencahayaan, dan estimasi titik kepala-kaki.</a:t>
            </a:r>
            <a:endParaRPr lang="en-US" sz="1070" dirty="0"/>
          </a:p>
        </p:txBody>
      </p:sp>
      <p:sp>
        <p:nvSpPr>
          <p:cNvPr id="98" name="Shape 96"/>
          <p:cNvSpPr/>
          <p:nvPr/>
        </p:nvSpPr>
        <p:spPr>
          <a:xfrm>
            <a:off x="6629400" y="4882896"/>
            <a:ext cx="4526280" cy="530352"/>
          </a:xfrm>
          <a:prstGeom prst="roundRect">
            <a:avLst>
              <a:gd name="adj" fmla="val 10345"/>
            </a:avLst>
          </a:prstGeom>
          <a:solidFill>
            <a:srgbClr val="FFEAEA"/>
          </a:solidFill>
          <a:ln w="12700">
            <a:solidFill>
              <a:srgbClr val="FFD0D0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6793992" y="5029200"/>
            <a:ext cx="384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D73737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⌖</a:t>
            </a:r>
            <a:endParaRPr lang="en-US" sz="1300" dirty="0"/>
          </a:p>
        </p:txBody>
      </p:sp>
      <p:sp>
        <p:nvSpPr>
          <p:cNvPr id="100" name="Text 98"/>
          <p:cNvSpPr/>
          <p:nvPr/>
        </p:nvSpPr>
        <p:spPr>
          <a:xfrm>
            <a:off x="7360920" y="498348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0B1F53"/>
                </a:solidFill>
              </a:rPr>
              <a:t>p</a:t>
            </a:r>
            <a:endParaRPr lang="en-US" sz="1070" dirty="0"/>
          </a:p>
        </p:txBody>
      </p: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5603D8CC-A645-5C56-148E-458D0BE42B8B}"/>
              </a:ext>
            </a:extLst>
          </p:cNvPr>
          <p:cNvGrpSpPr/>
          <p:nvPr/>
        </p:nvGrpSpPr>
        <p:grpSpPr>
          <a:xfrm>
            <a:off x="3977640" y="256032"/>
            <a:ext cx="4251960" cy="713232"/>
            <a:chOff x="3977640" y="256032"/>
            <a:chExt cx="4251960" cy="713232"/>
          </a:xfrm>
        </p:grpSpPr>
        <p:sp>
          <p:nvSpPr>
            <p:cNvPr id="119" name="Shape 51">
              <a:extLst>
                <a:ext uri="{FF2B5EF4-FFF2-40B4-BE49-F238E27FC236}">
                  <a16:creationId xmlns:a16="http://schemas.microsoft.com/office/drawing/2014/main" id="{FCEDDE66-F037-F9EA-AB8C-9E13ACBF1A0F}"/>
                </a:ext>
              </a:extLst>
            </p:cNvPr>
            <p:cNvSpPr/>
            <p:nvPr/>
          </p:nvSpPr>
          <p:spPr>
            <a:xfrm>
              <a:off x="3977640" y="256032"/>
              <a:ext cx="4251960" cy="713232"/>
            </a:xfrm>
            <a:prstGeom prst="roundRect">
              <a:avLst>
                <a:gd name="adj" fmla="val 17949"/>
              </a:avLst>
            </a:prstGeom>
            <a:solidFill>
              <a:srgbClr val="FFFFFF"/>
            </a:solidFill>
            <a:ln w="12700">
              <a:solidFill>
                <a:srgbClr val="E0E8F6">
                  <a:alpha val="85000"/>
                </a:srgbClr>
              </a:solidFill>
              <a:prstDash val="solid"/>
            </a:ln>
            <a:effectLst>
              <a:outerShdw blurRad="25400" dist="50800" dir="2700000" algn="bl" rotWithShape="0">
                <a:srgbClr val="97A6BF">
                  <a:alpha val="12000"/>
                </a:srgbClr>
              </a:outerShdw>
            </a:effectLst>
          </p:spPr>
        </p:sp>
        <p:sp>
          <p:nvSpPr>
            <p:cNvPr id="120" name="Text 54">
              <a:extLst>
                <a:ext uri="{FF2B5EF4-FFF2-40B4-BE49-F238E27FC236}">
                  <a16:creationId xmlns:a16="http://schemas.microsoft.com/office/drawing/2014/main" id="{8B0710A1-7C8C-0D46-BBEF-3F8C89E0BD6E}"/>
                </a:ext>
              </a:extLst>
            </p:cNvPr>
            <p:cNvSpPr/>
            <p:nvPr/>
          </p:nvSpPr>
          <p:spPr>
            <a:xfrm>
              <a:off x="4727448" y="402336"/>
              <a:ext cx="114300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800" b="1" dirty="0">
                  <a:solidFill>
                    <a:srgbClr val="0B1F53"/>
                  </a:solidFill>
                  <a:latin typeface="Aptos Display" pitchFamily="34" charset="0"/>
                  <a:ea typeface="Aptos Display" pitchFamily="34" charset="-122"/>
                  <a:cs typeface="Aptos Display" pitchFamily="34" charset="-120"/>
                </a:rPr>
                <a:t>ITENAS</a:t>
              </a:r>
              <a:endParaRPr lang="en-US" sz="1800" dirty="0"/>
            </a:p>
          </p:txBody>
        </p:sp>
        <p:sp>
          <p:nvSpPr>
            <p:cNvPr id="121" name="Text 55">
              <a:extLst>
                <a:ext uri="{FF2B5EF4-FFF2-40B4-BE49-F238E27FC236}">
                  <a16:creationId xmlns:a16="http://schemas.microsoft.com/office/drawing/2014/main" id="{5FA5FDA0-357D-A8C5-734E-92D4C38DD45E}"/>
                </a:ext>
              </a:extLst>
            </p:cNvPr>
            <p:cNvSpPr/>
            <p:nvPr/>
          </p:nvSpPr>
          <p:spPr>
            <a:xfrm>
              <a:off x="4736592" y="640080"/>
              <a:ext cx="123444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650" dirty="0">
                  <a:solidFill>
                    <a:srgbClr val="0B1F53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Institut Teknologi Nasional</a:t>
              </a:r>
              <a:endParaRPr lang="en-US" sz="650" dirty="0"/>
            </a:p>
            <a:p>
              <a:pPr marL="0" indent="0">
                <a:buNone/>
              </a:pPr>
              <a:r>
                <a:rPr lang="en-US" sz="650" dirty="0">
                  <a:solidFill>
                    <a:srgbClr val="0B1F53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Bandung</a:t>
              </a:r>
              <a:endParaRPr lang="en-US" sz="650" dirty="0"/>
            </a:p>
          </p:txBody>
        </p:sp>
        <p:sp>
          <p:nvSpPr>
            <p:cNvPr id="122" name="Shape 56">
              <a:extLst>
                <a:ext uri="{FF2B5EF4-FFF2-40B4-BE49-F238E27FC236}">
                  <a16:creationId xmlns:a16="http://schemas.microsoft.com/office/drawing/2014/main" id="{9767905A-1D19-AE2F-C5BA-5990D8E3EDBE}"/>
                </a:ext>
              </a:extLst>
            </p:cNvPr>
            <p:cNvSpPr/>
            <p:nvPr/>
          </p:nvSpPr>
          <p:spPr>
            <a:xfrm>
              <a:off x="6126480" y="411480"/>
              <a:ext cx="0" cy="402336"/>
            </a:xfrm>
            <a:prstGeom prst="line">
              <a:avLst/>
            </a:prstGeom>
            <a:noFill/>
            <a:ln w="12700">
              <a:solidFill>
                <a:srgbClr val="B8C2E8"/>
              </a:solidFill>
              <a:prstDash val="solid"/>
            </a:ln>
          </p:spPr>
        </p:sp>
        <p:sp>
          <p:nvSpPr>
            <p:cNvPr id="123" name="Text 58">
              <a:extLst>
                <a:ext uri="{FF2B5EF4-FFF2-40B4-BE49-F238E27FC236}">
                  <a16:creationId xmlns:a16="http://schemas.microsoft.com/office/drawing/2014/main" id="{0C0E7F66-AE7F-EC36-B2F6-AFDA95858AEE}"/>
                </a:ext>
              </a:extLst>
            </p:cNvPr>
            <p:cNvSpPr/>
            <p:nvPr/>
          </p:nvSpPr>
          <p:spPr>
            <a:xfrm>
              <a:off x="6830568" y="457200"/>
              <a:ext cx="109728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700" b="1" dirty="0">
                  <a:solidFill>
                    <a:srgbClr val="C00000"/>
                  </a:solidFill>
                  <a:latin typeface="Aptos Display" pitchFamily="34" charset="0"/>
                  <a:ea typeface="Aptos Display" pitchFamily="34" charset="-122"/>
                  <a:cs typeface="Aptos Display" pitchFamily="34" charset="-120"/>
                </a:rPr>
                <a:t>Informatika</a:t>
              </a:r>
              <a:endParaRPr lang="en-US" sz="1700" dirty="0">
                <a:solidFill>
                  <a:srgbClr val="C00000"/>
                </a:solidFill>
              </a:endParaRPr>
            </a:p>
          </p:txBody>
        </p:sp>
        <p:pic>
          <p:nvPicPr>
            <p:cNvPr id="124" name="Picture 123">
              <a:extLst>
                <a:ext uri="{FF2B5EF4-FFF2-40B4-BE49-F238E27FC236}">
                  <a16:creationId xmlns:a16="http://schemas.microsoft.com/office/drawing/2014/main" id="{0733EAB4-2DE5-F73D-B18C-5A367543809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34755" t="29153" r="36238" b="33855"/>
            <a:stretch>
              <a:fillRect/>
            </a:stretch>
          </p:blipFill>
          <p:spPr>
            <a:xfrm>
              <a:off x="6300861" y="396716"/>
              <a:ext cx="346827" cy="345948"/>
            </a:xfrm>
            <a:prstGeom prst="rect">
              <a:avLst/>
            </a:prstGeom>
          </p:spPr>
        </p:pic>
        <p:pic>
          <p:nvPicPr>
            <p:cNvPr id="125" name="Picture 124">
              <a:extLst>
                <a:ext uri="{FF2B5EF4-FFF2-40B4-BE49-F238E27FC236}">
                  <a16:creationId xmlns:a16="http://schemas.microsoft.com/office/drawing/2014/main" id="{02F799FD-A15C-A79E-F959-6C3B149A3AE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133088" y="339090"/>
              <a:ext cx="565404" cy="565404"/>
            </a:xfrm>
            <a:prstGeom prst="rect">
              <a:avLst/>
            </a:prstGeom>
          </p:spPr>
        </p:pic>
      </p:grpSp>
    </p:spTree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73152"/>
            <a:ext cx="1234440" cy="749808"/>
          </a:xfrm>
          <a:prstGeom prst="ellipse">
            <a:avLst/>
          </a:prstGeom>
          <a:solidFill>
            <a:srgbClr val="E2F2FF">
              <a:alpha val="8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588752" y="5897880"/>
            <a:ext cx="1261872" cy="658368"/>
          </a:xfrm>
          <a:prstGeom prst="ellipse">
            <a:avLst/>
          </a:prstGeom>
          <a:solidFill>
            <a:srgbClr val="EEE9FF">
              <a:alpha val="8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" y="1143000"/>
            <a:ext cx="502920" cy="0"/>
          </a:xfrm>
          <a:prstGeom prst="line">
            <a:avLst/>
          </a:prstGeom>
          <a:noFill/>
          <a:ln w="8890">
            <a:solidFill>
              <a:srgbClr val="BFD8FF">
                <a:alpha val="6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106424"/>
            <a:ext cx="54864" cy="54864"/>
          </a:xfrm>
          <a:prstGeom prst="ellipse">
            <a:avLst/>
          </a:prstGeom>
          <a:solidFill>
            <a:srgbClr val="FFFFFF">
              <a:alpha val="0"/>
            </a:srgbClr>
          </a:solidFill>
          <a:ln w="8890">
            <a:solidFill>
              <a:srgbClr val="BFD8FF">
                <a:alpha val="6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384280" y="2743200"/>
            <a:ext cx="438912" cy="0"/>
          </a:xfrm>
          <a:prstGeom prst="line">
            <a:avLst/>
          </a:prstGeom>
          <a:noFill/>
          <a:ln w="8890">
            <a:solidFill>
              <a:srgbClr val="BFD8FF">
                <a:alpha val="6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301984" y="2706624"/>
            <a:ext cx="54864" cy="54864"/>
          </a:xfrm>
          <a:prstGeom prst="ellipse">
            <a:avLst/>
          </a:prstGeom>
          <a:solidFill>
            <a:srgbClr val="FFFFFF">
              <a:alpha val="0"/>
            </a:srgbClr>
          </a:solidFill>
          <a:ln w="8890">
            <a:solidFill>
              <a:srgbClr val="BFD8FF">
                <a:alpha val="6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4592" y="1581912"/>
            <a:ext cx="502920" cy="0"/>
          </a:xfrm>
          <a:prstGeom prst="line">
            <a:avLst/>
          </a:prstGeom>
          <a:noFill/>
          <a:ln w="8890">
            <a:solidFill>
              <a:srgbClr val="BFD8FF">
                <a:alpha val="6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1545336"/>
            <a:ext cx="54864" cy="54864"/>
          </a:xfrm>
          <a:prstGeom prst="ellipse">
            <a:avLst/>
          </a:prstGeom>
          <a:solidFill>
            <a:srgbClr val="FFFFFF">
              <a:alpha val="0"/>
            </a:srgbClr>
          </a:solidFill>
          <a:ln w="8890">
            <a:solidFill>
              <a:srgbClr val="BFD8FF">
                <a:alpha val="6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384280" y="3182112"/>
            <a:ext cx="438912" cy="0"/>
          </a:xfrm>
          <a:prstGeom prst="line">
            <a:avLst/>
          </a:prstGeom>
          <a:noFill/>
          <a:ln w="8890">
            <a:solidFill>
              <a:srgbClr val="BFD8FF">
                <a:alpha val="6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301984" y="3145536"/>
            <a:ext cx="54864" cy="54864"/>
          </a:xfrm>
          <a:prstGeom prst="ellipse">
            <a:avLst/>
          </a:prstGeom>
          <a:solidFill>
            <a:srgbClr val="FFFFFF">
              <a:alpha val="0"/>
            </a:srgbClr>
          </a:solidFill>
          <a:ln w="8890">
            <a:solidFill>
              <a:srgbClr val="BFD8FF">
                <a:alpha val="6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64592" y="2020824"/>
            <a:ext cx="502920" cy="0"/>
          </a:xfrm>
          <a:prstGeom prst="line">
            <a:avLst/>
          </a:prstGeom>
          <a:noFill/>
          <a:ln w="8890">
            <a:solidFill>
              <a:srgbClr val="BFD8FF">
                <a:alpha val="62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5800" y="1984248"/>
            <a:ext cx="54864" cy="54864"/>
          </a:xfrm>
          <a:prstGeom prst="ellipse">
            <a:avLst/>
          </a:prstGeom>
          <a:solidFill>
            <a:srgbClr val="FFFFFF">
              <a:alpha val="0"/>
            </a:srgbClr>
          </a:solidFill>
          <a:ln w="8890">
            <a:solidFill>
              <a:srgbClr val="BFD8FF">
                <a:alpha val="6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384280" y="3621024"/>
            <a:ext cx="438912" cy="0"/>
          </a:xfrm>
          <a:prstGeom prst="line">
            <a:avLst/>
          </a:prstGeom>
          <a:noFill/>
          <a:ln w="8890">
            <a:solidFill>
              <a:srgbClr val="BFD8FF">
                <a:alpha val="6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301984" y="3584448"/>
            <a:ext cx="54864" cy="54864"/>
          </a:xfrm>
          <a:prstGeom prst="ellipse">
            <a:avLst/>
          </a:prstGeom>
          <a:solidFill>
            <a:srgbClr val="FFFFFF">
              <a:alpha val="0"/>
            </a:srgbClr>
          </a:solidFill>
          <a:ln w="8890">
            <a:solidFill>
              <a:srgbClr val="BFD8FF">
                <a:alpha val="6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331720" y="694944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450592" y="694944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569464" y="694944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688336" y="694944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807208" y="694944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926080" y="694944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31720" y="813816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450592" y="813816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569464" y="813816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688336" y="813816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807208" y="813816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926080" y="813816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331720" y="932688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450592" y="932688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569464" y="932688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688336" y="932688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807208" y="932688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2926080" y="932688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0058400" y="438912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dirty="0">
                <a:solidFill>
                  <a:srgbClr val="6EA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✦</a:t>
            </a:r>
            <a:endParaRPr lang="en-US" sz="2300" dirty="0"/>
          </a:p>
        </p:txBody>
      </p:sp>
      <p:sp>
        <p:nvSpPr>
          <p:cNvPr id="62" name="Text 60"/>
          <p:cNvSpPr/>
          <p:nvPr/>
        </p:nvSpPr>
        <p:spPr>
          <a:xfrm>
            <a:off x="640080" y="1444752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6E3FE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UI Aplikasi</a:t>
            </a:r>
            <a:endParaRPr lang="en-US" sz="4000" dirty="0"/>
          </a:p>
        </p:txBody>
      </p:sp>
      <p:sp>
        <p:nvSpPr>
          <p:cNvPr id="63" name="Shape 61"/>
          <p:cNvSpPr/>
          <p:nvPr/>
        </p:nvSpPr>
        <p:spPr>
          <a:xfrm>
            <a:off x="713232" y="2029968"/>
            <a:ext cx="3657600" cy="0"/>
          </a:xfrm>
          <a:prstGeom prst="line">
            <a:avLst/>
          </a:prstGeom>
          <a:noFill/>
          <a:ln w="20320">
            <a:solidFill>
              <a:srgbClr val="6E3FE5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13232" y="2304288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0B1F53"/>
                </a:solidFill>
              </a:rPr>
              <a:t>Tampilan antarmuka aplikasi Height Measurement yang sederhana, informatif, dan mudah digunakan.</a:t>
            </a:r>
            <a:endParaRPr lang="en-US" sz="1500" dirty="0"/>
          </a:p>
        </p:txBody>
      </p:sp>
      <p:sp>
        <p:nvSpPr>
          <p:cNvPr id="65" name="Shape 63"/>
          <p:cNvSpPr/>
          <p:nvPr/>
        </p:nvSpPr>
        <p:spPr>
          <a:xfrm>
            <a:off x="713232" y="3063240"/>
            <a:ext cx="457200" cy="457200"/>
          </a:xfrm>
          <a:prstGeom prst="ellipse">
            <a:avLst/>
          </a:prstGeom>
          <a:solidFill>
            <a:srgbClr val="6E3FE5"/>
          </a:solidFill>
          <a:ln w="12700">
            <a:solidFill>
              <a:srgbClr val="6E3FE5">
                <a:alpha val="0"/>
              </a:srgbClr>
            </a:solidFill>
            <a:prstDash val="solid"/>
          </a:ln>
          <a:effectLst>
            <a:outerShdw blurRad="12700" dist="50800" dir="2700000" algn="bl" rotWithShape="0">
              <a:srgbClr val="64748B">
                <a:alpha val="12000"/>
              </a:srgbClr>
            </a:outerShdw>
          </a:effectLst>
        </p:spPr>
      </p:sp>
      <p:sp>
        <p:nvSpPr>
          <p:cNvPr id="66" name="Text 64"/>
          <p:cNvSpPr/>
          <p:nvPr/>
        </p:nvSpPr>
        <p:spPr>
          <a:xfrm>
            <a:off x="713232" y="3072384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⌂</a:t>
            </a:r>
            <a:endParaRPr lang="en-US" sz="1300" dirty="0"/>
          </a:p>
        </p:txBody>
      </p:sp>
      <p:sp>
        <p:nvSpPr>
          <p:cNvPr id="67" name="Shape 65"/>
          <p:cNvSpPr/>
          <p:nvPr/>
        </p:nvSpPr>
        <p:spPr>
          <a:xfrm>
            <a:off x="1170432" y="3291840"/>
            <a:ext cx="502920" cy="0"/>
          </a:xfrm>
          <a:prstGeom prst="line">
            <a:avLst/>
          </a:prstGeom>
          <a:noFill/>
          <a:ln w="17780">
            <a:solidFill>
              <a:srgbClr val="6E3FE5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1691640" y="3017520"/>
            <a:ext cx="3154680" cy="54864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E2E8F7">
                <a:alpha val="90000"/>
              </a:srgbClr>
            </a:solidFill>
            <a:prstDash val="solid"/>
          </a:ln>
          <a:effectLst>
            <a:outerShdw blurRad="25400" dist="50800" dir="2700000" algn="bl" rotWithShape="0">
              <a:srgbClr val="94A3B8">
                <a:alpha val="14000"/>
              </a:srgbClr>
            </a:outerShdw>
          </a:effectLst>
        </p:spPr>
      </p:sp>
      <p:sp>
        <p:nvSpPr>
          <p:cNvPr id="69" name="Text 67"/>
          <p:cNvSpPr/>
          <p:nvPr/>
        </p:nvSpPr>
        <p:spPr>
          <a:xfrm>
            <a:off x="1901952" y="3099816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E3FE5"/>
                </a:solidFill>
              </a:rPr>
              <a:t>Menu utama aplikasi</a:t>
            </a:r>
            <a:endParaRPr lang="en-US" sz="1050" dirty="0"/>
          </a:p>
        </p:txBody>
      </p:sp>
      <p:sp>
        <p:nvSpPr>
          <p:cNvPr id="70" name="Text 68"/>
          <p:cNvSpPr/>
          <p:nvPr/>
        </p:nvSpPr>
        <p:spPr>
          <a:xfrm>
            <a:off x="1901952" y="3291840"/>
            <a:ext cx="2697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10" dirty="0">
                <a:solidFill>
                  <a:srgbClr val="0B1F53"/>
                </a:solidFill>
              </a:rPr>
              <a:t>Height Measurement</a:t>
            </a:r>
            <a:endParaRPr lang="en-US" sz="910" dirty="0"/>
          </a:p>
        </p:txBody>
      </p:sp>
      <p:sp>
        <p:nvSpPr>
          <p:cNvPr id="71" name="Shape 69"/>
          <p:cNvSpPr/>
          <p:nvPr/>
        </p:nvSpPr>
        <p:spPr>
          <a:xfrm>
            <a:off x="713232" y="3867912"/>
            <a:ext cx="457200" cy="457200"/>
          </a:xfrm>
          <a:prstGeom prst="ellipse">
            <a:avLst/>
          </a:prstGeom>
          <a:solidFill>
            <a:srgbClr val="6E3FE5"/>
          </a:solidFill>
          <a:ln w="12700">
            <a:solidFill>
              <a:srgbClr val="6E3FE5">
                <a:alpha val="0"/>
              </a:srgbClr>
            </a:solidFill>
            <a:prstDash val="solid"/>
          </a:ln>
          <a:effectLst>
            <a:outerShdw blurRad="12700" dist="50800" dir="2700000" algn="bl" rotWithShape="0">
              <a:srgbClr val="64748B">
                <a:alpha val="12000"/>
              </a:srgbClr>
            </a:outerShdw>
          </a:effectLst>
        </p:spPr>
      </p:sp>
      <p:sp>
        <p:nvSpPr>
          <p:cNvPr id="72" name="Text 70"/>
          <p:cNvSpPr/>
          <p:nvPr/>
        </p:nvSpPr>
        <p:spPr>
          <a:xfrm>
            <a:off x="713232" y="3877056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▦</a:t>
            </a:r>
            <a:endParaRPr lang="en-US" sz="1300" dirty="0"/>
          </a:p>
        </p:txBody>
      </p:sp>
      <p:sp>
        <p:nvSpPr>
          <p:cNvPr id="73" name="Shape 71"/>
          <p:cNvSpPr/>
          <p:nvPr/>
        </p:nvSpPr>
        <p:spPr>
          <a:xfrm>
            <a:off x="1170432" y="4096512"/>
            <a:ext cx="502920" cy="0"/>
          </a:xfrm>
          <a:prstGeom prst="line">
            <a:avLst/>
          </a:prstGeom>
          <a:noFill/>
          <a:ln w="17780">
            <a:solidFill>
              <a:srgbClr val="6E3FE5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1691640" y="3822192"/>
            <a:ext cx="3154680" cy="54864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E2E8F7">
                <a:alpha val="90000"/>
              </a:srgbClr>
            </a:solidFill>
            <a:prstDash val="solid"/>
          </a:ln>
          <a:effectLst>
            <a:outerShdw blurRad="25400" dist="50800" dir="2700000" algn="bl" rotWithShape="0">
              <a:srgbClr val="94A3B8">
                <a:alpha val="14000"/>
              </a:srgbClr>
            </a:outerShdw>
          </a:effectLst>
        </p:spPr>
      </p:sp>
      <p:sp>
        <p:nvSpPr>
          <p:cNvPr id="75" name="Text 73"/>
          <p:cNvSpPr/>
          <p:nvPr/>
        </p:nvSpPr>
        <p:spPr>
          <a:xfrm>
            <a:off x="1901952" y="3904488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E3FE5"/>
                </a:solidFill>
              </a:rPr>
              <a:t>Empat fitur utama</a:t>
            </a:r>
            <a:endParaRPr lang="en-US" sz="1050" dirty="0"/>
          </a:p>
        </p:txBody>
      </p:sp>
      <p:sp>
        <p:nvSpPr>
          <p:cNvPr id="76" name="Text 74"/>
          <p:cNvSpPr/>
          <p:nvPr/>
        </p:nvSpPr>
        <p:spPr>
          <a:xfrm>
            <a:off x="1901952" y="4096512"/>
            <a:ext cx="2697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0000" lnSpcReduction="20000"/>
          </a:bodyPr>
          <a:lstStyle/>
          <a:p>
            <a:pPr marL="0" indent="0">
              <a:buNone/>
            </a:pPr>
            <a:r>
              <a:rPr lang="en-US" sz="910" dirty="0">
                <a:solidFill>
                  <a:srgbClr val="0B1F53"/>
                </a:solidFill>
              </a:rPr>
              <a:t>Perspective Correction, MediaPipe Pose, Measurement, dan File Result</a:t>
            </a:r>
            <a:endParaRPr lang="en-US" sz="910" dirty="0"/>
          </a:p>
        </p:txBody>
      </p:sp>
      <p:sp>
        <p:nvSpPr>
          <p:cNvPr id="77" name="Shape 75"/>
          <p:cNvSpPr/>
          <p:nvPr/>
        </p:nvSpPr>
        <p:spPr>
          <a:xfrm>
            <a:off x="713232" y="4672584"/>
            <a:ext cx="457200" cy="457200"/>
          </a:xfrm>
          <a:prstGeom prst="ellipse">
            <a:avLst/>
          </a:prstGeom>
          <a:solidFill>
            <a:srgbClr val="6E3FE5"/>
          </a:solidFill>
          <a:ln w="12700">
            <a:solidFill>
              <a:srgbClr val="6E3FE5">
                <a:alpha val="0"/>
              </a:srgbClr>
            </a:solidFill>
            <a:prstDash val="solid"/>
          </a:ln>
          <a:effectLst>
            <a:outerShdw blurRad="12700" dist="50800" dir="2700000" algn="bl" rotWithShape="0">
              <a:srgbClr val="64748B">
                <a:alpha val="12000"/>
              </a:srgbClr>
            </a:outerShdw>
          </a:effectLst>
        </p:spPr>
      </p:sp>
      <p:sp>
        <p:nvSpPr>
          <p:cNvPr id="78" name="Text 76"/>
          <p:cNvSpPr/>
          <p:nvPr/>
        </p:nvSpPr>
        <p:spPr>
          <a:xfrm>
            <a:off x="713232" y="4681728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💡</a:t>
            </a:r>
            <a:endParaRPr lang="en-US" sz="1300" dirty="0"/>
          </a:p>
        </p:txBody>
      </p:sp>
      <p:sp>
        <p:nvSpPr>
          <p:cNvPr id="79" name="Shape 77"/>
          <p:cNvSpPr/>
          <p:nvPr/>
        </p:nvSpPr>
        <p:spPr>
          <a:xfrm>
            <a:off x="1170432" y="4901184"/>
            <a:ext cx="502920" cy="0"/>
          </a:xfrm>
          <a:prstGeom prst="line">
            <a:avLst/>
          </a:prstGeom>
          <a:noFill/>
          <a:ln w="17780">
            <a:solidFill>
              <a:srgbClr val="6E3FE5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1691640" y="4626864"/>
            <a:ext cx="3154680" cy="54864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E2E8F7">
                <a:alpha val="90000"/>
              </a:srgbClr>
            </a:solidFill>
            <a:prstDash val="solid"/>
          </a:ln>
          <a:effectLst>
            <a:outerShdw blurRad="25400" dist="50800" dir="2700000" algn="bl" rotWithShape="0">
              <a:srgbClr val="94A3B8">
                <a:alpha val="14000"/>
              </a:srgbClr>
            </a:outerShdw>
          </a:effectLst>
        </p:spPr>
      </p:sp>
      <p:sp>
        <p:nvSpPr>
          <p:cNvPr id="81" name="Text 79"/>
          <p:cNvSpPr/>
          <p:nvPr/>
        </p:nvSpPr>
        <p:spPr>
          <a:xfrm>
            <a:off x="1901952" y="4709160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E3FE5"/>
                </a:solidFill>
              </a:rPr>
              <a:t>Usage Tips</a:t>
            </a:r>
            <a:endParaRPr lang="en-US" sz="1050" dirty="0"/>
          </a:p>
        </p:txBody>
      </p:sp>
      <p:sp>
        <p:nvSpPr>
          <p:cNvPr id="82" name="Text 80"/>
          <p:cNvSpPr/>
          <p:nvPr/>
        </p:nvSpPr>
        <p:spPr>
          <a:xfrm>
            <a:off x="1901952" y="4901184"/>
            <a:ext cx="2697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10" dirty="0">
                <a:solidFill>
                  <a:srgbClr val="0B1F53"/>
                </a:solidFill>
              </a:rPr>
              <a:t>Membantu pengguna memahami fungsi tiap menu</a:t>
            </a:r>
            <a:endParaRPr lang="en-US" sz="910" dirty="0"/>
          </a:p>
        </p:txBody>
      </p: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9B8EE3FC-9F99-8129-BEF4-2E0620100542}"/>
              </a:ext>
            </a:extLst>
          </p:cNvPr>
          <p:cNvGrpSpPr/>
          <p:nvPr/>
        </p:nvGrpSpPr>
        <p:grpSpPr>
          <a:xfrm>
            <a:off x="3977640" y="256032"/>
            <a:ext cx="4251960" cy="713232"/>
            <a:chOff x="3977640" y="256032"/>
            <a:chExt cx="4251960" cy="713232"/>
          </a:xfrm>
        </p:grpSpPr>
        <p:sp>
          <p:nvSpPr>
            <p:cNvPr id="109" name="Shape 51">
              <a:extLst>
                <a:ext uri="{FF2B5EF4-FFF2-40B4-BE49-F238E27FC236}">
                  <a16:creationId xmlns:a16="http://schemas.microsoft.com/office/drawing/2014/main" id="{995F8BCD-E675-170F-4421-12F11E53D8E9}"/>
                </a:ext>
              </a:extLst>
            </p:cNvPr>
            <p:cNvSpPr/>
            <p:nvPr/>
          </p:nvSpPr>
          <p:spPr>
            <a:xfrm>
              <a:off x="3977640" y="256032"/>
              <a:ext cx="4251960" cy="713232"/>
            </a:xfrm>
            <a:prstGeom prst="roundRect">
              <a:avLst>
                <a:gd name="adj" fmla="val 17949"/>
              </a:avLst>
            </a:prstGeom>
            <a:solidFill>
              <a:srgbClr val="FFFFFF"/>
            </a:solidFill>
            <a:ln w="12700">
              <a:solidFill>
                <a:srgbClr val="E0E8F6">
                  <a:alpha val="85000"/>
                </a:srgbClr>
              </a:solidFill>
              <a:prstDash val="solid"/>
            </a:ln>
            <a:effectLst>
              <a:outerShdw blurRad="25400" dist="50800" dir="2700000" algn="bl" rotWithShape="0">
                <a:srgbClr val="97A6BF">
                  <a:alpha val="12000"/>
                </a:srgbClr>
              </a:outerShdw>
            </a:effectLst>
          </p:spPr>
        </p:sp>
        <p:sp>
          <p:nvSpPr>
            <p:cNvPr id="110" name="Text 54">
              <a:extLst>
                <a:ext uri="{FF2B5EF4-FFF2-40B4-BE49-F238E27FC236}">
                  <a16:creationId xmlns:a16="http://schemas.microsoft.com/office/drawing/2014/main" id="{2E563F00-211C-2868-9028-C8764050410E}"/>
                </a:ext>
              </a:extLst>
            </p:cNvPr>
            <p:cNvSpPr/>
            <p:nvPr/>
          </p:nvSpPr>
          <p:spPr>
            <a:xfrm>
              <a:off x="4727448" y="402336"/>
              <a:ext cx="114300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800" b="1" dirty="0">
                  <a:solidFill>
                    <a:srgbClr val="0B1F53"/>
                  </a:solidFill>
                  <a:latin typeface="Aptos Display" pitchFamily="34" charset="0"/>
                  <a:ea typeface="Aptos Display" pitchFamily="34" charset="-122"/>
                  <a:cs typeface="Aptos Display" pitchFamily="34" charset="-120"/>
                </a:rPr>
                <a:t>ITENAS</a:t>
              </a:r>
              <a:endParaRPr lang="en-US" sz="1800" dirty="0"/>
            </a:p>
          </p:txBody>
        </p:sp>
        <p:sp>
          <p:nvSpPr>
            <p:cNvPr id="111" name="Text 55">
              <a:extLst>
                <a:ext uri="{FF2B5EF4-FFF2-40B4-BE49-F238E27FC236}">
                  <a16:creationId xmlns:a16="http://schemas.microsoft.com/office/drawing/2014/main" id="{204A426E-A937-7C98-E6E3-CFEF84011923}"/>
                </a:ext>
              </a:extLst>
            </p:cNvPr>
            <p:cNvSpPr/>
            <p:nvPr/>
          </p:nvSpPr>
          <p:spPr>
            <a:xfrm>
              <a:off x="4736592" y="640080"/>
              <a:ext cx="123444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650" dirty="0">
                  <a:solidFill>
                    <a:srgbClr val="0B1F53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Institut Teknologi Nasional</a:t>
              </a:r>
              <a:endParaRPr lang="en-US" sz="650" dirty="0"/>
            </a:p>
            <a:p>
              <a:pPr marL="0" indent="0">
                <a:buNone/>
              </a:pPr>
              <a:r>
                <a:rPr lang="en-US" sz="650" dirty="0">
                  <a:solidFill>
                    <a:srgbClr val="0B1F53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Bandung</a:t>
              </a:r>
              <a:endParaRPr lang="en-US" sz="650" dirty="0"/>
            </a:p>
          </p:txBody>
        </p:sp>
        <p:sp>
          <p:nvSpPr>
            <p:cNvPr id="112" name="Shape 56">
              <a:extLst>
                <a:ext uri="{FF2B5EF4-FFF2-40B4-BE49-F238E27FC236}">
                  <a16:creationId xmlns:a16="http://schemas.microsoft.com/office/drawing/2014/main" id="{DB5D3DCB-AECB-405D-7FB9-CDEF7658BB85}"/>
                </a:ext>
              </a:extLst>
            </p:cNvPr>
            <p:cNvSpPr/>
            <p:nvPr/>
          </p:nvSpPr>
          <p:spPr>
            <a:xfrm>
              <a:off x="6126480" y="411480"/>
              <a:ext cx="0" cy="402336"/>
            </a:xfrm>
            <a:prstGeom prst="line">
              <a:avLst/>
            </a:prstGeom>
            <a:noFill/>
            <a:ln w="12700">
              <a:solidFill>
                <a:srgbClr val="B8C2E8"/>
              </a:solidFill>
              <a:prstDash val="solid"/>
            </a:ln>
          </p:spPr>
        </p:sp>
        <p:sp>
          <p:nvSpPr>
            <p:cNvPr id="113" name="Text 58">
              <a:extLst>
                <a:ext uri="{FF2B5EF4-FFF2-40B4-BE49-F238E27FC236}">
                  <a16:creationId xmlns:a16="http://schemas.microsoft.com/office/drawing/2014/main" id="{428FA39E-B3E2-689B-0D5B-7F0C723DA746}"/>
                </a:ext>
              </a:extLst>
            </p:cNvPr>
            <p:cNvSpPr/>
            <p:nvPr/>
          </p:nvSpPr>
          <p:spPr>
            <a:xfrm>
              <a:off x="6830568" y="457200"/>
              <a:ext cx="109728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700" b="1" dirty="0">
                  <a:solidFill>
                    <a:srgbClr val="C00000"/>
                  </a:solidFill>
                  <a:latin typeface="Aptos Display" pitchFamily="34" charset="0"/>
                  <a:ea typeface="Aptos Display" pitchFamily="34" charset="-122"/>
                  <a:cs typeface="Aptos Display" pitchFamily="34" charset="-120"/>
                </a:rPr>
                <a:t>Informatika</a:t>
              </a:r>
              <a:endParaRPr lang="en-US" sz="1700" dirty="0">
                <a:solidFill>
                  <a:srgbClr val="C00000"/>
                </a:solidFill>
              </a:endParaRPr>
            </a:p>
          </p:txBody>
        </p:sp>
        <p:pic>
          <p:nvPicPr>
            <p:cNvPr id="114" name="Picture 113">
              <a:extLst>
                <a:ext uri="{FF2B5EF4-FFF2-40B4-BE49-F238E27FC236}">
                  <a16:creationId xmlns:a16="http://schemas.microsoft.com/office/drawing/2014/main" id="{26605A9A-E75C-8525-A3D3-B7EBB20C6BA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34755" t="29153" r="36238" b="33855"/>
            <a:stretch>
              <a:fillRect/>
            </a:stretch>
          </p:blipFill>
          <p:spPr>
            <a:xfrm>
              <a:off x="6300861" y="396716"/>
              <a:ext cx="346827" cy="345948"/>
            </a:xfrm>
            <a:prstGeom prst="rect">
              <a:avLst/>
            </a:prstGeom>
          </p:spPr>
        </p:pic>
        <p:pic>
          <p:nvPicPr>
            <p:cNvPr id="115" name="Picture 114">
              <a:extLst>
                <a:ext uri="{FF2B5EF4-FFF2-40B4-BE49-F238E27FC236}">
                  <a16:creationId xmlns:a16="http://schemas.microsoft.com/office/drawing/2014/main" id="{CA4229F8-5C02-3E71-6139-2F5E117707B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133088" y="339090"/>
              <a:ext cx="565404" cy="565404"/>
            </a:xfrm>
            <a:prstGeom prst="rect">
              <a:avLst/>
            </a:prstGeom>
          </p:spPr>
        </p:pic>
      </p:grpSp>
      <p:pic>
        <p:nvPicPr>
          <p:cNvPr id="117" name="Picture 116">
            <a:extLst>
              <a:ext uri="{FF2B5EF4-FFF2-40B4-BE49-F238E27FC236}">
                <a16:creationId xmlns:a16="http://schemas.microsoft.com/office/drawing/2014/main" id="{EA419A6B-3257-BF88-F09C-908AC9B6790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77815" y="155448"/>
            <a:ext cx="3857625" cy="6858000"/>
          </a:xfrm>
          <a:prstGeom prst="rect">
            <a:avLst/>
          </a:prstGeom>
        </p:spPr>
      </p:pic>
      <p:pic>
        <p:nvPicPr>
          <p:cNvPr id="119" name="Picture 118">
            <a:extLst>
              <a:ext uri="{FF2B5EF4-FFF2-40B4-BE49-F238E27FC236}">
                <a16:creationId xmlns:a16="http://schemas.microsoft.com/office/drawing/2014/main" id="{B3B17B00-0259-306B-E56D-D68AFC856A9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03907" y="91440"/>
            <a:ext cx="3857625" cy="68580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A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9CA713A-CDBD-3F06-46FD-C5BC55DC5D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8BDE697-BB8D-7B79-EAB5-7D86C3C27F87}"/>
              </a:ext>
            </a:extLst>
          </p:cNvPr>
          <p:cNvSpPr/>
          <p:nvPr/>
        </p:nvSpPr>
        <p:spPr>
          <a:xfrm>
            <a:off x="73152" y="73152"/>
            <a:ext cx="1234440" cy="749808"/>
          </a:xfrm>
          <a:prstGeom prst="ellipse">
            <a:avLst/>
          </a:prstGeom>
          <a:solidFill>
            <a:srgbClr val="EEE9FF">
              <a:alpha val="8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ACA082E8-BD18-7937-B687-CFFFE7A234A1}"/>
              </a:ext>
            </a:extLst>
          </p:cNvPr>
          <p:cNvSpPr/>
          <p:nvPr/>
        </p:nvSpPr>
        <p:spPr>
          <a:xfrm>
            <a:off x="10588752" y="5897880"/>
            <a:ext cx="1261872" cy="658368"/>
          </a:xfrm>
          <a:prstGeom prst="ellipse">
            <a:avLst/>
          </a:prstGeom>
          <a:solidFill>
            <a:srgbClr val="E2F2FF">
              <a:alpha val="8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44B43BAE-F55A-46DB-D4B4-66194D80B64D}"/>
              </a:ext>
            </a:extLst>
          </p:cNvPr>
          <p:cNvSpPr/>
          <p:nvPr/>
        </p:nvSpPr>
        <p:spPr>
          <a:xfrm>
            <a:off x="164592" y="1143000"/>
            <a:ext cx="502920" cy="0"/>
          </a:xfrm>
          <a:prstGeom prst="line">
            <a:avLst/>
          </a:prstGeom>
          <a:noFill/>
          <a:ln w="8890">
            <a:solidFill>
              <a:srgbClr val="BFD8FF">
                <a:alpha val="62000"/>
              </a:srgbClr>
            </a:solidFill>
            <a:prstDash val="solid"/>
          </a:ln>
        </p:spPr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D5966928-2C19-A759-8037-A3FBEF5389FC}"/>
              </a:ext>
            </a:extLst>
          </p:cNvPr>
          <p:cNvSpPr/>
          <p:nvPr/>
        </p:nvSpPr>
        <p:spPr>
          <a:xfrm>
            <a:off x="685800" y="1106424"/>
            <a:ext cx="54864" cy="54864"/>
          </a:xfrm>
          <a:prstGeom prst="ellipse">
            <a:avLst/>
          </a:prstGeom>
          <a:solidFill>
            <a:srgbClr val="FFFFFF">
              <a:alpha val="0"/>
            </a:srgbClr>
          </a:solidFill>
          <a:ln w="8890">
            <a:solidFill>
              <a:srgbClr val="BFD8FF">
                <a:alpha val="65000"/>
              </a:srgbClr>
            </a:solidFill>
            <a:prstDash val="solid"/>
          </a:ln>
        </p:spPr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23201FE1-D46D-842D-9E63-65B042F8B083}"/>
              </a:ext>
            </a:extLst>
          </p:cNvPr>
          <p:cNvSpPr/>
          <p:nvPr/>
        </p:nvSpPr>
        <p:spPr>
          <a:xfrm>
            <a:off x="164592" y="1581912"/>
            <a:ext cx="502920" cy="0"/>
          </a:xfrm>
          <a:prstGeom prst="line">
            <a:avLst/>
          </a:prstGeom>
          <a:noFill/>
          <a:ln w="8890">
            <a:solidFill>
              <a:srgbClr val="BFD8FF">
                <a:alpha val="62000"/>
              </a:srgbClr>
            </a:solidFill>
            <a:prstDash val="solid"/>
          </a:ln>
        </p:spPr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937EB6C6-D7DD-5D93-F194-A5CA8BD196F8}"/>
              </a:ext>
            </a:extLst>
          </p:cNvPr>
          <p:cNvSpPr/>
          <p:nvPr/>
        </p:nvSpPr>
        <p:spPr>
          <a:xfrm>
            <a:off x="685800" y="1545336"/>
            <a:ext cx="54864" cy="54864"/>
          </a:xfrm>
          <a:prstGeom prst="ellipse">
            <a:avLst/>
          </a:prstGeom>
          <a:solidFill>
            <a:srgbClr val="FFFFFF">
              <a:alpha val="0"/>
            </a:srgbClr>
          </a:solidFill>
          <a:ln w="8890">
            <a:solidFill>
              <a:srgbClr val="BFD8FF">
                <a:alpha val="65000"/>
              </a:srgbClr>
            </a:solidFill>
            <a:prstDash val="solid"/>
          </a:ln>
        </p:spPr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8AECBDDA-14B0-B3BA-2EAC-6661D059F359}"/>
              </a:ext>
            </a:extLst>
          </p:cNvPr>
          <p:cNvSpPr/>
          <p:nvPr/>
        </p:nvSpPr>
        <p:spPr>
          <a:xfrm>
            <a:off x="164592" y="2020824"/>
            <a:ext cx="502920" cy="0"/>
          </a:xfrm>
          <a:prstGeom prst="line">
            <a:avLst/>
          </a:prstGeom>
          <a:noFill/>
          <a:ln w="8890">
            <a:solidFill>
              <a:srgbClr val="BFD8FF">
                <a:alpha val="62000"/>
              </a:srgbClr>
            </a:solidFill>
            <a:prstDash val="solid"/>
          </a:ln>
        </p:spPr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4282DCD8-4B0A-25BD-5841-56252D31E82C}"/>
              </a:ext>
            </a:extLst>
          </p:cNvPr>
          <p:cNvSpPr/>
          <p:nvPr/>
        </p:nvSpPr>
        <p:spPr>
          <a:xfrm>
            <a:off x="685800" y="1984248"/>
            <a:ext cx="54864" cy="54864"/>
          </a:xfrm>
          <a:prstGeom prst="ellipse">
            <a:avLst/>
          </a:prstGeom>
          <a:solidFill>
            <a:srgbClr val="FFFFFF">
              <a:alpha val="0"/>
            </a:srgbClr>
          </a:solidFill>
          <a:ln w="8890">
            <a:solidFill>
              <a:srgbClr val="BFD8FF">
                <a:alpha val="65000"/>
              </a:srgbClr>
            </a:solidFill>
            <a:prstDash val="solid"/>
          </a:ln>
        </p:spPr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716D2FB2-1D87-CC85-BFED-87BEA195D572}"/>
              </a:ext>
            </a:extLst>
          </p:cNvPr>
          <p:cNvSpPr/>
          <p:nvPr/>
        </p:nvSpPr>
        <p:spPr>
          <a:xfrm>
            <a:off x="2331720" y="694944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3B861BB7-0021-B3EE-266C-1C0B27FB2BF1}"/>
              </a:ext>
            </a:extLst>
          </p:cNvPr>
          <p:cNvSpPr/>
          <p:nvPr/>
        </p:nvSpPr>
        <p:spPr>
          <a:xfrm>
            <a:off x="2450592" y="694944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E7BD2E12-CBBF-7AA8-3EEB-12639D45ACC4}"/>
              </a:ext>
            </a:extLst>
          </p:cNvPr>
          <p:cNvSpPr/>
          <p:nvPr/>
        </p:nvSpPr>
        <p:spPr>
          <a:xfrm>
            <a:off x="2569464" y="694944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31DB21C4-A5C4-0E86-7AA8-FC123E947D90}"/>
              </a:ext>
            </a:extLst>
          </p:cNvPr>
          <p:cNvSpPr/>
          <p:nvPr/>
        </p:nvSpPr>
        <p:spPr>
          <a:xfrm>
            <a:off x="2688336" y="694944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CE945A99-87D2-19BE-DA3B-221F42ABC97F}"/>
              </a:ext>
            </a:extLst>
          </p:cNvPr>
          <p:cNvSpPr/>
          <p:nvPr/>
        </p:nvSpPr>
        <p:spPr>
          <a:xfrm>
            <a:off x="2807208" y="694944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49BE4E7D-27CA-CFA2-E9F4-2182C62A4157}"/>
              </a:ext>
            </a:extLst>
          </p:cNvPr>
          <p:cNvSpPr/>
          <p:nvPr/>
        </p:nvSpPr>
        <p:spPr>
          <a:xfrm>
            <a:off x="2926080" y="694944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E58378B4-5406-FDA3-8AF5-3EE2079323CD}"/>
              </a:ext>
            </a:extLst>
          </p:cNvPr>
          <p:cNvSpPr/>
          <p:nvPr/>
        </p:nvSpPr>
        <p:spPr>
          <a:xfrm>
            <a:off x="2331720" y="813816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0A3E06C1-E8D1-D15B-0521-B583A087E978}"/>
              </a:ext>
            </a:extLst>
          </p:cNvPr>
          <p:cNvSpPr/>
          <p:nvPr/>
        </p:nvSpPr>
        <p:spPr>
          <a:xfrm>
            <a:off x="2450592" y="813816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38F40126-050F-81D9-BB48-CEFFA72A0371}"/>
              </a:ext>
            </a:extLst>
          </p:cNvPr>
          <p:cNvSpPr/>
          <p:nvPr/>
        </p:nvSpPr>
        <p:spPr>
          <a:xfrm>
            <a:off x="2569464" y="813816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34" name="Shape 32">
            <a:extLst>
              <a:ext uri="{FF2B5EF4-FFF2-40B4-BE49-F238E27FC236}">
                <a16:creationId xmlns:a16="http://schemas.microsoft.com/office/drawing/2014/main" id="{8D98BC67-04AF-4AFF-8173-50481FE7316F}"/>
              </a:ext>
            </a:extLst>
          </p:cNvPr>
          <p:cNvSpPr/>
          <p:nvPr/>
        </p:nvSpPr>
        <p:spPr>
          <a:xfrm>
            <a:off x="2688336" y="813816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36" name="Shape 34">
            <a:extLst>
              <a:ext uri="{FF2B5EF4-FFF2-40B4-BE49-F238E27FC236}">
                <a16:creationId xmlns:a16="http://schemas.microsoft.com/office/drawing/2014/main" id="{76C31E50-07CC-D934-09A7-3BA5D49B368F}"/>
              </a:ext>
            </a:extLst>
          </p:cNvPr>
          <p:cNvSpPr/>
          <p:nvPr/>
        </p:nvSpPr>
        <p:spPr>
          <a:xfrm>
            <a:off x="2807208" y="813816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38" name="Shape 36">
            <a:extLst>
              <a:ext uri="{FF2B5EF4-FFF2-40B4-BE49-F238E27FC236}">
                <a16:creationId xmlns:a16="http://schemas.microsoft.com/office/drawing/2014/main" id="{EFA6F1A6-B1AF-EC3A-A6B4-5DFA083C44D3}"/>
              </a:ext>
            </a:extLst>
          </p:cNvPr>
          <p:cNvSpPr/>
          <p:nvPr/>
        </p:nvSpPr>
        <p:spPr>
          <a:xfrm>
            <a:off x="2926080" y="813816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40" name="Shape 38">
            <a:extLst>
              <a:ext uri="{FF2B5EF4-FFF2-40B4-BE49-F238E27FC236}">
                <a16:creationId xmlns:a16="http://schemas.microsoft.com/office/drawing/2014/main" id="{0AD5FBE8-3BFA-E7B7-B835-A6488450F229}"/>
              </a:ext>
            </a:extLst>
          </p:cNvPr>
          <p:cNvSpPr/>
          <p:nvPr/>
        </p:nvSpPr>
        <p:spPr>
          <a:xfrm>
            <a:off x="2331720" y="932688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42" name="Shape 40">
            <a:extLst>
              <a:ext uri="{FF2B5EF4-FFF2-40B4-BE49-F238E27FC236}">
                <a16:creationId xmlns:a16="http://schemas.microsoft.com/office/drawing/2014/main" id="{1985C946-DD25-5B1E-CE37-50F87DEC74BE}"/>
              </a:ext>
            </a:extLst>
          </p:cNvPr>
          <p:cNvSpPr/>
          <p:nvPr/>
        </p:nvSpPr>
        <p:spPr>
          <a:xfrm>
            <a:off x="2450592" y="932688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44" name="Shape 42">
            <a:extLst>
              <a:ext uri="{FF2B5EF4-FFF2-40B4-BE49-F238E27FC236}">
                <a16:creationId xmlns:a16="http://schemas.microsoft.com/office/drawing/2014/main" id="{6639984E-F989-8CA7-55E0-4789E52F7811}"/>
              </a:ext>
            </a:extLst>
          </p:cNvPr>
          <p:cNvSpPr/>
          <p:nvPr/>
        </p:nvSpPr>
        <p:spPr>
          <a:xfrm>
            <a:off x="2569464" y="932688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46" name="Shape 44">
            <a:extLst>
              <a:ext uri="{FF2B5EF4-FFF2-40B4-BE49-F238E27FC236}">
                <a16:creationId xmlns:a16="http://schemas.microsoft.com/office/drawing/2014/main" id="{E94B3FF2-E271-B01F-6B21-F8A717BE40D1}"/>
              </a:ext>
            </a:extLst>
          </p:cNvPr>
          <p:cNvSpPr/>
          <p:nvPr/>
        </p:nvSpPr>
        <p:spPr>
          <a:xfrm>
            <a:off x="2688336" y="932688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48" name="Shape 46">
            <a:extLst>
              <a:ext uri="{FF2B5EF4-FFF2-40B4-BE49-F238E27FC236}">
                <a16:creationId xmlns:a16="http://schemas.microsoft.com/office/drawing/2014/main" id="{F5EB619C-A66E-321F-8334-7D7B0FC6653E}"/>
              </a:ext>
            </a:extLst>
          </p:cNvPr>
          <p:cNvSpPr/>
          <p:nvPr/>
        </p:nvSpPr>
        <p:spPr>
          <a:xfrm>
            <a:off x="2807208" y="932688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50" name="Shape 48">
            <a:extLst>
              <a:ext uri="{FF2B5EF4-FFF2-40B4-BE49-F238E27FC236}">
                <a16:creationId xmlns:a16="http://schemas.microsoft.com/office/drawing/2014/main" id="{56AA2ACA-83C7-6242-BB94-C4DDFA2D5563}"/>
              </a:ext>
            </a:extLst>
          </p:cNvPr>
          <p:cNvSpPr/>
          <p:nvPr/>
        </p:nvSpPr>
        <p:spPr>
          <a:xfrm>
            <a:off x="2926080" y="932688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52" name="Text 50">
            <a:extLst>
              <a:ext uri="{FF2B5EF4-FFF2-40B4-BE49-F238E27FC236}">
                <a16:creationId xmlns:a16="http://schemas.microsoft.com/office/drawing/2014/main" id="{08FFEAF1-214F-0357-A513-D172E53B7282}"/>
              </a:ext>
            </a:extLst>
          </p:cNvPr>
          <p:cNvSpPr/>
          <p:nvPr/>
        </p:nvSpPr>
        <p:spPr>
          <a:xfrm>
            <a:off x="10058400" y="438912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dirty="0">
                <a:solidFill>
                  <a:srgbClr val="6EA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✦</a:t>
            </a:r>
            <a:endParaRPr lang="en-US" sz="2300" dirty="0"/>
          </a:p>
        </p:txBody>
      </p:sp>
      <p:sp>
        <p:nvSpPr>
          <p:cNvPr id="62" name="Shape 60">
            <a:extLst>
              <a:ext uri="{FF2B5EF4-FFF2-40B4-BE49-F238E27FC236}">
                <a16:creationId xmlns:a16="http://schemas.microsoft.com/office/drawing/2014/main" id="{73D67820-EDE4-BBBB-54EC-ECCF67395E01}"/>
              </a:ext>
            </a:extLst>
          </p:cNvPr>
          <p:cNvSpPr/>
          <p:nvPr/>
        </p:nvSpPr>
        <p:spPr>
          <a:xfrm>
            <a:off x="2834640" y="1243584"/>
            <a:ext cx="1645920" cy="0"/>
          </a:xfrm>
          <a:prstGeom prst="line">
            <a:avLst/>
          </a:prstGeom>
          <a:noFill/>
          <a:ln w="19050">
            <a:solidFill>
              <a:srgbClr val="6E3FE5"/>
            </a:solidFill>
            <a:prstDash val="solid"/>
          </a:ln>
        </p:spPr>
      </p:sp>
      <p:sp>
        <p:nvSpPr>
          <p:cNvPr id="63" name="Shape 61">
            <a:extLst>
              <a:ext uri="{FF2B5EF4-FFF2-40B4-BE49-F238E27FC236}">
                <a16:creationId xmlns:a16="http://schemas.microsoft.com/office/drawing/2014/main" id="{5C23D93E-B1B6-34AD-DA69-4EB9D6698D58}"/>
              </a:ext>
            </a:extLst>
          </p:cNvPr>
          <p:cNvSpPr/>
          <p:nvPr/>
        </p:nvSpPr>
        <p:spPr>
          <a:xfrm>
            <a:off x="2779776" y="1207008"/>
            <a:ext cx="73152" cy="73152"/>
          </a:xfrm>
          <a:prstGeom prst="ellipse">
            <a:avLst/>
          </a:prstGeom>
          <a:solidFill>
            <a:srgbClr val="6E3FE5"/>
          </a:solidFill>
          <a:ln w="12700">
            <a:solidFill>
              <a:srgbClr val="6E3FE5"/>
            </a:solidFill>
            <a:prstDash val="solid"/>
          </a:ln>
        </p:spPr>
      </p:sp>
      <p:sp>
        <p:nvSpPr>
          <p:cNvPr id="64" name="Shape 62">
            <a:extLst>
              <a:ext uri="{FF2B5EF4-FFF2-40B4-BE49-F238E27FC236}">
                <a16:creationId xmlns:a16="http://schemas.microsoft.com/office/drawing/2014/main" id="{EC2DCB09-B4AA-E04D-8856-9BA9FDEBF8E7}"/>
              </a:ext>
            </a:extLst>
          </p:cNvPr>
          <p:cNvSpPr/>
          <p:nvPr/>
        </p:nvSpPr>
        <p:spPr>
          <a:xfrm>
            <a:off x="7726680" y="1243584"/>
            <a:ext cx="1645920" cy="0"/>
          </a:xfrm>
          <a:prstGeom prst="line">
            <a:avLst/>
          </a:prstGeom>
          <a:noFill/>
          <a:ln w="19050">
            <a:solidFill>
              <a:srgbClr val="6E3FE5"/>
            </a:solidFill>
            <a:prstDash val="solid"/>
          </a:ln>
        </p:spPr>
      </p:sp>
      <p:sp>
        <p:nvSpPr>
          <p:cNvPr id="65" name="Shape 63">
            <a:extLst>
              <a:ext uri="{FF2B5EF4-FFF2-40B4-BE49-F238E27FC236}">
                <a16:creationId xmlns:a16="http://schemas.microsoft.com/office/drawing/2014/main" id="{B8250212-B516-6DDF-DDEF-FEB77D09995F}"/>
              </a:ext>
            </a:extLst>
          </p:cNvPr>
          <p:cNvSpPr/>
          <p:nvPr/>
        </p:nvSpPr>
        <p:spPr>
          <a:xfrm>
            <a:off x="9372600" y="1207008"/>
            <a:ext cx="73152" cy="73152"/>
          </a:xfrm>
          <a:prstGeom prst="ellipse">
            <a:avLst/>
          </a:prstGeom>
          <a:solidFill>
            <a:srgbClr val="6E3FE5"/>
          </a:solidFill>
          <a:ln w="12700">
            <a:solidFill>
              <a:srgbClr val="6E3FE5"/>
            </a:solidFill>
            <a:prstDash val="solid"/>
          </a:ln>
        </p:spPr>
      </p:sp>
      <p:sp>
        <p:nvSpPr>
          <p:cNvPr id="66" name="Text 64">
            <a:extLst>
              <a:ext uri="{FF2B5EF4-FFF2-40B4-BE49-F238E27FC236}">
                <a16:creationId xmlns:a16="http://schemas.microsoft.com/office/drawing/2014/main" id="{519C0A54-2173-48EC-C207-3EAA9EFD21B7}"/>
              </a:ext>
            </a:extLst>
          </p:cNvPr>
          <p:cNvSpPr/>
          <p:nvPr/>
        </p:nvSpPr>
        <p:spPr>
          <a:xfrm>
            <a:off x="4498848" y="1078992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6E3FE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SEMINAR HASIL</a:t>
            </a:r>
            <a:endParaRPr lang="en-US" sz="2500" dirty="0"/>
          </a:p>
        </p:txBody>
      </p:sp>
      <p:sp>
        <p:nvSpPr>
          <p:cNvPr id="67" name="Text 65">
            <a:extLst>
              <a:ext uri="{FF2B5EF4-FFF2-40B4-BE49-F238E27FC236}">
                <a16:creationId xmlns:a16="http://schemas.microsoft.com/office/drawing/2014/main" id="{89D4232F-05C2-D4C9-3DB0-A1CF3465B5D5}"/>
              </a:ext>
            </a:extLst>
          </p:cNvPr>
          <p:cNvSpPr/>
          <p:nvPr/>
        </p:nvSpPr>
        <p:spPr>
          <a:xfrm>
            <a:off x="594360" y="1444752"/>
            <a:ext cx="11018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3400" b="1" dirty="0" err="1">
                <a:solidFill>
                  <a:srgbClr val="0B1F53"/>
                </a:solidFill>
                <a:latin typeface="Aptos Display" pitchFamily="34" charset="0"/>
              </a:rPr>
              <a:t>Implementasi</a:t>
            </a:r>
            <a:r>
              <a:rPr lang="en-US" sz="3400" b="1" dirty="0">
                <a:solidFill>
                  <a:srgbClr val="0B1F53"/>
                </a:solidFill>
                <a:latin typeface="Aptos Display" pitchFamily="34" charset="0"/>
              </a:rPr>
              <a:t> pada </a:t>
            </a:r>
            <a:r>
              <a:rPr lang="en-US" sz="3400" b="1" dirty="0" err="1">
                <a:solidFill>
                  <a:srgbClr val="0B1F53"/>
                </a:solidFill>
                <a:latin typeface="Aptos Display" pitchFamily="34" charset="0"/>
              </a:rPr>
              <a:t>aplikasi</a:t>
            </a:r>
            <a:endParaRPr lang="en-US" sz="3400" b="1" dirty="0">
              <a:solidFill>
                <a:srgbClr val="0B1F53"/>
              </a:solidFill>
              <a:latin typeface="Aptos Display" pitchFamily="34" charset="0"/>
            </a:endParaRPr>
          </a:p>
        </p:txBody>
      </p: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534F7D60-35C7-2921-B2BC-4D970C5DFDD3}"/>
              </a:ext>
            </a:extLst>
          </p:cNvPr>
          <p:cNvGrpSpPr/>
          <p:nvPr/>
        </p:nvGrpSpPr>
        <p:grpSpPr>
          <a:xfrm>
            <a:off x="3977640" y="256032"/>
            <a:ext cx="4251960" cy="713232"/>
            <a:chOff x="3977640" y="256032"/>
            <a:chExt cx="4251960" cy="713232"/>
          </a:xfrm>
        </p:grpSpPr>
        <p:sp>
          <p:nvSpPr>
            <p:cNvPr id="103" name="Shape 51">
              <a:extLst>
                <a:ext uri="{FF2B5EF4-FFF2-40B4-BE49-F238E27FC236}">
                  <a16:creationId xmlns:a16="http://schemas.microsoft.com/office/drawing/2014/main" id="{16F1C0AC-6D0F-5BC1-BF63-31221C31FBCF}"/>
                </a:ext>
              </a:extLst>
            </p:cNvPr>
            <p:cNvSpPr/>
            <p:nvPr/>
          </p:nvSpPr>
          <p:spPr>
            <a:xfrm>
              <a:off x="3977640" y="256032"/>
              <a:ext cx="4251960" cy="713232"/>
            </a:xfrm>
            <a:prstGeom prst="roundRect">
              <a:avLst>
                <a:gd name="adj" fmla="val 17949"/>
              </a:avLst>
            </a:prstGeom>
            <a:solidFill>
              <a:srgbClr val="FFFFFF"/>
            </a:solidFill>
            <a:ln w="12700">
              <a:solidFill>
                <a:srgbClr val="E0E8F6">
                  <a:alpha val="85000"/>
                </a:srgbClr>
              </a:solidFill>
              <a:prstDash val="solid"/>
            </a:ln>
            <a:effectLst>
              <a:outerShdw blurRad="25400" dist="50800" dir="2700000" algn="bl" rotWithShape="0">
                <a:srgbClr val="97A6BF">
                  <a:alpha val="12000"/>
                </a:srgbClr>
              </a:outerShdw>
            </a:effectLst>
          </p:spPr>
        </p:sp>
        <p:sp>
          <p:nvSpPr>
            <p:cNvPr id="104" name="Text 54">
              <a:extLst>
                <a:ext uri="{FF2B5EF4-FFF2-40B4-BE49-F238E27FC236}">
                  <a16:creationId xmlns:a16="http://schemas.microsoft.com/office/drawing/2014/main" id="{8D9CC213-18EB-DB2A-8163-7D7A529DC2A5}"/>
                </a:ext>
              </a:extLst>
            </p:cNvPr>
            <p:cNvSpPr/>
            <p:nvPr/>
          </p:nvSpPr>
          <p:spPr>
            <a:xfrm>
              <a:off x="4727448" y="402336"/>
              <a:ext cx="114300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800" b="1" dirty="0">
                  <a:solidFill>
                    <a:srgbClr val="0B1F53"/>
                  </a:solidFill>
                  <a:latin typeface="Aptos Display" pitchFamily="34" charset="0"/>
                  <a:ea typeface="Aptos Display" pitchFamily="34" charset="-122"/>
                  <a:cs typeface="Aptos Display" pitchFamily="34" charset="-120"/>
                </a:rPr>
                <a:t>ITENAS</a:t>
              </a:r>
              <a:endParaRPr lang="en-US" sz="1800" dirty="0"/>
            </a:p>
          </p:txBody>
        </p:sp>
        <p:sp>
          <p:nvSpPr>
            <p:cNvPr id="105" name="Text 55">
              <a:extLst>
                <a:ext uri="{FF2B5EF4-FFF2-40B4-BE49-F238E27FC236}">
                  <a16:creationId xmlns:a16="http://schemas.microsoft.com/office/drawing/2014/main" id="{10925954-2F7A-2012-4019-07C66E96CF79}"/>
                </a:ext>
              </a:extLst>
            </p:cNvPr>
            <p:cNvSpPr/>
            <p:nvPr/>
          </p:nvSpPr>
          <p:spPr>
            <a:xfrm>
              <a:off x="4736592" y="640080"/>
              <a:ext cx="123444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650" dirty="0">
                  <a:solidFill>
                    <a:srgbClr val="0B1F53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Institut Teknologi Nasional</a:t>
              </a:r>
              <a:endParaRPr lang="en-US" sz="650" dirty="0"/>
            </a:p>
            <a:p>
              <a:pPr marL="0" indent="0">
                <a:buNone/>
              </a:pPr>
              <a:r>
                <a:rPr lang="en-US" sz="650" dirty="0">
                  <a:solidFill>
                    <a:srgbClr val="0B1F53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Bandung</a:t>
              </a:r>
              <a:endParaRPr lang="en-US" sz="650" dirty="0"/>
            </a:p>
          </p:txBody>
        </p:sp>
        <p:sp>
          <p:nvSpPr>
            <p:cNvPr id="106" name="Shape 56">
              <a:extLst>
                <a:ext uri="{FF2B5EF4-FFF2-40B4-BE49-F238E27FC236}">
                  <a16:creationId xmlns:a16="http://schemas.microsoft.com/office/drawing/2014/main" id="{A8DE7FFF-F426-82C5-DA85-FCE95D0759A6}"/>
                </a:ext>
              </a:extLst>
            </p:cNvPr>
            <p:cNvSpPr/>
            <p:nvPr/>
          </p:nvSpPr>
          <p:spPr>
            <a:xfrm>
              <a:off x="6126480" y="411480"/>
              <a:ext cx="0" cy="402336"/>
            </a:xfrm>
            <a:prstGeom prst="line">
              <a:avLst/>
            </a:prstGeom>
            <a:noFill/>
            <a:ln w="12700">
              <a:solidFill>
                <a:srgbClr val="B8C2E8"/>
              </a:solidFill>
              <a:prstDash val="solid"/>
            </a:ln>
          </p:spPr>
        </p:sp>
        <p:sp>
          <p:nvSpPr>
            <p:cNvPr id="107" name="Text 58">
              <a:extLst>
                <a:ext uri="{FF2B5EF4-FFF2-40B4-BE49-F238E27FC236}">
                  <a16:creationId xmlns:a16="http://schemas.microsoft.com/office/drawing/2014/main" id="{C631A713-CE4E-552D-A329-21C86D9F75E2}"/>
                </a:ext>
              </a:extLst>
            </p:cNvPr>
            <p:cNvSpPr/>
            <p:nvPr/>
          </p:nvSpPr>
          <p:spPr>
            <a:xfrm>
              <a:off x="6830568" y="457200"/>
              <a:ext cx="109728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700" b="1" dirty="0">
                  <a:solidFill>
                    <a:srgbClr val="C00000"/>
                  </a:solidFill>
                  <a:latin typeface="Aptos Display" pitchFamily="34" charset="0"/>
                  <a:ea typeface="Aptos Display" pitchFamily="34" charset="-122"/>
                  <a:cs typeface="Aptos Display" pitchFamily="34" charset="-120"/>
                </a:rPr>
                <a:t>Informatika</a:t>
              </a:r>
              <a:endParaRPr lang="en-US" sz="1700" dirty="0">
                <a:solidFill>
                  <a:srgbClr val="C00000"/>
                </a:solidFill>
              </a:endParaRPr>
            </a:p>
          </p:txBody>
        </p:sp>
        <p:pic>
          <p:nvPicPr>
            <p:cNvPr id="108" name="Picture 107">
              <a:extLst>
                <a:ext uri="{FF2B5EF4-FFF2-40B4-BE49-F238E27FC236}">
                  <a16:creationId xmlns:a16="http://schemas.microsoft.com/office/drawing/2014/main" id="{EFACB316-43F0-DCDB-3428-231C96581DB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l="34755" t="29153" r="36238" b="33855"/>
            <a:stretch>
              <a:fillRect/>
            </a:stretch>
          </p:blipFill>
          <p:spPr>
            <a:xfrm>
              <a:off x="6300861" y="396716"/>
              <a:ext cx="346827" cy="345948"/>
            </a:xfrm>
            <a:prstGeom prst="rect">
              <a:avLst/>
            </a:prstGeom>
          </p:spPr>
        </p:pic>
        <p:pic>
          <p:nvPicPr>
            <p:cNvPr id="109" name="Picture 108">
              <a:extLst>
                <a:ext uri="{FF2B5EF4-FFF2-40B4-BE49-F238E27FC236}">
                  <a16:creationId xmlns:a16="http://schemas.microsoft.com/office/drawing/2014/main" id="{B298DB26-D836-E1D0-A841-A4EC7054D12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4133088" y="339090"/>
              <a:ext cx="565404" cy="565404"/>
            </a:xfrm>
            <a:prstGeom prst="rect">
              <a:avLst/>
            </a:prstGeom>
          </p:spPr>
        </p:pic>
      </p:grpSp>
      <p:pic>
        <p:nvPicPr>
          <p:cNvPr id="54" name="Gray Minimalist Notification Spa Your Story  (1)">
            <a:hlinkClick r:id="" action="ppaction://media"/>
            <a:extLst>
              <a:ext uri="{FF2B5EF4-FFF2-40B4-BE49-F238E27FC236}">
                <a16:creationId xmlns:a16="http://schemas.microsoft.com/office/drawing/2014/main" id="{DFB14BC8-5CBE-18AD-A62E-A27EE9E0C457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1883838" y="2020824"/>
            <a:ext cx="2285651" cy="4063379"/>
          </a:xfrm>
          <a:prstGeom prst="rect">
            <a:avLst/>
          </a:prstGeom>
        </p:spPr>
      </p:pic>
      <p:pic>
        <p:nvPicPr>
          <p:cNvPr id="56" name="Gray Minimalist Notification Spa Your Story  (2)">
            <a:hlinkClick r:id="" action="ppaction://media"/>
            <a:extLst>
              <a:ext uri="{FF2B5EF4-FFF2-40B4-BE49-F238E27FC236}">
                <a16:creationId xmlns:a16="http://schemas.microsoft.com/office/drawing/2014/main" id="{0A12CBB3-D702-D8BE-67F5-6007CE65B097}"/>
              </a:ext>
            </a:extLst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5102352" y="2039126"/>
            <a:ext cx="2283714" cy="4059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8593771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4950" fill="hold"/>
                                        <p:tgtEl>
                                          <p:spTgt spid="5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50317" fill="hold"/>
                                        <p:tgtEl>
                                          <p:spTgt spid="5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1" fill="hold" display="0">
                  <p:stCondLst>
                    <p:cond delay="indefinite"/>
                  </p:stCondLst>
                </p:cTn>
                <p:tgtEl>
                  <p:spTgt spid="54"/>
                </p:tgtEl>
              </p:cMediaNode>
            </p:video>
            <p:seq concurrent="1" nextAc="seek">
              <p:cTn id="12" restart="whenNotActive" fill="hold" evtFilter="cancelBubble" nodeType="interactiveSeq">
                <p:stCondLst>
                  <p:cond evt="onClick" delay="0">
                    <p:tgtEl>
                      <p:spTgt spid="5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6" dur="1" fill="hold"/>
                                        <p:tgtEl>
                                          <p:spTgt spid="5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4"/>
                  </p:tgtEl>
                </p:cond>
              </p:nextCondLst>
            </p:seq>
            <p:video>
              <p:cMediaNode vol="80000">
                <p:cTn id="17" fill="hold" display="0">
                  <p:stCondLst>
                    <p:cond delay="indefinite"/>
                  </p:stCondLst>
                </p:cTn>
                <p:tgtEl>
                  <p:spTgt spid="56"/>
                </p:tgtEl>
              </p:cMediaNode>
            </p:video>
            <p:seq concurrent="1" nextAc="seek">
              <p:cTn id="18" restart="whenNotActive" fill="hold" evtFilter="cancelBubble" nodeType="interactiveSeq">
                <p:stCondLst>
                  <p:cond evt="onClick" delay="0">
                    <p:tgtEl>
                      <p:spTgt spid="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2" dur="1" fill="hold"/>
                                        <p:tgtEl>
                                          <p:spTgt spid="5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6"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73152"/>
            <a:ext cx="1234440" cy="749808"/>
          </a:xfrm>
          <a:prstGeom prst="ellipse">
            <a:avLst/>
          </a:prstGeom>
          <a:solidFill>
            <a:srgbClr val="EEE9FF">
              <a:alpha val="8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" y="1143000"/>
            <a:ext cx="502920" cy="0"/>
          </a:xfrm>
          <a:prstGeom prst="line">
            <a:avLst/>
          </a:prstGeom>
          <a:noFill/>
          <a:ln w="8890">
            <a:solidFill>
              <a:srgbClr val="BFD8FF">
                <a:alpha val="6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106424"/>
            <a:ext cx="54864" cy="54864"/>
          </a:xfrm>
          <a:prstGeom prst="ellipse">
            <a:avLst/>
          </a:prstGeom>
          <a:solidFill>
            <a:srgbClr val="FFFFFF">
              <a:alpha val="0"/>
            </a:srgbClr>
          </a:solidFill>
          <a:ln w="8890">
            <a:solidFill>
              <a:srgbClr val="BFD8FF">
                <a:alpha val="6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384280" y="2743200"/>
            <a:ext cx="438912" cy="0"/>
          </a:xfrm>
          <a:prstGeom prst="line">
            <a:avLst/>
          </a:prstGeom>
          <a:noFill/>
          <a:ln w="8890">
            <a:solidFill>
              <a:srgbClr val="BFD8FF">
                <a:alpha val="6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301984" y="2706624"/>
            <a:ext cx="54864" cy="54864"/>
          </a:xfrm>
          <a:prstGeom prst="ellipse">
            <a:avLst/>
          </a:prstGeom>
          <a:solidFill>
            <a:srgbClr val="FFFFFF">
              <a:alpha val="0"/>
            </a:srgbClr>
          </a:solidFill>
          <a:ln w="8890">
            <a:solidFill>
              <a:srgbClr val="BFD8FF">
                <a:alpha val="6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4592" y="1581912"/>
            <a:ext cx="502920" cy="0"/>
          </a:xfrm>
          <a:prstGeom prst="line">
            <a:avLst/>
          </a:prstGeom>
          <a:noFill/>
          <a:ln w="8890">
            <a:solidFill>
              <a:srgbClr val="BFD8FF">
                <a:alpha val="6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1545336"/>
            <a:ext cx="54864" cy="54864"/>
          </a:xfrm>
          <a:prstGeom prst="ellipse">
            <a:avLst/>
          </a:prstGeom>
          <a:solidFill>
            <a:srgbClr val="FFFFFF">
              <a:alpha val="0"/>
            </a:srgbClr>
          </a:solidFill>
          <a:ln w="8890">
            <a:solidFill>
              <a:srgbClr val="BFD8FF">
                <a:alpha val="6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384280" y="3182112"/>
            <a:ext cx="438912" cy="0"/>
          </a:xfrm>
          <a:prstGeom prst="line">
            <a:avLst/>
          </a:prstGeom>
          <a:noFill/>
          <a:ln w="8890">
            <a:solidFill>
              <a:srgbClr val="BFD8FF">
                <a:alpha val="6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301984" y="3145536"/>
            <a:ext cx="54864" cy="54864"/>
          </a:xfrm>
          <a:prstGeom prst="ellipse">
            <a:avLst/>
          </a:prstGeom>
          <a:solidFill>
            <a:srgbClr val="FFFFFF">
              <a:alpha val="0"/>
            </a:srgbClr>
          </a:solidFill>
          <a:ln w="8890">
            <a:solidFill>
              <a:srgbClr val="BFD8FF">
                <a:alpha val="6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64592" y="2020824"/>
            <a:ext cx="502920" cy="0"/>
          </a:xfrm>
          <a:prstGeom prst="line">
            <a:avLst/>
          </a:prstGeom>
          <a:noFill/>
          <a:ln w="8890">
            <a:solidFill>
              <a:srgbClr val="BFD8FF">
                <a:alpha val="62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5800" y="1984248"/>
            <a:ext cx="54864" cy="54864"/>
          </a:xfrm>
          <a:prstGeom prst="ellipse">
            <a:avLst/>
          </a:prstGeom>
          <a:solidFill>
            <a:srgbClr val="FFFFFF">
              <a:alpha val="0"/>
            </a:srgbClr>
          </a:solidFill>
          <a:ln w="8890">
            <a:solidFill>
              <a:srgbClr val="BFD8FF">
                <a:alpha val="6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384280" y="3621024"/>
            <a:ext cx="438912" cy="0"/>
          </a:xfrm>
          <a:prstGeom prst="line">
            <a:avLst/>
          </a:prstGeom>
          <a:noFill/>
          <a:ln w="8890">
            <a:solidFill>
              <a:srgbClr val="BFD8FF">
                <a:alpha val="6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301984" y="3584448"/>
            <a:ext cx="54864" cy="54864"/>
          </a:xfrm>
          <a:prstGeom prst="ellipse">
            <a:avLst/>
          </a:prstGeom>
          <a:solidFill>
            <a:srgbClr val="FFFFFF">
              <a:alpha val="0"/>
            </a:srgbClr>
          </a:solidFill>
          <a:ln w="8890">
            <a:solidFill>
              <a:srgbClr val="BFD8FF">
                <a:alpha val="6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331720" y="694944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450592" y="694944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569464" y="694944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688336" y="694944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807208" y="694944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926080" y="694944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31720" y="813816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450592" y="813816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569464" y="813816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688336" y="813816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807208" y="813816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926080" y="813816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331720" y="932688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450592" y="932688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569464" y="932688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688336" y="932688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807208" y="932688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2926080" y="932688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0058400" y="438912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dirty="0">
                <a:solidFill>
                  <a:srgbClr val="6EA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✦</a:t>
            </a:r>
            <a:endParaRPr lang="en-US" sz="2300" dirty="0"/>
          </a:p>
        </p:txBody>
      </p:sp>
      <p:sp>
        <p:nvSpPr>
          <p:cNvPr id="62" name="Shape 60"/>
          <p:cNvSpPr/>
          <p:nvPr/>
        </p:nvSpPr>
        <p:spPr>
          <a:xfrm>
            <a:off x="2834640" y="1243584"/>
            <a:ext cx="1645920" cy="0"/>
          </a:xfrm>
          <a:prstGeom prst="line">
            <a:avLst/>
          </a:prstGeom>
          <a:noFill/>
          <a:ln w="19050">
            <a:solidFill>
              <a:srgbClr val="6E3FE5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2779776" y="1207008"/>
            <a:ext cx="73152" cy="73152"/>
          </a:xfrm>
          <a:prstGeom prst="ellipse">
            <a:avLst/>
          </a:prstGeom>
          <a:solidFill>
            <a:srgbClr val="6E3FE5"/>
          </a:solidFill>
          <a:ln w="12700">
            <a:solidFill>
              <a:srgbClr val="6E3FE5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7726680" y="1243584"/>
            <a:ext cx="1645920" cy="0"/>
          </a:xfrm>
          <a:prstGeom prst="line">
            <a:avLst/>
          </a:prstGeom>
          <a:noFill/>
          <a:ln w="19050">
            <a:solidFill>
              <a:srgbClr val="6E3FE5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9372600" y="1207008"/>
            <a:ext cx="73152" cy="73152"/>
          </a:xfrm>
          <a:prstGeom prst="ellipse">
            <a:avLst/>
          </a:prstGeom>
          <a:solidFill>
            <a:srgbClr val="6E3FE5"/>
          </a:solidFill>
          <a:ln w="12700">
            <a:solidFill>
              <a:srgbClr val="6E3FE5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498848" y="1078992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6E3FE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SEMINAR HASIL</a:t>
            </a:r>
            <a:endParaRPr lang="en-US" sz="2500" dirty="0"/>
          </a:p>
        </p:txBody>
      </p:sp>
      <p:sp>
        <p:nvSpPr>
          <p:cNvPr id="67" name="Text 65"/>
          <p:cNvSpPr/>
          <p:nvPr/>
        </p:nvSpPr>
        <p:spPr>
          <a:xfrm>
            <a:off x="594360" y="1444752"/>
            <a:ext cx="11018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B1F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Kesimpulan</a:t>
            </a:r>
            <a:endParaRPr lang="en-US" sz="3400" dirty="0"/>
          </a:p>
        </p:txBody>
      </p:sp>
      <p:sp>
        <p:nvSpPr>
          <p:cNvPr id="68" name="Shape 66"/>
          <p:cNvSpPr/>
          <p:nvPr/>
        </p:nvSpPr>
        <p:spPr>
          <a:xfrm>
            <a:off x="1097280" y="2176272"/>
            <a:ext cx="9966960" cy="530352"/>
          </a:xfrm>
          <a:prstGeom prst="roundRect">
            <a:avLst>
              <a:gd name="adj" fmla="val 31034"/>
            </a:avLst>
          </a:prstGeom>
          <a:solidFill>
            <a:srgbClr val="FFFFFF"/>
          </a:solidFill>
          <a:ln w="12700">
            <a:solidFill>
              <a:srgbClr val="E2E8F7">
                <a:alpha val="90000"/>
              </a:srgbClr>
            </a:solidFill>
            <a:prstDash val="solid"/>
          </a:ln>
          <a:effectLst>
            <a:outerShdw blurRad="25400" dist="50800" dir="2700000" algn="bl" rotWithShape="0">
              <a:srgbClr val="94A3B8">
                <a:alpha val="14000"/>
              </a:srgbClr>
            </a:outerShdw>
          </a:effectLst>
        </p:spPr>
      </p:sp>
      <p:sp>
        <p:nvSpPr>
          <p:cNvPr id="69" name="Shape 67"/>
          <p:cNvSpPr/>
          <p:nvPr/>
        </p:nvSpPr>
        <p:spPr>
          <a:xfrm>
            <a:off x="1325880" y="2267712"/>
            <a:ext cx="310896" cy="310896"/>
          </a:xfrm>
          <a:prstGeom prst="ellipse">
            <a:avLst/>
          </a:prstGeom>
          <a:solidFill>
            <a:srgbClr val="6E3FE5"/>
          </a:solidFill>
          <a:ln w="12700">
            <a:solidFill>
              <a:srgbClr val="6E3FE5">
                <a:alpha val="0"/>
              </a:srgbClr>
            </a:solidFill>
            <a:prstDash val="solid"/>
          </a:ln>
          <a:effectLst>
            <a:outerShdw blurRad="12700" dist="50800" dir="2700000" algn="bl" rotWithShape="0">
              <a:srgbClr val="64748B">
                <a:alpha val="12000"/>
              </a:srgbClr>
            </a:outerShdw>
          </a:effectLst>
        </p:spPr>
      </p:sp>
      <p:sp>
        <p:nvSpPr>
          <p:cNvPr id="70" name="Text 68"/>
          <p:cNvSpPr/>
          <p:nvPr/>
        </p:nvSpPr>
        <p:spPr>
          <a:xfrm>
            <a:off x="1325880" y="2276856"/>
            <a:ext cx="310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✓</a:t>
            </a:r>
            <a:endParaRPr lang="en-US" sz="1300" dirty="0"/>
          </a:p>
        </p:txBody>
      </p:sp>
      <p:sp>
        <p:nvSpPr>
          <p:cNvPr id="71" name="Text 69"/>
          <p:cNvSpPr/>
          <p:nvPr/>
        </p:nvSpPr>
        <p:spPr>
          <a:xfrm>
            <a:off x="1874520" y="2304288"/>
            <a:ext cx="8549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0B1F53"/>
                </a:solidFill>
              </a:rPr>
              <a:t>Aplikasi Android berhasil mengintegrasikan ArUco marker, perspective correction, dan MediaPipe Pose untuk estimasi tinggi badan berbasis citra tubuh penuh.</a:t>
            </a:r>
            <a:endParaRPr lang="en-US" sz="1300" dirty="0"/>
          </a:p>
        </p:txBody>
      </p:sp>
      <p:sp>
        <p:nvSpPr>
          <p:cNvPr id="72" name="Shape 70"/>
          <p:cNvSpPr/>
          <p:nvPr/>
        </p:nvSpPr>
        <p:spPr>
          <a:xfrm>
            <a:off x="1097280" y="2980944"/>
            <a:ext cx="9966960" cy="530352"/>
          </a:xfrm>
          <a:prstGeom prst="roundRect">
            <a:avLst>
              <a:gd name="adj" fmla="val 31034"/>
            </a:avLst>
          </a:prstGeom>
          <a:solidFill>
            <a:srgbClr val="FFFFFF"/>
          </a:solidFill>
          <a:ln w="12700">
            <a:solidFill>
              <a:srgbClr val="E2E8F7">
                <a:alpha val="90000"/>
              </a:srgbClr>
            </a:solidFill>
            <a:prstDash val="solid"/>
          </a:ln>
          <a:effectLst>
            <a:outerShdw blurRad="25400" dist="50800" dir="2700000" algn="bl" rotWithShape="0">
              <a:srgbClr val="94A3B8">
                <a:alpha val="14000"/>
              </a:srgbClr>
            </a:outerShdw>
          </a:effectLst>
        </p:spPr>
      </p:sp>
      <p:sp>
        <p:nvSpPr>
          <p:cNvPr id="73" name="Shape 71"/>
          <p:cNvSpPr/>
          <p:nvPr/>
        </p:nvSpPr>
        <p:spPr>
          <a:xfrm>
            <a:off x="1325880" y="3072384"/>
            <a:ext cx="310896" cy="310896"/>
          </a:xfrm>
          <a:prstGeom prst="ellipse">
            <a:avLst/>
          </a:prstGeom>
          <a:solidFill>
            <a:srgbClr val="6E3FE5"/>
          </a:solidFill>
          <a:ln w="12700">
            <a:solidFill>
              <a:srgbClr val="6E3FE5">
                <a:alpha val="0"/>
              </a:srgbClr>
            </a:solidFill>
            <a:prstDash val="solid"/>
          </a:ln>
          <a:effectLst>
            <a:outerShdw blurRad="12700" dist="50800" dir="2700000" algn="bl" rotWithShape="0">
              <a:srgbClr val="64748B">
                <a:alpha val="12000"/>
              </a:srgbClr>
            </a:outerShdw>
          </a:effectLst>
        </p:spPr>
      </p:sp>
      <p:sp>
        <p:nvSpPr>
          <p:cNvPr id="74" name="Text 72"/>
          <p:cNvSpPr/>
          <p:nvPr/>
        </p:nvSpPr>
        <p:spPr>
          <a:xfrm>
            <a:off x="1325880" y="3081528"/>
            <a:ext cx="310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✓</a:t>
            </a:r>
            <a:endParaRPr lang="en-US" sz="1300" dirty="0"/>
          </a:p>
        </p:txBody>
      </p:sp>
      <p:sp>
        <p:nvSpPr>
          <p:cNvPr id="75" name="Text 73"/>
          <p:cNvSpPr/>
          <p:nvPr/>
        </p:nvSpPr>
        <p:spPr>
          <a:xfrm>
            <a:off x="1874520" y="3108960"/>
            <a:ext cx="8549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0B1F53"/>
                </a:solidFill>
              </a:rPr>
              <a:t>PX_PER_CELL = 120 dan koefisien top head 0,35/0,15 dipilih sebagai konfigurasi utama berdasarkan hasil pengujian.</a:t>
            </a:r>
            <a:endParaRPr lang="en-US" sz="1300" dirty="0"/>
          </a:p>
        </p:txBody>
      </p:sp>
      <p:sp>
        <p:nvSpPr>
          <p:cNvPr id="76" name="Shape 74"/>
          <p:cNvSpPr/>
          <p:nvPr/>
        </p:nvSpPr>
        <p:spPr>
          <a:xfrm>
            <a:off x="1097280" y="3785616"/>
            <a:ext cx="9966960" cy="530352"/>
          </a:xfrm>
          <a:prstGeom prst="roundRect">
            <a:avLst>
              <a:gd name="adj" fmla="val 31034"/>
            </a:avLst>
          </a:prstGeom>
          <a:solidFill>
            <a:srgbClr val="FFFFFF"/>
          </a:solidFill>
          <a:ln w="12700">
            <a:solidFill>
              <a:srgbClr val="E2E8F7">
                <a:alpha val="90000"/>
              </a:srgbClr>
            </a:solidFill>
            <a:prstDash val="solid"/>
          </a:ln>
          <a:effectLst>
            <a:outerShdw blurRad="25400" dist="50800" dir="2700000" algn="bl" rotWithShape="0">
              <a:srgbClr val="94A3B8">
                <a:alpha val="14000"/>
              </a:srgbClr>
            </a:outerShdw>
          </a:effectLst>
        </p:spPr>
      </p:sp>
      <p:sp>
        <p:nvSpPr>
          <p:cNvPr id="77" name="Shape 75"/>
          <p:cNvSpPr/>
          <p:nvPr/>
        </p:nvSpPr>
        <p:spPr>
          <a:xfrm>
            <a:off x="1325880" y="3877056"/>
            <a:ext cx="310896" cy="310896"/>
          </a:xfrm>
          <a:prstGeom prst="ellipse">
            <a:avLst/>
          </a:prstGeom>
          <a:solidFill>
            <a:srgbClr val="6E3FE5"/>
          </a:solidFill>
          <a:ln w="12700">
            <a:solidFill>
              <a:srgbClr val="6E3FE5">
                <a:alpha val="0"/>
              </a:srgbClr>
            </a:solidFill>
            <a:prstDash val="solid"/>
          </a:ln>
          <a:effectLst>
            <a:outerShdw blurRad="12700" dist="50800" dir="2700000" algn="bl" rotWithShape="0">
              <a:srgbClr val="64748B">
                <a:alpha val="12000"/>
              </a:srgbClr>
            </a:outerShdw>
          </a:effectLst>
        </p:spPr>
      </p:sp>
      <p:sp>
        <p:nvSpPr>
          <p:cNvPr id="78" name="Text 76"/>
          <p:cNvSpPr/>
          <p:nvPr/>
        </p:nvSpPr>
        <p:spPr>
          <a:xfrm>
            <a:off x="1325880" y="3886200"/>
            <a:ext cx="310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✓</a:t>
            </a:r>
            <a:endParaRPr lang="en-US" sz="1300" dirty="0"/>
          </a:p>
        </p:txBody>
      </p:sp>
      <p:sp>
        <p:nvSpPr>
          <p:cNvPr id="79" name="Text 77"/>
          <p:cNvSpPr/>
          <p:nvPr/>
        </p:nvSpPr>
        <p:spPr>
          <a:xfrm>
            <a:off x="1874520" y="3913632"/>
            <a:ext cx="8549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0B1F53"/>
                </a:solidFill>
              </a:rPr>
              <a:t>Pengujian terhadap 15 citra menghasilkan MAE 1,59 cm, galat minimum 0,1 cm, dan galat </a:t>
            </a:r>
            <a:r>
              <a:rPr lang="en-US" sz="1300" dirty="0" err="1">
                <a:solidFill>
                  <a:srgbClr val="0B1F53"/>
                </a:solidFill>
              </a:rPr>
              <a:t>maksimum</a:t>
            </a:r>
            <a:r>
              <a:rPr lang="en-US" sz="1300" dirty="0">
                <a:solidFill>
                  <a:srgbClr val="0B1F53"/>
                </a:solidFill>
              </a:rPr>
              <a:t> 4,9 cm.</a:t>
            </a:r>
            <a:endParaRPr lang="en-US" sz="1300" dirty="0"/>
          </a:p>
        </p:txBody>
      </p:sp>
      <p:sp>
        <p:nvSpPr>
          <p:cNvPr id="80" name="Shape 78"/>
          <p:cNvSpPr/>
          <p:nvPr/>
        </p:nvSpPr>
        <p:spPr>
          <a:xfrm>
            <a:off x="1097280" y="4590288"/>
            <a:ext cx="9966960" cy="530352"/>
          </a:xfrm>
          <a:prstGeom prst="roundRect">
            <a:avLst>
              <a:gd name="adj" fmla="val 31034"/>
            </a:avLst>
          </a:prstGeom>
          <a:solidFill>
            <a:srgbClr val="FFFFFF"/>
          </a:solidFill>
          <a:ln w="12700">
            <a:solidFill>
              <a:srgbClr val="E2E8F7">
                <a:alpha val="90000"/>
              </a:srgbClr>
            </a:solidFill>
            <a:prstDash val="solid"/>
          </a:ln>
          <a:effectLst>
            <a:outerShdw blurRad="25400" dist="50800" dir="2700000" algn="bl" rotWithShape="0">
              <a:srgbClr val="94A3B8">
                <a:alpha val="14000"/>
              </a:srgbClr>
            </a:outerShdw>
          </a:effectLst>
        </p:spPr>
      </p:sp>
      <p:sp>
        <p:nvSpPr>
          <p:cNvPr id="81" name="Shape 79"/>
          <p:cNvSpPr/>
          <p:nvPr/>
        </p:nvSpPr>
        <p:spPr>
          <a:xfrm>
            <a:off x="1325880" y="4681728"/>
            <a:ext cx="310896" cy="310896"/>
          </a:xfrm>
          <a:prstGeom prst="ellipse">
            <a:avLst/>
          </a:prstGeom>
          <a:solidFill>
            <a:srgbClr val="D73737"/>
          </a:solidFill>
          <a:ln w="12700">
            <a:solidFill>
              <a:srgbClr val="D73737">
                <a:alpha val="0"/>
              </a:srgbClr>
            </a:solidFill>
            <a:prstDash val="solid"/>
          </a:ln>
          <a:effectLst>
            <a:outerShdw blurRad="12700" dist="50800" dir="2700000" algn="bl" rotWithShape="0">
              <a:srgbClr val="64748B">
                <a:alpha val="12000"/>
              </a:srgbClr>
            </a:outerShdw>
          </a:effectLst>
        </p:spPr>
      </p:sp>
      <p:sp>
        <p:nvSpPr>
          <p:cNvPr id="82" name="Text 80"/>
          <p:cNvSpPr/>
          <p:nvPr/>
        </p:nvSpPr>
        <p:spPr>
          <a:xfrm>
            <a:off x="1325880" y="4690872"/>
            <a:ext cx="310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!</a:t>
            </a:r>
            <a:endParaRPr lang="en-US" sz="1300" dirty="0"/>
          </a:p>
        </p:txBody>
      </p:sp>
      <p:sp>
        <p:nvSpPr>
          <p:cNvPr id="83" name="Text 81"/>
          <p:cNvSpPr/>
          <p:nvPr/>
        </p:nvSpPr>
        <p:spPr>
          <a:xfrm>
            <a:off x="1874520" y="4718304"/>
            <a:ext cx="8549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0B1F53"/>
                </a:solidFill>
              </a:rPr>
              <a:t>Peningkatan robustness masih perlu diuji lebih lanjut pada </a:t>
            </a:r>
            <a:r>
              <a:rPr lang="en-US" sz="1300" dirty="0" err="1">
                <a:solidFill>
                  <a:srgbClr val="0B1F53"/>
                </a:solidFill>
              </a:rPr>
              <a:t>variasi</a:t>
            </a:r>
            <a:r>
              <a:rPr lang="en-US" sz="1300" dirty="0">
                <a:solidFill>
                  <a:srgbClr val="0B1F53"/>
                </a:solidFill>
              </a:rPr>
              <a:t> </a:t>
            </a:r>
            <a:r>
              <a:rPr lang="en-US" sz="1300" dirty="0" err="1">
                <a:solidFill>
                  <a:srgbClr val="0B1F53"/>
                </a:solidFill>
              </a:rPr>
              <a:t>pencahayaan</a:t>
            </a:r>
            <a:r>
              <a:rPr lang="en-US" sz="1300" dirty="0">
                <a:solidFill>
                  <a:srgbClr val="0B1F53"/>
                </a:solidFill>
              </a:rPr>
              <a:t> dan citra buram.</a:t>
            </a:r>
            <a:endParaRPr lang="en-US" sz="1300" dirty="0"/>
          </a:p>
        </p:txBody>
      </p: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48CB8D51-19BB-A447-9367-4297E9B44807}"/>
              </a:ext>
            </a:extLst>
          </p:cNvPr>
          <p:cNvGrpSpPr/>
          <p:nvPr/>
        </p:nvGrpSpPr>
        <p:grpSpPr>
          <a:xfrm>
            <a:off x="3977640" y="256032"/>
            <a:ext cx="4251960" cy="713232"/>
            <a:chOff x="3977640" y="256032"/>
            <a:chExt cx="4251960" cy="713232"/>
          </a:xfrm>
        </p:grpSpPr>
        <p:sp>
          <p:nvSpPr>
            <p:cNvPr id="102" name="Shape 51">
              <a:extLst>
                <a:ext uri="{FF2B5EF4-FFF2-40B4-BE49-F238E27FC236}">
                  <a16:creationId xmlns:a16="http://schemas.microsoft.com/office/drawing/2014/main" id="{1C05F8E3-FBE6-1E67-2563-7771653238CC}"/>
                </a:ext>
              </a:extLst>
            </p:cNvPr>
            <p:cNvSpPr/>
            <p:nvPr/>
          </p:nvSpPr>
          <p:spPr>
            <a:xfrm>
              <a:off x="3977640" y="256032"/>
              <a:ext cx="4251960" cy="713232"/>
            </a:xfrm>
            <a:prstGeom prst="roundRect">
              <a:avLst>
                <a:gd name="adj" fmla="val 17949"/>
              </a:avLst>
            </a:prstGeom>
            <a:solidFill>
              <a:srgbClr val="FFFFFF"/>
            </a:solidFill>
            <a:ln w="12700">
              <a:solidFill>
                <a:srgbClr val="E0E8F6">
                  <a:alpha val="85000"/>
                </a:srgbClr>
              </a:solidFill>
              <a:prstDash val="solid"/>
            </a:ln>
            <a:effectLst>
              <a:outerShdw blurRad="25400" dist="50800" dir="2700000" algn="bl" rotWithShape="0">
                <a:srgbClr val="97A6BF">
                  <a:alpha val="12000"/>
                </a:srgbClr>
              </a:outerShdw>
            </a:effectLst>
          </p:spPr>
        </p:sp>
        <p:sp>
          <p:nvSpPr>
            <p:cNvPr id="103" name="Text 54">
              <a:extLst>
                <a:ext uri="{FF2B5EF4-FFF2-40B4-BE49-F238E27FC236}">
                  <a16:creationId xmlns:a16="http://schemas.microsoft.com/office/drawing/2014/main" id="{72D24660-D775-7CBC-071A-7A29C3A374F7}"/>
                </a:ext>
              </a:extLst>
            </p:cNvPr>
            <p:cNvSpPr/>
            <p:nvPr/>
          </p:nvSpPr>
          <p:spPr>
            <a:xfrm>
              <a:off x="4727448" y="402336"/>
              <a:ext cx="114300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800" b="1" dirty="0">
                  <a:solidFill>
                    <a:srgbClr val="0B1F53"/>
                  </a:solidFill>
                  <a:latin typeface="Aptos Display" pitchFamily="34" charset="0"/>
                  <a:ea typeface="Aptos Display" pitchFamily="34" charset="-122"/>
                  <a:cs typeface="Aptos Display" pitchFamily="34" charset="-120"/>
                </a:rPr>
                <a:t>ITENAS</a:t>
              </a:r>
              <a:endParaRPr lang="en-US" sz="1800" dirty="0"/>
            </a:p>
          </p:txBody>
        </p:sp>
        <p:sp>
          <p:nvSpPr>
            <p:cNvPr id="104" name="Text 55">
              <a:extLst>
                <a:ext uri="{FF2B5EF4-FFF2-40B4-BE49-F238E27FC236}">
                  <a16:creationId xmlns:a16="http://schemas.microsoft.com/office/drawing/2014/main" id="{B593E7F5-CC6C-9758-D0E1-6C6BDEA9F5F1}"/>
                </a:ext>
              </a:extLst>
            </p:cNvPr>
            <p:cNvSpPr/>
            <p:nvPr/>
          </p:nvSpPr>
          <p:spPr>
            <a:xfrm>
              <a:off x="4736592" y="640080"/>
              <a:ext cx="123444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650" dirty="0">
                  <a:solidFill>
                    <a:srgbClr val="0B1F53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Institut Teknologi Nasional</a:t>
              </a:r>
              <a:endParaRPr lang="en-US" sz="650" dirty="0"/>
            </a:p>
            <a:p>
              <a:pPr marL="0" indent="0">
                <a:buNone/>
              </a:pPr>
              <a:r>
                <a:rPr lang="en-US" sz="650" dirty="0">
                  <a:solidFill>
                    <a:srgbClr val="0B1F53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Bandung</a:t>
              </a:r>
              <a:endParaRPr lang="en-US" sz="650" dirty="0"/>
            </a:p>
          </p:txBody>
        </p:sp>
        <p:sp>
          <p:nvSpPr>
            <p:cNvPr id="105" name="Shape 56">
              <a:extLst>
                <a:ext uri="{FF2B5EF4-FFF2-40B4-BE49-F238E27FC236}">
                  <a16:creationId xmlns:a16="http://schemas.microsoft.com/office/drawing/2014/main" id="{5816A3F4-4B9B-ED5D-8B98-D01EC251EF71}"/>
                </a:ext>
              </a:extLst>
            </p:cNvPr>
            <p:cNvSpPr/>
            <p:nvPr/>
          </p:nvSpPr>
          <p:spPr>
            <a:xfrm>
              <a:off x="6126480" y="411480"/>
              <a:ext cx="0" cy="402336"/>
            </a:xfrm>
            <a:prstGeom prst="line">
              <a:avLst/>
            </a:prstGeom>
            <a:noFill/>
            <a:ln w="12700">
              <a:solidFill>
                <a:srgbClr val="B8C2E8"/>
              </a:solidFill>
              <a:prstDash val="solid"/>
            </a:ln>
          </p:spPr>
        </p:sp>
        <p:sp>
          <p:nvSpPr>
            <p:cNvPr id="106" name="Text 58">
              <a:extLst>
                <a:ext uri="{FF2B5EF4-FFF2-40B4-BE49-F238E27FC236}">
                  <a16:creationId xmlns:a16="http://schemas.microsoft.com/office/drawing/2014/main" id="{2A01C273-3DA2-EC98-DD3E-3563A67CF7A6}"/>
                </a:ext>
              </a:extLst>
            </p:cNvPr>
            <p:cNvSpPr/>
            <p:nvPr/>
          </p:nvSpPr>
          <p:spPr>
            <a:xfrm>
              <a:off x="6830568" y="457200"/>
              <a:ext cx="109728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700" b="1" dirty="0">
                  <a:solidFill>
                    <a:srgbClr val="C00000"/>
                  </a:solidFill>
                  <a:latin typeface="Aptos Display" pitchFamily="34" charset="0"/>
                  <a:ea typeface="Aptos Display" pitchFamily="34" charset="-122"/>
                  <a:cs typeface="Aptos Display" pitchFamily="34" charset="-120"/>
                </a:rPr>
                <a:t>Informatika</a:t>
              </a:r>
              <a:endParaRPr lang="en-US" sz="1700" dirty="0">
                <a:solidFill>
                  <a:srgbClr val="C00000"/>
                </a:solidFill>
              </a:endParaRPr>
            </a:p>
          </p:txBody>
        </p:sp>
        <p:pic>
          <p:nvPicPr>
            <p:cNvPr id="107" name="Picture 106">
              <a:extLst>
                <a:ext uri="{FF2B5EF4-FFF2-40B4-BE49-F238E27FC236}">
                  <a16:creationId xmlns:a16="http://schemas.microsoft.com/office/drawing/2014/main" id="{F3DF6294-6763-88B6-4079-460C3072553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34755" t="29153" r="36238" b="33855"/>
            <a:stretch>
              <a:fillRect/>
            </a:stretch>
          </p:blipFill>
          <p:spPr>
            <a:xfrm>
              <a:off x="6300861" y="396716"/>
              <a:ext cx="346827" cy="345948"/>
            </a:xfrm>
            <a:prstGeom prst="rect">
              <a:avLst/>
            </a:prstGeom>
          </p:spPr>
        </p:pic>
        <p:pic>
          <p:nvPicPr>
            <p:cNvPr id="108" name="Picture 107">
              <a:extLst>
                <a:ext uri="{FF2B5EF4-FFF2-40B4-BE49-F238E27FC236}">
                  <a16:creationId xmlns:a16="http://schemas.microsoft.com/office/drawing/2014/main" id="{FC9FBE3F-DAC4-75DF-1698-C159E06F94D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133088" y="339090"/>
              <a:ext cx="565404" cy="565404"/>
            </a:xfrm>
            <a:prstGeom prst="rect">
              <a:avLst/>
            </a:prstGeom>
          </p:spPr>
        </p:pic>
      </p:grpSp>
    </p:spTree>
  </p:cSld>
  <p:clrMapOvr>
    <a:masterClrMapping/>
  </p:clrMapOvr>
  <p:transition spd="med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6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73152"/>
            <a:ext cx="1234440" cy="749808"/>
          </a:xfrm>
          <a:prstGeom prst="ellipse">
            <a:avLst/>
          </a:prstGeom>
          <a:solidFill>
            <a:srgbClr val="E2F2FF">
              <a:alpha val="8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588752" y="5897880"/>
            <a:ext cx="1261872" cy="658368"/>
          </a:xfrm>
          <a:prstGeom prst="ellipse">
            <a:avLst/>
          </a:prstGeom>
          <a:solidFill>
            <a:srgbClr val="EEE9FF">
              <a:alpha val="8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" y="1143000"/>
            <a:ext cx="502920" cy="0"/>
          </a:xfrm>
          <a:prstGeom prst="line">
            <a:avLst/>
          </a:prstGeom>
          <a:noFill/>
          <a:ln w="8890">
            <a:solidFill>
              <a:srgbClr val="BFD8FF">
                <a:alpha val="6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106424"/>
            <a:ext cx="54864" cy="54864"/>
          </a:xfrm>
          <a:prstGeom prst="ellipse">
            <a:avLst/>
          </a:prstGeom>
          <a:solidFill>
            <a:srgbClr val="FFFFFF">
              <a:alpha val="0"/>
            </a:srgbClr>
          </a:solidFill>
          <a:ln w="8890">
            <a:solidFill>
              <a:srgbClr val="BFD8FF">
                <a:alpha val="6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384280" y="2743200"/>
            <a:ext cx="438912" cy="0"/>
          </a:xfrm>
          <a:prstGeom prst="line">
            <a:avLst/>
          </a:prstGeom>
          <a:noFill/>
          <a:ln w="8890">
            <a:solidFill>
              <a:srgbClr val="BFD8FF">
                <a:alpha val="6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301984" y="2706624"/>
            <a:ext cx="54864" cy="54864"/>
          </a:xfrm>
          <a:prstGeom prst="ellipse">
            <a:avLst/>
          </a:prstGeom>
          <a:solidFill>
            <a:srgbClr val="FFFFFF">
              <a:alpha val="0"/>
            </a:srgbClr>
          </a:solidFill>
          <a:ln w="8890">
            <a:solidFill>
              <a:srgbClr val="BFD8FF">
                <a:alpha val="6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4592" y="1581912"/>
            <a:ext cx="502920" cy="0"/>
          </a:xfrm>
          <a:prstGeom prst="line">
            <a:avLst/>
          </a:prstGeom>
          <a:noFill/>
          <a:ln w="8890">
            <a:solidFill>
              <a:srgbClr val="BFD8FF">
                <a:alpha val="6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1545336"/>
            <a:ext cx="54864" cy="54864"/>
          </a:xfrm>
          <a:prstGeom prst="ellipse">
            <a:avLst/>
          </a:prstGeom>
          <a:solidFill>
            <a:srgbClr val="FFFFFF">
              <a:alpha val="0"/>
            </a:srgbClr>
          </a:solidFill>
          <a:ln w="8890">
            <a:solidFill>
              <a:srgbClr val="BFD8FF">
                <a:alpha val="6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384280" y="3182112"/>
            <a:ext cx="438912" cy="0"/>
          </a:xfrm>
          <a:prstGeom prst="line">
            <a:avLst/>
          </a:prstGeom>
          <a:noFill/>
          <a:ln w="8890">
            <a:solidFill>
              <a:srgbClr val="BFD8FF">
                <a:alpha val="6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301984" y="3145536"/>
            <a:ext cx="54864" cy="54864"/>
          </a:xfrm>
          <a:prstGeom prst="ellipse">
            <a:avLst/>
          </a:prstGeom>
          <a:solidFill>
            <a:srgbClr val="FFFFFF">
              <a:alpha val="0"/>
            </a:srgbClr>
          </a:solidFill>
          <a:ln w="8890">
            <a:solidFill>
              <a:srgbClr val="BFD8FF">
                <a:alpha val="6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64592" y="2020824"/>
            <a:ext cx="502920" cy="0"/>
          </a:xfrm>
          <a:prstGeom prst="line">
            <a:avLst/>
          </a:prstGeom>
          <a:noFill/>
          <a:ln w="8890">
            <a:solidFill>
              <a:srgbClr val="BFD8FF">
                <a:alpha val="62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5800" y="1984248"/>
            <a:ext cx="54864" cy="54864"/>
          </a:xfrm>
          <a:prstGeom prst="ellipse">
            <a:avLst/>
          </a:prstGeom>
          <a:solidFill>
            <a:srgbClr val="FFFFFF">
              <a:alpha val="0"/>
            </a:srgbClr>
          </a:solidFill>
          <a:ln w="8890">
            <a:solidFill>
              <a:srgbClr val="BFD8FF">
                <a:alpha val="6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384280" y="3621024"/>
            <a:ext cx="438912" cy="0"/>
          </a:xfrm>
          <a:prstGeom prst="line">
            <a:avLst/>
          </a:prstGeom>
          <a:noFill/>
          <a:ln w="8890">
            <a:solidFill>
              <a:srgbClr val="BFD8FF">
                <a:alpha val="6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301984" y="3584448"/>
            <a:ext cx="54864" cy="54864"/>
          </a:xfrm>
          <a:prstGeom prst="ellipse">
            <a:avLst/>
          </a:prstGeom>
          <a:solidFill>
            <a:srgbClr val="FFFFFF">
              <a:alpha val="0"/>
            </a:srgbClr>
          </a:solidFill>
          <a:ln w="8890">
            <a:solidFill>
              <a:srgbClr val="BFD8FF">
                <a:alpha val="6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331720" y="694944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744200" y="6153912"/>
            <a:ext cx="27432" cy="27432"/>
          </a:xfrm>
          <a:prstGeom prst="ellipse">
            <a:avLst/>
          </a:prstGeom>
          <a:solidFill>
            <a:srgbClr val="D7CBFF">
              <a:alpha val="65000"/>
            </a:srgbClr>
          </a:solidFill>
          <a:ln w="12700">
            <a:solidFill>
              <a:srgbClr val="D7CBFF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450592" y="694944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863072" y="6153912"/>
            <a:ext cx="27432" cy="27432"/>
          </a:xfrm>
          <a:prstGeom prst="ellipse">
            <a:avLst/>
          </a:prstGeom>
          <a:solidFill>
            <a:srgbClr val="D7CBFF">
              <a:alpha val="65000"/>
            </a:srgbClr>
          </a:solidFill>
          <a:ln w="12700">
            <a:solidFill>
              <a:srgbClr val="D7CBFF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569464" y="694944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981944" y="6153912"/>
            <a:ext cx="27432" cy="27432"/>
          </a:xfrm>
          <a:prstGeom prst="ellipse">
            <a:avLst/>
          </a:prstGeom>
          <a:solidFill>
            <a:srgbClr val="D7CBFF">
              <a:alpha val="65000"/>
            </a:srgbClr>
          </a:solidFill>
          <a:ln w="12700">
            <a:solidFill>
              <a:srgbClr val="D7CBFF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688336" y="694944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100816" y="6153912"/>
            <a:ext cx="27432" cy="27432"/>
          </a:xfrm>
          <a:prstGeom prst="ellipse">
            <a:avLst/>
          </a:prstGeom>
          <a:solidFill>
            <a:srgbClr val="D7CBFF">
              <a:alpha val="65000"/>
            </a:srgbClr>
          </a:solidFill>
          <a:ln w="12700">
            <a:solidFill>
              <a:srgbClr val="D7CBFF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807208" y="694944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219688" y="6153912"/>
            <a:ext cx="27432" cy="27432"/>
          </a:xfrm>
          <a:prstGeom prst="ellipse">
            <a:avLst/>
          </a:prstGeom>
          <a:solidFill>
            <a:srgbClr val="D7CBFF">
              <a:alpha val="65000"/>
            </a:srgbClr>
          </a:solidFill>
          <a:ln w="12700">
            <a:solidFill>
              <a:srgbClr val="D7CBFF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926080" y="694944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338560" y="6153912"/>
            <a:ext cx="27432" cy="27432"/>
          </a:xfrm>
          <a:prstGeom prst="ellipse">
            <a:avLst/>
          </a:prstGeom>
          <a:solidFill>
            <a:srgbClr val="D7CBFF">
              <a:alpha val="65000"/>
            </a:srgbClr>
          </a:solidFill>
          <a:ln w="12700">
            <a:solidFill>
              <a:srgbClr val="D7CBFF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31720" y="813816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450592" y="813816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569464" y="813816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688336" y="813816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807208" y="813816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926080" y="813816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331720" y="932688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450592" y="932688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569464" y="932688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688336" y="932688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807208" y="932688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2926080" y="932688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0058400" y="438912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dirty="0">
                <a:solidFill>
                  <a:srgbClr val="6EA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✦</a:t>
            </a:r>
            <a:endParaRPr lang="en-US" sz="2300" dirty="0"/>
          </a:p>
        </p:txBody>
      </p:sp>
      <p:sp>
        <p:nvSpPr>
          <p:cNvPr id="62" name="Text 60"/>
          <p:cNvSpPr/>
          <p:nvPr/>
        </p:nvSpPr>
        <p:spPr>
          <a:xfrm>
            <a:off x="1440180" y="2792299"/>
            <a:ext cx="9372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0B1F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TERIMA KASIH</a:t>
            </a:r>
            <a:endParaRPr lang="en-US" sz="5000" dirty="0"/>
          </a:p>
        </p:txBody>
      </p:sp>
      <p:sp>
        <p:nvSpPr>
          <p:cNvPr id="68" name="Text 66"/>
          <p:cNvSpPr/>
          <p:nvPr/>
        </p:nvSpPr>
        <p:spPr>
          <a:xfrm>
            <a:off x="4892040" y="5669280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F53"/>
                </a:solidFill>
              </a:rPr>
              <a:t>Khayla Giri Fitriani</a:t>
            </a:r>
            <a:endParaRPr lang="en-US" sz="1300" dirty="0"/>
          </a:p>
        </p:txBody>
      </p:sp>
      <p:sp>
        <p:nvSpPr>
          <p:cNvPr id="69" name="Text 67"/>
          <p:cNvSpPr/>
          <p:nvPr/>
        </p:nvSpPr>
        <p:spPr>
          <a:xfrm>
            <a:off x="3913632" y="5925312"/>
            <a:ext cx="4389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87385"/>
                </a:solidFill>
              </a:rPr>
              <a:t>Program Studi Informatika — Institut Teknologi Nasional Bandung</a:t>
            </a:r>
            <a:endParaRPr lang="en-US" sz="950" dirty="0"/>
          </a:p>
        </p:txBody>
      </p:sp>
      <p:grpSp>
        <p:nvGrpSpPr>
          <p:cNvPr id="72" name="Group 71">
            <a:extLst>
              <a:ext uri="{FF2B5EF4-FFF2-40B4-BE49-F238E27FC236}">
                <a16:creationId xmlns:a16="http://schemas.microsoft.com/office/drawing/2014/main" id="{D90315AB-55ED-4B86-DADB-FAB22E31269E}"/>
              </a:ext>
            </a:extLst>
          </p:cNvPr>
          <p:cNvGrpSpPr/>
          <p:nvPr/>
        </p:nvGrpSpPr>
        <p:grpSpPr>
          <a:xfrm>
            <a:off x="3977640" y="256032"/>
            <a:ext cx="4251960" cy="713232"/>
            <a:chOff x="3977640" y="256032"/>
            <a:chExt cx="4251960" cy="713232"/>
          </a:xfrm>
        </p:grpSpPr>
        <p:sp>
          <p:nvSpPr>
            <p:cNvPr id="73" name="Shape 51">
              <a:extLst>
                <a:ext uri="{FF2B5EF4-FFF2-40B4-BE49-F238E27FC236}">
                  <a16:creationId xmlns:a16="http://schemas.microsoft.com/office/drawing/2014/main" id="{492EE586-8E71-3450-6A69-9B084B73DEC0}"/>
                </a:ext>
              </a:extLst>
            </p:cNvPr>
            <p:cNvSpPr/>
            <p:nvPr/>
          </p:nvSpPr>
          <p:spPr>
            <a:xfrm>
              <a:off x="3977640" y="256032"/>
              <a:ext cx="4251960" cy="713232"/>
            </a:xfrm>
            <a:prstGeom prst="roundRect">
              <a:avLst>
                <a:gd name="adj" fmla="val 17949"/>
              </a:avLst>
            </a:prstGeom>
            <a:solidFill>
              <a:srgbClr val="FFFFFF"/>
            </a:solidFill>
            <a:ln w="12700">
              <a:solidFill>
                <a:srgbClr val="E0E8F6">
                  <a:alpha val="85000"/>
                </a:srgbClr>
              </a:solidFill>
              <a:prstDash val="solid"/>
            </a:ln>
            <a:effectLst>
              <a:outerShdw blurRad="25400" dist="50800" dir="2700000" algn="bl" rotWithShape="0">
                <a:srgbClr val="97A6BF">
                  <a:alpha val="12000"/>
                </a:srgbClr>
              </a:outerShdw>
            </a:effectLst>
          </p:spPr>
        </p:sp>
        <p:sp>
          <p:nvSpPr>
            <p:cNvPr id="74" name="Text 54">
              <a:extLst>
                <a:ext uri="{FF2B5EF4-FFF2-40B4-BE49-F238E27FC236}">
                  <a16:creationId xmlns:a16="http://schemas.microsoft.com/office/drawing/2014/main" id="{23F8130A-69D7-6D2B-86FA-11701077F851}"/>
                </a:ext>
              </a:extLst>
            </p:cNvPr>
            <p:cNvSpPr/>
            <p:nvPr/>
          </p:nvSpPr>
          <p:spPr>
            <a:xfrm>
              <a:off x="4727448" y="402336"/>
              <a:ext cx="114300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800" b="1" dirty="0">
                  <a:solidFill>
                    <a:srgbClr val="0B1F53"/>
                  </a:solidFill>
                  <a:latin typeface="Aptos Display" pitchFamily="34" charset="0"/>
                  <a:ea typeface="Aptos Display" pitchFamily="34" charset="-122"/>
                  <a:cs typeface="Aptos Display" pitchFamily="34" charset="-120"/>
                </a:rPr>
                <a:t>ITENAS</a:t>
              </a:r>
              <a:endParaRPr lang="en-US" sz="1800" dirty="0"/>
            </a:p>
          </p:txBody>
        </p:sp>
        <p:sp>
          <p:nvSpPr>
            <p:cNvPr id="75" name="Text 55">
              <a:extLst>
                <a:ext uri="{FF2B5EF4-FFF2-40B4-BE49-F238E27FC236}">
                  <a16:creationId xmlns:a16="http://schemas.microsoft.com/office/drawing/2014/main" id="{6F6D5309-DB49-C637-A045-E430163AD026}"/>
                </a:ext>
              </a:extLst>
            </p:cNvPr>
            <p:cNvSpPr/>
            <p:nvPr/>
          </p:nvSpPr>
          <p:spPr>
            <a:xfrm>
              <a:off x="4736592" y="640080"/>
              <a:ext cx="123444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650" dirty="0">
                  <a:solidFill>
                    <a:srgbClr val="0B1F53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Institut Teknologi Nasional</a:t>
              </a:r>
              <a:endParaRPr lang="en-US" sz="650" dirty="0"/>
            </a:p>
            <a:p>
              <a:pPr marL="0" indent="0">
                <a:buNone/>
              </a:pPr>
              <a:r>
                <a:rPr lang="en-US" sz="650" dirty="0">
                  <a:solidFill>
                    <a:srgbClr val="0B1F53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Bandung</a:t>
              </a:r>
              <a:endParaRPr lang="en-US" sz="650" dirty="0"/>
            </a:p>
          </p:txBody>
        </p:sp>
        <p:sp>
          <p:nvSpPr>
            <p:cNvPr id="76" name="Shape 56">
              <a:extLst>
                <a:ext uri="{FF2B5EF4-FFF2-40B4-BE49-F238E27FC236}">
                  <a16:creationId xmlns:a16="http://schemas.microsoft.com/office/drawing/2014/main" id="{7363D341-CC56-3596-8602-423ED3BD86DB}"/>
                </a:ext>
              </a:extLst>
            </p:cNvPr>
            <p:cNvSpPr/>
            <p:nvPr/>
          </p:nvSpPr>
          <p:spPr>
            <a:xfrm>
              <a:off x="6126480" y="411480"/>
              <a:ext cx="0" cy="402336"/>
            </a:xfrm>
            <a:prstGeom prst="line">
              <a:avLst/>
            </a:prstGeom>
            <a:noFill/>
            <a:ln w="12700">
              <a:solidFill>
                <a:srgbClr val="B8C2E8"/>
              </a:solidFill>
              <a:prstDash val="solid"/>
            </a:ln>
          </p:spPr>
        </p:sp>
        <p:sp>
          <p:nvSpPr>
            <p:cNvPr id="77" name="Text 58">
              <a:extLst>
                <a:ext uri="{FF2B5EF4-FFF2-40B4-BE49-F238E27FC236}">
                  <a16:creationId xmlns:a16="http://schemas.microsoft.com/office/drawing/2014/main" id="{75F25AE6-C972-5EA9-EB64-EDEDA552F6C3}"/>
                </a:ext>
              </a:extLst>
            </p:cNvPr>
            <p:cNvSpPr/>
            <p:nvPr/>
          </p:nvSpPr>
          <p:spPr>
            <a:xfrm>
              <a:off x="6830568" y="457200"/>
              <a:ext cx="109728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700" b="1" dirty="0">
                  <a:solidFill>
                    <a:srgbClr val="C00000"/>
                  </a:solidFill>
                  <a:latin typeface="Aptos Display" pitchFamily="34" charset="0"/>
                  <a:ea typeface="Aptos Display" pitchFamily="34" charset="-122"/>
                  <a:cs typeface="Aptos Display" pitchFamily="34" charset="-120"/>
                </a:rPr>
                <a:t>Informatika</a:t>
              </a:r>
              <a:endParaRPr lang="en-US" sz="1700" dirty="0">
                <a:solidFill>
                  <a:srgbClr val="C00000"/>
                </a:solidFill>
              </a:endParaRPr>
            </a:p>
          </p:txBody>
        </p:sp>
        <p:pic>
          <p:nvPicPr>
            <p:cNvPr id="78" name="Picture 77">
              <a:extLst>
                <a:ext uri="{FF2B5EF4-FFF2-40B4-BE49-F238E27FC236}">
                  <a16:creationId xmlns:a16="http://schemas.microsoft.com/office/drawing/2014/main" id="{9A8DC90E-1141-3F08-5738-EC95FBBFF57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34755" t="29153" r="36238" b="33855"/>
            <a:stretch>
              <a:fillRect/>
            </a:stretch>
          </p:blipFill>
          <p:spPr>
            <a:xfrm>
              <a:off x="6300861" y="396716"/>
              <a:ext cx="346827" cy="345948"/>
            </a:xfrm>
            <a:prstGeom prst="rect">
              <a:avLst/>
            </a:prstGeom>
          </p:spPr>
        </p:pic>
        <p:pic>
          <p:nvPicPr>
            <p:cNvPr id="79" name="Picture 78">
              <a:extLst>
                <a:ext uri="{FF2B5EF4-FFF2-40B4-BE49-F238E27FC236}">
                  <a16:creationId xmlns:a16="http://schemas.microsoft.com/office/drawing/2014/main" id="{73AFE4B0-DF4E-AEAF-9113-599AD3C688C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133088" y="339090"/>
              <a:ext cx="565404" cy="565404"/>
            </a:xfrm>
            <a:prstGeom prst="rect">
              <a:avLst/>
            </a:prstGeom>
          </p:spPr>
        </p:pic>
      </p:grpSp>
    </p:spTree>
  </p:cSld>
  <p:clrMapOvr>
    <a:masterClrMapping/>
  </p:clrMapOvr>
  <p:transition spd="med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6">
    <p:bg>
      <p:bgPr>
        <a:solidFill>
          <a:srgbClr val="F6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73152"/>
            <a:ext cx="1234440" cy="749808"/>
          </a:xfrm>
          <a:prstGeom prst="ellipse">
            <a:avLst/>
          </a:prstGeom>
          <a:solidFill>
            <a:srgbClr val="E2F2FF">
              <a:alpha val="8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588752" y="5897880"/>
            <a:ext cx="1261872" cy="658368"/>
          </a:xfrm>
          <a:prstGeom prst="ellipse">
            <a:avLst/>
          </a:prstGeom>
          <a:solidFill>
            <a:srgbClr val="EEE9FF">
              <a:alpha val="8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" y="1143000"/>
            <a:ext cx="502920" cy="0"/>
          </a:xfrm>
          <a:prstGeom prst="line">
            <a:avLst/>
          </a:prstGeom>
          <a:noFill/>
          <a:ln w="8890">
            <a:solidFill>
              <a:srgbClr val="BFD8FF">
                <a:alpha val="6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106424"/>
            <a:ext cx="54864" cy="54864"/>
          </a:xfrm>
          <a:prstGeom prst="ellipse">
            <a:avLst/>
          </a:prstGeom>
          <a:solidFill>
            <a:srgbClr val="FFFFFF">
              <a:alpha val="0"/>
            </a:srgbClr>
          </a:solidFill>
          <a:ln w="8890">
            <a:solidFill>
              <a:srgbClr val="BFD8FF">
                <a:alpha val="6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384280" y="2743200"/>
            <a:ext cx="438912" cy="0"/>
          </a:xfrm>
          <a:prstGeom prst="line">
            <a:avLst/>
          </a:prstGeom>
          <a:noFill/>
          <a:ln w="8890">
            <a:solidFill>
              <a:srgbClr val="BFD8FF">
                <a:alpha val="6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301984" y="2706624"/>
            <a:ext cx="54864" cy="54864"/>
          </a:xfrm>
          <a:prstGeom prst="ellipse">
            <a:avLst/>
          </a:prstGeom>
          <a:solidFill>
            <a:srgbClr val="FFFFFF">
              <a:alpha val="0"/>
            </a:srgbClr>
          </a:solidFill>
          <a:ln w="8890">
            <a:solidFill>
              <a:srgbClr val="BFD8FF">
                <a:alpha val="6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4592" y="1581912"/>
            <a:ext cx="502920" cy="0"/>
          </a:xfrm>
          <a:prstGeom prst="line">
            <a:avLst/>
          </a:prstGeom>
          <a:noFill/>
          <a:ln w="8890">
            <a:solidFill>
              <a:srgbClr val="BFD8FF">
                <a:alpha val="6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1545336"/>
            <a:ext cx="54864" cy="54864"/>
          </a:xfrm>
          <a:prstGeom prst="ellipse">
            <a:avLst/>
          </a:prstGeom>
          <a:solidFill>
            <a:srgbClr val="FFFFFF">
              <a:alpha val="0"/>
            </a:srgbClr>
          </a:solidFill>
          <a:ln w="8890">
            <a:solidFill>
              <a:srgbClr val="BFD8FF">
                <a:alpha val="6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384280" y="3182112"/>
            <a:ext cx="438912" cy="0"/>
          </a:xfrm>
          <a:prstGeom prst="line">
            <a:avLst/>
          </a:prstGeom>
          <a:noFill/>
          <a:ln w="8890">
            <a:solidFill>
              <a:srgbClr val="BFD8FF">
                <a:alpha val="6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301984" y="3145536"/>
            <a:ext cx="54864" cy="54864"/>
          </a:xfrm>
          <a:prstGeom prst="ellipse">
            <a:avLst/>
          </a:prstGeom>
          <a:solidFill>
            <a:srgbClr val="FFFFFF">
              <a:alpha val="0"/>
            </a:srgbClr>
          </a:solidFill>
          <a:ln w="8890">
            <a:solidFill>
              <a:srgbClr val="BFD8FF">
                <a:alpha val="6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64592" y="2020824"/>
            <a:ext cx="502920" cy="0"/>
          </a:xfrm>
          <a:prstGeom prst="line">
            <a:avLst/>
          </a:prstGeom>
          <a:noFill/>
          <a:ln w="8890">
            <a:solidFill>
              <a:srgbClr val="BFD8FF">
                <a:alpha val="62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5800" y="1984248"/>
            <a:ext cx="54864" cy="54864"/>
          </a:xfrm>
          <a:prstGeom prst="ellipse">
            <a:avLst/>
          </a:prstGeom>
          <a:solidFill>
            <a:srgbClr val="FFFFFF">
              <a:alpha val="0"/>
            </a:srgbClr>
          </a:solidFill>
          <a:ln w="8890">
            <a:solidFill>
              <a:srgbClr val="BFD8FF">
                <a:alpha val="6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384280" y="3621024"/>
            <a:ext cx="438912" cy="0"/>
          </a:xfrm>
          <a:prstGeom prst="line">
            <a:avLst/>
          </a:prstGeom>
          <a:noFill/>
          <a:ln w="8890">
            <a:solidFill>
              <a:srgbClr val="BFD8FF">
                <a:alpha val="6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301984" y="3584448"/>
            <a:ext cx="54864" cy="54864"/>
          </a:xfrm>
          <a:prstGeom prst="ellipse">
            <a:avLst/>
          </a:prstGeom>
          <a:solidFill>
            <a:srgbClr val="FFFFFF">
              <a:alpha val="0"/>
            </a:srgbClr>
          </a:solidFill>
          <a:ln w="8890">
            <a:solidFill>
              <a:srgbClr val="BFD8FF">
                <a:alpha val="6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331720" y="694944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744200" y="6153912"/>
            <a:ext cx="27432" cy="27432"/>
          </a:xfrm>
          <a:prstGeom prst="ellipse">
            <a:avLst/>
          </a:prstGeom>
          <a:solidFill>
            <a:srgbClr val="D7CBFF">
              <a:alpha val="65000"/>
            </a:srgbClr>
          </a:solidFill>
          <a:ln w="12700">
            <a:solidFill>
              <a:srgbClr val="D7CBFF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450592" y="694944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863072" y="6153912"/>
            <a:ext cx="27432" cy="27432"/>
          </a:xfrm>
          <a:prstGeom prst="ellipse">
            <a:avLst/>
          </a:prstGeom>
          <a:solidFill>
            <a:srgbClr val="D7CBFF">
              <a:alpha val="65000"/>
            </a:srgbClr>
          </a:solidFill>
          <a:ln w="12700">
            <a:solidFill>
              <a:srgbClr val="D7CBFF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569464" y="694944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981944" y="6153912"/>
            <a:ext cx="27432" cy="27432"/>
          </a:xfrm>
          <a:prstGeom prst="ellipse">
            <a:avLst/>
          </a:prstGeom>
          <a:solidFill>
            <a:srgbClr val="D7CBFF">
              <a:alpha val="65000"/>
            </a:srgbClr>
          </a:solidFill>
          <a:ln w="12700">
            <a:solidFill>
              <a:srgbClr val="D7CBFF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688336" y="694944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100816" y="6153912"/>
            <a:ext cx="27432" cy="27432"/>
          </a:xfrm>
          <a:prstGeom prst="ellipse">
            <a:avLst/>
          </a:prstGeom>
          <a:solidFill>
            <a:srgbClr val="D7CBFF">
              <a:alpha val="65000"/>
            </a:srgbClr>
          </a:solidFill>
          <a:ln w="12700">
            <a:solidFill>
              <a:srgbClr val="D7CBFF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807208" y="694944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219688" y="6153912"/>
            <a:ext cx="27432" cy="27432"/>
          </a:xfrm>
          <a:prstGeom prst="ellipse">
            <a:avLst/>
          </a:prstGeom>
          <a:solidFill>
            <a:srgbClr val="D7CBFF">
              <a:alpha val="65000"/>
            </a:srgbClr>
          </a:solidFill>
          <a:ln w="12700">
            <a:solidFill>
              <a:srgbClr val="D7CBFF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926080" y="694944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338560" y="6153912"/>
            <a:ext cx="27432" cy="27432"/>
          </a:xfrm>
          <a:prstGeom prst="ellipse">
            <a:avLst/>
          </a:prstGeom>
          <a:solidFill>
            <a:srgbClr val="D7CBFF">
              <a:alpha val="65000"/>
            </a:srgbClr>
          </a:solidFill>
          <a:ln w="12700">
            <a:solidFill>
              <a:srgbClr val="D7CBFF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31720" y="813816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744200" y="6272784"/>
            <a:ext cx="27432" cy="27432"/>
          </a:xfrm>
          <a:prstGeom prst="ellipse">
            <a:avLst/>
          </a:prstGeom>
          <a:solidFill>
            <a:srgbClr val="D7CBFF">
              <a:alpha val="65000"/>
            </a:srgbClr>
          </a:solidFill>
          <a:ln w="12700">
            <a:solidFill>
              <a:srgbClr val="D7CBFF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450592" y="813816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0863072" y="6272784"/>
            <a:ext cx="27432" cy="27432"/>
          </a:xfrm>
          <a:prstGeom prst="ellipse">
            <a:avLst/>
          </a:prstGeom>
          <a:solidFill>
            <a:srgbClr val="D7CBFF">
              <a:alpha val="65000"/>
            </a:srgbClr>
          </a:solidFill>
          <a:ln w="12700">
            <a:solidFill>
              <a:srgbClr val="D7CBFF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569464" y="813816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0981944" y="6272784"/>
            <a:ext cx="27432" cy="27432"/>
          </a:xfrm>
          <a:prstGeom prst="ellipse">
            <a:avLst/>
          </a:prstGeom>
          <a:solidFill>
            <a:srgbClr val="D7CBFF">
              <a:alpha val="65000"/>
            </a:srgbClr>
          </a:solidFill>
          <a:ln w="12700">
            <a:solidFill>
              <a:srgbClr val="D7CBFF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688336" y="813816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1100816" y="6272784"/>
            <a:ext cx="27432" cy="27432"/>
          </a:xfrm>
          <a:prstGeom prst="ellipse">
            <a:avLst/>
          </a:prstGeom>
          <a:solidFill>
            <a:srgbClr val="D7CBFF">
              <a:alpha val="65000"/>
            </a:srgbClr>
          </a:solidFill>
          <a:ln w="12700">
            <a:solidFill>
              <a:srgbClr val="D7CBFF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807208" y="813816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1219688" y="6272784"/>
            <a:ext cx="27432" cy="27432"/>
          </a:xfrm>
          <a:prstGeom prst="ellipse">
            <a:avLst/>
          </a:prstGeom>
          <a:solidFill>
            <a:srgbClr val="D7CBFF">
              <a:alpha val="65000"/>
            </a:srgbClr>
          </a:solidFill>
          <a:ln w="12700">
            <a:solidFill>
              <a:srgbClr val="D7CBFF">
                <a:alpha val="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926080" y="813816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1338560" y="6272784"/>
            <a:ext cx="27432" cy="27432"/>
          </a:xfrm>
          <a:prstGeom prst="ellipse">
            <a:avLst/>
          </a:prstGeom>
          <a:solidFill>
            <a:srgbClr val="D7CBFF">
              <a:alpha val="65000"/>
            </a:srgbClr>
          </a:solidFill>
          <a:ln w="12700">
            <a:solidFill>
              <a:srgbClr val="D7CBFF">
                <a:alpha val="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331720" y="932688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0744200" y="6391656"/>
            <a:ext cx="27432" cy="27432"/>
          </a:xfrm>
          <a:prstGeom prst="ellipse">
            <a:avLst/>
          </a:prstGeom>
          <a:solidFill>
            <a:srgbClr val="D7CBFF">
              <a:alpha val="65000"/>
            </a:srgbClr>
          </a:solidFill>
          <a:ln w="12700">
            <a:solidFill>
              <a:srgbClr val="D7CBFF">
                <a:alpha val="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450592" y="932688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0863072" y="6391656"/>
            <a:ext cx="27432" cy="27432"/>
          </a:xfrm>
          <a:prstGeom prst="ellipse">
            <a:avLst/>
          </a:prstGeom>
          <a:solidFill>
            <a:srgbClr val="D7CBFF">
              <a:alpha val="65000"/>
            </a:srgbClr>
          </a:solidFill>
          <a:ln w="12700">
            <a:solidFill>
              <a:srgbClr val="D7CBFF">
                <a:alpha val="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569464" y="932688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0981944" y="6391656"/>
            <a:ext cx="27432" cy="27432"/>
          </a:xfrm>
          <a:prstGeom prst="ellipse">
            <a:avLst/>
          </a:prstGeom>
          <a:solidFill>
            <a:srgbClr val="D7CBFF">
              <a:alpha val="65000"/>
            </a:srgbClr>
          </a:solidFill>
          <a:ln w="12700">
            <a:solidFill>
              <a:srgbClr val="D7CBFF">
                <a:alpha val="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688336" y="932688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1100816" y="6391656"/>
            <a:ext cx="27432" cy="27432"/>
          </a:xfrm>
          <a:prstGeom prst="ellipse">
            <a:avLst/>
          </a:prstGeom>
          <a:solidFill>
            <a:srgbClr val="D7CBFF">
              <a:alpha val="65000"/>
            </a:srgbClr>
          </a:solidFill>
          <a:ln w="12700">
            <a:solidFill>
              <a:srgbClr val="D7CBFF">
                <a:alpha val="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807208" y="932688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1219688" y="6391656"/>
            <a:ext cx="27432" cy="27432"/>
          </a:xfrm>
          <a:prstGeom prst="ellipse">
            <a:avLst/>
          </a:prstGeom>
          <a:solidFill>
            <a:srgbClr val="D7CBFF">
              <a:alpha val="65000"/>
            </a:srgbClr>
          </a:solidFill>
          <a:ln w="12700">
            <a:solidFill>
              <a:srgbClr val="D7CBFF">
                <a:alpha val="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2926080" y="932688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1338560" y="6391656"/>
            <a:ext cx="27432" cy="27432"/>
          </a:xfrm>
          <a:prstGeom prst="ellipse">
            <a:avLst/>
          </a:prstGeom>
          <a:solidFill>
            <a:srgbClr val="D7CBFF">
              <a:alpha val="65000"/>
            </a:srgbClr>
          </a:solidFill>
          <a:ln w="12700">
            <a:solidFill>
              <a:srgbClr val="D7CBFF">
                <a:alpha val="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0058400" y="438912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dirty="0">
                <a:solidFill>
                  <a:srgbClr val="6EA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✦</a:t>
            </a:r>
            <a:endParaRPr lang="en-US" sz="2300" dirty="0"/>
          </a:p>
        </p:txBody>
      </p:sp>
      <p:sp>
        <p:nvSpPr>
          <p:cNvPr id="62" name="Shape 60"/>
          <p:cNvSpPr/>
          <p:nvPr/>
        </p:nvSpPr>
        <p:spPr>
          <a:xfrm>
            <a:off x="2834640" y="1243584"/>
            <a:ext cx="1645920" cy="0"/>
          </a:xfrm>
          <a:prstGeom prst="line">
            <a:avLst/>
          </a:prstGeom>
          <a:noFill/>
          <a:ln w="19050">
            <a:solidFill>
              <a:srgbClr val="6E3FE5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2779776" y="1207008"/>
            <a:ext cx="73152" cy="73152"/>
          </a:xfrm>
          <a:prstGeom prst="ellipse">
            <a:avLst/>
          </a:prstGeom>
          <a:solidFill>
            <a:srgbClr val="6E3FE5"/>
          </a:solidFill>
          <a:ln w="12700">
            <a:solidFill>
              <a:srgbClr val="6E3FE5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7726680" y="1243584"/>
            <a:ext cx="1645920" cy="0"/>
          </a:xfrm>
          <a:prstGeom prst="line">
            <a:avLst/>
          </a:prstGeom>
          <a:noFill/>
          <a:ln w="19050">
            <a:solidFill>
              <a:srgbClr val="6E3FE5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9372600" y="1207008"/>
            <a:ext cx="73152" cy="73152"/>
          </a:xfrm>
          <a:prstGeom prst="ellipse">
            <a:avLst/>
          </a:prstGeom>
          <a:solidFill>
            <a:srgbClr val="6E3FE5"/>
          </a:solidFill>
          <a:ln w="12700">
            <a:solidFill>
              <a:srgbClr val="6E3FE5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498848" y="1078992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6E3FE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SEMINAR HASIL</a:t>
            </a:r>
            <a:endParaRPr lang="en-US" sz="2500" dirty="0"/>
          </a:p>
        </p:txBody>
      </p:sp>
      <p:sp>
        <p:nvSpPr>
          <p:cNvPr id="67" name="Text 65"/>
          <p:cNvSpPr/>
          <p:nvPr/>
        </p:nvSpPr>
        <p:spPr>
          <a:xfrm>
            <a:off x="594360" y="1444752"/>
            <a:ext cx="11018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B1F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Arah Penelitian di Masa Depan</a:t>
            </a:r>
            <a:endParaRPr lang="en-US" sz="3400" dirty="0"/>
          </a:p>
        </p:txBody>
      </p:sp>
      <p:sp>
        <p:nvSpPr>
          <p:cNvPr id="68" name="Shape 66"/>
          <p:cNvSpPr/>
          <p:nvPr/>
        </p:nvSpPr>
        <p:spPr>
          <a:xfrm>
            <a:off x="685800" y="2788920"/>
            <a:ext cx="2057400" cy="1874520"/>
          </a:xfrm>
          <a:prstGeom prst="roundRect">
            <a:avLst>
              <a:gd name="adj" fmla="val 8780"/>
            </a:avLst>
          </a:prstGeom>
          <a:solidFill>
            <a:srgbClr val="FFFFFF"/>
          </a:solidFill>
          <a:ln w="12700">
            <a:solidFill>
              <a:srgbClr val="E2E8F7">
                <a:alpha val="90000"/>
              </a:srgbClr>
            </a:solidFill>
            <a:prstDash val="solid"/>
          </a:ln>
          <a:effectLst>
            <a:outerShdw blurRad="25400" dist="50800" dir="2700000" algn="bl" rotWithShape="0">
              <a:srgbClr val="94A3B8">
                <a:alpha val="14000"/>
              </a:srgbClr>
            </a:outerShdw>
          </a:effectLst>
        </p:spPr>
      </p:sp>
      <p:sp>
        <p:nvSpPr>
          <p:cNvPr id="69" name="Shape 67"/>
          <p:cNvSpPr/>
          <p:nvPr/>
        </p:nvSpPr>
        <p:spPr>
          <a:xfrm>
            <a:off x="1435608" y="2532888"/>
            <a:ext cx="475488" cy="475488"/>
          </a:xfrm>
          <a:prstGeom prst="ellipse">
            <a:avLst/>
          </a:prstGeom>
          <a:solidFill>
            <a:srgbClr val="6E3FE5"/>
          </a:solidFill>
          <a:ln w="12700">
            <a:solidFill>
              <a:srgbClr val="6E3FE5">
                <a:alpha val="0"/>
              </a:srgbClr>
            </a:solidFill>
            <a:prstDash val="solid"/>
          </a:ln>
          <a:effectLst>
            <a:outerShdw blurRad="12700" dist="50800" dir="2700000" algn="bl" rotWithShape="0">
              <a:srgbClr val="64748B">
                <a:alpha val="12000"/>
              </a:srgbClr>
            </a:outerShdw>
          </a:effectLst>
        </p:spPr>
      </p:sp>
      <p:sp>
        <p:nvSpPr>
          <p:cNvPr id="70" name="Text 68"/>
          <p:cNvSpPr/>
          <p:nvPr/>
        </p:nvSpPr>
        <p:spPr>
          <a:xfrm>
            <a:off x="1435608" y="2542032"/>
            <a:ext cx="475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52" dirty="0">
                <a:solidFill>
                  <a:srgbClr val="FFFFFF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👥</a:t>
            </a:r>
            <a:endParaRPr lang="en-US" sz="1352" dirty="0"/>
          </a:p>
        </p:txBody>
      </p:sp>
      <p:sp>
        <p:nvSpPr>
          <p:cNvPr id="71" name="Shape 69"/>
          <p:cNvSpPr/>
          <p:nvPr/>
        </p:nvSpPr>
        <p:spPr>
          <a:xfrm>
            <a:off x="1508760" y="2267712"/>
            <a:ext cx="310896" cy="274320"/>
          </a:xfrm>
          <a:prstGeom prst="roundRect">
            <a:avLst>
              <a:gd name="adj" fmla="val 26667"/>
            </a:avLst>
          </a:prstGeom>
          <a:solidFill>
            <a:srgbClr val="6E3FE5"/>
          </a:solidFill>
          <a:ln w="12700">
            <a:solidFill>
              <a:srgbClr val="6E3FE5">
                <a:alpha val="90000"/>
              </a:srgbClr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1508760" y="2304288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00" dirty="0"/>
          </a:p>
        </p:txBody>
      </p:sp>
      <p:sp>
        <p:nvSpPr>
          <p:cNvPr id="73" name="Text 71"/>
          <p:cNvSpPr/>
          <p:nvPr/>
        </p:nvSpPr>
        <p:spPr>
          <a:xfrm>
            <a:off x="850392" y="3172968"/>
            <a:ext cx="17282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70" b="1" dirty="0">
                <a:solidFill>
                  <a:srgbClr val="6E3FE5"/>
                </a:solidFill>
              </a:rPr>
              <a:t>Deteksi multi-person</a:t>
            </a:r>
            <a:endParaRPr lang="en-US" sz="1270" dirty="0"/>
          </a:p>
        </p:txBody>
      </p:sp>
      <p:sp>
        <p:nvSpPr>
          <p:cNvPr id="74" name="Text 72"/>
          <p:cNvSpPr/>
          <p:nvPr/>
        </p:nvSpPr>
        <p:spPr>
          <a:xfrm>
            <a:off x="886968" y="3593592"/>
            <a:ext cx="16550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80" dirty="0">
                <a:solidFill>
                  <a:srgbClr val="0B1F53"/>
                </a:solidFill>
              </a:rPr>
              <a:t>Agar aplikasi tidak terbatas pada satu subjek.</a:t>
            </a:r>
            <a:endParaRPr lang="en-US" sz="980" dirty="0"/>
          </a:p>
        </p:txBody>
      </p:sp>
      <p:sp>
        <p:nvSpPr>
          <p:cNvPr id="75" name="Shape 73"/>
          <p:cNvSpPr/>
          <p:nvPr/>
        </p:nvSpPr>
        <p:spPr>
          <a:xfrm>
            <a:off x="2761488" y="3502152"/>
            <a:ext cx="201168" cy="0"/>
          </a:xfrm>
          <a:prstGeom prst="line">
            <a:avLst/>
          </a:prstGeom>
          <a:noFill/>
          <a:ln w="16510">
            <a:solidFill>
              <a:srgbClr val="6E3FE5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2944368" y="3438144"/>
            <a:ext cx="128016" cy="128016"/>
          </a:xfrm>
          <a:prstGeom prst="ellipse">
            <a:avLst/>
          </a:prstGeom>
          <a:solidFill>
            <a:srgbClr val="6E3FE5"/>
          </a:solidFill>
          <a:ln w="12700">
            <a:solidFill>
              <a:srgbClr val="6E3FE5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2971800" y="2788920"/>
            <a:ext cx="2057400" cy="1874520"/>
          </a:xfrm>
          <a:prstGeom prst="roundRect">
            <a:avLst>
              <a:gd name="adj" fmla="val 8780"/>
            </a:avLst>
          </a:prstGeom>
          <a:solidFill>
            <a:srgbClr val="FFFFFF"/>
          </a:solidFill>
          <a:ln w="12700">
            <a:solidFill>
              <a:srgbClr val="E2E8F7">
                <a:alpha val="90000"/>
              </a:srgbClr>
            </a:solidFill>
            <a:prstDash val="solid"/>
          </a:ln>
          <a:effectLst>
            <a:outerShdw blurRad="25400" dist="50800" dir="2700000" algn="bl" rotWithShape="0">
              <a:srgbClr val="94A3B8">
                <a:alpha val="14000"/>
              </a:srgbClr>
            </a:outerShdw>
          </a:effectLst>
        </p:spPr>
      </p:sp>
      <p:sp>
        <p:nvSpPr>
          <p:cNvPr id="78" name="Shape 76"/>
          <p:cNvSpPr/>
          <p:nvPr/>
        </p:nvSpPr>
        <p:spPr>
          <a:xfrm>
            <a:off x="3721608" y="2532888"/>
            <a:ext cx="475488" cy="475488"/>
          </a:xfrm>
          <a:prstGeom prst="ellipse">
            <a:avLst/>
          </a:prstGeom>
          <a:solidFill>
            <a:srgbClr val="4AA3FF"/>
          </a:solidFill>
          <a:ln w="12700">
            <a:solidFill>
              <a:srgbClr val="4AA3FF">
                <a:alpha val="0"/>
              </a:srgbClr>
            </a:solidFill>
            <a:prstDash val="solid"/>
          </a:ln>
          <a:effectLst>
            <a:outerShdw blurRad="12700" dist="50800" dir="2700000" algn="bl" rotWithShape="0">
              <a:srgbClr val="64748B">
                <a:alpha val="12000"/>
              </a:srgbClr>
            </a:outerShdw>
          </a:effectLst>
        </p:spPr>
      </p:sp>
      <p:sp>
        <p:nvSpPr>
          <p:cNvPr id="79" name="Text 77"/>
          <p:cNvSpPr/>
          <p:nvPr/>
        </p:nvSpPr>
        <p:spPr>
          <a:xfrm>
            <a:off x="3721608" y="2542032"/>
            <a:ext cx="475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52" dirty="0">
                <a:solidFill>
                  <a:srgbClr val="FFFFFF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📷</a:t>
            </a:r>
            <a:endParaRPr lang="en-US" sz="1352" dirty="0"/>
          </a:p>
        </p:txBody>
      </p:sp>
      <p:sp>
        <p:nvSpPr>
          <p:cNvPr id="80" name="Shape 78"/>
          <p:cNvSpPr/>
          <p:nvPr/>
        </p:nvSpPr>
        <p:spPr>
          <a:xfrm>
            <a:off x="3794760" y="2267712"/>
            <a:ext cx="310896" cy="274320"/>
          </a:xfrm>
          <a:prstGeom prst="roundRect">
            <a:avLst>
              <a:gd name="adj" fmla="val 26667"/>
            </a:avLst>
          </a:prstGeom>
          <a:solidFill>
            <a:srgbClr val="6E3FE5"/>
          </a:solidFill>
          <a:ln w="12700">
            <a:solidFill>
              <a:srgbClr val="6E3FE5">
                <a:alpha val="90000"/>
              </a:srgbClr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3794760" y="2304288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000" dirty="0"/>
          </a:p>
        </p:txBody>
      </p:sp>
      <p:sp>
        <p:nvSpPr>
          <p:cNvPr id="82" name="Text 80"/>
          <p:cNvSpPr/>
          <p:nvPr/>
        </p:nvSpPr>
        <p:spPr>
          <a:xfrm>
            <a:off x="3136392" y="3172968"/>
            <a:ext cx="17282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70" b="1" dirty="0">
                <a:solidFill>
                  <a:srgbClr val="6E3FE5"/>
                </a:solidFill>
              </a:rPr>
              <a:t>Estimasi jarak otomatis</a:t>
            </a:r>
            <a:endParaRPr lang="en-US" sz="1270" dirty="0"/>
          </a:p>
        </p:txBody>
      </p:sp>
      <p:sp>
        <p:nvSpPr>
          <p:cNvPr id="83" name="Text 81"/>
          <p:cNvSpPr/>
          <p:nvPr/>
        </p:nvSpPr>
        <p:spPr>
          <a:xfrm>
            <a:off x="3172968" y="3593592"/>
            <a:ext cx="16550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80" dirty="0">
                <a:solidFill>
                  <a:srgbClr val="0B1F53"/>
                </a:solidFill>
              </a:rPr>
              <a:t>Meningkatkan akurasi koreksi kedalaman.</a:t>
            </a:r>
            <a:endParaRPr lang="en-US" sz="980" dirty="0"/>
          </a:p>
        </p:txBody>
      </p:sp>
      <p:sp>
        <p:nvSpPr>
          <p:cNvPr id="84" name="Shape 82"/>
          <p:cNvSpPr/>
          <p:nvPr/>
        </p:nvSpPr>
        <p:spPr>
          <a:xfrm>
            <a:off x="5047488" y="3502152"/>
            <a:ext cx="201168" cy="0"/>
          </a:xfrm>
          <a:prstGeom prst="line">
            <a:avLst/>
          </a:prstGeom>
          <a:noFill/>
          <a:ln w="16510">
            <a:solidFill>
              <a:srgbClr val="6E3FE5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5230368" y="3438144"/>
            <a:ext cx="128016" cy="128016"/>
          </a:xfrm>
          <a:prstGeom prst="ellipse">
            <a:avLst/>
          </a:prstGeom>
          <a:solidFill>
            <a:srgbClr val="6E3FE5"/>
          </a:solidFill>
          <a:ln w="12700">
            <a:solidFill>
              <a:srgbClr val="6E3FE5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5257800" y="2788920"/>
            <a:ext cx="2057400" cy="1874520"/>
          </a:xfrm>
          <a:prstGeom prst="roundRect">
            <a:avLst>
              <a:gd name="adj" fmla="val 8780"/>
            </a:avLst>
          </a:prstGeom>
          <a:solidFill>
            <a:srgbClr val="FFFFFF"/>
          </a:solidFill>
          <a:ln w="12700">
            <a:solidFill>
              <a:srgbClr val="E2E8F7">
                <a:alpha val="90000"/>
              </a:srgbClr>
            </a:solidFill>
            <a:prstDash val="solid"/>
          </a:ln>
          <a:effectLst>
            <a:outerShdw blurRad="25400" dist="50800" dir="2700000" algn="bl" rotWithShape="0">
              <a:srgbClr val="94A3B8">
                <a:alpha val="14000"/>
              </a:srgbClr>
            </a:outerShdw>
          </a:effectLst>
        </p:spPr>
      </p:sp>
      <p:sp>
        <p:nvSpPr>
          <p:cNvPr id="87" name="Shape 85"/>
          <p:cNvSpPr/>
          <p:nvPr/>
        </p:nvSpPr>
        <p:spPr>
          <a:xfrm>
            <a:off x="6007608" y="2532888"/>
            <a:ext cx="475488" cy="475488"/>
          </a:xfrm>
          <a:prstGeom prst="ellipse">
            <a:avLst/>
          </a:prstGeom>
          <a:solidFill>
            <a:srgbClr val="6E3FE5"/>
          </a:solidFill>
          <a:ln w="12700">
            <a:solidFill>
              <a:srgbClr val="6E3FE5">
                <a:alpha val="0"/>
              </a:srgbClr>
            </a:solidFill>
            <a:prstDash val="solid"/>
          </a:ln>
          <a:effectLst>
            <a:outerShdw blurRad="12700" dist="50800" dir="2700000" algn="bl" rotWithShape="0">
              <a:srgbClr val="64748B">
                <a:alpha val="12000"/>
              </a:srgbClr>
            </a:outerShdw>
          </a:effectLst>
        </p:spPr>
      </p:sp>
      <p:sp>
        <p:nvSpPr>
          <p:cNvPr id="88" name="Text 86"/>
          <p:cNvSpPr/>
          <p:nvPr/>
        </p:nvSpPr>
        <p:spPr>
          <a:xfrm>
            <a:off x="6007608" y="2542032"/>
            <a:ext cx="475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52" dirty="0">
                <a:solidFill>
                  <a:srgbClr val="FFFFFF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💡</a:t>
            </a:r>
            <a:endParaRPr lang="en-US" sz="1352" dirty="0"/>
          </a:p>
        </p:txBody>
      </p:sp>
      <p:sp>
        <p:nvSpPr>
          <p:cNvPr id="89" name="Shape 87"/>
          <p:cNvSpPr/>
          <p:nvPr/>
        </p:nvSpPr>
        <p:spPr>
          <a:xfrm>
            <a:off x="6080760" y="2267712"/>
            <a:ext cx="310896" cy="274320"/>
          </a:xfrm>
          <a:prstGeom prst="roundRect">
            <a:avLst>
              <a:gd name="adj" fmla="val 26667"/>
            </a:avLst>
          </a:prstGeom>
          <a:solidFill>
            <a:srgbClr val="6E3FE5"/>
          </a:solidFill>
          <a:ln w="12700">
            <a:solidFill>
              <a:srgbClr val="6E3FE5">
                <a:alpha val="90000"/>
              </a:srgbClr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6080760" y="2304288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000" dirty="0"/>
          </a:p>
        </p:txBody>
      </p:sp>
      <p:sp>
        <p:nvSpPr>
          <p:cNvPr id="91" name="Text 89"/>
          <p:cNvSpPr/>
          <p:nvPr/>
        </p:nvSpPr>
        <p:spPr>
          <a:xfrm>
            <a:off x="5422392" y="3172968"/>
            <a:ext cx="17282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 algn="ctr">
              <a:buNone/>
            </a:pPr>
            <a:r>
              <a:rPr lang="en-US" sz="1270" b="1" dirty="0">
                <a:solidFill>
                  <a:srgbClr val="6E3FE5"/>
                </a:solidFill>
              </a:rPr>
              <a:t>Pengujian variasi kondisi</a:t>
            </a:r>
            <a:endParaRPr lang="en-US" sz="1270" dirty="0"/>
          </a:p>
        </p:txBody>
      </p:sp>
      <p:sp>
        <p:nvSpPr>
          <p:cNvPr id="92" name="Text 90"/>
          <p:cNvSpPr/>
          <p:nvPr/>
        </p:nvSpPr>
        <p:spPr>
          <a:xfrm>
            <a:off x="5458968" y="3593592"/>
            <a:ext cx="16550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80" dirty="0">
                <a:solidFill>
                  <a:srgbClr val="0B1F53"/>
                </a:solidFill>
              </a:rPr>
              <a:t>Pencahayaan, sudut kamera, citra buram, dan marker tertutup.</a:t>
            </a:r>
            <a:endParaRPr lang="en-US" sz="980" dirty="0"/>
          </a:p>
        </p:txBody>
      </p:sp>
      <p:sp>
        <p:nvSpPr>
          <p:cNvPr id="93" name="Shape 91"/>
          <p:cNvSpPr/>
          <p:nvPr/>
        </p:nvSpPr>
        <p:spPr>
          <a:xfrm>
            <a:off x="7333488" y="3502152"/>
            <a:ext cx="201168" cy="0"/>
          </a:xfrm>
          <a:prstGeom prst="line">
            <a:avLst/>
          </a:prstGeom>
          <a:noFill/>
          <a:ln w="16510">
            <a:solidFill>
              <a:srgbClr val="6E3FE5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7516368" y="3438144"/>
            <a:ext cx="128016" cy="128016"/>
          </a:xfrm>
          <a:prstGeom prst="ellipse">
            <a:avLst/>
          </a:prstGeom>
          <a:solidFill>
            <a:srgbClr val="6E3FE5"/>
          </a:solidFill>
          <a:ln w="12700">
            <a:solidFill>
              <a:srgbClr val="6E3FE5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7543800" y="2788920"/>
            <a:ext cx="2057400" cy="1874520"/>
          </a:xfrm>
          <a:prstGeom prst="roundRect">
            <a:avLst>
              <a:gd name="adj" fmla="val 8780"/>
            </a:avLst>
          </a:prstGeom>
          <a:solidFill>
            <a:srgbClr val="FFFFFF"/>
          </a:solidFill>
          <a:ln w="12700">
            <a:solidFill>
              <a:srgbClr val="E2E8F7">
                <a:alpha val="90000"/>
              </a:srgbClr>
            </a:solidFill>
            <a:prstDash val="solid"/>
          </a:ln>
          <a:effectLst>
            <a:outerShdw blurRad="25400" dist="50800" dir="2700000" algn="bl" rotWithShape="0">
              <a:srgbClr val="94A3B8">
                <a:alpha val="14000"/>
              </a:srgbClr>
            </a:outerShdw>
          </a:effectLst>
        </p:spPr>
      </p:sp>
      <p:sp>
        <p:nvSpPr>
          <p:cNvPr id="96" name="Shape 94"/>
          <p:cNvSpPr/>
          <p:nvPr/>
        </p:nvSpPr>
        <p:spPr>
          <a:xfrm>
            <a:off x="8293608" y="2532888"/>
            <a:ext cx="475488" cy="475488"/>
          </a:xfrm>
          <a:prstGeom prst="ellipse">
            <a:avLst/>
          </a:prstGeom>
          <a:solidFill>
            <a:srgbClr val="4AA3FF"/>
          </a:solidFill>
          <a:ln w="12700">
            <a:solidFill>
              <a:srgbClr val="4AA3FF">
                <a:alpha val="0"/>
              </a:srgbClr>
            </a:solidFill>
            <a:prstDash val="solid"/>
          </a:ln>
          <a:effectLst>
            <a:outerShdw blurRad="12700" dist="50800" dir="2700000" algn="bl" rotWithShape="0">
              <a:srgbClr val="64748B">
                <a:alpha val="12000"/>
              </a:srgbClr>
            </a:outerShdw>
          </a:effectLst>
        </p:spPr>
      </p:sp>
      <p:sp>
        <p:nvSpPr>
          <p:cNvPr id="97" name="Text 95"/>
          <p:cNvSpPr/>
          <p:nvPr/>
        </p:nvSpPr>
        <p:spPr>
          <a:xfrm>
            <a:off x="8293608" y="2542032"/>
            <a:ext cx="475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52" dirty="0">
                <a:solidFill>
                  <a:srgbClr val="FFFFFF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⌖</a:t>
            </a:r>
            <a:endParaRPr lang="en-US" sz="1352" dirty="0"/>
          </a:p>
        </p:txBody>
      </p:sp>
      <p:sp>
        <p:nvSpPr>
          <p:cNvPr id="98" name="Shape 96"/>
          <p:cNvSpPr/>
          <p:nvPr/>
        </p:nvSpPr>
        <p:spPr>
          <a:xfrm>
            <a:off x="8366760" y="2267712"/>
            <a:ext cx="310896" cy="274320"/>
          </a:xfrm>
          <a:prstGeom prst="roundRect">
            <a:avLst>
              <a:gd name="adj" fmla="val 26667"/>
            </a:avLst>
          </a:prstGeom>
          <a:solidFill>
            <a:srgbClr val="6E3FE5"/>
          </a:solidFill>
          <a:ln w="12700">
            <a:solidFill>
              <a:srgbClr val="6E3FE5">
                <a:alpha val="90000"/>
              </a:srgbClr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8366760" y="2304288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000" dirty="0"/>
          </a:p>
        </p:txBody>
      </p:sp>
      <p:sp>
        <p:nvSpPr>
          <p:cNvPr id="100" name="Text 98"/>
          <p:cNvSpPr/>
          <p:nvPr/>
        </p:nvSpPr>
        <p:spPr>
          <a:xfrm>
            <a:off x="7708392" y="3172968"/>
            <a:ext cx="17282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70" b="1" dirty="0">
                <a:solidFill>
                  <a:srgbClr val="6E3FE5"/>
                </a:solidFill>
              </a:rPr>
              <a:t>Evaluasi deteksi kontur</a:t>
            </a:r>
            <a:endParaRPr lang="en-US" sz="1270" dirty="0"/>
          </a:p>
        </p:txBody>
      </p:sp>
      <p:sp>
        <p:nvSpPr>
          <p:cNvPr id="101" name="Text 99"/>
          <p:cNvSpPr/>
          <p:nvPr/>
        </p:nvSpPr>
        <p:spPr>
          <a:xfrm>
            <a:off x="7744968" y="3593592"/>
            <a:ext cx="16550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80" dirty="0">
                <a:solidFill>
                  <a:srgbClr val="0B1F53"/>
                </a:solidFill>
              </a:rPr>
              <a:t>Menguji peran kontur sebagai informasi pendukung.</a:t>
            </a:r>
            <a:endParaRPr lang="en-US" sz="980" dirty="0"/>
          </a:p>
        </p:txBody>
      </p:sp>
      <p:sp>
        <p:nvSpPr>
          <p:cNvPr id="102" name="Shape 100"/>
          <p:cNvSpPr/>
          <p:nvPr/>
        </p:nvSpPr>
        <p:spPr>
          <a:xfrm>
            <a:off x="9619488" y="3502152"/>
            <a:ext cx="201168" cy="0"/>
          </a:xfrm>
          <a:prstGeom prst="line">
            <a:avLst/>
          </a:prstGeom>
          <a:noFill/>
          <a:ln w="16510">
            <a:solidFill>
              <a:srgbClr val="6E3FE5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9802368" y="3438144"/>
            <a:ext cx="128016" cy="128016"/>
          </a:xfrm>
          <a:prstGeom prst="ellipse">
            <a:avLst/>
          </a:prstGeom>
          <a:solidFill>
            <a:srgbClr val="6E3FE5"/>
          </a:solidFill>
          <a:ln w="12700">
            <a:solidFill>
              <a:srgbClr val="6E3FE5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9829800" y="2788920"/>
            <a:ext cx="2057400" cy="1874520"/>
          </a:xfrm>
          <a:prstGeom prst="roundRect">
            <a:avLst>
              <a:gd name="adj" fmla="val 8780"/>
            </a:avLst>
          </a:prstGeom>
          <a:solidFill>
            <a:srgbClr val="FFFFFF"/>
          </a:solidFill>
          <a:ln w="12700">
            <a:solidFill>
              <a:srgbClr val="E2E8F7">
                <a:alpha val="90000"/>
              </a:srgbClr>
            </a:solidFill>
            <a:prstDash val="solid"/>
          </a:ln>
          <a:effectLst>
            <a:outerShdw blurRad="25400" dist="50800" dir="2700000" algn="bl" rotWithShape="0">
              <a:srgbClr val="94A3B8">
                <a:alpha val="14000"/>
              </a:srgbClr>
            </a:outerShdw>
          </a:effectLst>
        </p:spPr>
      </p:sp>
      <p:sp>
        <p:nvSpPr>
          <p:cNvPr id="105" name="Shape 103"/>
          <p:cNvSpPr/>
          <p:nvPr/>
        </p:nvSpPr>
        <p:spPr>
          <a:xfrm>
            <a:off x="10579608" y="2532888"/>
            <a:ext cx="475488" cy="475488"/>
          </a:xfrm>
          <a:prstGeom prst="ellipse">
            <a:avLst/>
          </a:prstGeom>
          <a:solidFill>
            <a:srgbClr val="6E3FE5"/>
          </a:solidFill>
          <a:ln w="12700">
            <a:solidFill>
              <a:srgbClr val="6E3FE5">
                <a:alpha val="0"/>
              </a:srgbClr>
            </a:solidFill>
            <a:prstDash val="solid"/>
          </a:ln>
          <a:effectLst>
            <a:outerShdw blurRad="12700" dist="50800" dir="2700000" algn="bl" rotWithShape="0">
              <a:srgbClr val="64748B">
                <a:alpha val="12000"/>
              </a:srgbClr>
            </a:outerShdw>
          </a:effectLst>
        </p:spPr>
      </p:sp>
      <p:sp>
        <p:nvSpPr>
          <p:cNvPr id="106" name="Text 104"/>
          <p:cNvSpPr/>
          <p:nvPr/>
        </p:nvSpPr>
        <p:spPr>
          <a:xfrm>
            <a:off x="10579608" y="2542032"/>
            <a:ext cx="475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52" dirty="0">
                <a:solidFill>
                  <a:srgbClr val="FFFFFF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📱</a:t>
            </a:r>
            <a:endParaRPr lang="en-US" sz="1352" dirty="0"/>
          </a:p>
        </p:txBody>
      </p:sp>
      <p:sp>
        <p:nvSpPr>
          <p:cNvPr id="107" name="Shape 105"/>
          <p:cNvSpPr/>
          <p:nvPr/>
        </p:nvSpPr>
        <p:spPr>
          <a:xfrm>
            <a:off x="10652760" y="2267712"/>
            <a:ext cx="310896" cy="274320"/>
          </a:xfrm>
          <a:prstGeom prst="roundRect">
            <a:avLst>
              <a:gd name="adj" fmla="val 26667"/>
            </a:avLst>
          </a:prstGeom>
          <a:solidFill>
            <a:srgbClr val="6E3FE5"/>
          </a:solidFill>
          <a:ln w="12700">
            <a:solidFill>
              <a:srgbClr val="6E3FE5">
                <a:alpha val="90000"/>
              </a:srgbClr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10652760" y="2304288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000" dirty="0"/>
          </a:p>
        </p:txBody>
      </p:sp>
      <p:sp>
        <p:nvSpPr>
          <p:cNvPr id="109" name="Text 107"/>
          <p:cNvSpPr/>
          <p:nvPr/>
        </p:nvSpPr>
        <p:spPr>
          <a:xfrm>
            <a:off x="9994392" y="3172968"/>
            <a:ext cx="17282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70" b="1" dirty="0">
                <a:solidFill>
                  <a:srgbClr val="6E3FE5"/>
                </a:solidFill>
              </a:rPr>
              <a:t>Peningkatan UI/UX</a:t>
            </a:r>
            <a:endParaRPr lang="en-US" sz="1270" dirty="0"/>
          </a:p>
        </p:txBody>
      </p:sp>
      <p:sp>
        <p:nvSpPr>
          <p:cNvPr id="110" name="Text 108"/>
          <p:cNvSpPr/>
          <p:nvPr/>
        </p:nvSpPr>
        <p:spPr>
          <a:xfrm>
            <a:off x="10030968" y="3593592"/>
            <a:ext cx="16550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80" dirty="0">
                <a:solidFill>
                  <a:srgbClr val="0B1F53"/>
                </a:solidFill>
              </a:rPr>
              <a:t>Antarmuka lebih adaptif, informatif, dan nyaman digunakan.</a:t>
            </a:r>
            <a:endParaRPr lang="en-US" sz="980" dirty="0"/>
          </a:p>
        </p:txBody>
      </p:sp>
      <p:sp>
        <p:nvSpPr>
          <p:cNvPr id="111" name="Shape 109"/>
          <p:cNvSpPr/>
          <p:nvPr/>
        </p:nvSpPr>
        <p:spPr>
          <a:xfrm>
            <a:off x="1828800" y="5522976"/>
            <a:ext cx="8549640" cy="502920"/>
          </a:xfrm>
          <a:prstGeom prst="roundRect">
            <a:avLst>
              <a:gd name="adj" fmla="val 32727"/>
            </a:avLst>
          </a:prstGeom>
          <a:solidFill>
            <a:srgbClr val="F6F2FF"/>
          </a:solidFill>
          <a:ln w="12700">
            <a:solidFill>
              <a:srgbClr val="D8CCFF">
                <a:alpha val="90000"/>
              </a:srgbClr>
            </a:solidFill>
            <a:prstDash val="solid"/>
          </a:ln>
          <a:effectLst>
            <a:outerShdw blurRad="25400" dist="50800" dir="2700000" algn="bl" rotWithShape="0">
              <a:srgbClr val="94A3B8">
                <a:alpha val="14000"/>
              </a:srgbClr>
            </a:outerShdw>
          </a:effectLst>
        </p:spPr>
      </p:sp>
      <p:sp>
        <p:nvSpPr>
          <p:cNvPr id="112" name="Text 110"/>
          <p:cNvSpPr/>
          <p:nvPr/>
        </p:nvSpPr>
        <p:spPr>
          <a:xfrm>
            <a:off x="2057400" y="5678424"/>
            <a:ext cx="8138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0B1F53"/>
                </a:solidFill>
              </a:rPr>
              <a:t>Fokus pengembangan: sistem lebih akurat, adaptif, dan siap digunakan pada kondisi nyata.</a:t>
            </a:r>
            <a:endParaRPr lang="en-US" sz="1220" dirty="0"/>
          </a:p>
        </p:txBody>
      </p:sp>
      <p:sp>
        <p:nvSpPr>
          <p:cNvPr id="113" name="Text 111">
            <a:hlinkClick r:id="rId3" action="ppaction://hlinksldjump" tooltip="Kembali ke Agenda"/>
          </p:cNvPr>
          <p:cNvSpPr/>
          <p:nvPr/>
        </p:nvSpPr>
        <p:spPr>
          <a:xfrm>
            <a:off x="201168" y="642823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u="sng" dirty="0">
                <a:solidFill>
                  <a:srgbClr val="6E3FE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  <a:hlinkClick r:id="rId3" action="ppaction://hlinksldjump" tooltip="Kembali ke Agenda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⌂</a:t>
            </a:r>
            <a:endParaRPr lang="en-US" sz="1600" dirty="0"/>
          </a:p>
        </p:txBody>
      </p:sp>
      <p:sp>
        <p:nvSpPr>
          <p:cNvPr id="114" name="Shape 112"/>
          <p:cNvSpPr/>
          <p:nvPr/>
        </p:nvSpPr>
        <p:spPr>
          <a:xfrm>
            <a:off x="731520" y="6254496"/>
            <a:ext cx="146304" cy="146304"/>
          </a:xfrm>
          <a:prstGeom prst="ellipse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896112" y="6327648"/>
            <a:ext cx="1947672" cy="0"/>
          </a:xfrm>
          <a:prstGeom prst="line">
            <a:avLst/>
          </a:prstGeom>
          <a:noFill/>
          <a:ln w="15240">
            <a:solidFill>
              <a:srgbClr val="DDE8F7"/>
            </a:solidFill>
            <a:prstDash val="solid"/>
          </a:ln>
        </p:spPr>
      </p:sp>
      <p:sp>
        <p:nvSpPr>
          <p:cNvPr id="116" name="Text 114">
            <a:hlinkClick r:id="rId3" action="ppaction://hlinksldjump" tooltip="Menuju Pendahuluan"/>
          </p:cNvPr>
          <p:cNvSpPr/>
          <p:nvPr/>
        </p:nvSpPr>
        <p:spPr>
          <a:xfrm>
            <a:off x="475488" y="6464808"/>
            <a:ext cx="685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u="sng" dirty="0">
                <a:solidFill>
                  <a:srgbClr val="687385"/>
                </a:solidFill>
                <a:hlinkClick r:id="rId3" action="ppaction://hlinksldjump" tooltip="Menuju Pendahulua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Pendahuluan</a:t>
            </a:r>
            <a:endParaRPr lang="en-US" sz="680" dirty="0"/>
          </a:p>
        </p:txBody>
      </p:sp>
      <p:sp>
        <p:nvSpPr>
          <p:cNvPr id="117" name="Shape 115"/>
          <p:cNvSpPr/>
          <p:nvPr/>
        </p:nvSpPr>
        <p:spPr>
          <a:xfrm>
            <a:off x="2880360" y="6254496"/>
            <a:ext cx="146304" cy="146304"/>
          </a:xfrm>
          <a:prstGeom prst="ellipse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3044952" y="6327648"/>
            <a:ext cx="1947672" cy="0"/>
          </a:xfrm>
          <a:prstGeom prst="line">
            <a:avLst/>
          </a:prstGeom>
          <a:noFill/>
          <a:ln w="15240">
            <a:solidFill>
              <a:srgbClr val="DDE8F7"/>
            </a:solidFill>
            <a:prstDash val="solid"/>
          </a:ln>
        </p:spPr>
      </p:sp>
      <p:sp>
        <p:nvSpPr>
          <p:cNvPr id="119" name="Text 117">
            <a:hlinkClick r:id="rId4" action="ppaction://hlinksldjump" tooltip="Menuju Metode"/>
          </p:cNvPr>
          <p:cNvSpPr/>
          <p:nvPr/>
        </p:nvSpPr>
        <p:spPr>
          <a:xfrm>
            <a:off x="2624328" y="6464808"/>
            <a:ext cx="685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u="sng" dirty="0">
                <a:solidFill>
                  <a:srgbClr val="687385"/>
                </a:solidFill>
                <a:hlinkClick r:id="rId4" action="ppaction://hlinksldjump" tooltip="Menuju Metod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Metode</a:t>
            </a:r>
            <a:endParaRPr lang="en-US" sz="680" dirty="0"/>
          </a:p>
        </p:txBody>
      </p:sp>
      <p:sp>
        <p:nvSpPr>
          <p:cNvPr id="120" name="Shape 118"/>
          <p:cNvSpPr/>
          <p:nvPr/>
        </p:nvSpPr>
        <p:spPr>
          <a:xfrm>
            <a:off x="5029200" y="6254496"/>
            <a:ext cx="146304" cy="146304"/>
          </a:xfrm>
          <a:prstGeom prst="ellipse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5193792" y="6327648"/>
            <a:ext cx="1947672" cy="0"/>
          </a:xfrm>
          <a:prstGeom prst="line">
            <a:avLst/>
          </a:prstGeom>
          <a:noFill/>
          <a:ln w="15240">
            <a:solidFill>
              <a:srgbClr val="DDE8F7"/>
            </a:solidFill>
            <a:prstDash val="solid"/>
          </a:ln>
        </p:spPr>
      </p:sp>
      <p:sp>
        <p:nvSpPr>
          <p:cNvPr id="122" name="Text 120">
            <a:hlinkClick r:id="rId5" action="ppaction://hlinksldjump" tooltip="Menuju Implementasi"/>
          </p:cNvPr>
          <p:cNvSpPr/>
          <p:nvPr/>
        </p:nvSpPr>
        <p:spPr>
          <a:xfrm>
            <a:off x="4773168" y="6464808"/>
            <a:ext cx="685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u="sng" dirty="0">
                <a:solidFill>
                  <a:srgbClr val="687385"/>
                </a:solidFill>
                <a:hlinkClick r:id="rId5" action="ppaction://hlinksldjump" tooltip="Menuju Implementasi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Implementasi</a:t>
            </a:r>
            <a:endParaRPr lang="en-US" sz="680" dirty="0"/>
          </a:p>
        </p:txBody>
      </p:sp>
      <p:sp>
        <p:nvSpPr>
          <p:cNvPr id="123" name="Shape 121"/>
          <p:cNvSpPr/>
          <p:nvPr/>
        </p:nvSpPr>
        <p:spPr>
          <a:xfrm>
            <a:off x="7178040" y="6254496"/>
            <a:ext cx="146304" cy="146304"/>
          </a:xfrm>
          <a:prstGeom prst="ellipse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7342632" y="6327648"/>
            <a:ext cx="1947672" cy="0"/>
          </a:xfrm>
          <a:prstGeom prst="line">
            <a:avLst/>
          </a:prstGeom>
          <a:noFill/>
          <a:ln w="15240">
            <a:solidFill>
              <a:srgbClr val="DDE8F7"/>
            </a:solidFill>
            <a:prstDash val="solid"/>
          </a:ln>
        </p:spPr>
      </p:sp>
      <p:sp>
        <p:nvSpPr>
          <p:cNvPr id="125" name="Text 123">
            <a:hlinkClick r:id="rId6" action="ppaction://hlinksldjump" tooltip="Menuju Pengujian"/>
          </p:cNvPr>
          <p:cNvSpPr/>
          <p:nvPr/>
        </p:nvSpPr>
        <p:spPr>
          <a:xfrm>
            <a:off x="6922008" y="6464808"/>
            <a:ext cx="685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u="sng" dirty="0">
                <a:solidFill>
                  <a:srgbClr val="687385"/>
                </a:solidFill>
                <a:hlinkClick r:id="rId6" action="ppaction://hlinksldjump" tooltip="Menuju Pengujia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Pengujian</a:t>
            </a:r>
            <a:endParaRPr lang="en-US" sz="680" dirty="0"/>
          </a:p>
        </p:txBody>
      </p:sp>
      <p:sp>
        <p:nvSpPr>
          <p:cNvPr id="126" name="Shape 124"/>
          <p:cNvSpPr/>
          <p:nvPr/>
        </p:nvSpPr>
        <p:spPr>
          <a:xfrm>
            <a:off x="9326880" y="6254496"/>
            <a:ext cx="146304" cy="146304"/>
          </a:xfrm>
          <a:prstGeom prst="ellipse">
            <a:avLst/>
          </a:prstGeom>
          <a:solidFill>
            <a:srgbClr val="6E3FE5"/>
          </a:solidFill>
          <a:ln w="12700">
            <a:solidFill>
              <a:srgbClr val="6E3FE5"/>
            </a:solidFill>
            <a:prstDash val="solid"/>
          </a:ln>
        </p:spPr>
      </p:sp>
      <p:sp>
        <p:nvSpPr>
          <p:cNvPr id="127" name="Text 125">
            <a:hlinkClick r:id="rId7" action="ppaction://hlinksldjump" tooltip="Menuju Penutup"/>
          </p:cNvPr>
          <p:cNvSpPr/>
          <p:nvPr/>
        </p:nvSpPr>
        <p:spPr>
          <a:xfrm>
            <a:off x="9070848" y="6464808"/>
            <a:ext cx="685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u="sng" dirty="0">
                <a:solidFill>
                  <a:srgbClr val="6E3FE5"/>
                </a:solidFill>
                <a:hlinkClick r:id="rId7" action="ppaction://hlinksldjump" tooltip="Menuju Penutu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Penutup</a:t>
            </a:r>
            <a:endParaRPr lang="en-US" sz="680" dirty="0"/>
          </a:p>
        </p:txBody>
      </p:sp>
      <p:sp>
        <p:nvSpPr>
          <p:cNvPr id="128" name="Shape 126"/>
          <p:cNvSpPr/>
          <p:nvPr/>
        </p:nvSpPr>
        <p:spPr>
          <a:xfrm>
            <a:off x="9784080" y="6455664"/>
            <a:ext cx="1783080" cy="246888"/>
          </a:xfrm>
          <a:prstGeom prst="roundRect">
            <a:avLst>
              <a:gd name="adj" fmla="val 29630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DCE8F8"/>
            </a:solidFill>
            <a:prstDash val="solid"/>
          </a:ln>
        </p:spPr>
      </p:sp>
      <p:sp>
        <p:nvSpPr>
          <p:cNvPr id="129" name="Text 127"/>
          <p:cNvSpPr/>
          <p:nvPr/>
        </p:nvSpPr>
        <p:spPr>
          <a:xfrm>
            <a:off x="9893808" y="6492240"/>
            <a:ext cx="1554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873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  •  Penutup</a:t>
            </a:r>
            <a:endParaRPr lang="en-US" sz="800" dirty="0"/>
          </a:p>
        </p:txBody>
      </p:sp>
      <p:grpSp>
        <p:nvGrpSpPr>
          <p:cNvPr id="130" name="Group 129">
            <a:extLst>
              <a:ext uri="{FF2B5EF4-FFF2-40B4-BE49-F238E27FC236}">
                <a16:creationId xmlns:a16="http://schemas.microsoft.com/office/drawing/2014/main" id="{FD01F786-04EE-8D21-5683-BD0FDE99DD39}"/>
              </a:ext>
            </a:extLst>
          </p:cNvPr>
          <p:cNvGrpSpPr/>
          <p:nvPr/>
        </p:nvGrpSpPr>
        <p:grpSpPr>
          <a:xfrm>
            <a:off x="3977640" y="256032"/>
            <a:ext cx="4251960" cy="713232"/>
            <a:chOff x="3977640" y="256032"/>
            <a:chExt cx="4251960" cy="713232"/>
          </a:xfrm>
        </p:grpSpPr>
        <p:sp>
          <p:nvSpPr>
            <p:cNvPr id="131" name="Shape 51">
              <a:extLst>
                <a:ext uri="{FF2B5EF4-FFF2-40B4-BE49-F238E27FC236}">
                  <a16:creationId xmlns:a16="http://schemas.microsoft.com/office/drawing/2014/main" id="{4F8083B9-9F5C-1453-3FB5-ABA9C88A5630}"/>
                </a:ext>
              </a:extLst>
            </p:cNvPr>
            <p:cNvSpPr/>
            <p:nvPr/>
          </p:nvSpPr>
          <p:spPr>
            <a:xfrm>
              <a:off x="3977640" y="256032"/>
              <a:ext cx="4251960" cy="713232"/>
            </a:xfrm>
            <a:prstGeom prst="roundRect">
              <a:avLst>
                <a:gd name="adj" fmla="val 17949"/>
              </a:avLst>
            </a:prstGeom>
            <a:solidFill>
              <a:srgbClr val="FFFFFF"/>
            </a:solidFill>
            <a:ln w="12700">
              <a:solidFill>
                <a:srgbClr val="E0E8F6">
                  <a:alpha val="85000"/>
                </a:srgbClr>
              </a:solidFill>
              <a:prstDash val="solid"/>
            </a:ln>
            <a:effectLst>
              <a:outerShdw blurRad="25400" dist="50800" dir="2700000" algn="bl" rotWithShape="0">
                <a:srgbClr val="97A6BF">
                  <a:alpha val="12000"/>
                </a:srgbClr>
              </a:outerShdw>
            </a:effectLst>
          </p:spPr>
        </p:sp>
        <p:sp>
          <p:nvSpPr>
            <p:cNvPr id="132" name="Text 54">
              <a:extLst>
                <a:ext uri="{FF2B5EF4-FFF2-40B4-BE49-F238E27FC236}">
                  <a16:creationId xmlns:a16="http://schemas.microsoft.com/office/drawing/2014/main" id="{CE3E4642-281C-34EA-A783-3288DA6928FC}"/>
                </a:ext>
              </a:extLst>
            </p:cNvPr>
            <p:cNvSpPr/>
            <p:nvPr/>
          </p:nvSpPr>
          <p:spPr>
            <a:xfrm>
              <a:off x="4727448" y="402336"/>
              <a:ext cx="114300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800" b="1" dirty="0">
                  <a:solidFill>
                    <a:srgbClr val="0B1F53"/>
                  </a:solidFill>
                  <a:latin typeface="Aptos Display" pitchFamily="34" charset="0"/>
                  <a:ea typeface="Aptos Display" pitchFamily="34" charset="-122"/>
                  <a:cs typeface="Aptos Display" pitchFamily="34" charset="-120"/>
                </a:rPr>
                <a:t>ITENAS</a:t>
              </a:r>
              <a:endParaRPr lang="en-US" sz="1800" dirty="0"/>
            </a:p>
          </p:txBody>
        </p:sp>
        <p:sp>
          <p:nvSpPr>
            <p:cNvPr id="133" name="Text 55">
              <a:extLst>
                <a:ext uri="{FF2B5EF4-FFF2-40B4-BE49-F238E27FC236}">
                  <a16:creationId xmlns:a16="http://schemas.microsoft.com/office/drawing/2014/main" id="{41FD92BA-0262-0358-A97E-0978042A7D86}"/>
                </a:ext>
              </a:extLst>
            </p:cNvPr>
            <p:cNvSpPr/>
            <p:nvPr/>
          </p:nvSpPr>
          <p:spPr>
            <a:xfrm>
              <a:off x="4736592" y="640080"/>
              <a:ext cx="123444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650" dirty="0">
                  <a:solidFill>
                    <a:srgbClr val="0B1F53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Institut Teknologi Nasional</a:t>
              </a:r>
              <a:endParaRPr lang="en-US" sz="650" dirty="0"/>
            </a:p>
            <a:p>
              <a:pPr marL="0" indent="0">
                <a:buNone/>
              </a:pPr>
              <a:r>
                <a:rPr lang="en-US" sz="650" dirty="0">
                  <a:solidFill>
                    <a:srgbClr val="0B1F53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Bandung</a:t>
              </a:r>
              <a:endParaRPr lang="en-US" sz="650" dirty="0"/>
            </a:p>
          </p:txBody>
        </p:sp>
        <p:sp>
          <p:nvSpPr>
            <p:cNvPr id="134" name="Shape 56">
              <a:extLst>
                <a:ext uri="{FF2B5EF4-FFF2-40B4-BE49-F238E27FC236}">
                  <a16:creationId xmlns:a16="http://schemas.microsoft.com/office/drawing/2014/main" id="{A7A4A240-9CEC-BE50-D292-C32AF9352975}"/>
                </a:ext>
              </a:extLst>
            </p:cNvPr>
            <p:cNvSpPr/>
            <p:nvPr/>
          </p:nvSpPr>
          <p:spPr>
            <a:xfrm>
              <a:off x="6126480" y="411480"/>
              <a:ext cx="0" cy="402336"/>
            </a:xfrm>
            <a:prstGeom prst="line">
              <a:avLst/>
            </a:prstGeom>
            <a:noFill/>
            <a:ln w="12700">
              <a:solidFill>
                <a:srgbClr val="B8C2E8"/>
              </a:solidFill>
              <a:prstDash val="solid"/>
            </a:ln>
          </p:spPr>
        </p:sp>
        <p:sp>
          <p:nvSpPr>
            <p:cNvPr id="135" name="Text 58">
              <a:extLst>
                <a:ext uri="{FF2B5EF4-FFF2-40B4-BE49-F238E27FC236}">
                  <a16:creationId xmlns:a16="http://schemas.microsoft.com/office/drawing/2014/main" id="{2AC705DA-2E94-831E-885A-8FF26595E14A}"/>
                </a:ext>
              </a:extLst>
            </p:cNvPr>
            <p:cNvSpPr/>
            <p:nvPr/>
          </p:nvSpPr>
          <p:spPr>
            <a:xfrm>
              <a:off x="6830568" y="457200"/>
              <a:ext cx="109728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700" b="1" dirty="0">
                  <a:solidFill>
                    <a:srgbClr val="C00000"/>
                  </a:solidFill>
                  <a:latin typeface="Aptos Display" pitchFamily="34" charset="0"/>
                  <a:ea typeface="Aptos Display" pitchFamily="34" charset="-122"/>
                  <a:cs typeface="Aptos Display" pitchFamily="34" charset="-120"/>
                </a:rPr>
                <a:t>Informatika</a:t>
              </a:r>
              <a:endParaRPr lang="en-US" sz="1700" dirty="0">
                <a:solidFill>
                  <a:srgbClr val="C00000"/>
                </a:solidFill>
              </a:endParaRPr>
            </a:p>
          </p:txBody>
        </p:sp>
        <p:pic>
          <p:nvPicPr>
            <p:cNvPr id="136" name="Picture 135">
              <a:extLst>
                <a:ext uri="{FF2B5EF4-FFF2-40B4-BE49-F238E27FC236}">
                  <a16:creationId xmlns:a16="http://schemas.microsoft.com/office/drawing/2014/main" id="{86A8EC17-1DBC-55E8-5B66-166B3DA82AAE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 l="34755" t="29153" r="36238" b="33855"/>
            <a:stretch>
              <a:fillRect/>
            </a:stretch>
          </p:blipFill>
          <p:spPr>
            <a:xfrm>
              <a:off x="6300861" y="396716"/>
              <a:ext cx="346827" cy="345948"/>
            </a:xfrm>
            <a:prstGeom prst="rect">
              <a:avLst/>
            </a:prstGeom>
          </p:spPr>
        </p:pic>
        <p:pic>
          <p:nvPicPr>
            <p:cNvPr id="137" name="Picture 136">
              <a:extLst>
                <a:ext uri="{FF2B5EF4-FFF2-40B4-BE49-F238E27FC236}">
                  <a16:creationId xmlns:a16="http://schemas.microsoft.com/office/drawing/2014/main" id="{B501A7D8-A6A9-46C7-D7C2-0C63D7BDAD0E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4133088" y="339090"/>
              <a:ext cx="565404" cy="565404"/>
            </a:xfrm>
            <a:prstGeom prst="rect">
              <a:avLst/>
            </a:prstGeom>
          </p:spPr>
        </p:pic>
      </p:grpSp>
    </p:spTree>
  </p:cSld>
  <p:clrMapOvr>
    <a:masterClrMapping/>
  </p:clrMapOvr>
  <p:transition spd="med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7">
    <p:bg>
      <p:bgPr>
        <a:solidFill>
          <a:srgbClr val="F6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73152"/>
            <a:ext cx="1234440" cy="749808"/>
          </a:xfrm>
          <a:prstGeom prst="ellipse">
            <a:avLst/>
          </a:prstGeom>
          <a:solidFill>
            <a:srgbClr val="EEE9FF">
              <a:alpha val="8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588752" y="5897880"/>
            <a:ext cx="1261872" cy="658368"/>
          </a:xfrm>
          <a:prstGeom prst="ellipse">
            <a:avLst/>
          </a:prstGeom>
          <a:solidFill>
            <a:srgbClr val="E2F2FF">
              <a:alpha val="8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" y="1143000"/>
            <a:ext cx="502920" cy="0"/>
          </a:xfrm>
          <a:prstGeom prst="line">
            <a:avLst/>
          </a:prstGeom>
          <a:noFill/>
          <a:ln w="8890">
            <a:solidFill>
              <a:srgbClr val="BFD8FF">
                <a:alpha val="6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106424"/>
            <a:ext cx="54864" cy="54864"/>
          </a:xfrm>
          <a:prstGeom prst="ellipse">
            <a:avLst/>
          </a:prstGeom>
          <a:solidFill>
            <a:srgbClr val="FFFFFF">
              <a:alpha val="0"/>
            </a:srgbClr>
          </a:solidFill>
          <a:ln w="8890">
            <a:solidFill>
              <a:srgbClr val="BFD8FF">
                <a:alpha val="6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384280" y="2743200"/>
            <a:ext cx="438912" cy="0"/>
          </a:xfrm>
          <a:prstGeom prst="line">
            <a:avLst/>
          </a:prstGeom>
          <a:noFill/>
          <a:ln w="8890">
            <a:solidFill>
              <a:srgbClr val="BFD8FF">
                <a:alpha val="6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301984" y="2706624"/>
            <a:ext cx="54864" cy="54864"/>
          </a:xfrm>
          <a:prstGeom prst="ellipse">
            <a:avLst/>
          </a:prstGeom>
          <a:solidFill>
            <a:srgbClr val="FFFFFF">
              <a:alpha val="0"/>
            </a:srgbClr>
          </a:solidFill>
          <a:ln w="8890">
            <a:solidFill>
              <a:srgbClr val="BFD8FF">
                <a:alpha val="6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4592" y="1581912"/>
            <a:ext cx="502920" cy="0"/>
          </a:xfrm>
          <a:prstGeom prst="line">
            <a:avLst/>
          </a:prstGeom>
          <a:noFill/>
          <a:ln w="8890">
            <a:solidFill>
              <a:srgbClr val="BFD8FF">
                <a:alpha val="6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1545336"/>
            <a:ext cx="54864" cy="54864"/>
          </a:xfrm>
          <a:prstGeom prst="ellipse">
            <a:avLst/>
          </a:prstGeom>
          <a:solidFill>
            <a:srgbClr val="FFFFFF">
              <a:alpha val="0"/>
            </a:srgbClr>
          </a:solidFill>
          <a:ln w="8890">
            <a:solidFill>
              <a:srgbClr val="BFD8FF">
                <a:alpha val="6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384280" y="3182112"/>
            <a:ext cx="438912" cy="0"/>
          </a:xfrm>
          <a:prstGeom prst="line">
            <a:avLst/>
          </a:prstGeom>
          <a:noFill/>
          <a:ln w="8890">
            <a:solidFill>
              <a:srgbClr val="BFD8FF">
                <a:alpha val="6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301984" y="3145536"/>
            <a:ext cx="54864" cy="54864"/>
          </a:xfrm>
          <a:prstGeom prst="ellipse">
            <a:avLst/>
          </a:prstGeom>
          <a:solidFill>
            <a:srgbClr val="FFFFFF">
              <a:alpha val="0"/>
            </a:srgbClr>
          </a:solidFill>
          <a:ln w="8890">
            <a:solidFill>
              <a:srgbClr val="BFD8FF">
                <a:alpha val="6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64592" y="2020824"/>
            <a:ext cx="502920" cy="0"/>
          </a:xfrm>
          <a:prstGeom prst="line">
            <a:avLst/>
          </a:prstGeom>
          <a:noFill/>
          <a:ln w="8890">
            <a:solidFill>
              <a:srgbClr val="BFD8FF">
                <a:alpha val="62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5800" y="1984248"/>
            <a:ext cx="54864" cy="54864"/>
          </a:xfrm>
          <a:prstGeom prst="ellipse">
            <a:avLst/>
          </a:prstGeom>
          <a:solidFill>
            <a:srgbClr val="FFFFFF">
              <a:alpha val="0"/>
            </a:srgbClr>
          </a:solidFill>
          <a:ln w="8890">
            <a:solidFill>
              <a:srgbClr val="BFD8FF">
                <a:alpha val="6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384280" y="3621024"/>
            <a:ext cx="438912" cy="0"/>
          </a:xfrm>
          <a:prstGeom prst="line">
            <a:avLst/>
          </a:prstGeom>
          <a:noFill/>
          <a:ln w="8890">
            <a:solidFill>
              <a:srgbClr val="BFD8FF">
                <a:alpha val="6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301984" y="3584448"/>
            <a:ext cx="54864" cy="54864"/>
          </a:xfrm>
          <a:prstGeom prst="ellipse">
            <a:avLst/>
          </a:prstGeom>
          <a:solidFill>
            <a:srgbClr val="FFFFFF">
              <a:alpha val="0"/>
            </a:srgbClr>
          </a:solidFill>
          <a:ln w="8890">
            <a:solidFill>
              <a:srgbClr val="BFD8FF">
                <a:alpha val="6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331720" y="694944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744200" y="6153912"/>
            <a:ext cx="27432" cy="27432"/>
          </a:xfrm>
          <a:prstGeom prst="ellipse">
            <a:avLst/>
          </a:prstGeom>
          <a:solidFill>
            <a:srgbClr val="D7CBFF">
              <a:alpha val="65000"/>
            </a:srgbClr>
          </a:solidFill>
          <a:ln w="12700">
            <a:solidFill>
              <a:srgbClr val="D7CBFF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450592" y="694944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863072" y="6153912"/>
            <a:ext cx="27432" cy="27432"/>
          </a:xfrm>
          <a:prstGeom prst="ellipse">
            <a:avLst/>
          </a:prstGeom>
          <a:solidFill>
            <a:srgbClr val="D7CBFF">
              <a:alpha val="65000"/>
            </a:srgbClr>
          </a:solidFill>
          <a:ln w="12700">
            <a:solidFill>
              <a:srgbClr val="D7CBFF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569464" y="694944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981944" y="6153912"/>
            <a:ext cx="27432" cy="27432"/>
          </a:xfrm>
          <a:prstGeom prst="ellipse">
            <a:avLst/>
          </a:prstGeom>
          <a:solidFill>
            <a:srgbClr val="D7CBFF">
              <a:alpha val="65000"/>
            </a:srgbClr>
          </a:solidFill>
          <a:ln w="12700">
            <a:solidFill>
              <a:srgbClr val="D7CBFF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688336" y="694944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100816" y="6153912"/>
            <a:ext cx="27432" cy="27432"/>
          </a:xfrm>
          <a:prstGeom prst="ellipse">
            <a:avLst/>
          </a:prstGeom>
          <a:solidFill>
            <a:srgbClr val="D7CBFF">
              <a:alpha val="65000"/>
            </a:srgbClr>
          </a:solidFill>
          <a:ln w="12700">
            <a:solidFill>
              <a:srgbClr val="D7CBFF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807208" y="694944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219688" y="6153912"/>
            <a:ext cx="27432" cy="27432"/>
          </a:xfrm>
          <a:prstGeom prst="ellipse">
            <a:avLst/>
          </a:prstGeom>
          <a:solidFill>
            <a:srgbClr val="D7CBFF">
              <a:alpha val="65000"/>
            </a:srgbClr>
          </a:solidFill>
          <a:ln w="12700">
            <a:solidFill>
              <a:srgbClr val="D7CBFF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926080" y="694944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338560" y="6153912"/>
            <a:ext cx="27432" cy="27432"/>
          </a:xfrm>
          <a:prstGeom prst="ellipse">
            <a:avLst/>
          </a:prstGeom>
          <a:solidFill>
            <a:srgbClr val="D7CBFF">
              <a:alpha val="65000"/>
            </a:srgbClr>
          </a:solidFill>
          <a:ln w="12700">
            <a:solidFill>
              <a:srgbClr val="D7CBFF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31720" y="813816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744200" y="6272784"/>
            <a:ext cx="27432" cy="27432"/>
          </a:xfrm>
          <a:prstGeom prst="ellipse">
            <a:avLst/>
          </a:prstGeom>
          <a:solidFill>
            <a:srgbClr val="D7CBFF">
              <a:alpha val="65000"/>
            </a:srgbClr>
          </a:solidFill>
          <a:ln w="12700">
            <a:solidFill>
              <a:srgbClr val="D7CBFF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450592" y="813816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0863072" y="6272784"/>
            <a:ext cx="27432" cy="27432"/>
          </a:xfrm>
          <a:prstGeom prst="ellipse">
            <a:avLst/>
          </a:prstGeom>
          <a:solidFill>
            <a:srgbClr val="D7CBFF">
              <a:alpha val="65000"/>
            </a:srgbClr>
          </a:solidFill>
          <a:ln w="12700">
            <a:solidFill>
              <a:srgbClr val="D7CBFF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569464" y="813816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0981944" y="6272784"/>
            <a:ext cx="27432" cy="27432"/>
          </a:xfrm>
          <a:prstGeom prst="ellipse">
            <a:avLst/>
          </a:prstGeom>
          <a:solidFill>
            <a:srgbClr val="D7CBFF">
              <a:alpha val="65000"/>
            </a:srgbClr>
          </a:solidFill>
          <a:ln w="12700">
            <a:solidFill>
              <a:srgbClr val="D7CBFF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688336" y="813816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1100816" y="6272784"/>
            <a:ext cx="27432" cy="27432"/>
          </a:xfrm>
          <a:prstGeom prst="ellipse">
            <a:avLst/>
          </a:prstGeom>
          <a:solidFill>
            <a:srgbClr val="D7CBFF">
              <a:alpha val="65000"/>
            </a:srgbClr>
          </a:solidFill>
          <a:ln w="12700">
            <a:solidFill>
              <a:srgbClr val="D7CBFF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807208" y="813816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1219688" y="6272784"/>
            <a:ext cx="27432" cy="27432"/>
          </a:xfrm>
          <a:prstGeom prst="ellipse">
            <a:avLst/>
          </a:prstGeom>
          <a:solidFill>
            <a:srgbClr val="D7CBFF">
              <a:alpha val="65000"/>
            </a:srgbClr>
          </a:solidFill>
          <a:ln w="12700">
            <a:solidFill>
              <a:srgbClr val="D7CBFF">
                <a:alpha val="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926080" y="813816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1338560" y="6272784"/>
            <a:ext cx="27432" cy="27432"/>
          </a:xfrm>
          <a:prstGeom prst="ellipse">
            <a:avLst/>
          </a:prstGeom>
          <a:solidFill>
            <a:srgbClr val="D7CBFF">
              <a:alpha val="65000"/>
            </a:srgbClr>
          </a:solidFill>
          <a:ln w="12700">
            <a:solidFill>
              <a:srgbClr val="D7CBFF">
                <a:alpha val="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331720" y="932688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0744200" y="6391656"/>
            <a:ext cx="27432" cy="27432"/>
          </a:xfrm>
          <a:prstGeom prst="ellipse">
            <a:avLst/>
          </a:prstGeom>
          <a:solidFill>
            <a:srgbClr val="D7CBFF">
              <a:alpha val="65000"/>
            </a:srgbClr>
          </a:solidFill>
          <a:ln w="12700">
            <a:solidFill>
              <a:srgbClr val="D7CBFF">
                <a:alpha val="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450592" y="932688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0863072" y="6391656"/>
            <a:ext cx="27432" cy="27432"/>
          </a:xfrm>
          <a:prstGeom prst="ellipse">
            <a:avLst/>
          </a:prstGeom>
          <a:solidFill>
            <a:srgbClr val="D7CBFF">
              <a:alpha val="65000"/>
            </a:srgbClr>
          </a:solidFill>
          <a:ln w="12700">
            <a:solidFill>
              <a:srgbClr val="D7CBFF">
                <a:alpha val="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569464" y="932688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0981944" y="6391656"/>
            <a:ext cx="27432" cy="27432"/>
          </a:xfrm>
          <a:prstGeom prst="ellipse">
            <a:avLst/>
          </a:prstGeom>
          <a:solidFill>
            <a:srgbClr val="D7CBFF">
              <a:alpha val="65000"/>
            </a:srgbClr>
          </a:solidFill>
          <a:ln w="12700">
            <a:solidFill>
              <a:srgbClr val="D7CBFF">
                <a:alpha val="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688336" y="932688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1100816" y="6391656"/>
            <a:ext cx="27432" cy="27432"/>
          </a:xfrm>
          <a:prstGeom prst="ellipse">
            <a:avLst/>
          </a:prstGeom>
          <a:solidFill>
            <a:srgbClr val="D7CBFF">
              <a:alpha val="65000"/>
            </a:srgbClr>
          </a:solidFill>
          <a:ln w="12700">
            <a:solidFill>
              <a:srgbClr val="D7CBFF">
                <a:alpha val="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807208" y="932688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1219688" y="6391656"/>
            <a:ext cx="27432" cy="27432"/>
          </a:xfrm>
          <a:prstGeom prst="ellipse">
            <a:avLst/>
          </a:prstGeom>
          <a:solidFill>
            <a:srgbClr val="D7CBFF">
              <a:alpha val="65000"/>
            </a:srgbClr>
          </a:solidFill>
          <a:ln w="12700">
            <a:solidFill>
              <a:srgbClr val="D7CBFF">
                <a:alpha val="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2926080" y="932688"/>
            <a:ext cx="27432" cy="27432"/>
          </a:xfrm>
          <a:prstGeom prst="ellipse">
            <a:avLst/>
          </a:prstGeom>
          <a:solidFill>
            <a:srgbClr val="B9D7FF">
              <a:alpha val="55000"/>
            </a:srgbClr>
          </a:solidFill>
          <a:ln w="12700">
            <a:solidFill>
              <a:srgbClr val="B9D7FF">
                <a:alpha val="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1338560" y="6391656"/>
            <a:ext cx="27432" cy="27432"/>
          </a:xfrm>
          <a:prstGeom prst="ellipse">
            <a:avLst/>
          </a:prstGeom>
          <a:solidFill>
            <a:srgbClr val="D7CBFF">
              <a:alpha val="65000"/>
            </a:srgbClr>
          </a:solidFill>
          <a:ln w="12700">
            <a:solidFill>
              <a:srgbClr val="D7CBFF">
                <a:alpha val="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0058400" y="438912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dirty="0">
                <a:solidFill>
                  <a:srgbClr val="6EA8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✦</a:t>
            </a:r>
            <a:endParaRPr lang="en-US" sz="2300" dirty="0"/>
          </a:p>
        </p:txBody>
      </p:sp>
      <p:sp>
        <p:nvSpPr>
          <p:cNvPr id="62" name="Text 60"/>
          <p:cNvSpPr/>
          <p:nvPr/>
        </p:nvSpPr>
        <p:spPr>
          <a:xfrm>
            <a:off x="594360" y="1444752"/>
            <a:ext cx="11018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B1F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Referensi Singkat</a:t>
            </a:r>
            <a:endParaRPr lang="en-US" sz="3400" dirty="0"/>
          </a:p>
        </p:txBody>
      </p:sp>
      <p:sp>
        <p:nvSpPr>
          <p:cNvPr id="63" name="Shape 61"/>
          <p:cNvSpPr/>
          <p:nvPr/>
        </p:nvSpPr>
        <p:spPr>
          <a:xfrm>
            <a:off x="1143000" y="1901952"/>
            <a:ext cx="9921240" cy="402336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E2E8F7">
                <a:alpha val="90000"/>
              </a:srgbClr>
            </a:solidFill>
            <a:prstDash val="solid"/>
          </a:ln>
          <a:effectLst>
            <a:outerShdw blurRad="25400" dist="50800" dir="2700000" algn="bl" rotWithShape="0">
              <a:srgbClr val="94A3B8">
                <a:alpha val="14000"/>
              </a:srgbClr>
            </a:outerShdw>
          </a:effectLst>
        </p:spPr>
      </p:sp>
      <p:sp>
        <p:nvSpPr>
          <p:cNvPr id="64" name="Shape 62"/>
          <p:cNvSpPr/>
          <p:nvPr/>
        </p:nvSpPr>
        <p:spPr>
          <a:xfrm>
            <a:off x="1444752" y="2240280"/>
            <a:ext cx="182880" cy="182880"/>
          </a:xfrm>
          <a:prstGeom prst="ellipse">
            <a:avLst/>
          </a:prstGeom>
          <a:solidFill>
            <a:srgbClr val="6E3FE5"/>
          </a:solidFill>
          <a:ln w="12700">
            <a:solidFill>
              <a:srgbClr val="6E3FE5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1755648" y="2212848"/>
            <a:ext cx="8778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30" dirty="0">
                <a:solidFill>
                  <a:srgbClr val="0B1F53"/>
                </a:solidFill>
              </a:rPr>
              <a:t>Mocini et al. (2023) — Antropometri dan tinggi badan.</a:t>
            </a:r>
            <a:endParaRPr lang="en-US" sz="1130" dirty="0"/>
          </a:p>
        </p:txBody>
      </p:sp>
      <p:sp>
        <p:nvSpPr>
          <p:cNvPr id="66" name="Shape 64"/>
          <p:cNvSpPr/>
          <p:nvPr/>
        </p:nvSpPr>
        <p:spPr>
          <a:xfrm>
            <a:off x="1444752" y="2679192"/>
            <a:ext cx="182880" cy="182880"/>
          </a:xfrm>
          <a:prstGeom prst="ellipse">
            <a:avLst/>
          </a:prstGeom>
          <a:solidFill>
            <a:srgbClr val="6E3FE5"/>
          </a:solidFill>
          <a:ln w="12700">
            <a:solidFill>
              <a:srgbClr val="6E3FE5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1755648" y="2651760"/>
            <a:ext cx="8778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30" dirty="0">
                <a:solidFill>
                  <a:srgbClr val="0B1F53"/>
                </a:solidFill>
              </a:rPr>
              <a:t>Graybeal et al. (2023) — Evaluasi pengukuran antropometri berbasis smartphone.</a:t>
            </a:r>
            <a:endParaRPr lang="en-US" sz="1130" dirty="0"/>
          </a:p>
        </p:txBody>
      </p:sp>
      <p:sp>
        <p:nvSpPr>
          <p:cNvPr id="68" name="Shape 66"/>
          <p:cNvSpPr/>
          <p:nvPr/>
        </p:nvSpPr>
        <p:spPr>
          <a:xfrm>
            <a:off x="1444752" y="3118104"/>
            <a:ext cx="182880" cy="182880"/>
          </a:xfrm>
          <a:prstGeom prst="ellipse">
            <a:avLst/>
          </a:prstGeom>
          <a:solidFill>
            <a:srgbClr val="6E3FE5"/>
          </a:solidFill>
          <a:ln w="12700">
            <a:solidFill>
              <a:srgbClr val="6E3FE5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1755648" y="3090672"/>
            <a:ext cx="8778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30" dirty="0">
                <a:solidFill>
                  <a:srgbClr val="0B1F53"/>
                </a:solidFill>
              </a:rPr>
              <a:t>Majmudar et al. (2022); Tinsley et al. (2024) — Smartphone imaging untuk pengukuran tubuh.</a:t>
            </a:r>
            <a:endParaRPr lang="en-US" sz="1130" dirty="0"/>
          </a:p>
        </p:txBody>
      </p:sp>
      <p:sp>
        <p:nvSpPr>
          <p:cNvPr id="70" name="Shape 68"/>
          <p:cNvSpPr/>
          <p:nvPr/>
        </p:nvSpPr>
        <p:spPr>
          <a:xfrm>
            <a:off x="1444752" y="3557016"/>
            <a:ext cx="182880" cy="182880"/>
          </a:xfrm>
          <a:prstGeom prst="ellipse">
            <a:avLst/>
          </a:prstGeom>
          <a:solidFill>
            <a:srgbClr val="6E3FE5"/>
          </a:solidFill>
          <a:ln w="12700">
            <a:solidFill>
              <a:srgbClr val="6E3FE5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1755648" y="3529584"/>
            <a:ext cx="8778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30" dirty="0">
                <a:solidFill>
                  <a:srgbClr val="0B1F53"/>
                </a:solidFill>
              </a:rPr>
              <a:t>Nguyen Trung et al. (2024) — Non-contact height measurement dan skala piksel.</a:t>
            </a:r>
            <a:endParaRPr lang="en-US" sz="1130" dirty="0"/>
          </a:p>
        </p:txBody>
      </p:sp>
      <p:sp>
        <p:nvSpPr>
          <p:cNvPr id="72" name="Shape 70"/>
          <p:cNvSpPr/>
          <p:nvPr/>
        </p:nvSpPr>
        <p:spPr>
          <a:xfrm>
            <a:off x="1444752" y="3995928"/>
            <a:ext cx="182880" cy="182880"/>
          </a:xfrm>
          <a:prstGeom prst="ellipse">
            <a:avLst/>
          </a:prstGeom>
          <a:solidFill>
            <a:srgbClr val="6E3FE5"/>
          </a:solidFill>
          <a:ln w="12700">
            <a:solidFill>
              <a:srgbClr val="6E3FE5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1755648" y="3968496"/>
            <a:ext cx="8778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30" dirty="0">
                <a:solidFill>
                  <a:srgbClr val="0B1F53"/>
                </a:solidFill>
              </a:rPr>
              <a:t>Kalaitzakis et al. (2021); Jurado-Rodriguez et al. (2023) — Fiducial marker dan pose estimation.</a:t>
            </a:r>
            <a:endParaRPr lang="en-US" sz="1130" dirty="0"/>
          </a:p>
        </p:txBody>
      </p:sp>
      <p:sp>
        <p:nvSpPr>
          <p:cNvPr id="74" name="Shape 72"/>
          <p:cNvSpPr/>
          <p:nvPr/>
        </p:nvSpPr>
        <p:spPr>
          <a:xfrm>
            <a:off x="1444752" y="4434840"/>
            <a:ext cx="182880" cy="182880"/>
          </a:xfrm>
          <a:prstGeom prst="ellipse">
            <a:avLst/>
          </a:prstGeom>
          <a:solidFill>
            <a:srgbClr val="6E3FE5"/>
          </a:solidFill>
          <a:ln w="12700">
            <a:solidFill>
              <a:srgbClr val="6E3FE5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1755648" y="4407408"/>
            <a:ext cx="8778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30" dirty="0">
                <a:solidFill>
                  <a:srgbClr val="0B1F53"/>
                </a:solidFill>
              </a:rPr>
              <a:t>Luo et al. (2023); Wang et al. (2025) — Homografi dan koreksi distorsi perspektif.</a:t>
            </a:r>
            <a:endParaRPr lang="en-US" sz="1130" dirty="0"/>
          </a:p>
        </p:txBody>
      </p:sp>
      <p:sp>
        <p:nvSpPr>
          <p:cNvPr id="76" name="Shape 74"/>
          <p:cNvSpPr/>
          <p:nvPr/>
        </p:nvSpPr>
        <p:spPr>
          <a:xfrm>
            <a:off x="1444752" y="4873752"/>
            <a:ext cx="182880" cy="182880"/>
          </a:xfrm>
          <a:prstGeom prst="ellipse">
            <a:avLst/>
          </a:prstGeom>
          <a:solidFill>
            <a:srgbClr val="6E3FE5"/>
          </a:solidFill>
          <a:ln w="12700">
            <a:solidFill>
              <a:srgbClr val="6E3FE5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1755648" y="4846320"/>
            <a:ext cx="8778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30" dirty="0">
                <a:solidFill>
                  <a:srgbClr val="0B1F53"/>
                </a:solidFill>
              </a:rPr>
              <a:t>Kim et al. (2023); Roggio et al. (2024) — MediaPipe Pose dan landmark tubuh.</a:t>
            </a:r>
            <a:endParaRPr lang="en-US" sz="1130" dirty="0"/>
          </a:p>
        </p:txBody>
      </p:sp>
      <p:sp>
        <p:nvSpPr>
          <p:cNvPr id="78" name="Text 76"/>
          <p:cNvSpPr/>
          <p:nvPr/>
        </p:nvSpPr>
        <p:spPr>
          <a:xfrm>
            <a:off x="3474720" y="5623560"/>
            <a:ext cx="5120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87385"/>
                </a:solidFill>
              </a:rPr>
              <a:t>Daftar pustaka lengkap mengikuti dokumen/jurnal penelitian.</a:t>
            </a:r>
            <a:endParaRPr lang="en-US" sz="1050" dirty="0"/>
          </a:p>
        </p:txBody>
      </p:sp>
      <p:sp>
        <p:nvSpPr>
          <p:cNvPr id="79" name="Text 77">
            <a:hlinkClick r:id="rId3" action="ppaction://hlinksldjump" tooltip="Kembali ke Agenda"/>
          </p:cNvPr>
          <p:cNvSpPr/>
          <p:nvPr/>
        </p:nvSpPr>
        <p:spPr>
          <a:xfrm>
            <a:off x="201168" y="642823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u="sng" dirty="0">
                <a:solidFill>
                  <a:srgbClr val="6E3FE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  <a:hlinkClick r:id="rId3" action="ppaction://hlinksldjump" tooltip="Kembali ke Agenda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⌂</a:t>
            </a:r>
            <a:endParaRPr lang="en-US" sz="1600" dirty="0"/>
          </a:p>
        </p:txBody>
      </p:sp>
      <p:sp>
        <p:nvSpPr>
          <p:cNvPr id="80" name="Shape 78"/>
          <p:cNvSpPr/>
          <p:nvPr/>
        </p:nvSpPr>
        <p:spPr>
          <a:xfrm>
            <a:off x="731520" y="6254496"/>
            <a:ext cx="146304" cy="146304"/>
          </a:xfrm>
          <a:prstGeom prst="ellipse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896112" y="6327648"/>
            <a:ext cx="1947672" cy="0"/>
          </a:xfrm>
          <a:prstGeom prst="line">
            <a:avLst/>
          </a:prstGeom>
          <a:noFill/>
          <a:ln w="15240">
            <a:solidFill>
              <a:srgbClr val="DDE8F7"/>
            </a:solidFill>
            <a:prstDash val="solid"/>
          </a:ln>
        </p:spPr>
      </p:sp>
      <p:sp>
        <p:nvSpPr>
          <p:cNvPr id="82" name="Text 80">
            <a:hlinkClick r:id="rId3" action="ppaction://hlinksldjump" tooltip="Menuju Pendahuluan"/>
          </p:cNvPr>
          <p:cNvSpPr/>
          <p:nvPr/>
        </p:nvSpPr>
        <p:spPr>
          <a:xfrm>
            <a:off x="475488" y="6464808"/>
            <a:ext cx="685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u="sng" dirty="0">
                <a:solidFill>
                  <a:srgbClr val="687385"/>
                </a:solidFill>
                <a:hlinkClick r:id="rId3" action="ppaction://hlinksldjump" tooltip="Menuju Pendahulua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Pendahuluan</a:t>
            </a:r>
            <a:endParaRPr lang="en-US" sz="680" dirty="0"/>
          </a:p>
        </p:txBody>
      </p:sp>
      <p:sp>
        <p:nvSpPr>
          <p:cNvPr id="83" name="Shape 81"/>
          <p:cNvSpPr/>
          <p:nvPr/>
        </p:nvSpPr>
        <p:spPr>
          <a:xfrm>
            <a:off x="2880360" y="6254496"/>
            <a:ext cx="146304" cy="146304"/>
          </a:xfrm>
          <a:prstGeom prst="ellipse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3044952" y="6327648"/>
            <a:ext cx="1947672" cy="0"/>
          </a:xfrm>
          <a:prstGeom prst="line">
            <a:avLst/>
          </a:prstGeom>
          <a:noFill/>
          <a:ln w="15240">
            <a:solidFill>
              <a:srgbClr val="DDE8F7"/>
            </a:solidFill>
            <a:prstDash val="solid"/>
          </a:ln>
        </p:spPr>
      </p:sp>
      <p:sp>
        <p:nvSpPr>
          <p:cNvPr id="85" name="Text 83">
            <a:hlinkClick r:id="rId4" action="ppaction://hlinksldjump" tooltip="Menuju Metode"/>
          </p:cNvPr>
          <p:cNvSpPr/>
          <p:nvPr/>
        </p:nvSpPr>
        <p:spPr>
          <a:xfrm>
            <a:off x="2624328" y="6464808"/>
            <a:ext cx="685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u="sng" dirty="0">
                <a:solidFill>
                  <a:srgbClr val="687385"/>
                </a:solidFill>
                <a:hlinkClick r:id="rId4" action="ppaction://hlinksldjump" tooltip="Menuju Metod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Metode</a:t>
            </a:r>
            <a:endParaRPr lang="en-US" sz="680" dirty="0"/>
          </a:p>
        </p:txBody>
      </p:sp>
      <p:sp>
        <p:nvSpPr>
          <p:cNvPr id="86" name="Shape 84"/>
          <p:cNvSpPr/>
          <p:nvPr/>
        </p:nvSpPr>
        <p:spPr>
          <a:xfrm>
            <a:off x="5029200" y="6254496"/>
            <a:ext cx="146304" cy="146304"/>
          </a:xfrm>
          <a:prstGeom prst="ellipse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5193792" y="6327648"/>
            <a:ext cx="1947672" cy="0"/>
          </a:xfrm>
          <a:prstGeom prst="line">
            <a:avLst/>
          </a:prstGeom>
          <a:noFill/>
          <a:ln w="15240">
            <a:solidFill>
              <a:srgbClr val="DDE8F7"/>
            </a:solidFill>
            <a:prstDash val="solid"/>
          </a:ln>
        </p:spPr>
      </p:sp>
      <p:sp>
        <p:nvSpPr>
          <p:cNvPr id="88" name="Text 86">
            <a:hlinkClick r:id="rId5" action="ppaction://hlinksldjump" tooltip="Menuju Implementasi"/>
          </p:cNvPr>
          <p:cNvSpPr/>
          <p:nvPr/>
        </p:nvSpPr>
        <p:spPr>
          <a:xfrm>
            <a:off x="4773168" y="6464808"/>
            <a:ext cx="685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u="sng" dirty="0">
                <a:solidFill>
                  <a:srgbClr val="687385"/>
                </a:solidFill>
                <a:hlinkClick r:id="rId5" action="ppaction://hlinksldjump" tooltip="Menuju Implementasi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Implementasi</a:t>
            </a:r>
            <a:endParaRPr lang="en-US" sz="680" dirty="0"/>
          </a:p>
        </p:txBody>
      </p:sp>
      <p:sp>
        <p:nvSpPr>
          <p:cNvPr id="89" name="Shape 87"/>
          <p:cNvSpPr/>
          <p:nvPr/>
        </p:nvSpPr>
        <p:spPr>
          <a:xfrm>
            <a:off x="7178040" y="6254496"/>
            <a:ext cx="146304" cy="146304"/>
          </a:xfrm>
          <a:prstGeom prst="ellipse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7342632" y="6327648"/>
            <a:ext cx="1947672" cy="0"/>
          </a:xfrm>
          <a:prstGeom prst="line">
            <a:avLst/>
          </a:prstGeom>
          <a:noFill/>
          <a:ln w="15240">
            <a:solidFill>
              <a:srgbClr val="DDE8F7"/>
            </a:solidFill>
            <a:prstDash val="solid"/>
          </a:ln>
        </p:spPr>
      </p:sp>
      <p:sp>
        <p:nvSpPr>
          <p:cNvPr id="91" name="Text 89">
            <a:hlinkClick r:id="rId6" action="ppaction://hlinksldjump" tooltip="Menuju Pengujian"/>
          </p:cNvPr>
          <p:cNvSpPr/>
          <p:nvPr/>
        </p:nvSpPr>
        <p:spPr>
          <a:xfrm>
            <a:off x="6922008" y="6464808"/>
            <a:ext cx="685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u="sng" dirty="0">
                <a:solidFill>
                  <a:srgbClr val="687385"/>
                </a:solidFill>
                <a:hlinkClick r:id="rId6" action="ppaction://hlinksldjump" tooltip="Menuju Pengujia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Pengujian</a:t>
            </a:r>
            <a:endParaRPr lang="en-US" sz="680" dirty="0"/>
          </a:p>
        </p:txBody>
      </p:sp>
      <p:sp>
        <p:nvSpPr>
          <p:cNvPr id="92" name="Shape 90"/>
          <p:cNvSpPr/>
          <p:nvPr/>
        </p:nvSpPr>
        <p:spPr>
          <a:xfrm>
            <a:off x="9326880" y="6254496"/>
            <a:ext cx="146304" cy="146304"/>
          </a:xfrm>
          <a:prstGeom prst="ellipse">
            <a:avLst/>
          </a:prstGeom>
          <a:solidFill>
            <a:srgbClr val="6E3FE5"/>
          </a:solidFill>
          <a:ln w="12700">
            <a:solidFill>
              <a:srgbClr val="6E3FE5"/>
            </a:solidFill>
            <a:prstDash val="solid"/>
          </a:ln>
        </p:spPr>
      </p:sp>
      <p:sp>
        <p:nvSpPr>
          <p:cNvPr id="93" name="Text 91">
            <a:hlinkClick r:id="rId7" action="ppaction://hlinksldjump" tooltip="Menuju Penutup"/>
          </p:cNvPr>
          <p:cNvSpPr/>
          <p:nvPr/>
        </p:nvSpPr>
        <p:spPr>
          <a:xfrm>
            <a:off x="9070848" y="6464808"/>
            <a:ext cx="685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u="sng" dirty="0">
                <a:solidFill>
                  <a:srgbClr val="6E3FE5"/>
                </a:solidFill>
                <a:hlinkClick r:id="rId7" action="ppaction://hlinksldjump" tooltip="Menuju Penutu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Penutup</a:t>
            </a:r>
            <a:endParaRPr lang="en-US" sz="680" dirty="0"/>
          </a:p>
        </p:txBody>
      </p:sp>
      <p:sp>
        <p:nvSpPr>
          <p:cNvPr id="94" name="Shape 92"/>
          <p:cNvSpPr/>
          <p:nvPr/>
        </p:nvSpPr>
        <p:spPr>
          <a:xfrm>
            <a:off x="9784080" y="6455664"/>
            <a:ext cx="1783080" cy="246888"/>
          </a:xfrm>
          <a:prstGeom prst="roundRect">
            <a:avLst>
              <a:gd name="adj" fmla="val 29630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DCE8F8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9893808" y="6492240"/>
            <a:ext cx="1554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873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  •  Referensi</a:t>
            </a:r>
            <a:endParaRPr lang="en-US" sz="800" dirty="0"/>
          </a:p>
        </p:txBody>
      </p:sp>
      <p:grpSp>
        <p:nvGrpSpPr>
          <p:cNvPr id="96" name="Group 95">
            <a:extLst>
              <a:ext uri="{FF2B5EF4-FFF2-40B4-BE49-F238E27FC236}">
                <a16:creationId xmlns:a16="http://schemas.microsoft.com/office/drawing/2014/main" id="{E539FB85-CEB6-FA48-4118-BDAED2DFB34F}"/>
              </a:ext>
            </a:extLst>
          </p:cNvPr>
          <p:cNvGrpSpPr/>
          <p:nvPr/>
        </p:nvGrpSpPr>
        <p:grpSpPr>
          <a:xfrm>
            <a:off x="3977640" y="256032"/>
            <a:ext cx="4251960" cy="713232"/>
            <a:chOff x="3977640" y="256032"/>
            <a:chExt cx="4251960" cy="713232"/>
          </a:xfrm>
        </p:grpSpPr>
        <p:sp>
          <p:nvSpPr>
            <p:cNvPr id="97" name="Shape 51">
              <a:extLst>
                <a:ext uri="{FF2B5EF4-FFF2-40B4-BE49-F238E27FC236}">
                  <a16:creationId xmlns:a16="http://schemas.microsoft.com/office/drawing/2014/main" id="{1C7EE56C-961E-D3CB-6D80-26B1C62C9321}"/>
                </a:ext>
              </a:extLst>
            </p:cNvPr>
            <p:cNvSpPr/>
            <p:nvPr/>
          </p:nvSpPr>
          <p:spPr>
            <a:xfrm>
              <a:off x="3977640" y="256032"/>
              <a:ext cx="4251960" cy="713232"/>
            </a:xfrm>
            <a:prstGeom prst="roundRect">
              <a:avLst>
                <a:gd name="adj" fmla="val 17949"/>
              </a:avLst>
            </a:prstGeom>
            <a:solidFill>
              <a:srgbClr val="FFFFFF"/>
            </a:solidFill>
            <a:ln w="12700">
              <a:solidFill>
                <a:srgbClr val="E0E8F6">
                  <a:alpha val="85000"/>
                </a:srgbClr>
              </a:solidFill>
              <a:prstDash val="solid"/>
            </a:ln>
            <a:effectLst>
              <a:outerShdw blurRad="25400" dist="50800" dir="2700000" algn="bl" rotWithShape="0">
                <a:srgbClr val="97A6BF">
                  <a:alpha val="12000"/>
                </a:srgbClr>
              </a:outerShdw>
            </a:effectLst>
          </p:spPr>
        </p:sp>
        <p:sp>
          <p:nvSpPr>
            <p:cNvPr id="98" name="Text 54">
              <a:extLst>
                <a:ext uri="{FF2B5EF4-FFF2-40B4-BE49-F238E27FC236}">
                  <a16:creationId xmlns:a16="http://schemas.microsoft.com/office/drawing/2014/main" id="{205AFABB-7E0C-C4BE-A080-A8F2CB7B4317}"/>
                </a:ext>
              </a:extLst>
            </p:cNvPr>
            <p:cNvSpPr/>
            <p:nvPr/>
          </p:nvSpPr>
          <p:spPr>
            <a:xfrm>
              <a:off x="4727448" y="402336"/>
              <a:ext cx="114300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800" b="1" dirty="0">
                  <a:solidFill>
                    <a:srgbClr val="0B1F53"/>
                  </a:solidFill>
                  <a:latin typeface="Aptos Display" pitchFamily="34" charset="0"/>
                  <a:ea typeface="Aptos Display" pitchFamily="34" charset="-122"/>
                  <a:cs typeface="Aptos Display" pitchFamily="34" charset="-120"/>
                </a:rPr>
                <a:t>ITENAS</a:t>
              </a:r>
              <a:endParaRPr lang="en-US" sz="1800" dirty="0"/>
            </a:p>
          </p:txBody>
        </p:sp>
        <p:sp>
          <p:nvSpPr>
            <p:cNvPr id="99" name="Text 55">
              <a:extLst>
                <a:ext uri="{FF2B5EF4-FFF2-40B4-BE49-F238E27FC236}">
                  <a16:creationId xmlns:a16="http://schemas.microsoft.com/office/drawing/2014/main" id="{95889A2C-A273-09E0-F03B-5DFC6E4E316D}"/>
                </a:ext>
              </a:extLst>
            </p:cNvPr>
            <p:cNvSpPr/>
            <p:nvPr/>
          </p:nvSpPr>
          <p:spPr>
            <a:xfrm>
              <a:off x="4736592" y="640080"/>
              <a:ext cx="123444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650" dirty="0">
                  <a:solidFill>
                    <a:srgbClr val="0B1F53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Institut Teknologi Nasional</a:t>
              </a:r>
              <a:endParaRPr lang="en-US" sz="650" dirty="0"/>
            </a:p>
            <a:p>
              <a:pPr marL="0" indent="0">
                <a:buNone/>
              </a:pPr>
              <a:r>
                <a:rPr lang="en-US" sz="650" dirty="0">
                  <a:solidFill>
                    <a:srgbClr val="0B1F53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Bandung</a:t>
              </a:r>
              <a:endParaRPr lang="en-US" sz="650" dirty="0"/>
            </a:p>
          </p:txBody>
        </p:sp>
        <p:sp>
          <p:nvSpPr>
            <p:cNvPr id="100" name="Shape 56">
              <a:extLst>
                <a:ext uri="{FF2B5EF4-FFF2-40B4-BE49-F238E27FC236}">
                  <a16:creationId xmlns:a16="http://schemas.microsoft.com/office/drawing/2014/main" id="{DCD31316-29C2-E7E0-248F-BC49040881F7}"/>
                </a:ext>
              </a:extLst>
            </p:cNvPr>
            <p:cNvSpPr/>
            <p:nvPr/>
          </p:nvSpPr>
          <p:spPr>
            <a:xfrm>
              <a:off x="6126480" y="411480"/>
              <a:ext cx="0" cy="402336"/>
            </a:xfrm>
            <a:prstGeom prst="line">
              <a:avLst/>
            </a:prstGeom>
            <a:noFill/>
            <a:ln w="12700">
              <a:solidFill>
                <a:srgbClr val="B8C2E8"/>
              </a:solidFill>
              <a:prstDash val="solid"/>
            </a:ln>
          </p:spPr>
        </p:sp>
        <p:sp>
          <p:nvSpPr>
            <p:cNvPr id="101" name="Text 58">
              <a:extLst>
                <a:ext uri="{FF2B5EF4-FFF2-40B4-BE49-F238E27FC236}">
                  <a16:creationId xmlns:a16="http://schemas.microsoft.com/office/drawing/2014/main" id="{7696E3B0-C20E-9883-731E-C8BD0670AECA}"/>
                </a:ext>
              </a:extLst>
            </p:cNvPr>
            <p:cNvSpPr/>
            <p:nvPr/>
          </p:nvSpPr>
          <p:spPr>
            <a:xfrm>
              <a:off x="6830568" y="457200"/>
              <a:ext cx="109728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700" b="1" dirty="0">
                  <a:solidFill>
                    <a:srgbClr val="C00000"/>
                  </a:solidFill>
                  <a:latin typeface="Aptos Display" pitchFamily="34" charset="0"/>
                  <a:ea typeface="Aptos Display" pitchFamily="34" charset="-122"/>
                  <a:cs typeface="Aptos Display" pitchFamily="34" charset="-120"/>
                </a:rPr>
                <a:t>Informatika</a:t>
              </a:r>
              <a:endParaRPr lang="en-US" sz="1700" dirty="0">
                <a:solidFill>
                  <a:srgbClr val="C00000"/>
                </a:solidFill>
              </a:endParaRPr>
            </a:p>
          </p:txBody>
        </p:sp>
        <p:pic>
          <p:nvPicPr>
            <p:cNvPr id="102" name="Picture 101">
              <a:extLst>
                <a:ext uri="{FF2B5EF4-FFF2-40B4-BE49-F238E27FC236}">
                  <a16:creationId xmlns:a16="http://schemas.microsoft.com/office/drawing/2014/main" id="{7A3C31C7-3A35-F59F-1AC3-0FF35DA79F8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 l="34755" t="29153" r="36238" b="33855"/>
            <a:stretch>
              <a:fillRect/>
            </a:stretch>
          </p:blipFill>
          <p:spPr>
            <a:xfrm>
              <a:off x="6300861" y="396716"/>
              <a:ext cx="346827" cy="345948"/>
            </a:xfrm>
            <a:prstGeom prst="rect">
              <a:avLst/>
            </a:prstGeom>
          </p:spPr>
        </p:pic>
        <p:pic>
          <p:nvPicPr>
            <p:cNvPr id="103" name="Picture 102">
              <a:extLst>
                <a:ext uri="{FF2B5EF4-FFF2-40B4-BE49-F238E27FC236}">
                  <a16:creationId xmlns:a16="http://schemas.microsoft.com/office/drawing/2014/main" id="{3A9B08A8-2C68-6D6C-1F31-6FE60A1C21DC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4133088" y="339090"/>
              <a:ext cx="565404" cy="565404"/>
            </a:xfrm>
            <a:prstGeom prst="rect">
              <a:avLst/>
            </a:prstGeom>
          </p:spPr>
        </p:pic>
      </p:grp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942</TotalTime>
  <Words>1369</Words>
  <Application>Microsoft Office PowerPoint</Application>
  <PresentationFormat>Widescreen</PresentationFormat>
  <Paragraphs>371</Paragraphs>
  <Slides>18</Slides>
  <Notes>18</Notes>
  <HiddenSlides>2</HiddenSlides>
  <MMClips>2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Aptos</vt:lpstr>
      <vt:lpstr>Aptos Display</vt:lpstr>
      <vt:lpstr>Arial</vt:lpstr>
      <vt:lpstr>Segoe UI Emoji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Seminar Hasil - Pengukuran Tinggi Badan Berbasis Computer Vision</dc:title>
  <dc:subject>Seminar Hasil</dc:subject>
  <dc:creator>OpenAI</dc:creator>
  <cp:lastModifiedBy>khayla fitriani</cp:lastModifiedBy>
  <cp:revision>3</cp:revision>
  <dcterms:created xsi:type="dcterms:W3CDTF">2026-07-13T00:14:55Z</dcterms:created>
  <dcterms:modified xsi:type="dcterms:W3CDTF">2026-07-13T18:19:37Z</dcterms:modified>
</cp:coreProperties>
</file>