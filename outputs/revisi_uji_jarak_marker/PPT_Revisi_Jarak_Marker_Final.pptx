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63" r:id="rId14"/>
    <p:sldId id="274" r:id="rId15"/>
    <p:sldId id="270" r:id="rId16"/>
    <p:sldId id="273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5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BCEE-543B-D915-D139-A13C1665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AF2ED-DD03-8145-7A9A-7A4EE5338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502E0-B153-DD82-8330-157C2988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5997-5396-3A17-299D-6314B6F0D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17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microsoft.com/office/2007/relationships/media" Target="../media/media2.mp4"/><Relationship Id="rId7" Type="http://schemas.openxmlformats.org/officeDocument/2006/relationships/image" Target="../media/image1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3.xml"/><Relationship Id="rId4" Type="http://schemas.openxmlformats.org/officeDocument/2006/relationships/slide" Target="slide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651760" y="1600200"/>
            <a:ext cx="182880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87752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600200"/>
            <a:ext cx="192024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46920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138988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1143000" y="1993392"/>
            <a:ext cx="992124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600200" y="2377440"/>
            <a:ext cx="900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Pengukuran Tinggi Badan Berbasis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Vision dengan Menggunakan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Perspective Correction dan Pose Estimation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 Meningkatkan Robustness Sistem</a:t>
            </a:r>
            <a:endParaRPr lang="en-US" sz="3100" dirty="0"/>
          </a:p>
        </p:txBody>
      </p:sp>
      <p:sp>
        <p:nvSpPr>
          <p:cNvPr id="69" name="Shape 67"/>
          <p:cNvSpPr/>
          <p:nvPr/>
        </p:nvSpPr>
        <p:spPr>
          <a:xfrm>
            <a:off x="14173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6184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6184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092" dirty="0"/>
          </a:p>
        </p:txBody>
      </p:sp>
      <p:sp>
        <p:nvSpPr>
          <p:cNvPr id="72" name="Text 70"/>
          <p:cNvSpPr/>
          <p:nvPr/>
        </p:nvSpPr>
        <p:spPr>
          <a:xfrm>
            <a:off x="21031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Perspective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Correction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39319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1330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1330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◉</a:t>
            </a:r>
            <a:endParaRPr lang="en-US" sz="1092" dirty="0"/>
          </a:p>
        </p:txBody>
      </p:sp>
      <p:sp>
        <p:nvSpPr>
          <p:cNvPr id="76" name="Text 74"/>
          <p:cNvSpPr/>
          <p:nvPr/>
        </p:nvSpPr>
        <p:spPr>
          <a:xfrm>
            <a:off x="46177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Pose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Estimation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465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6476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6476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092" dirty="0"/>
          </a:p>
        </p:txBody>
      </p:sp>
      <p:sp>
        <p:nvSpPr>
          <p:cNvPr id="80" name="Text 78"/>
          <p:cNvSpPr/>
          <p:nvPr/>
        </p:nvSpPr>
        <p:spPr>
          <a:xfrm>
            <a:off x="71323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Contour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Measurement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9611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1622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91622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092" dirty="0"/>
          </a:p>
        </p:txBody>
      </p:sp>
      <p:sp>
        <p:nvSpPr>
          <p:cNvPr id="84" name="Text 82"/>
          <p:cNvSpPr/>
          <p:nvPr/>
        </p:nvSpPr>
        <p:spPr>
          <a:xfrm>
            <a:off x="96469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File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Result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1325880" y="5532120"/>
            <a:ext cx="950976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554480" y="5687568"/>
            <a:ext cx="384048" cy="38404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55448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92" dirty="0"/>
          </a:p>
        </p:txBody>
      </p:sp>
      <p:sp>
        <p:nvSpPr>
          <p:cNvPr id="88" name="Text 86"/>
          <p:cNvSpPr/>
          <p:nvPr/>
        </p:nvSpPr>
        <p:spPr>
          <a:xfrm>
            <a:off x="2075688" y="56509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Khayla Giri Fitriani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Presenter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50208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06240" y="5687568"/>
            <a:ext cx="384048" cy="38404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420624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1092" dirty="0"/>
          </a:p>
        </p:txBody>
      </p:sp>
      <p:sp>
        <p:nvSpPr>
          <p:cNvPr id="92" name="Text 90"/>
          <p:cNvSpPr/>
          <p:nvPr/>
        </p:nvSpPr>
        <p:spPr>
          <a:xfrm>
            <a:off x="4736592" y="5650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Program Studi </a:t>
            </a:r>
            <a:r>
              <a:rPr lang="en-US" sz="920" dirty="0" err="1">
                <a:solidFill>
                  <a:srgbClr val="0B1F53"/>
                </a:solidFill>
              </a:rPr>
              <a:t>Informatika</a:t>
            </a:r>
            <a:r>
              <a:rPr lang="en-US" sz="920" dirty="0">
                <a:solidFill>
                  <a:srgbClr val="0B1F53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920" dirty="0" err="1"/>
              <a:t>Fakultas</a:t>
            </a:r>
            <a:r>
              <a:rPr lang="en-US" sz="920" dirty="0"/>
              <a:t> </a:t>
            </a:r>
            <a:r>
              <a:rPr lang="en-US" sz="920" dirty="0" err="1"/>
              <a:t>Teknologi</a:t>
            </a:r>
            <a:r>
              <a:rPr lang="en-US" sz="920" dirty="0"/>
              <a:t> Industri</a:t>
            </a:r>
          </a:p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Institut Teknologi Nasional Bandung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626096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56875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790956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092" dirty="0"/>
          </a:p>
        </p:txBody>
      </p:sp>
      <p:sp>
        <p:nvSpPr>
          <p:cNvPr id="96" name="Text 94"/>
          <p:cNvSpPr/>
          <p:nvPr/>
        </p:nvSpPr>
        <p:spPr>
          <a:xfrm>
            <a:off x="8430768" y="56784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Pembimbing: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Lisa Kristiana dan Auralius Oberman Manurung</a:t>
            </a:r>
            <a:endParaRPr lang="en-US" sz="890" dirty="0"/>
          </a:p>
        </p:txBody>
      </p:sp>
      <p:sp>
        <p:nvSpPr>
          <p:cNvPr id="97" name="Shape 95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Cover</a:t>
            </a:r>
            <a:endParaRPr lang="en-US" sz="8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770753-7A09-9CBA-E351-E831A000758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53" name="Shape 51"/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56" name="Text 54"/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3DD33EFE-FEA8-512C-2019-24DD71A15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7F6D50F1-3B5A-BF79-853E-FD9D69894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713232" y="1572768"/>
            <a:ext cx="1080820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E4EC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60120" y="1847088"/>
            <a:ext cx="438912" cy="43891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60120" y="18562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8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248" dirty="0"/>
          </a:p>
        </p:txBody>
      </p:sp>
      <p:sp>
        <p:nvSpPr>
          <p:cNvPr id="70" name="Text 68"/>
          <p:cNvSpPr/>
          <p:nvPr/>
        </p:nvSpPr>
        <p:spPr>
          <a:xfrm>
            <a:off x="1538097" y="184785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71" name="Shape 69"/>
          <p:cNvSpPr/>
          <p:nvPr/>
        </p:nvSpPr>
        <p:spPr>
          <a:xfrm>
            <a:off x="1024128" y="2514600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4128" y="25648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508760" y="247802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Tinggi badan merupakan parameter antropometri yang penting untuk menilai status gizi, pertumbuhan, dan kondisi fisik.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8394192" y="2514600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85632" y="259232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Mocini et al., 2023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1024128" y="313639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4128" y="31866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08760" y="309981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manual masih dapat dipengaruhi oleh prosedur, postur subjek, pembacaan alat, dan konsistensi pengamat.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8394192" y="3136392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99348" y="320497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Graybeal et al., 2023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1024128" y="37581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" y="38084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508760" y="372160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Kamera smartphone dan computer vision membuka peluang pengukuran tinggi badan secara lebih praktis dan efisien.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8394192" y="3758184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84108" y="3840481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Majmudar et al., 2022; Tinsley et al., 2024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1024128" y="437997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4128" y="44302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508760" y="434340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berbasis citra masih menghadapi distorsi perspektif, kebutuhan skala absolut, dan ketepatan batas tubuh.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8394192" y="4379976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03920" y="444855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Nguyen Trung et al., 2024; Wang et al., 2025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1024128" y="5001768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24128" y="505206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508760" y="49651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Penelitian ini mengintegrasikan ArUco marker, perspective correction, dan MediaPipe Pose untuk meningkatkan robustness sistem.</a:t>
            </a:r>
            <a:endParaRPr lang="en-US" sz="125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4043D19-2FF0-846A-BBF0-E1AB27076F66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A7F0B6D0-0802-3B7E-1AB1-56FEBCC3EDCB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7D63501E-6C43-456F-15FB-671FBAA3E53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C457BE8C-76F7-81FB-ACB7-C280D5EE662E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4ED4C8E1-4834-2675-5974-494AC06BFA9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6AB7A691-F7C0-41F4-F050-646CCEC031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9BF0D264-2E21-7E05-45EC-78056AE88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BAE44934-CCCA-D9C2-8CFC-6980DB47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Rumusan Masalah</a:t>
            </a:r>
            <a:endParaRPr lang="en-US" sz="3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C2C65E-9F73-989D-411C-DE73C2C5DB2D}"/>
              </a:ext>
            </a:extLst>
          </p:cNvPr>
          <p:cNvGrpSpPr/>
          <p:nvPr/>
        </p:nvGrpSpPr>
        <p:grpSpPr>
          <a:xfrm>
            <a:off x="6308900" y="2322575"/>
            <a:ext cx="4983480" cy="1298448"/>
            <a:chOff x="914400" y="2359152"/>
            <a:chExt cx="4983480" cy="1298448"/>
          </a:xfrm>
        </p:grpSpPr>
        <p:sp>
          <p:nvSpPr>
            <p:cNvPr id="68" name="Shape 66"/>
            <p:cNvSpPr/>
            <p:nvPr/>
          </p:nvSpPr>
          <p:spPr>
            <a:xfrm>
              <a:off x="914400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69" name="Shape 67"/>
            <p:cNvSpPr/>
            <p:nvPr/>
          </p:nvSpPr>
          <p:spPr>
            <a:xfrm>
              <a:off x="1143000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1143000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02</a:t>
              </a:r>
              <a:endParaRPr lang="en-US" sz="23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2240280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</a:t>
              </a:r>
              <a:r>
                <a:rPr lang="en-US" sz="1430" b="1" dirty="0" err="1">
                  <a:solidFill>
                    <a:srgbClr val="0B1F53"/>
                  </a:solidFill>
                </a:rPr>
                <a:t>melakukan</a:t>
              </a:r>
              <a:r>
                <a:rPr lang="en-US" sz="1430" b="1" dirty="0">
                  <a:solidFill>
                    <a:srgbClr val="0B1F53"/>
                  </a:solidFill>
                </a:rPr>
                <a:t> perspective correction pada citra agar geometri papan referensi menjadi konsisten?</a:t>
              </a:r>
              <a:endParaRPr lang="en-US" sz="143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239512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5257800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⌗</a:t>
              </a:r>
              <a:endParaRPr lang="en-US" sz="14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032F67-098E-F289-876F-E74DB9301FD6}"/>
              </a:ext>
            </a:extLst>
          </p:cNvPr>
          <p:cNvGrpSpPr/>
          <p:nvPr/>
        </p:nvGrpSpPr>
        <p:grpSpPr>
          <a:xfrm>
            <a:off x="877824" y="2304472"/>
            <a:ext cx="5065776" cy="1298448"/>
            <a:chOff x="6291072" y="2359152"/>
            <a:chExt cx="5065776" cy="1298448"/>
          </a:xfrm>
        </p:grpSpPr>
        <p:sp>
          <p:nvSpPr>
            <p:cNvPr id="7" name="Shape 5"/>
            <p:cNvSpPr/>
            <p:nvPr/>
          </p:nvSpPr>
          <p:spPr>
            <a:xfrm>
              <a:off x="11301984" y="2706624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11301984" y="3145536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11301984" y="3584448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291072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75" name="Shape 73"/>
            <p:cNvSpPr/>
            <p:nvPr/>
          </p:nvSpPr>
          <p:spPr>
            <a:xfrm>
              <a:off x="6519672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6519672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01</a:t>
              </a:r>
              <a:endParaRPr lang="en-US" sz="23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7616952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memanfaatkan ArUco marker sebagai referensi skala dan </a:t>
              </a:r>
              <a:r>
                <a:rPr lang="en-US" sz="1430" b="1" dirty="0" err="1">
                  <a:solidFill>
                    <a:srgbClr val="0B1F53"/>
                  </a:solidFill>
                </a:rPr>
                <a:t>acuan</a:t>
              </a:r>
              <a:r>
                <a:rPr lang="en-US" sz="1430" b="1" dirty="0">
                  <a:solidFill>
                    <a:srgbClr val="0B1F53"/>
                  </a:solidFill>
                </a:rPr>
                <a:t> </a:t>
              </a:r>
              <a:r>
                <a:rPr lang="en-US" sz="1430" b="1" dirty="0" err="1">
                  <a:solidFill>
                    <a:srgbClr val="0B1F53"/>
                  </a:solidFill>
                </a:rPr>
                <a:t>dalam</a:t>
              </a:r>
              <a:r>
                <a:rPr lang="en-US" sz="1430" b="1" dirty="0">
                  <a:solidFill>
                    <a:srgbClr val="0B1F53"/>
                  </a:solidFill>
                </a:rPr>
                <a:t> pengukuran tinggi badan?</a:t>
              </a:r>
              <a:endParaRPr lang="en-US" sz="143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10616184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10634472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▦</a:t>
              </a:r>
              <a:endParaRPr lang="en-US" sz="1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AF8D33-D702-DFE5-DF1A-06CA4A819420}"/>
              </a:ext>
            </a:extLst>
          </p:cNvPr>
          <p:cNvGrpSpPr/>
          <p:nvPr/>
        </p:nvGrpSpPr>
        <p:grpSpPr>
          <a:xfrm>
            <a:off x="914400" y="4233672"/>
            <a:ext cx="4983480" cy="1298448"/>
            <a:chOff x="914400" y="4233672"/>
            <a:chExt cx="4983480" cy="1298448"/>
          </a:xfrm>
        </p:grpSpPr>
        <p:sp>
          <p:nvSpPr>
            <p:cNvPr id="80" name="Shape 78"/>
            <p:cNvSpPr/>
            <p:nvPr/>
          </p:nvSpPr>
          <p:spPr>
            <a:xfrm>
              <a:off x="914400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1" name="Shape 79"/>
            <p:cNvSpPr/>
            <p:nvPr/>
          </p:nvSpPr>
          <p:spPr>
            <a:xfrm>
              <a:off x="1143000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1143000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03</a:t>
              </a:r>
              <a:endParaRPr lang="en-US" sz="23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2240280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menentukan titik puncak kepala dan titik kaki terbawah dari hasil pose estimation secara memadai?</a:t>
              </a:r>
              <a:endParaRPr lang="en-US" sz="143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5239512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5257800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🧍</a:t>
              </a:r>
              <a:endParaRPr lang="en-US" sz="14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26A607-0BCC-EB22-2AB4-C32BC51ACF5A}"/>
              </a:ext>
            </a:extLst>
          </p:cNvPr>
          <p:cNvGrpSpPr/>
          <p:nvPr/>
        </p:nvGrpSpPr>
        <p:grpSpPr>
          <a:xfrm>
            <a:off x="6291072" y="4233672"/>
            <a:ext cx="4983480" cy="1298448"/>
            <a:chOff x="6291072" y="4233672"/>
            <a:chExt cx="4983480" cy="1298448"/>
          </a:xfrm>
        </p:grpSpPr>
        <p:sp>
          <p:nvSpPr>
            <p:cNvPr id="86" name="Shape 84"/>
            <p:cNvSpPr/>
            <p:nvPr/>
          </p:nvSpPr>
          <p:spPr>
            <a:xfrm>
              <a:off x="6291072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7" name="Shape 85"/>
            <p:cNvSpPr/>
            <p:nvPr/>
          </p:nvSpPr>
          <p:spPr>
            <a:xfrm>
              <a:off x="6519672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6519672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04</a:t>
              </a:r>
              <a:endParaRPr lang="en-US" sz="23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7616952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Seberapa akurat hasil pengukuran aplikasi dibandingkan dengan pengukuran aktual menggunakan stadiometer?</a:t>
              </a:r>
              <a:endParaRPr lang="en-US" sz="143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10616184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10634472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▥</a:t>
              </a:r>
              <a:endParaRPr lang="en-US" sz="14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FF8A9C5-0C8C-936C-02CE-A90865F523A9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0" name="Shape 51">
              <a:extLst>
                <a:ext uri="{FF2B5EF4-FFF2-40B4-BE49-F238E27FC236}">
                  <a16:creationId xmlns:a16="http://schemas.microsoft.com/office/drawing/2014/main" id="{3D0F96AD-3073-31F8-0740-6DD8A8254F7A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1" name="Text 54">
              <a:extLst>
                <a:ext uri="{FF2B5EF4-FFF2-40B4-BE49-F238E27FC236}">
                  <a16:creationId xmlns:a16="http://schemas.microsoft.com/office/drawing/2014/main" id="{03880E34-2BBB-05D8-A260-69FCFC61756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2" name="Text 55">
              <a:extLst>
                <a:ext uri="{FF2B5EF4-FFF2-40B4-BE49-F238E27FC236}">
                  <a16:creationId xmlns:a16="http://schemas.microsoft.com/office/drawing/2014/main" id="{7ECF625B-FB9B-A8B0-35A4-8F71512C6D3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3" name="Shape 56">
              <a:extLst>
                <a:ext uri="{FF2B5EF4-FFF2-40B4-BE49-F238E27FC236}">
                  <a16:creationId xmlns:a16="http://schemas.microsoft.com/office/drawing/2014/main" id="{C55A3CFD-E59D-00A9-8772-BF5103C1E53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4" name="Text 58">
              <a:extLst>
                <a:ext uri="{FF2B5EF4-FFF2-40B4-BE49-F238E27FC236}">
                  <a16:creationId xmlns:a16="http://schemas.microsoft.com/office/drawing/2014/main" id="{ECF0C497-BC99-6A06-CC66-D25A50DD0D69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AD3EFE2-3C2E-2E9E-FAF4-04CAC6FA1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6E1C26F-335F-6B58-DD64-14D850518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31652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9356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1652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49356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31652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9356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Penelitian</a:t>
            </a:r>
            <a:endParaRPr lang="en-US" sz="3400" dirty="0"/>
          </a:p>
        </p:txBody>
      </p:sp>
      <p:sp>
        <p:nvSpPr>
          <p:cNvPr id="75" name="Shape 73"/>
          <p:cNvSpPr/>
          <p:nvPr/>
        </p:nvSpPr>
        <p:spPr>
          <a:xfrm>
            <a:off x="1330452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559052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9052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116836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63140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▱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2171700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50492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Menerapkan perspective correction </a:t>
            </a:r>
            <a:r>
              <a:rPr lang="en-US" sz="1300" dirty="0" err="1">
                <a:solidFill>
                  <a:srgbClr val="0B1F53"/>
                </a:solidFill>
              </a:rPr>
              <a:t>untuk</a:t>
            </a:r>
            <a:r>
              <a:rPr lang="en-US" sz="1300" dirty="0">
                <a:solidFill>
                  <a:srgbClr val="0B1F53"/>
                </a:solidFill>
              </a:rPr>
              <a:t> memperbaiki distorsi perspektif.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75504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04104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04104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961888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08192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100" dirty="0"/>
          </a:p>
        </p:txBody>
      </p:sp>
      <p:sp>
        <p:nvSpPr>
          <p:cNvPr id="87" name="Shape 85"/>
          <p:cNvSpPr/>
          <p:nvPr/>
        </p:nvSpPr>
        <p:spPr>
          <a:xfrm>
            <a:off x="6016752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95544" y="383133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53"/>
                </a:solidFill>
              </a:rPr>
              <a:t>Menggunakan MediaPipe Pose untuk memperoleh landmark </a:t>
            </a:r>
            <a:r>
              <a:rPr lang="en-US" sz="1300" dirty="0" err="1">
                <a:solidFill>
                  <a:srgbClr val="0B1F53"/>
                </a:solidFill>
              </a:rPr>
              <a:t>tubuh</a:t>
            </a:r>
            <a:r>
              <a:rPr lang="en-US" sz="1300" dirty="0">
                <a:solidFill>
                  <a:srgbClr val="0B1F53"/>
                </a:solidFill>
              </a:rPr>
              <a:t> dan </a:t>
            </a:r>
            <a:r>
              <a:rPr lang="en-US" sz="1300" dirty="0" err="1">
                <a:solidFill>
                  <a:srgbClr val="0B1F53"/>
                </a:solidFill>
              </a:rPr>
              <a:t>memperoleh</a:t>
            </a:r>
            <a:r>
              <a:rPr lang="en-US" sz="1300" dirty="0">
                <a:solidFill>
                  <a:srgbClr val="0B1F53"/>
                </a:solidFill>
              </a:rPr>
              <a:t> estimasi titik kepala serta kaki.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846820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9075420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75420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633204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79508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100" dirty="0"/>
          </a:p>
        </p:txBody>
      </p:sp>
      <p:sp>
        <p:nvSpPr>
          <p:cNvPr id="94" name="Shape 92"/>
          <p:cNvSpPr/>
          <p:nvPr/>
        </p:nvSpPr>
        <p:spPr>
          <a:xfrm>
            <a:off x="9688068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66860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Mengukur tinggi badan dan mengevaluasi akurasi hasil aplikasi menggunakan galat absolut dan MAE.</a:t>
            </a:r>
            <a:endParaRPr lang="en-US" sz="13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EA37741-8769-9F9A-81A0-F463D8547868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4" name="Shape 51">
              <a:extLst>
                <a:ext uri="{FF2B5EF4-FFF2-40B4-BE49-F238E27FC236}">
                  <a16:creationId xmlns:a16="http://schemas.microsoft.com/office/drawing/2014/main" id="{BCB9FD85-309F-B2FB-E2B8-5FDD28B41B35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5" name="Text 54">
              <a:extLst>
                <a:ext uri="{FF2B5EF4-FFF2-40B4-BE49-F238E27FC236}">
                  <a16:creationId xmlns:a16="http://schemas.microsoft.com/office/drawing/2014/main" id="{F4E85A0B-FC42-5F3C-434E-092DE22B58EA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6" name="Text 55">
              <a:extLst>
                <a:ext uri="{FF2B5EF4-FFF2-40B4-BE49-F238E27FC236}">
                  <a16:creationId xmlns:a16="http://schemas.microsoft.com/office/drawing/2014/main" id="{169A79F5-A33B-454D-A55E-8E9AE2A2A55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7" name="Shape 56">
              <a:extLst>
                <a:ext uri="{FF2B5EF4-FFF2-40B4-BE49-F238E27FC236}">
                  <a16:creationId xmlns:a16="http://schemas.microsoft.com/office/drawing/2014/main" id="{7A343C1B-CFBC-85AF-B3C9-A17F89EE8894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8" name="Text 58">
              <a:extLst>
                <a:ext uri="{FF2B5EF4-FFF2-40B4-BE49-F238E27FC236}">
                  <a16:creationId xmlns:a16="http://schemas.microsoft.com/office/drawing/2014/main" id="{CD2D2C3A-9370-012D-CDEB-043DA77A917B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2D4B79F6-5F7E-6814-CE50-0C3E2A5C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E5560F6-A884-62B1-FD92-3631CBFF0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48640" y="1280160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Ruang Lingkup Penelitian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234440" y="1810512"/>
            <a:ext cx="9738360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719072" y="2057400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65960" y="2167128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63240" y="2148840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83280" y="2194560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224485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58767" y="2157984"/>
            <a:ext cx="63672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berupa citra </a:t>
            </a:r>
            <a:r>
              <a:rPr lang="en-US" sz="1300" b="1" dirty="0" err="1">
                <a:solidFill>
                  <a:srgbClr val="0B1F53"/>
                </a:solidFill>
              </a:rPr>
              <a:t>tubuh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dengan</a:t>
            </a:r>
            <a:r>
              <a:rPr lang="en-US" sz="1300" b="1" dirty="0">
                <a:solidFill>
                  <a:srgbClr val="0B1F53"/>
                </a:solidFill>
              </a:rPr>
              <a:t> subjek berdiri di depan </a:t>
            </a:r>
            <a:r>
              <a:rPr lang="en-US" sz="1300" b="1" dirty="0" err="1">
                <a:solidFill>
                  <a:srgbClr val="0B1F53"/>
                </a:solidFill>
              </a:rPr>
              <a:t>papan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ArUco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ukuran</a:t>
            </a:r>
            <a:r>
              <a:rPr lang="en-US" sz="1300" b="1" dirty="0">
                <a:solidFill>
                  <a:srgbClr val="0B1F53"/>
                </a:solidFill>
              </a:rPr>
              <a:t> 200 cm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719072" y="2807208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965960" y="291693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65960" y="2980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063240" y="2898648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83280" y="2944368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0" y="29946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858767" y="2907792"/>
            <a:ext cx="636726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Perspective correction dilakukan apabila sedikitnya empat marker valid terdeteksi.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719072" y="3557016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965960" y="3666744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65960" y="37307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63240" y="3648456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3694176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3744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858768" y="3657600"/>
            <a:ext cx="6080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Sistem difokuskan pada satu subjek/orang dalam satu citra.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719072" y="4306824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965960" y="44165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65960" y="448056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063240" y="4398264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4443984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0" y="44942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858768" y="4407408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Pengolahan citra menggunakan OpenCV, sedangkan pose estimation menggunakan MediaPipe Pose pada platform Android.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719072" y="5056632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965960" y="5166360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65960" y="5230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63240" y="5148072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193792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83280" y="52440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858768" y="5157216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Evaluasi dilakukan pada 15 citra uji dengan pembanding tinggi aktual dari stadiometer.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E791611-689A-1043-10FC-A3F2A77B4D14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DEF895C8-312C-E71B-DBFD-741909744A58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C590B523-3176-F187-737A-BF4910D494EB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BBCA31EF-F341-05B6-4339-F5B4F27524C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C93107-E9EC-FB87-96AE-9E6688CC876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80023372-9DF4-9AAD-F3B7-6D249CE0F3A0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A85B5F6-2F93-E91B-7D8E-E3ADE2320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64FB637-FADC-A369-9C7E-1C48DF4D7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 Penelitian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59436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7160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7160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430" dirty="0"/>
          </a:p>
        </p:txBody>
      </p:sp>
      <p:sp>
        <p:nvSpPr>
          <p:cNvPr id="71" name="Text 69"/>
          <p:cNvSpPr/>
          <p:nvPr/>
        </p:nvSpPr>
        <p:spPr>
          <a:xfrm>
            <a:off x="75895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Citra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7724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Foto </a:t>
            </a:r>
            <a:r>
              <a:rPr lang="en-US" sz="1300" dirty="0" err="1"/>
              <a:t>tubuh</a:t>
            </a:r>
            <a:r>
              <a:rPr lang="en-US" sz="1300" dirty="0"/>
              <a:t>  dipilih dari </a:t>
            </a:r>
            <a:r>
              <a:rPr lang="en-US" sz="1300" dirty="0" err="1"/>
              <a:t>perangkat</a:t>
            </a:r>
            <a:r>
              <a:rPr lang="en-US" sz="1300" dirty="0"/>
              <a:t> </a:t>
            </a:r>
            <a:r>
              <a:rPr lang="en-US" sz="1300" dirty="0" err="1"/>
              <a:t>galeri</a:t>
            </a:r>
            <a:r>
              <a:rPr lang="en-US" sz="1300" dirty="0"/>
              <a:t> </a:t>
            </a:r>
            <a:r>
              <a:rPr lang="en-US" sz="1300" dirty="0" err="1"/>
              <a:t>atau</a:t>
            </a:r>
            <a:r>
              <a:rPr lang="en-US" sz="1300" dirty="0"/>
              <a:t> </a:t>
            </a:r>
            <a:r>
              <a:rPr lang="en-US" sz="1300" dirty="0" err="1"/>
              <a:t>kamera</a:t>
            </a:r>
            <a:r>
              <a:rPr lang="en-US" sz="1300" dirty="0"/>
              <a:t>.</a:t>
            </a:r>
          </a:p>
        </p:txBody>
      </p:sp>
      <p:sp>
        <p:nvSpPr>
          <p:cNvPr id="73" name="Shape 71"/>
          <p:cNvSpPr/>
          <p:nvPr/>
        </p:nvSpPr>
        <p:spPr>
          <a:xfrm>
            <a:off x="267004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8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70332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70332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430" dirty="0"/>
          </a:p>
        </p:txBody>
      </p:sp>
      <p:sp>
        <p:nvSpPr>
          <p:cNvPr id="77" name="Text 75"/>
          <p:cNvSpPr/>
          <p:nvPr/>
        </p:nvSpPr>
        <p:spPr>
          <a:xfrm>
            <a:off x="309067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Deteksi ArUco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10896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Marker menjadi acuan geometri dan skala.</a:t>
            </a:r>
          </a:p>
        </p:txBody>
      </p:sp>
      <p:sp>
        <p:nvSpPr>
          <p:cNvPr id="79" name="Shape 77"/>
          <p:cNvSpPr/>
          <p:nvPr/>
        </p:nvSpPr>
        <p:spPr>
          <a:xfrm>
            <a:off x="500176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5780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03504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03504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430" dirty="0"/>
          </a:p>
        </p:txBody>
      </p:sp>
      <p:sp>
        <p:nvSpPr>
          <p:cNvPr id="83" name="Text 81"/>
          <p:cNvSpPr/>
          <p:nvPr/>
        </p:nvSpPr>
        <p:spPr>
          <a:xfrm>
            <a:off x="542239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Homografi RANSAC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44068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Koreksi perspektif dilakukan jika ≥ 4 marker valid.</a:t>
            </a:r>
          </a:p>
        </p:txBody>
      </p:sp>
      <p:sp>
        <p:nvSpPr>
          <p:cNvPr id="85" name="Shape 83"/>
          <p:cNvSpPr/>
          <p:nvPr/>
        </p:nvSpPr>
        <p:spPr>
          <a:xfrm>
            <a:off x="733348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8952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36676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836676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1430" dirty="0"/>
          </a:p>
        </p:txBody>
      </p:sp>
      <p:sp>
        <p:nvSpPr>
          <p:cNvPr id="89" name="Text 87"/>
          <p:cNvSpPr/>
          <p:nvPr/>
        </p:nvSpPr>
        <p:spPr>
          <a:xfrm>
            <a:off x="775411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MediaPipe Pose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77240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satu subjek.</a:t>
            </a:r>
          </a:p>
        </p:txBody>
      </p:sp>
      <p:sp>
        <p:nvSpPr>
          <p:cNvPr id="91" name="Shape 89"/>
          <p:cNvSpPr/>
          <p:nvPr/>
        </p:nvSpPr>
        <p:spPr>
          <a:xfrm>
            <a:off x="966520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2124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69848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1069848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430" dirty="0"/>
          </a:p>
        </p:txBody>
      </p:sp>
      <p:sp>
        <p:nvSpPr>
          <p:cNvPr id="95" name="Text 93"/>
          <p:cNvSpPr/>
          <p:nvPr/>
        </p:nvSpPr>
        <p:spPr>
          <a:xfrm>
            <a:off x="1008583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Estimasi Tinggi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010412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Titik kepala–kaki dikonversi ke sentimeter.</a:t>
            </a:r>
          </a:p>
        </p:txBody>
      </p:sp>
      <p:sp>
        <p:nvSpPr>
          <p:cNvPr id="97" name="Shape 95"/>
          <p:cNvSpPr/>
          <p:nvPr/>
        </p:nvSpPr>
        <p:spPr>
          <a:xfrm>
            <a:off x="1143000" y="4800600"/>
            <a:ext cx="9875520" cy="658368"/>
          </a:xfrm>
          <a:prstGeom prst="roundRect">
            <a:avLst>
              <a:gd name="adj" fmla="val 25000"/>
            </a:avLst>
          </a:prstGeom>
          <a:solidFill>
            <a:srgbClr val="F7F3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1417320" y="498348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0B1F53"/>
                </a:solidFill>
              </a:rPr>
              <a:t>ArUco</a:t>
            </a:r>
            <a:r>
              <a:rPr lang="en-US" sz="1300" dirty="0">
                <a:solidFill>
                  <a:srgbClr val="0B1F53"/>
                </a:solidFill>
              </a:rPr>
              <a:t> marker menyediakan skala dan titik acuan, homografi memperbaiki perspektif, lalu landmark MediaPipe digunakan untuk estimasi tinggi badan.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7FAA8B7-FFF1-327E-5A7E-3AB2BBC73FC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0E155A94-901E-24BC-7B0D-3B552E3FF026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7DE399E7-F95F-B749-3B6A-6FC6BB173160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55C18CC0-ECA5-61AC-92ED-5C727C7CFA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0EF25D-74D1-C4AA-146C-A006CF425E4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507E50C9-4D1E-A0A3-63D4-334130D095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E0FCC1C-26CD-5A1B-C7FE-A87F5D43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55EDEEB-2E4E-F6E8-FA6F-3E8A6175B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Perspective Correction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822960" y="2286000"/>
            <a:ext cx="475488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115568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Peran ArUco Marker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1143000" y="3090672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141537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508759" y="3044952"/>
            <a:ext cx="3882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/>
              <a:t>DICT_6X6_1000 digunakan untuk mendeteksi marker.</a:t>
            </a:r>
          </a:p>
        </p:txBody>
      </p:sp>
      <p:sp>
        <p:nvSpPr>
          <p:cNvPr id="73" name="Shape 71"/>
          <p:cNvSpPr/>
          <p:nvPr/>
        </p:nvSpPr>
        <p:spPr>
          <a:xfrm>
            <a:off x="1143000" y="3602736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43000" y="36583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508760" y="3557016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Minimal empat marker valid diperlukan agar homografi dapat dihitung.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143000" y="4114800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8237" y="4165665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508760" y="4069080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Tinggi papan referensi diketahui sebesar 200 cm sebagai skala fisik.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172200" y="2286000"/>
            <a:ext cx="5074920" cy="16733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473952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Transformasi Homografi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6502527" y="305904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53"/>
                </a:solidFill>
              </a:rPr>
              <a:t>RANSAC digunakan untuk mengurangi pengaruh titik pasangan yang menyimpang sehingga hasil koreksi perspektif lebih stabil.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222492" y="4393691"/>
            <a:ext cx="5024628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39740" y="4427601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Hasil: bidang papan menjadi lebih konsisten sebelum pose estimation</a:t>
            </a:r>
            <a:endParaRPr lang="en-US" sz="12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D83C421-6B34-BF36-EA6A-9CAB98F50C9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D2087EAA-E9B8-B5B9-A113-AF49B3798422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37AE6F8D-D5F8-50CE-F9CE-5D3B8C517A0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4AC0BA6F-F4D4-86AB-A84F-7F3C351E253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DA5D722D-58D0-941C-5B5B-0C72947201E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26EAC86A-7E9E-EA6D-5839-8078DC86AEE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9C6663C9-E50C-A35B-FE17-BDCFD6323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9969E97-D566-715F-BD13-5BC231D0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Pose Estimation dan Perhitungan Tinggi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73152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84832" y="2487168"/>
            <a:ext cx="640080" cy="6400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084832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100584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MediaPipe Pose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078992" y="3685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pada implementasi aplikasi ini untuk satu subjek/orang.</a:t>
            </a:r>
          </a:p>
        </p:txBody>
      </p:sp>
      <p:sp>
        <p:nvSpPr>
          <p:cNvPr id="73" name="Shape 71"/>
          <p:cNvSpPr/>
          <p:nvPr/>
        </p:nvSpPr>
        <p:spPr>
          <a:xfrm>
            <a:off x="443484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779008" y="2487168"/>
            <a:ext cx="640080" cy="64008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779008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⌃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470916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Estimasi Titik Tubuh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709160" y="3685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Puncak kepala diperkirakan dari landmark wajah dan bahu. Titik kaki terbawah dipilih dari pergelangan kaki, tumit, dan ujung kaki.</a:t>
            </a:r>
          </a:p>
        </p:txBody>
      </p:sp>
      <p:sp>
        <p:nvSpPr>
          <p:cNvPr id="78" name="Shape 76"/>
          <p:cNvSpPr/>
          <p:nvPr/>
        </p:nvSpPr>
        <p:spPr>
          <a:xfrm>
            <a:off x="8138160" y="2240280"/>
            <a:ext cx="333756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464040" y="248716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9464040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800" dirty="0"/>
          </a:p>
        </p:txBody>
      </p:sp>
      <p:sp>
        <p:nvSpPr>
          <p:cNvPr id="81" name="Text 79"/>
          <p:cNvSpPr/>
          <p:nvPr/>
        </p:nvSpPr>
        <p:spPr>
          <a:xfrm>
            <a:off x="84124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Konversi ke cm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8394192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Jarak piksel kepala–kaki dikonversi menggunakan tinggi papan 200 cm, kemudian disesuaikan dengan koreksi kedalaman dan kalibrasi.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915D4C7-3D2E-6EC5-E80E-50B26FCA583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78E8668F-183D-EA52-5453-2BBAD76F85E3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F967A10A-7311-79A7-7231-7168643BF64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288A78D3-6565-DD41-3F8D-D1CF87B9C6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E5B39BBB-AEF0-214B-1852-0D9600484D8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38101591-6F08-314A-63DB-CB2087C563F1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864AC998-7A8A-F84F-3E55-7FA35F28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AFCB8840-8A7E-CCE9-D3B6-F5C716C81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Skenario Pengujian Sistem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914400" y="2194560"/>
            <a:ext cx="1033272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43000" y="2423160"/>
            <a:ext cx="9875520" cy="411480"/>
          </a:xfrm>
          <a:prstGeom prst="roundRect">
            <a:avLst>
              <a:gd name="adj" fmla="val 15556"/>
            </a:avLst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53312" y="25420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Pengujian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291840" y="25420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Parameter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400800" y="254203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Tujuan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43000" y="2971800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53312" y="309981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1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3291840" y="309981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Dimensi dan susunan marker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400800" y="309981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Memastikan ukuran fisik sesuai geometri kode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143000" y="3502152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53312" y="36301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3291840" y="363016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PX_PER_CELL 100, 120, 150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400800" y="363016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Memilih skala bidang tujuan dengan MAE terkecil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143000" y="4032504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53312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3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291840" y="41605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Hasil aplikasi vs tinggi aktual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400800" y="416052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Menilai akurasi pengukuran dengan stadiometer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143000" y="4562856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53312" y="46908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3FE5"/>
                </a:solidFill>
              </a:rPr>
              <a:t>Pengujian 4-5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3291840" y="469087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Koef. top head; jarak 0/5/10 cm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400800" y="4690872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nl-NL" sz="1300">
                <a:solidFill>
                  <a:srgbClr val="687385"/>
                </a:solidFill>
              </a:rPr>
              <a:t>Memilih koefisien dan jarak dengan MAE terendah</a:t>
            </a:r>
            <a:endParaRPr lang="en-US" sz="130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42F329-258D-0A8D-665F-C4144C3AD17C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34ED03DC-CEA0-A77D-14A2-50B52554AC8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D496A3EE-7C87-FA69-5C41-1634A0443B6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4245EB4A-4D3F-4D2A-1A9C-2985A501734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204ADBA9-0492-66D0-31A6-7F6D29AC1A3D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02E41596-2DD4-2E15-1F9F-455C60E40ADE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D41BB68-4A39-9F68-0DA2-0973CFAF8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515F629-3555-E2C2-0989-7A2C2CDB7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Pengujian Skala Piksel</a:t>
            </a:r>
            <a:endParaRPr lang="en-US" sz="3400" dirty="0"/>
          </a:p>
        </p:txBody>
      </p:sp>
      <p:sp>
        <p:nvSpPr>
          <p:cNvPr id="82" name="Shape 80"/>
          <p:cNvSpPr/>
          <p:nvPr/>
        </p:nvSpPr>
        <p:spPr>
          <a:xfrm>
            <a:off x="6812280" y="210312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1323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Konfigurasi Terpilih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7178040" y="290779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60920" y="3017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PX_PER_CELL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595360" y="299923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3FE5"/>
                </a:solidFill>
              </a:rPr>
              <a:t>120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178040" y="341071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60920" y="352044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Tinggi papan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595360" y="350215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2.322 px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178040" y="391363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60920" y="402336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Skala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8595360" y="400507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0,08613 cm/px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7178040" y="441655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60920" y="45262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Output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8595360" y="450799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1.320 × 3.036 px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063240" y="5715000"/>
            <a:ext cx="61722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63240" y="575157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Dipilih karena menghasilkan MAE paling kecil pada 15 citra uji</a:t>
            </a:r>
            <a:endParaRPr lang="en-US" sz="13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76DC85D-9F73-5859-3F10-CD41B9ACB7B5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45811218-EE30-9203-B2FE-6D1B34791DF7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E3753DA0-12C6-F4C0-5B89-1B54D12F837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D7C87393-4A57-E3E1-C71A-E4E7F02C2A0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A42DC49E-00F0-723D-3A22-75BC7464735E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52DA5CF9-17D4-C4E0-D810-48B13771A17F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79ACB4A0-91B1-E00E-5EF1-613CA8310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131E2E3-1E3D-B509-1576-6192873C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C655269-F731-3855-8012-89662D45F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" y="2322322"/>
            <a:ext cx="5214156" cy="28714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Akurasi Aplikasi Menggunakan MAE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103120"/>
            <a:ext cx="67208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818120" y="210312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1381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Ringkasan Nilai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8092440" y="280720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66176" y="290779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Total galat absolut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464040" y="288950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23,9 cm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8092440" y="324612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66176" y="3346704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MAE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464040" y="332841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E3FE5"/>
                </a:solidFill>
              </a:rPr>
              <a:t>1,59 cm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092440" y="368503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66176" y="3785616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minimum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464040" y="376732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0,1 cm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8092440" y="412394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4224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maksimum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464040" y="420624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4,9 cm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092440" y="456285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66176" y="466344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Rata-rata galat relatif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9464040" y="46451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0,97%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560320" y="5760720"/>
            <a:ext cx="70866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60320" y="579729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Galat maksimum 4,9 cm memotivasi pengujian lanjutan jarak marker-subjek</a:t>
            </a:r>
            <a:endParaRPr lang="en-US" sz="1200" dirty="0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5A35516D-42F7-AC32-CF9A-B2193D885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" y="3108833"/>
            <a:ext cx="6435298" cy="21158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A5E140-E105-A158-89F3-3EF5AAD730C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197483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Jarak 5 cm Menghasilkan MAE Terendah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685800" y="2011680"/>
            <a:ext cx="53035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645920" y="185623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45920" y="1892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UJI JARAK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1560" y="251460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16152" y="258775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216152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783080" y="265176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10 data pada tiap kondisi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51560" y="310896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16152" y="318211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16152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783080" y="32461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0 cm: MAE 4,53 cm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51560" y="370332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16152" y="377647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216152" y="3785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↓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783080" y="384048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B1F53"/>
                </a:solidFill>
              </a:rPr>
              <a:t>5 cm: MAE 1,78 cm (terbaik)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429768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16152" y="437083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216152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↑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783080" y="443484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ES" sz="1300" b="1">
                <a:solidFill>
                  <a:srgbClr val="0B1F53"/>
                </a:solidFill>
              </a:rPr>
              <a:t>10 cm: MAE 3,15 cm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143000" y="4983480"/>
            <a:ext cx="4480560" cy="0"/>
          </a:xfrm>
          <a:prstGeom prst="line">
            <a:avLst/>
          </a:prstGeom>
          <a:noFill/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43000" y="5175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fi-FI" sz="1140">
                <a:solidFill>
                  <a:srgbClr val="0B1F53"/>
                </a:solidFill>
              </a:rPr>
              <a:t>MAE turun 60,7% dari 0 ke 5 cm, lalu naik 77,0% pada 10 cm.</a:t>
            </a:r>
            <a:endParaRPr lang="en-US" sz="1140" dirty="0"/>
          </a:p>
        </p:txBody>
      </p:sp>
      <p:sp>
        <p:nvSpPr>
          <p:cNvPr id="84" name="Shape 82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2700">
            <a:solidFill>
              <a:srgbClr val="FFD7D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086600" y="185623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73737"/>
          </a:solidFill>
          <a:ln w="12700">
            <a:solidFill>
              <a:srgbClr val="D73737">
                <a:alpha val="9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HASIL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629400" y="2487168"/>
            <a:ext cx="45262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5240">
            <a:solidFill>
              <a:srgbClr val="D737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9712" y="2642616"/>
            <a:ext cx="365760" cy="365760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839712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40" dirty="0"/>
          </a:p>
        </p:txBody>
      </p:sp>
      <p:sp>
        <p:nvSpPr>
          <p:cNvPr id="90" name="Text 88"/>
          <p:cNvSpPr/>
          <p:nvPr/>
        </p:nvSpPr>
        <p:spPr>
          <a:xfrm>
            <a:off x="7406640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F172A"/>
                </a:solidFill>
              </a:rPr>
              <a:t>Terlalu menempel pada marker meningkatkan galat pada data uji.</a:t>
            </a:r>
            <a:endParaRPr lang="en-US" sz="1550" dirty="0"/>
          </a:p>
        </p:txBody>
      </p:sp>
      <p:sp>
        <p:nvSpPr>
          <p:cNvPr id="92" name="Shape 90"/>
          <p:cNvSpPr/>
          <p:nvPr/>
        </p:nvSpPr>
        <p:spPr>
          <a:xfrm>
            <a:off x="6629400" y="3456432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93992" y="3602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7360920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Jarak terlalu jauh kembali menurunkan akurasi.</a:t>
            </a:r>
            <a:endParaRPr lang="en-US" sz="1070" dirty="0"/>
          </a:p>
        </p:txBody>
      </p:sp>
      <p:sp>
        <p:nvSpPr>
          <p:cNvPr id="95" name="Shape 93"/>
          <p:cNvSpPr/>
          <p:nvPr/>
        </p:nvSpPr>
        <p:spPr>
          <a:xfrm>
            <a:off x="6629400" y="416966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93992" y="43159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97" name="Text 95"/>
          <p:cNvSpPr/>
          <p:nvPr/>
        </p:nvSpPr>
        <p:spPr>
          <a:xfrm>
            <a:off x="736092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>
                <a:solidFill>
                  <a:srgbClr val="0B1F53"/>
                </a:solidFill>
              </a:rPr>
              <a:t>Jarak marker-subjek memengaruhi MAE secara deskriptif.</a:t>
            </a:r>
            <a:endParaRPr lang="en-US" sz="1070" dirty="0"/>
          </a:p>
        </p:txBody>
      </p:sp>
      <p:sp>
        <p:nvSpPr>
          <p:cNvPr id="98" name="Shape 96"/>
          <p:cNvSpPr/>
          <p:nvPr/>
        </p:nvSpPr>
        <p:spPr>
          <a:xfrm>
            <a:off x="6629400" y="488289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5029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360920" y="4983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i-FI" sz="1070">
                <a:solidFill>
                  <a:srgbClr val="0B1F53"/>
                </a:solidFill>
              </a:rPr>
              <a:t>Rekomendasi awal: pertahankan jarak sekitar 5 cm.</a:t>
            </a:r>
            <a:endParaRPr lang="en-US" sz="107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DFC984-B4D9-4D0E-B5C9-C3AB1A2CB5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640080" y="1444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Aplikasi</a:t>
            </a:r>
            <a:endParaRPr lang="en-US" sz="4000" dirty="0"/>
          </a:p>
        </p:txBody>
      </p:sp>
      <p:sp>
        <p:nvSpPr>
          <p:cNvPr id="63" name="Shape 61"/>
          <p:cNvSpPr/>
          <p:nvPr/>
        </p:nvSpPr>
        <p:spPr>
          <a:xfrm>
            <a:off x="713232" y="2029968"/>
            <a:ext cx="3657600" cy="0"/>
          </a:xfrm>
          <a:prstGeom prst="line">
            <a:avLst/>
          </a:prstGeom>
          <a:noFill/>
          <a:ln w="20320">
            <a:solidFill>
              <a:srgbClr val="6E3F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2304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53"/>
                </a:solidFill>
              </a:rPr>
              <a:t>Tampilan antarmuka aplikasi Height Measurement yang sederhana, informatif, dan mudah digunakan.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713232" y="3063240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13232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⌂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170432" y="3291840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91640" y="3017520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901952" y="3099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Menu utama aplikasi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901952" y="32918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Height Measurement</a:t>
            </a:r>
            <a:endParaRPr lang="en-US" sz="910" dirty="0"/>
          </a:p>
        </p:txBody>
      </p:sp>
      <p:sp>
        <p:nvSpPr>
          <p:cNvPr id="71" name="Shape 69"/>
          <p:cNvSpPr/>
          <p:nvPr/>
        </p:nvSpPr>
        <p:spPr>
          <a:xfrm>
            <a:off x="713232" y="3867912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13232" y="3877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70432" y="4096512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91640" y="3822192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901952" y="39044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Empat fitur utama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901952" y="40965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Perspective Correction, MediaPipe Pose, Measurement, dan File Result</a:t>
            </a:r>
            <a:endParaRPr lang="en-US" sz="910" dirty="0"/>
          </a:p>
        </p:txBody>
      </p:sp>
      <p:sp>
        <p:nvSpPr>
          <p:cNvPr id="77" name="Shape 75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13232" y="46817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1170432" y="4901184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91640" y="4626864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901952" y="47091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Usage Tips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901952" y="4901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Membantu pengguna memahami fungsi tiap menu</a:t>
            </a:r>
            <a:endParaRPr lang="en-US" sz="91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B8EE3FC-9F99-8129-BEF4-2E062010054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995F8BCD-E675-170F-4421-12F11E53D8E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2E563F00-211C-2868-9028-C8764050410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204A426E-A937-7C98-E6E3-CFEF8401192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DB5D3DCB-AECB-405D-7FB9-CDEF7658BB8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428FA39E-B3E2-689B-0D5B-7F0C723DA7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6605A9A-E75C-8525-A3D3-B7EBB20C6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A4229F8-5C02-3E71-6139-2F5E11770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A419A6B-3257-BF88-F09C-908AC9B67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815" y="155448"/>
            <a:ext cx="3857625" cy="6858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B3B17B00-0259-306B-E56D-D68AFC85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907" y="9144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A713A-CDBD-3F06-46FD-C5BC55DC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BDE697-BB8D-7B79-EAB5-7D86C3C27F87}"/>
              </a:ext>
            </a:extLst>
          </p:cNvPr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A082E8-BD18-7937-B687-CFFFE7A234A1}"/>
              </a:ext>
            </a:extLst>
          </p:cNvPr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43BAE-F55A-46DB-D4B4-66194D80B64D}"/>
              </a:ext>
            </a:extLst>
          </p:cNvPr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966928-2C19-A759-8037-A3FBEF5389FC}"/>
              </a:ext>
            </a:extLst>
          </p:cNvPr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3201FE1-D46D-842D-9E63-65B042F8B083}"/>
              </a:ext>
            </a:extLst>
          </p:cNvPr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7EB6C6-D7DD-5D93-F194-A5CA8BD196F8}"/>
              </a:ext>
            </a:extLst>
          </p:cNvPr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AECBDDA-14B0-B3BA-2EAC-6661D059F359}"/>
              </a:ext>
            </a:extLst>
          </p:cNvPr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82DCD8-4B0A-25BD-5841-56252D31E82C}"/>
              </a:ext>
            </a:extLst>
          </p:cNvPr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6D2FB2-1D87-CC85-BFED-87BEA195D572}"/>
              </a:ext>
            </a:extLst>
          </p:cNvPr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861BB7-0021-B3EE-266C-1C0B27FB2BF1}"/>
              </a:ext>
            </a:extLst>
          </p:cNvPr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7BD2E12-CBBF-7AA8-3EEB-12639D45ACC4}"/>
              </a:ext>
            </a:extLst>
          </p:cNvPr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DB21C4-A5C4-0E86-7AA8-FC123E947D90}"/>
              </a:ext>
            </a:extLst>
          </p:cNvPr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945A99-87D2-19BE-DA3B-221F42ABC97F}"/>
              </a:ext>
            </a:extLst>
          </p:cNvPr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9BE4E7D-27CA-CFA2-E9F4-2182C62A4157}"/>
              </a:ext>
            </a:extLst>
          </p:cNvPr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8378B4-5406-FDA3-8AF5-3EE2079323CD}"/>
              </a:ext>
            </a:extLst>
          </p:cNvPr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A3E06C1-E8D1-D15B-0521-B583A087E978}"/>
              </a:ext>
            </a:extLst>
          </p:cNvPr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8F40126-050F-81D9-BB48-CEFFA72A0371}"/>
              </a:ext>
            </a:extLst>
          </p:cNvPr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D98BC67-04AF-4AFF-8173-50481FE7316F}"/>
              </a:ext>
            </a:extLst>
          </p:cNvPr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6C31E50-07CC-D934-09A7-3BA5D49B368F}"/>
              </a:ext>
            </a:extLst>
          </p:cNvPr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FA6F1A6-B1AF-EC3A-A6B4-5DFA083C44D3}"/>
              </a:ext>
            </a:extLst>
          </p:cNvPr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D5FBE8-3BFA-E7B7-B835-A6488450F229}"/>
              </a:ext>
            </a:extLst>
          </p:cNvPr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985C946-DD25-5B1E-CE37-50F87DEC74BE}"/>
              </a:ext>
            </a:extLst>
          </p:cNvPr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639984E-F989-8CA7-55E0-4789E52F7811}"/>
              </a:ext>
            </a:extLst>
          </p:cNvPr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94B3FF2-E271-B01F-6B21-F8A717BE40D1}"/>
              </a:ext>
            </a:extLst>
          </p:cNvPr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5EB619C-A66E-321F-8334-7D7B0FC6653E}"/>
              </a:ext>
            </a:extLst>
          </p:cNvPr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6AA2ACA-83C7-6242-BB94-C4DDFA2D5563}"/>
              </a:ext>
            </a:extLst>
          </p:cNvPr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8FFEAF1-214F-0357-A513-D172E53B7282}"/>
              </a:ext>
            </a:extLst>
          </p:cNvPr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3D67820-EDE4-BBBB-54EC-ECCF67395E01}"/>
              </a:ext>
            </a:extLst>
          </p:cNvPr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C23D93E-B1B6-34AD-DA69-4EB9D6698D58}"/>
              </a:ext>
            </a:extLst>
          </p:cNvPr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EC2DCB09-B4AA-E04D-8856-9BA9FDEBF8E7}"/>
              </a:ext>
            </a:extLst>
          </p:cNvPr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8250212-B516-6DDF-DDEF-FEB77D09995F}"/>
              </a:ext>
            </a:extLst>
          </p:cNvPr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19C0A54-2173-48EC-C207-3EAA9EFD21B7}"/>
              </a:ext>
            </a:extLst>
          </p:cNvPr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9D4232F-05C2-D4C9-3DB0-A1CF3465B5D5}"/>
              </a:ext>
            </a:extLst>
          </p:cNvPr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Implementasi</a:t>
            </a: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</a:rPr>
              <a:t> pada </a:t>
            </a: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aplikasi</a:t>
            </a:r>
            <a:endParaRPr lang="en-US" sz="3400" b="1" dirty="0">
              <a:solidFill>
                <a:srgbClr val="0B1F53"/>
              </a:solidFill>
              <a:latin typeface="Aptos Display" pitchFamily="34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34F7D60-35C7-2921-B2BC-4D970C5DFDD3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16F1C0AC-6D0F-5BC1-BF63-31221C31FBCF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8D9CC213-18EB-DB2A-8163-7D7A529DC2A5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10925954-2F7A-2012-4019-07C66E96CF7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A8DE7FFF-F426-82C5-DA85-FCE95D0759A6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C631A713-CE4E-552D-A329-21C86D9F75E2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EFACB316-43F0-DCDB-3428-231C96581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298DB26-D836-E1D0-A841-A4EC7054D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54" name="Gray Minimalist Notification Spa Your Story  (1)">
            <a:hlinkClick r:id="" action="ppaction://media"/>
            <a:extLst>
              <a:ext uri="{FF2B5EF4-FFF2-40B4-BE49-F238E27FC236}">
                <a16:creationId xmlns:a16="http://schemas.microsoft.com/office/drawing/2014/main" id="{DFB14BC8-5CBE-18AD-A62E-A27EE9E0C4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883838" y="2020824"/>
            <a:ext cx="2285651" cy="4063379"/>
          </a:xfrm>
          <a:prstGeom prst="rect">
            <a:avLst/>
          </a:prstGeom>
        </p:spPr>
      </p:pic>
      <p:pic>
        <p:nvPicPr>
          <p:cNvPr id="56" name="Gray Minimalist Notification Spa Your Story  (2)">
            <a:hlinkClick r:id="" action="ppaction://media"/>
            <a:extLst>
              <a:ext uri="{FF2B5EF4-FFF2-40B4-BE49-F238E27FC236}">
                <a16:creationId xmlns:a16="http://schemas.microsoft.com/office/drawing/2014/main" id="{0A12CBB3-D702-D8BE-67F5-6007CE65B0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102352" y="2039126"/>
            <a:ext cx="2283714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7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50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317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1097280" y="2176272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25880" y="226771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25880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874520" y="2304288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Aplikasi Android berhasil mengintegrasikan ArUco marker, perspective correction, dan MediaPipe Pose untuk estimasi tinggi badan berbasis citra tubuh penuh.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97280" y="2980944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325880" y="30723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325880" y="308152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874520" y="3108960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PX_PER_CELL = 120 dan koefisien top head 0,35/0,10 dipilih sebagai konfigurasi utama.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097280" y="3785616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325880" y="387705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325880" y="388620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874520" y="3913632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Uji utama 15 citra: MAE 1,59 cm; galat maksimum 4,9 cm.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097280" y="4590288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325880" y="4681728"/>
            <a:ext cx="310896" cy="310896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325880" y="46908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!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1874520" y="4718304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B1F53"/>
                </a:solidFill>
              </a:rPr>
              <a:t>Uji jarak: MAE terendah 1,78 cm pada 5 cm; jarak perlu dikendalikan.</a:t>
            </a:r>
            <a:endParaRPr lang="en-US" sz="13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8CB8D51-19BB-A447-9367-4297E9B4480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1C05F8E3-FBE6-1E67-2563-7771653238CC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3" name="Text 54">
              <a:extLst>
                <a:ext uri="{FF2B5EF4-FFF2-40B4-BE49-F238E27FC236}">
                  <a16:creationId xmlns:a16="http://schemas.microsoft.com/office/drawing/2014/main" id="{72D24660-D775-7CBC-071A-7A29C3A374F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4" name="Text 55">
              <a:extLst>
                <a:ext uri="{FF2B5EF4-FFF2-40B4-BE49-F238E27FC236}">
                  <a16:creationId xmlns:a16="http://schemas.microsoft.com/office/drawing/2014/main" id="{B593E7F5-CC6C-9758-D0E1-6C6BDEA9F5F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5" name="Shape 56">
              <a:extLst>
                <a:ext uri="{FF2B5EF4-FFF2-40B4-BE49-F238E27FC236}">
                  <a16:creationId xmlns:a16="http://schemas.microsoft.com/office/drawing/2014/main" id="{5816A3F4-4B9B-ED5D-8B98-D01EC251EF71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6" name="Text 58">
              <a:extLst>
                <a:ext uri="{FF2B5EF4-FFF2-40B4-BE49-F238E27FC236}">
                  <a16:creationId xmlns:a16="http://schemas.microsoft.com/office/drawing/2014/main" id="{2A01C273-3DA2-EC98-DD3E-3563A67CF7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3DF6294-6763-88B6-4079-460C30725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C9FBE3F-DAC4-75DF-1698-C159E06F9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1440180" y="2792299"/>
            <a:ext cx="9372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5000" dirty="0"/>
          </a:p>
        </p:txBody>
      </p:sp>
      <p:sp>
        <p:nvSpPr>
          <p:cNvPr id="68" name="Text 66"/>
          <p:cNvSpPr/>
          <p:nvPr/>
        </p:nvSpPr>
        <p:spPr>
          <a:xfrm>
            <a:off x="4892040" y="5669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Khayla Giri Fitriani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913632" y="59253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85"/>
                </a:solidFill>
              </a:rPr>
              <a:t>Program Studi Informatika — Institut Teknologi Nasional Bandung</a:t>
            </a:r>
            <a:endParaRPr lang="en-US" sz="95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0315AB-55ED-4B86-DADB-FAB22E31269E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73" name="Shape 51">
              <a:extLst>
                <a:ext uri="{FF2B5EF4-FFF2-40B4-BE49-F238E27FC236}">
                  <a16:creationId xmlns:a16="http://schemas.microsoft.com/office/drawing/2014/main" id="{492EE586-8E71-3450-6A69-9B084B73DEC0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74" name="Text 54">
              <a:extLst>
                <a:ext uri="{FF2B5EF4-FFF2-40B4-BE49-F238E27FC236}">
                  <a16:creationId xmlns:a16="http://schemas.microsoft.com/office/drawing/2014/main" id="{23F8130A-69D7-6D2B-86FA-11701077F85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75" name="Text 55">
              <a:extLst>
                <a:ext uri="{FF2B5EF4-FFF2-40B4-BE49-F238E27FC236}">
                  <a16:creationId xmlns:a16="http://schemas.microsoft.com/office/drawing/2014/main" id="{6F6D5309-DB49-C637-A045-E430163AD026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7363D341-CC56-3596-8602-423ED3BD86DB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77" name="Text 58">
              <a:extLst>
                <a:ext uri="{FF2B5EF4-FFF2-40B4-BE49-F238E27FC236}">
                  <a16:creationId xmlns:a16="http://schemas.microsoft.com/office/drawing/2014/main" id="{75F25AE6-C972-5EA9-EB64-EDEDA552F6C3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A8DC90E-1141-3F08-5738-EC95FBBFF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AFE4B0-DF4E-AEAF-9113-599AD3C68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Arah Penelitian di Masa Depan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435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35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52" dirty="0"/>
          </a:p>
        </p:txBody>
      </p:sp>
      <p:sp>
        <p:nvSpPr>
          <p:cNvPr id="71" name="Shape 69"/>
          <p:cNvSpPr/>
          <p:nvPr/>
        </p:nvSpPr>
        <p:spPr>
          <a:xfrm>
            <a:off x="1508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50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Deteksi multi-person</a:t>
            </a:r>
            <a:endParaRPr lang="en-US" sz="1270" dirty="0"/>
          </a:p>
        </p:txBody>
      </p:sp>
      <p:sp>
        <p:nvSpPr>
          <p:cNvPr id="74" name="Text 72"/>
          <p:cNvSpPr/>
          <p:nvPr/>
        </p:nvSpPr>
        <p:spPr>
          <a:xfrm>
            <a:off x="886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Agar aplikasi tidak terbatas pada satu subjek.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2761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4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1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721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721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352" dirty="0"/>
          </a:p>
        </p:txBody>
      </p:sp>
      <p:sp>
        <p:nvSpPr>
          <p:cNvPr id="80" name="Shape 78"/>
          <p:cNvSpPr/>
          <p:nvPr/>
        </p:nvSpPr>
        <p:spPr>
          <a:xfrm>
            <a:off x="3794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94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136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>
                <a:solidFill>
                  <a:srgbClr val="6E3FE5"/>
                </a:solidFill>
              </a:rPr>
              <a:t>Kontrol jarak subjek</a:t>
            </a:r>
            <a:endParaRPr lang="en-US" sz="1270" dirty="0"/>
          </a:p>
        </p:txBody>
      </p:sp>
      <p:sp>
        <p:nvSpPr>
          <p:cNvPr id="83" name="Text 81"/>
          <p:cNvSpPr/>
          <p:nvPr/>
        </p:nvSpPr>
        <p:spPr>
          <a:xfrm>
            <a:off x="3172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sv-SE" sz="980">
                <a:solidFill>
                  <a:srgbClr val="0B1F53"/>
                </a:solidFill>
              </a:rPr>
              <a:t>Panduan otomatis agar jarak mendekati 5 cm.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5047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30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57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007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007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52" dirty="0"/>
          </a:p>
        </p:txBody>
      </p:sp>
      <p:sp>
        <p:nvSpPr>
          <p:cNvPr id="89" name="Shape 87"/>
          <p:cNvSpPr/>
          <p:nvPr/>
        </p:nvSpPr>
        <p:spPr>
          <a:xfrm>
            <a:off x="6080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80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422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Pengujian variasi kondisi</a:t>
            </a:r>
            <a:endParaRPr lang="en-US" sz="1270" dirty="0"/>
          </a:p>
        </p:txBody>
      </p:sp>
      <p:sp>
        <p:nvSpPr>
          <p:cNvPr id="92" name="Text 90"/>
          <p:cNvSpPr/>
          <p:nvPr/>
        </p:nvSpPr>
        <p:spPr>
          <a:xfrm>
            <a:off x="5458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Pencahayaan, sudut kamera, citra buram, dan marker tertutup.</a:t>
            </a:r>
            <a:endParaRPr lang="en-US" sz="980" dirty="0"/>
          </a:p>
        </p:txBody>
      </p:sp>
      <p:sp>
        <p:nvSpPr>
          <p:cNvPr id="93" name="Shape 91"/>
          <p:cNvSpPr/>
          <p:nvPr/>
        </p:nvSpPr>
        <p:spPr>
          <a:xfrm>
            <a:off x="7333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16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43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293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8293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52" dirty="0"/>
          </a:p>
        </p:txBody>
      </p:sp>
      <p:sp>
        <p:nvSpPr>
          <p:cNvPr id="98" name="Shape 96"/>
          <p:cNvSpPr/>
          <p:nvPr/>
        </p:nvSpPr>
        <p:spPr>
          <a:xfrm>
            <a:off x="8366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66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708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Evaluasi deteksi kontur</a:t>
            </a:r>
            <a:endParaRPr lang="en-US" sz="1270" dirty="0"/>
          </a:p>
        </p:txBody>
      </p:sp>
      <p:sp>
        <p:nvSpPr>
          <p:cNvPr id="101" name="Text 99"/>
          <p:cNvSpPr/>
          <p:nvPr/>
        </p:nvSpPr>
        <p:spPr>
          <a:xfrm>
            <a:off x="7744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Menguji peran kontur sebagai informasi pendukung.</a:t>
            </a:r>
            <a:endParaRPr lang="en-US" sz="980" dirty="0"/>
          </a:p>
        </p:txBody>
      </p:sp>
      <p:sp>
        <p:nvSpPr>
          <p:cNvPr id="102" name="Shape 100"/>
          <p:cNvSpPr/>
          <p:nvPr/>
        </p:nvSpPr>
        <p:spPr>
          <a:xfrm>
            <a:off x="9619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02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29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0579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10579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52" dirty="0"/>
          </a:p>
        </p:txBody>
      </p:sp>
      <p:sp>
        <p:nvSpPr>
          <p:cNvPr id="107" name="Shape 105"/>
          <p:cNvSpPr/>
          <p:nvPr/>
        </p:nvSpPr>
        <p:spPr>
          <a:xfrm>
            <a:off x="10652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52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994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Peningkatan UI/UX</a:t>
            </a:r>
            <a:endParaRPr lang="en-US" sz="1270" dirty="0"/>
          </a:p>
        </p:txBody>
      </p:sp>
      <p:sp>
        <p:nvSpPr>
          <p:cNvPr id="110" name="Text 108"/>
          <p:cNvSpPr/>
          <p:nvPr/>
        </p:nvSpPr>
        <p:spPr>
          <a:xfrm>
            <a:off x="10030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Antarmuka lebih adaptif, informatif, dan nyaman digunakan.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1828800" y="5522976"/>
            <a:ext cx="8549640" cy="502920"/>
          </a:xfrm>
          <a:prstGeom prst="roundRect">
            <a:avLst>
              <a:gd name="adj" fmla="val 32727"/>
            </a:avLst>
          </a:prstGeom>
          <a:solidFill>
            <a:srgbClr val="F6F2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2057400" y="567842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F53"/>
                </a:solidFill>
              </a:rPr>
              <a:t>Fokus pengembangan: sistem lebih akurat, adaptif, dan siap digunakan pada kondisi nyata.</a:t>
            </a:r>
            <a:endParaRPr lang="en-US" sz="1220" dirty="0"/>
          </a:p>
        </p:txBody>
      </p:sp>
      <p:sp>
        <p:nvSpPr>
          <p:cNvPr id="113" name="Text 111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6" name="Text 114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9" name="Text 117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2" name="Text 120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123" name="Shape 121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5" name="Text 123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27" name="Text 125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•  Penutup</a:t>
            </a:r>
            <a:endParaRPr lang="en-US" sz="8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49C0DEE-66DB-3A3C-CC85-4B935007743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977640" y="256032"/>
            <a:ext cx="4251960" cy="7132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Referensi Singkat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143000" y="1901952"/>
            <a:ext cx="992124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444752" y="224028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55648" y="22128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Mocini et al. (2023) — Antropometri dan tinggi badan.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1444752" y="267919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55648" y="265176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Graybeal et al. (2023) — Evaluasi pengukuran antropometri berbasis smartphone.</a:t>
            </a:r>
            <a:endParaRPr lang="en-US" sz="1130" dirty="0"/>
          </a:p>
        </p:txBody>
      </p:sp>
      <p:sp>
        <p:nvSpPr>
          <p:cNvPr id="68" name="Shape 66"/>
          <p:cNvSpPr/>
          <p:nvPr/>
        </p:nvSpPr>
        <p:spPr>
          <a:xfrm>
            <a:off x="1444752" y="3118104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55648" y="30906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Majmudar et al. (2022); Tinsley et al. (2024) — Smartphone imaging untuk pengukuran tubuh.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1444752" y="3557016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55648" y="35295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Nguyen Trung et al. (2024) — Non-contact height measurement dan skala piksel.</a:t>
            </a:r>
            <a:endParaRPr lang="en-US" sz="1130" dirty="0"/>
          </a:p>
        </p:txBody>
      </p:sp>
      <p:sp>
        <p:nvSpPr>
          <p:cNvPr id="72" name="Shape 70"/>
          <p:cNvSpPr/>
          <p:nvPr/>
        </p:nvSpPr>
        <p:spPr>
          <a:xfrm>
            <a:off x="1444752" y="3995928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55648" y="39684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Kalaitzakis et al. (2021); Jurado-Rodriguez et al. (2023) — Fiducial marker dan pose estimation.</a:t>
            </a:r>
            <a:endParaRPr lang="en-US" sz="1130" dirty="0"/>
          </a:p>
        </p:txBody>
      </p:sp>
      <p:sp>
        <p:nvSpPr>
          <p:cNvPr id="74" name="Shape 72"/>
          <p:cNvSpPr/>
          <p:nvPr/>
        </p:nvSpPr>
        <p:spPr>
          <a:xfrm>
            <a:off x="1444752" y="443484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55648" y="44074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Luo et al. (2023); Wang et al. (2025) — Homografi dan koreksi distorsi perspektif.</a:t>
            </a:r>
            <a:endParaRPr lang="en-US" sz="1130" dirty="0"/>
          </a:p>
        </p:txBody>
      </p:sp>
      <p:sp>
        <p:nvSpPr>
          <p:cNvPr id="76" name="Shape 74"/>
          <p:cNvSpPr/>
          <p:nvPr/>
        </p:nvSpPr>
        <p:spPr>
          <a:xfrm>
            <a:off x="1444752" y="487375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55648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Kim et al. (2023); Roggio et al. (2024) — MediaPipe Pose dan landmark tubuh.</a:t>
            </a:r>
            <a:endParaRPr lang="en-US" sz="1130" dirty="0"/>
          </a:p>
        </p:txBody>
      </p:sp>
      <p:sp>
        <p:nvSpPr>
          <p:cNvPr id="78" name="Text 76"/>
          <p:cNvSpPr/>
          <p:nvPr/>
        </p:nvSpPr>
        <p:spPr>
          <a:xfrm>
            <a:off x="3474720" y="5623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385"/>
                </a:solidFill>
              </a:rPr>
              <a:t>Daftar pustaka lengkap mengikuti dokumen/jurnal penelitian.</a:t>
            </a:r>
            <a:endParaRPr lang="en-US" sz="1050" dirty="0"/>
          </a:p>
        </p:txBody>
      </p:sp>
      <p:sp>
        <p:nvSpPr>
          <p:cNvPr id="79" name="Text 77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2" name="Text 80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5" name="Text 83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8" name="Text 86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91" name="Text 89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3" name="Text 91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Referensi</a:t>
            </a:r>
            <a:endParaRPr lang="en-US" sz="800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539FB85-CEB6-FA48-4118-BDAED2DFB34F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97" name="Shape 51">
              <a:extLst>
                <a:ext uri="{FF2B5EF4-FFF2-40B4-BE49-F238E27FC236}">
                  <a16:creationId xmlns:a16="http://schemas.microsoft.com/office/drawing/2014/main" id="{1C7EE56C-961E-D3CB-6D80-26B1C62C9321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98" name="Text 54">
              <a:extLst>
                <a:ext uri="{FF2B5EF4-FFF2-40B4-BE49-F238E27FC236}">
                  <a16:creationId xmlns:a16="http://schemas.microsoft.com/office/drawing/2014/main" id="{205AFABB-7E0C-C4BE-A080-A8F2CB7B431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99" name="Text 55">
              <a:extLst>
                <a:ext uri="{FF2B5EF4-FFF2-40B4-BE49-F238E27FC236}">
                  <a16:creationId xmlns:a16="http://schemas.microsoft.com/office/drawing/2014/main" id="{95889A2C-A273-09E0-F03B-5DFC6E4E316D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0" name="Shape 56">
              <a:extLst>
                <a:ext uri="{FF2B5EF4-FFF2-40B4-BE49-F238E27FC236}">
                  <a16:creationId xmlns:a16="http://schemas.microsoft.com/office/drawing/2014/main" id="{DCD31316-29C2-E7E0-248F-BC49040881F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1" name="Text 58">
              <a:extLst>
                <a:ext uri="{FF2B5EF4-FFF2-40B4-BE49-F238E27FC236}">
                  <a16:creationId xmlns:a16="http://schemas.microsoft.com/office/drawing/2014/main" id="{7696E3B0-C20E-9883-731E-C8BD0670AEC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A3C31C7-3A35-F59F-1AC3-0FF35DA7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3A9B08A8-2C68-6D6C-1F31-6FE60A1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1356</Words>
  <Application>Microsoft Office PowerPoint</Application>
  <PresentationFormat>Widescreen</PresentationFormat>
  <Paragraphs>358</Paragraphs>
  <Slides>18</Slides>
  <Notes>18</Notes>
  <HiddenSlides>2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Hasil - Pengukuran Tinggi Badan Berbasis Computer Vision</dc:title>
  <dc:subject>Seminar Hasil</dc:subject>
  <dc:creator>OpenAI</dc:creator>
  <cp:lastModifiedBy>khayla fitriani</cp:lastModifiedBy>
  <cp:revision>4</cp:revision>
  <dcterms:created xsi:type="dcterms:W3CDTF">2026-07-13T00:14:55Z</dcterms:created>
  <dcterms:modified xsi:type="dcterms:W3CDTF">2026-07-13T23:54:15Z</dcterms:modified>
</cp:coreProperties>
</file>