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f060a60434379" /><Relationship Type="http://schemas.openxmlformats.org/officeDocument/2006/relationships/extended-properties" Target="/docProps/app.xml" Id="R328d2b137fbc46a1" /><Relationship Type="http://schemas.openxmlformats.org/officeDocument/2006/relationships/officeDocument" Target="/ppt/presentation.xml" Id="R2ce968877014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4810fed73e44ec"/>
  </p:sldMasterIdLst>
  <p:notesMasterIdLst>
    <p:notesMasterId xmlns:r="http://schemas.openxmlformats.org/officeDocument/2006/relationships" r:id="R67f7319044964df8"/>
  </p:notesMasterIdLst>
  <p:sldIdLst>
    <p:sldId xmlns:r="http://schemas.openxmlformats.org/officeDocument/2006/relationships" id="256" r:id="Ra14246b036bd4892"/>
    <p:sldId xmlns:r="http://schemas.openxmlformats.org/officeDocument/2006/relationships" id="257" r:id="R7f909b6520ea45ad"/>
    <p:sldId xmlns:r="http://schemas.openxmlformats.org/officeDocument/2006/relationships" id="258" r:id="R190b366a7d3b49ba"/>
    <p:sldId xmlns:r="http://schemas.openxmlformats.org/officeDocument/2006/relationships" id="259" r:id="R5ca2e4d25f1f4c27"/>
    <p:sldId xmlns:r="http://schemas.openxmlformats.org/officeDocument/2006/relationships" id="260" r:id="R89e0ac7c7b9746c5"/>
    <p:sldId xmlns:r="http://schemas.openxmlformats.org/officeDocument/2006/relationships" id="261" r:id="R08ef0a480b514219"/>
    <p:sldId xmlns:r="http://schemas.openxmlformats.org/officeDocument/2006/relationships" id="262" r:id="Rb7f02de5bad04e91"/>
    <p:sldId xmlns:r="http://schemas.openxmlformats.org/officeDocument/2006/relationships" id="263" r:id="R3d5bd493375649dd"/>
    <p:sldId xmlns:r="http://schemas.openxmlformats.org/officeDocument/2006/relationships" id="264" r:id="R1f0659a4435f4a58"/>
    <p:sldId xmlns:r="http://schemas.openxmlformats.org/officeDocument/2006/relationships" id="265" r:id="Rab50d72be0b04278"/>
    <p:sldId xmlns:r="http://schemas.openxmlformats.org/officeDocument/2006/relationships" id="266" r:id="R1295f7313881407a"/>
    <p:sldId xmlns:r="http://schemas.openxmlformats.org/officeDocument/2006/relationships" id="267" r:id="R8d4a90ac41c547cc"/>
    <p:sldId xmlns:r="http://schemas.openxmlformats.org/officeDocument/2006/relationships" id="268" r:id="R7a4e7710371e4a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d580ce65ec46da" /><Relationship Type="http://schemas.openxmlformats.org/officeDocument/2006/relationships/slideMaster" Target="/ppt/slideMasters/slideMaster1.xml" Id="R454810fed73e44ec" /><Relationship Type="http://schemas.openxmlformats.org/officeDocument/2006/relationships/notesMaster" Target="/ppt/notesMasters/notesMaster1.xml" Id="R67f7319044964df8" /><Relationship Type="http://schemas.openxmlformats.org/officeDocument/2006/relationships/presProps" Target="/ppt/presProps.xml" Id="R5b5f8881d0c7423d" /><Relationship Type="http://schemas.openxmlformats.org/officeDocument/2006/relationships/tableStyles" Target="/ppt/tableStyles.xml" Id="R9ea63bc2ab7844d4" /><Relationship Type="http://schemas.openxmlformats.org/officeDocument/2006/relationships/slide" Target="/ppt/slides/slide1.xml" Id="Ra14246b036bd4892" /><Relationship Type="http://schemas.openxmlformats.org/officeDocument/2006/relationships/slide" Target="/ppt/slides/slide2.xml" Id="R7f909b6520ea45ad" /><Relationship Type="http://schemas.openxmlformats.org/officeDocument/2006/relationships/slide" Target="/ppt/slides/slide3.xml" Id="R190b366a7d3b49ba" /><Relationship Type="http://schemas.openxmlformats.org/officeDocument/2006/relationships/slide" Target="/ppt/slides/slide4.xml" Id="R5ca2e4d25f1f4c27" /><Relationship Type="http://schemas.openxmlformats.org/officeDocument/2006/relationships/slide" Target="/ppt/slides/slide5.xml" Id="R89e0ac7c7b9746c5" /><Relationship Type="http://schemas.openxmlformats.org/officeDocument/2006/relationships/slide" Target="/ppt/slides/slide6.xml" Id="R08ef0a480b514219" /><Relationship Type="http://schemas.openxmlformats.org/officeDocument/2006/relationships/slide" Target="/ppt/slides/slide7.xml" Id="Rb7f02de5bad04e91" /><Relationship Type="http://schemas.openxmlformats.org/officeDocument/2006/relationships/slide" Target="/ppt/slides/slide8.xml" Id="R3d5bd493375649dd" /><Relationship Type="http://schemas.openxmlformats.org/officeDocument/2006/relationships/slide" Target="/ppt/slides/slide9.xml" Id="R1f0659a4435f4a58" /><Relationship Type="http://schemas.openxmlformats.org/officeDocument/2006/relationships/slide" Target="/ppt/slides/slide10.xml" Id="Rab50d72be0b04278" /><Relationship Type="http://schemas.openxmlformats.org/officeDocument/2006/relationships/slide" Target="/ppt/slides/slide11.xml" Id="R1295f7313881407a" /><Relationship Type="http://schemas.openxmlformats.org/officeDocument/2006/relationships/slide" Target="/ppt/slides/slide12.xml" Id="R8d4a90ac41c547cc" /><Relationship Type="http://schemas.openxmlformats.org/officeDocument/2006/relationships/slide" Target="/ppt/slides/slide13.xml" Id="R7a4e7710371e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b0b1d5cf3042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0c8a9ae09845e0" /><Relationship Type="http://schemas.openxmlformats.org/officeDocument/2006/relationships/notesMaster" Target="/ppt/notesMasters/notesMaster1.xml" Id="R0f29e1782983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3e1beeb094001" /><Relationship Type="http://schemas.openxmlformats.org/officeDocument/2006/relationships/notesMaster" Target="/ppt/notesMasters/notesMaster1.xml" Id="Re66fa268b369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0cd24455d4209" /><Relationship Type="http://schemas.openxmlformats.org/officeDocument/2006/relationships/notesMaster" Target="/ppt/notesMasters/notesMaster1.xml" Id="R464be3995ba94c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46459669f4056" /><Relationship Type="http://schemas.openxmlformats.org/officeDocument/2006/relationships/notesMaster" Target="/ppt/notesMasters/notesMaster1.xml" Id="R3aa5e85edfd348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d53dc31f5a4727" /><Relationship Type="http://schemas.openxmlformats.org/officeDocument/2006/relationships/notesMaster" Target="/ppt/notesMasters/notesMaster1.xml" Id="R7fc95320b90448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a7396cb88a4bb8" /><Relationship Type="http://schemas.openxmlformats.org/officeDocument/2006/relationships/notesMaster" Target="/ppt/notesMasters/notesMaster1.xml" Id="R453ca1e46822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54a05ecd71463c" /><Relationship Type="http://schemas.openxmlformats.org/officeDocument/2006/relationships/notesMaster" Target="/ppt/notesMasters/notesMaster1.xml" Id="R3289e7876d3545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64fec392b44668" /><Relationship Type="http://schemas.openxmlformats.org/officeDocument/2006/relationships/notesMaster" Target="/ppt/notesMasters/notesMaster1.xml" Id="Reb072f1818ee44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59fff3f74d4787" /><Relationship Type="http://schemas.openxmlformats.org/officeDocument/2006/relationships/notesMaster" Target="/ppt/notesMasters/notesMaster1.xml" Id="Rea2e2d2ef8b94f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29915f29844a0f" /><Relationship Type="http://schemas.openxmlformats.org/officeDocument/2006/relationships/notesMaster" Target="/ppt/notesMasters/notesMaster1.xml" Id="R51abb2ab25004e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42ccb63d4146d6" /><Relationship Type="http://schemas.openxmlformats.org/officeDocument/2006/relationships/notesMaster" Target="/ppt/notesMasters/notesMaster1.xml" Id="R0a8d42e1365040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ae0643b354416f" /><Relationship Type="http://schemas.openxmlformats.org/officeDocument/2006/relationships/notesMaster" Target="/ppt/notesMasters/notesMaster1.xml" Id="Re0648b33a34340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c68e6a1fd64a1e" /><Relationship Type="http://schemas.openxmlformats.org/officeDocument/2006/relationships/notesMaster" Target="/ppt/notesMasters/notesMaster1.xml" Id="R5bfb6ef28f54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9a3a0aeb7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dad40394445b8" /><Relationship Type="http://schemas.openxmlformats.org/officeDocument/2006/relationships/slideLayout" Target="/ppt/slideLayouts/slideLayout1.xml" Id="Re0ea613f6cc6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a613f6cc6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9896c17e14bb1" /><Relationship Type="http://schemas.openxmlformats.org/officeDocument/2006/relationships/image" Target="/ppt/media/image.png" Id="Rfc524db0edff464d" /><Relationship Type="http://schemas.openxmlformats.org/officeDocument/2006/relationships/notesSlide" Target="/ppt/notesSlides/notesSlide1.xml" Id="Rc39de1a395ae44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5190c6e9344be" /><Relationship Type="http://schemas.openxmlformats.org/officeDocument/2006/relationships/notesSlide" Target="/ppt/notesSlides/notesSlide2.xml" Id="R7d5a450be92e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0834d7a54ab5" /><Relationship Type="http://schemas.openxmlformats.org/officeDocument/2006/relationships/notesSlide" Target="/ppt/notesSlides/notesSlide3.xml" Id="R4a8ae3517201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ff2aca2f420f" /><Relationship Type="http://schemas.openxmlformats.org/officeDocument/2006/relationships/notesSlide" Target="/ppt/notesSlides/notesSlide4.xml" Id="R1b7fd8be2713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6e7bf82643d4" /><Relationship Type="http://schemas.openxmlformats.org/officeDocument/2006/relationships/notesSlide" Target="/ppt/notesSlides/notesSlide5.xml" Id="Rb743884358ac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d9549606432c" /><Relationship Type="http://schemas.openxmlformats.org/officeDocument/2006/relationships/notesSlide" Target="/ppt/notesSlides/notesSlide6.xml" Id="R4459972ea179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959e31834311" /><Relationship Type="http://schemas.openxmlformats.org/officeDocument/2006/relationships/notesSlide" Target="/ppt/notesSlides/notesSlide7.xml" Id="Ra1e875bb9e8542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f2d0a34324cec" /><Relationship Type="http://schemas.openxmlformats.org/officeDocument/2006/relationships/notesSlide" Target="/ppt/notesSlides/notesSlide8.xml" Id="R4268e65ae87d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990bcfbb74adc" /><Relationship Type="http://schemas.openxmlformats.org/officeDocument/2006/relationships/notesSlide" Target="/ppt/notesSlides/notesSlide9.xml" Id="R951c36bb0a8943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52c90eda14a0c" /><Relationship Type="http://schemas.openxmlformats.org/officeDocument/2006/relationships/notesSlide" Target="/ppt/notesSlides/notesSlide10.xml" Id="Rb1a50057587649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33d7632045cf" /><Relationship Type="http://schemas.openxmlformats.org/officeDocument/2006/relationships/notesSlide" Target="/ppt/notesSlides/notesSlide11.xml" Id="R7a657bd989074b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c728308594665" /><Relationship Type="http://schemas.openxmlformats.org/officeDocument/2006/relationships/notesSlide" Target="/ppt/notesSlides/notesSlide12.xml" Id="Rbbd7a67c446945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aab82ba284602" /><Relationship Type="http://schemas.openxmlformats.org/officeDocument/2006/relationships/notesSlide" Target="/ppt/notesSlides/notesSlide13.xml" Id="R4a388d9e771e48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slide-background">
            <a:extLst xmlns:a="http://schemas.openxmlformats.org/drawingml/2006/main">
              <a:ext uri="{FF2B5EF4-FFF2-40B4-BE49-F238E27FC236}">
                <a16:creationId xmlns:a16="http://schemas.microsoft.com/office/drawing/2014/main" id="{46642E41-61C2-4F7E-B835-7B568CE1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483303-D7F0-49C6-A1A3-3713C8B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590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APLIKASI ANDROID • COMPUTER VISION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A3E536-2E72-46B6-8E8A-1E96743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85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
Measurement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66804B4-EB4A-4380-8BEF-D1411F2C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666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Alur sistem, pengolahan citra, dan perhitungan tinggi badan dari piksel ke sentimeter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3130A516-77F7-4EB5-B31E-403FC24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OpenCV • CameraX • MediaPipe Pose Landmarker</a:t>
            </a:r>
          </a:p>
        </p:txBody>
      </p:sp>
      <p:sp>
        <p:nvSpPr>
          <p:cNvPr id="6" name="logo-backing">
            <a:extLst xmlns:a="http://schemas.openxmlformats.org/drawingml/2006/main">
              <a:ext uri="{FF2B5EF4-FFF2-40B4-BE49-F238E27FC236}">
                <a16:creationId xmlns:a16="http://schemas.microsoft.com/office/drawing/2014/main" id="{D8166438-A3DA-4880-AC6E-A9CA770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8D0FF"/>
            </a:solidFill>
            <a:prstDash val="solid"/>
          </a:ln>
        </p:spPr>
      </p:sp>
      <p:sp>
        <p:nvSpPr>
          <p:cNvPr id="7" name="cover-blue-band">
            <a:extLst xmlns:a="http://schemas.openxmlformats.org/drawingml/2006/main">
              <a:ext uri="{FF2B5EF4-FFF2-40B4-BE49-F238E27FC236}">
                <a16:creationId xmlns:a16="http://schemas.microsoft.com/office/drawing/2014/main" id="{98F96667-306D-4610-B261-815DEF6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24db0edff464d"/>
          <a:stretch xmlns:a="http://schemas.openxmlformats.org/drawingml/2006/main"/>
        </p:blipFill>
        <p:spPr>
          <a:xfrm xmlns:a="http://schemas.openxmlformats.org/drawingml/2006/main">
            <a:off x="8572500" y="1809750"/>
            <a:ext cx="2190750" cy="2190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91503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blem-slide-background">
            <a:extLst xmlns:a="http://schemas.openxmlformats.org/drawingml/2006/main">
              <a:ext uri="{FF2B5EF4-FFF2-40B4-BE49-F238E27FC236}">
                <a16:creationId xmlns:a16="http://schemas.microsoft.com/office/drawing/2014/main" id="{ABC47DEE-7053-461F-9AF6-5AF81C4E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433C0B9-D7F8-4976-B06C-03A5391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normalisasi sebelum tinggi dihitung</a:t>
            </a:r>
          </a:p>
        </p:txBody>
      </p:sp>
      <p:cxnSp>
        <p:nvCxnSpPr>
          <p:cNvPr id="35" name="accent-2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635FA5B-95FF-4F6D-B433-D6385E6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ource-2">
            <a:extLst xmlns:a="http://schemas.openxmlformats.org/drawingml/2006/main">
              <a:ext uri="{FF2B5EF4-FFF2-40B4-BE49-F238E27FC236}">
                <a16:creationId xmlns:a16="http://schemas.microsoft.com/office/drawing/2014/main" id="{37BE233C-0E11-45A3-8513-74D08E2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implementasi project HeightMeasurement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1EADE7EE-2E8E-46BC-A0D6-FE3A0804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715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Akurasi dipengaruhi oleh empat hal yang harus dinormalisasi sebelum hasil dinyatakan dalam sentimeter.</a:t>
            </a:r>
          </a:p>
        </p:txBody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737D00CA-D320-4ABF-B44C-AE59682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1D0E026F-BEEE-4DEC-82A4-A2CDC5D0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Orientasi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63D4A126-F3A0-4A60-8083-AE71AB4A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Foto harus tegak sebelum diproses.</a:t>
            </a:r>
          </a:p>
        </p:txBody>
      </p:sp>
      <p:sp>
        <p:nvSpPr>
          <p:cNvPr id="10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C52A99E5-3942-4654-90E4-3985FBA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5A654507-1420-41BB-ABD7-AC0C3FDE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D2DF62D3-0C76-41AD-88AD-BF21A08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Board dikoreksi ke bidang acuan.</a:t>
            </a:r>
          </a:p>
        </p:txBody>
      </p:sp>
      <p:sp>
        <p:nvSpPr>
          <p:cNvPr id="13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115FEE15-F4E1-4C13-81EE-C323E60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144609AC-13BA-47B6-B371-4FE56ABF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</a:t>
            </a:r>
          </a:p>
        </p:txBody>
      </p:sp>
      <p:sp>
        <p:nvSpPr>
          <p:cNvPr id="15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C7BD77E9-5674-4945-8550-C3AD0841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board 200 cm menjadi cm/piksel.</a:t>
            </a:r>
          </a:p>
        </p:txBody>
      </p:sp>
      <p:sp>
        <p:nvSpPr>
          <p:cNvPr id="16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EEDE53C3-6E51-4D6E-A398-AFEE71A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problem-title-3">
            <a:extLst xmlns:a="http://schemas.openxmlformats.org/drawingml/2006/main">
              <a:ext uri="{FF2B5EF4-FFF2-40B4-BE49-F238E27FC236}">
                <a16:creationId xmlns:a16="http://schemas.microsoft.com/office/drawing/2014/main" id="{9B6E94E8-74D3-4E41-BD41-EE22563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Kedalaman</a:t>
            </a:r>
          </a:p>
        </p:txBody>
      </p:sp>
      <p:sp>
        <p:nvSpPr>
          <p:cNvPr id="18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21921298-41C0-49A0-A0B0-5246F136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911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Posisi subjek terhadap board dikoreksi.</a:t>
            </a:r>
          </a:p>
        </p:txBody>
      </p:sp>
      <p:sp>
        <p:nvSpPr>
          <p:cNvPr id="19" name="measure-line">
            <a:extLst xmlns:a="http://schemas.openxmlformats.org/drawingml/2006/main">
              <a:ext uri="{FF2B5EF4-FFF2-40B4-BE49-F238E27FC236}">
                <a16:creationId xmlns:a16="http://schemas.microsoft.com/office/drawing/2014/main" id="{AFAEA141-9DED-40F8-9A08-BDA23118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6687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2" name="tick-0"/>
          <p:cNvCxnSpPr/>
          <p:nvPr/>
        </p:nvCxnSpPr>
        <p:spPr>
          <a:xfrm xmlns:a="http://schemas.openxmlformats.org/drawingml/2006/main">
            <a:off x="8382000" y="1809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3" name="tick-1"/>
          <p:cNvCxnSpPr/>
          <p:nvPr/>
        </p:nvCxnSpPr>
        <p:spPr>
          <a:xfrm xmlns:a="http://schemas.openxmlformats.org/drawingml/2006/main">
            <a:off x="8382000" y="22860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4" name="tick-2"/>
          <p:cNvCxnSpPr/>
          <p:nvPr/>
        </p:nvCxnSpPr>
        <p:spPr>
          <a:xfrm xmlns:a="http://schemas.openxmlformats.org/drawingml/2006/main">
            <a:off x="8382000" y="27622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5" name="tick-3"/>
          <p:cNvCxnSpPr/>
          <p:nvPr/>
        </p:nvCxnSpPr>
        <p:spPr>
          <a:xfrm xmlns:a="http://schemas.openxmlformats.org/drawingml/2006/main">
            <a:off x="8382000" y="32385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tick-4"/>
          <p:cNvCxnSpPr/>
          <p:nvPr/>
        </p:nvCxnSpPr>
        <p:spPr>
          <a:xfrm xmlns:a="http://schemas.openxmlformats.org/drawingml/2006/main">
            <a:off x="8382000" y="3714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tick-5"/>
          <p:cNvCxnSpPr/>
          <p:nvPr/>
        </p:nvCxnSpPr>
        <p:spPr>
          <a:xfrm xmlns:a="http://schemas.openxmlformats.org/drawingml/2006/main">
            <a:off x="8382000" y="41910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tick-6"/>
          <p:cNvCxnSpPr/>
          <p:nvPr/>
        </p:nvCxnSpPr>
        <p:spPr>
          <a:xfrm xmlns:a="http://schemas.openxmlformats.org/drawingml/2006/main">
            <a:off x="8382000" y="46672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9" name="tick-7"/>
          <p:cNvCxnSpPr/>
          <p:nvPr/>
        </p:nvCxnSpPr>
        <p:spPr>
          <a:xfrm xmlns:a="http://schemas.openxmlformats.org/drawingml/2006/main">
            <a:off x="8382000" y="51435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8" name="head">
            <a:extLst xmlns:a="http://schemas.openxmlformats.org/drawingml/2006/main">
              <a:ext uri="{FF2B5EF4-FFF2-40B4-BE49-F238E27FC236}">
                <a16:creationId xmlns:a16="http://schemas.microsoft.com/office/drawing/2014/main" id="{89FD49B6-6C00-4630-A2CB-BF4ACD5F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29" name="torso">
            <a:extLst xmlns:a="http://schemas.openxmlformats.org/drawingml/2006/main">
              <a:ext uri="{FF2B5EF4-FFF2-40B4-BE49-F238E27FC236}">
                <a16:creationId xmlns:a16="http://schemas.microsoft.com/office/drawing/2014/main" id="{45518C5C-2B62-44D0-9894-E7568ED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05125"/>
            <a:ext cx="438150" cy="15240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g-left">
            <a:extLst xmlns:a="http://schemas.openxmlformats.org/drawingml/2006/main">
              <a:ext uri="{FF2B5EF4-FFF2-40B4-BE49-F238E27FC236}">
                <a16:creationId xmlns:a16="http://schemas.microsoft.com/office/drawing/2014/main" id="{1A3979F4-5585-4727-8B82-B7C7D55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171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leg-right">
            <a:extLst xmlns:a="http://schemas.openxmlformats.org/drawingml/2006/main">
              <a:ext uri="{FF2B5EF4-FFF2-40B4-BE49-F238E27FC236}">
                <a16:creationId xmlns:a16="http://schemas.microsoft.com/office/drawing/2014/main" id="{C8C48E61-6086-4998-9FAE-C298C7F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71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easure-caption">
            <a:extLst xmlns:a="http://schemas.openxmlformats.org/drawingml/2006/main">
              <a:ext uri="{FF2B5EF4-FFF2-40B4-BE49-F238E27FC236}">
                <a16:creationId xmlns:a16="http://schemas.microsoft.com/office/drawing/2014/main" id="{E27DF82F-4101-490F-95D5-BF6A87B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286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utama = selisih vertikal
puncak kepala hingga kaki terbawah</a:t>
            </a:r>
          </a:p>
        </p:txBody>
      </p:sp>
    </p:spTree>
    <p:extLst>
      <p:ext uri="{BB962C8B-B14F-4D97-AF65-F5344CB8AC3E}">
        <p14:creationId xmlns:p14="http://schemas.microsoft.com/office/powerpoint/2010/main" val="1615536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rchitecture-slide-background">
            <a:extLst xmlns:a="http://schemas.openxmlformats.org/drawingml/2006/main">
              <a:ext uri="{FF2B5EF4-FFF2-40B4-BE49-F238E27FC236}">
                <a16:creationId xmlns:a16="http://schemas.microsoft.com/office/drawing/2014/main" id="{B36073E1-400B-4963-BCDF-67FDA527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018A21F-5014-4987-A024-5B88C383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komponen teknis bekerja sebagai satu pipeline</a:t>
            </a:r>
          </a:p>
        </p:txBody>
      </p:sp>
      <p:cxnSp>
        <p:nvCxnSpPr>
          <p:cNvPr id="25" name="accent-3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C58D7A9-A32E-4865-8C54-9CC0FB8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ource-3">
            <a:extLst xmlns:a="http://schemas.openxmlformats.org/drawingml/2006/main">
              <a:ext uri="{FF2B5EF4-FFF2-40B4-BE49-F238E27FC236}">
                <a16:creationId xmlns:a16="http://schemas.microsoft.com/office/drawing/2014/main" id="{C606FBBD-DA27-46DC-9536-AEEB1F4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app/build.gradle dan activity utama</a:t>
            </a:r>
          </a:p>
        </p:txBody>
      </p:sp>
      <p:sp>
        <p:nvSpPr>
          <p:cNvPr id="6" name="arch-lead">
            <a:extLst xmlns:a="http://schemas.openxmlformats.org/drawingml/2006/main">
              <a:ext uri="{FF2B5EF4-FFF2-40B4-BE49-F238E27FC236}">
                <a16:creationId xmlns:a16="http://schemas.microsoft.com/office/drawing/2014/main" id="{5412CB4E-BEEA-4B8D-BA7B-82C18FE9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049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Setiap komponen menangani sumber kesalahan yang berbeda; hasilnya diteruskan antartahap melalui Intent dan file cache.</a:t>
            </a:r>
          </a:p>
        </p:txBody>
      </p:sp>
      <p:sp>
        <p:nvSpPr>
          <p:cNvPr id="7" name="arch-panel-0">
            <a:extLst xmlns:a="http://schemas.openxmlformats.org/drawingml/2006/main">
              <a:ext uri="{FF2B5EF4-FFF2-40B4-BE49-F238E27FC236}">
                <a16:creationId xmlns:a16="http://schemas.microsoft.com/office/drawing/2014/main" id="{4CFE01C2-0675-4172-952A-D284EE0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bar-0">
            <a:extLst xmlns:a="http://schemas.openxmlformats.org/drawingml/2006/main">
              <a:ext uri="{FF2B5EF4-FFF2-40B4-BE49-F238E27FC236}">
                <a16:creationId xmlns:a16="http://schemas.microsoft.com/office/drawing/2014/main" id="{F5933F07-2617-4B57-93B6-FE1B4B9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DB3E2DF8-32C9-4356-AB41-6F475ED0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CameraX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BD23F176-8902-4B93-B56C-017FCAC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Mengambil foto dan menganalisis frame kamera secara real time.</a:t>
            </a:r>
          </a:p>
        </p:txBody>
      </p:sp>
      <p:sp>
        <p:nvSpPr>
          <p:cNvPr id="11" name="arch-panel-1">
            <a:extLst xmlns:a="http://schemas.openxmlformats.org/drawingml/2006/main">
              <a:ext uri="{FF2B5EF4-FFF2-40B4-BE49-F238E27FC236}">
                <a16:creationId xmlns:a16="http://schemas.microsoft.com/office/drawing/2014/main" id="{120540AC-4B17-4C9F-8758-5CC3087F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bar-1">
            <a:extLst xmlns:a="http://schemas.openxmlformats.org/drawingml/2006/main">
              <a:ext uri="{FF2B5EF4-FFF2-40B4-BE49-F238E27FC236}">
                <a16:creationId xmlns:a16="http://schemas.microsoft.com/office/drawing/2014/main" id="{D59DBE87-345A-4890-965B-E5F4ACA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E14DDB96-FC97-4332-8199-BAD023D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OpenCV + ArUco</a:t>
            </a:r>
          </a:p>
        </p:txBody>
      </p:sp>
      <p:sp>
        <p:nvSpPr>
          <p:cNvPr id="14" name="arch-body-1">
            <a:extLst xmlns:a="http://schemas.openxmlformats.org/drawingml/2006/main">
              <a:ext uri="{FF2B5EF4-FFF2-40B4-BE49-F238E27FC236}">
                <a16:creationId xmlns:a16="http://schemas.microsoft.com/office/drawing/2014/main" id="{76B9E325-72A9-49F9-B42E-2A2DBBF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Mendeteksi marker, homografi, perspective warp, dan kontur.</a:t>
            </a:r>
          </a:p>
        </p:txBody>
      </p:sp>
      <p:sp>
        <p:nvSpPr>
          <p:cNvPr id="15" name="arch-panel-2">
            <a:extLst xmlns:a="http://schemas.openxmlformats.org/drawingml/2006/main">
              <a:ext uri="{FF2B5EF4-FFF2-40B4-BE49-F238E27FC236}">
                <a16:creationId xmlns:a16="http://schemas.microsoft.com/office/drawing/2014/main" id="{01401480-147E-47AB-B087-382CEE82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bar-2">
            <a:extLst xmlns:a="http://schemas.openxmlformats.org/drawingml/2006/main">
              <a:ext uri="{FF2B5EF4-FFF2-40B4-BE49-F238E27FC236}">
                <a16:creationId xmlns:a16="http://schemas.microsoft.com/office/drawing/2014/main" id="{B8FD9A8C-3E21-4CC7-B388-26E3D5E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3F3EFF64-AA29-426B-9C6C-6C41027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18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63A801A-D5C4-4CE0-A746-EB86BF7C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Menghasilkan 33 landmark tubuh dalam koordinat ternormalisasi.</a:t>
            </a:r>
          </a:p>
        </p:txBody>
      </p:sp>
      <p:sp>
        <p:nvSpPr>
          <p:cNvPr id="19" name="arch-panel-3">
            <a:extLst xmlns:a="http://schemas.openxmlformats.org/drawingml/2006/main">
              <a:ext uri="{FF2B5EF4-FFF2-40B4-BE49-F238E27FC236}">
                <a16:creationId xmlns:a16="http://schemas.microsoft.com/office/drawing/2014/main" id="{E46A7DB2-A3EC-4C2F-8910-8F19512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bar-3">
            <a:extLst xmlns:a="http://schemas.openxmlformats.org/drawingml/2006/main">
              <a:ext uri="{FF2B5EF4-FFF2-40B4-BE49-F238E27FC236}">
                <a16:creationId xmlns:a16="http://schemas.microsoft.com/office/drawing/2014/main" id="{EBA4946A-201A-4125-B497-930F4F6F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D9BC9565-5EF2-4801-A3E9-8CBA389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Measurement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A79B9D49-FBC7-4577-8B59-17AE810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768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Mengubah tinggi piksel menjadi sentimeter dengan koreksi kedalaman.</a:t>
            </a:r>
          </a:p>
        </p:txBody>
      </p:sp>
    </p:spTree>
    <p:extLst>
      <p:ext uri="{BB962C8B-B14F-4D97-AF65-F5344CB8AC3E}">
        <p14:creationId xmlns:p14="http://schemas.microsoft.com/office/powerpoint/2010/main" val="277047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ow-slide-background">
            <a:extLst xmlns:a="http://schemas.openxmlformats.org/drawingml/2006/main">
              <a:ext uri="{FF2B5EF4-FFF2-40B4-BE49-F238E27FC236}">
                <a16:creationId xmlns:a16="http://schemas.microsoft.com/office/drawing/2014/main" id="{C5B52724-628C-48F3-9443-C6AFEA5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72996CA-1C0B-4B0B-8BA9-626B481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aplikasi dari input ke hasil</a:t>
            </a:r>
          </a:p>
        </p:txBody>
      </p:sp>
      <p:cxnSp>
        <p:nvCxnSpPr>
          <p:cNvPr id="38" name="accent-4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7AAFA14-3C0C-4F64-97DB-B9C454B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4B9E17C3-9DFD-497D-84B6-951E589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MainActivity, Perspective, MediaPipe, dan Measurement</a:t>
            </a:r>
          </a:p>
        </p:txBody>
      </p:sp>
      <p:cxnSp>
        <p:nvCxnSpPr>
          <p:cNvPr id="41" name="flow-line-0"/>
          <p:cNvCxnSpPr/>
          <p:nvPr/>
        </p:nvCxnSpPr>
        <p:spPr>
          <a:xfrm xmlns:a="http://schemas.openxmlformats.org/drawingml/2006/main">
            <a:off x="161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2" name="flow-line-1"/>
          <p:cNvCxnSpPr/>
          <p:nvPr/>
        </p:nvCxnSpPr>
        <p:spPr>
          <a:xfrm xmlns:a="http://schemas.openxmlformats.org/drawingml/2006/main">
            <a:off x="3524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flow-line-2"/>
          <p:cNvCxnSpPr/>
          <p:nvPr/>
        </p:nvCxnSpPr>
        <p:spPr>
          <a:xfrm xmlns:a="http://schemas.openxmlformats.org/drawingml/2006/main">
            <a:off x="542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4" name="flow-line-3"/>
          <p:cNvCxnSpPr/>
          <p:nvPr/>
        </p:nvCxnSpPr>
        <p:spPr>
          <a:xfrm xmlns:a="http://schemas.openxmlformats.org/drawingml/2006/main">
            <a:off x="7334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5" name="flow-line-4"/>
          <p:cNvCxnSpPr/>
          <p:nvPr/>
        </p:nvCxnSpPr>
        <p:spPr>
          <a:xfrm xmlns:a="http://schemas.openxmlformats.org/drawingml/2006/main">
            <a:off x="923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1" name="flow-dot-0">
            <a:extLst xmlns:a="http://schemas.openxmlformats.org/drawingml/2006/main">
              <a:ext uri="{FF2B5EF4-FFF2-40B4-BE49-F238E27FC236}">
                <a16:creationId xmlns:a16="http://schemas.microsoft.com/office/drawing/2014/main" id="{E5E69864-F399-48AF-B110-DD9D5864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flow-num-0">
            <a:extLst xmlns:a="http://schemas.openxmlformats.org/drawingml/2006/main">
              <a:ext uri="{FF2B5EF4-FFF2-40B4-BE49-F238E27FC236}">
                <a16:creationId xmlns:a16="http://schemas.microsoft.com/office/drawing/2014/main" id="{DCDDE2F2-EBC2-4588-9027-AD886FB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4B85C50F-0B78-41EB-BF70-936DAA92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4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73163DA-F71B-40F2-8968-084E031A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Kamera atau galeri</a:t>
            </a:r>
          </a:p>
        </p:txBody>
      </p:sp>
      <p:sp>
        <p:nvSpPr>
          <p:cNvPr id="15" name="flow-dot-1">
            <a:extLst xmlns:a="http://schemas.openxmlformats.org/drawingml/2006/main">
              <a:ext uri="{FF2B5EF4-FFF2-40B4-BE49-F238E27FC236}">
                <a16:creationId xmlns:a16="http://schemas.microsoft.com/office/drawing/2014/main" id="{01F2A4A7-20A4-43F7-98C3-1AF6666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flow-num-1">
            <a:extLst xmlns:a="http://schemas.openxmlformats.org/drawingml/2006/main">
              <a:ext uri="{FF2B5EF4-FFF2-40B4-BE49-F238E27FC236}">
                <a16:creationId xmlns:a16="http://schemas.microsoft.com/office/drawing/2014/main" id="{730F9A15-B5B7-4B4E-8782-D9C54E50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F64B7699-FB98-4D4B-8C8F-75D32C2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Jarak</a:t>
            </a:r>
          </a:p>
        </p:txBody>
      </p:sp>
      <p:sp>
        <p:nvSpPr>
          <p:cNvPr id="1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BF2F0D2A-013A-48BF-AB80-4921231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Marker ArUco</a:t>
            </a:r>
          </a:p>
        </p:txBody>
      </p:sp>
      <p:sp>
        <p:nvSpPr>
          <p:cNvPr id="19" name="flow-dot-2">
            <a:extLst xmlns:a="http://schemas.openxmlformats.org/drawingml/2006/main">
              <a:ext uri="{FF2B5EF4-FFF2-40B4-BE49-F238E27FC236}">
                <a16:creationId xmlns:a16="http://schemas.microsoft.com/office/drawing/2014/main" id="{35A125AF-34B8-4DAF-97A2-01030677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flow-num-2">
            <a:extLst xmlns:a="http://schemas.openxmlformats.org/drawingml/2006/main">
              <a:ext uri="{FF2B5EF4-FFF2-40B4-BE49-F238E27FC236}">
                <a16:creationId xmlns:a16="http://schemas.microsoft.com/office/drawing/2014/main" id="{C23D73BD-42EC-4DCB-BCB7-6B3E34D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89ABF793-DA10-4AE9-9EF0-5D7789FA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22" name="flow-body-2">
            <a:extLst xmlns:a="http://schemas.openxmlformats.org/drawingml/2006/main">
              <a:ext uri="{FF2B5EF4-FFF2-40B4-BE49-F238E27FC236}">
                <a16:creationId xmlns:a16="http://schemas.microsoft.com/office/drawing/2014/main" id="{D2C8784E-85E2-4F72-ABEA-A0C7C2CA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Homografi board</a:t>
            </a:r>
          </a:p>
        </p:txBody>
      </p:sp>
      <p:sp>
        <p:nvSpPr>
          <p:cNvPr id="23" name="flow-dot-3">
            <a:extLst xmlns:a="http://schemas.openxmlformats.org/drawingml/2006/main">
              <a:ext uri="{FF2B5EF4-FFF2-40B4-BE49-F238E27FC236}">
                <a16:creationId xmlns:a16="http://schemas.microsoft.com/office/drawing/2014/main" id="{743E2D71-680E-4AAF-9E05-494011F0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flow-num-3">
            <a:extLst xmlns:a="http://schemas.openxmlformats.org/drawingml/2006/main">
              <a:ext uri="{FF2B5EF4-FFF2-40B4-BE49-F238E27FC236}">
                <a16:creationId xmlns:a16="http://schemas.microsoft.com/office/drawing/2014/main" id="{DA05A362-887E-4DBD-9DE8-F713D29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0F8413B2-6EF4-49AC-A05A-1CB7360E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</a:t>
            </a:r>
          </a:p>
        </p:txBody>
      </p:sp>
      <p:sp>
        <p:nvSpPr>
          <p:cNvPr id="2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F38E82E8-6BB0-466D-A3C0-F50F235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27" name="flow-dot-4">
            <a:extLst xmlns:a="http://schemas.openxmlformats.org/drawingml/2006/main">
              <a:ext uri="{FF2B5EF4-FFF2-40B4-BE49-F238E27FC236}">
                <a16:creationId xmlns:a16="http://schemas.microsoft.com/office/drawing/2014/main" id="{5DC7C668-9A7D-4D1C-868F-1E68364A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8" name="flow-num-4">
            <a:extLst xmlns:a="http://schemas.openxmlformats.org/drawingml/2006/main">
              <a:ext uri="{FF2B5EF4-FFF2-40B4-BE49-F238E27FC236}">
                <a16:creationId xmlns:a16="http://schemas.microsoft.com/office/drawing/2014/main" id="{D21C923C-D73E-4657-A334-B09D872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8DD26A5-408B-4C85-9171-8265527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</a:t>
            </a:r>
          </a:p>
        </p:txBody>
      </p:sp>
      <p:sp>
        <p:nvSpPr>
          <p:cNvPr id="30" name="flow-body-4">
            <a:extLst xmlns:a="http://schemas.openxmlformats.org/drawingml/2006/main">
              <a:ext uri="{FF2B5EF4-FFF2-40B4-BE49-F238E27FC236}">
                <a16:creationId xmlns:a16="http://schemas.microsoft.com/office/drawing/2014/main" id="{E934E0B1-30E2-496B-892C-C7A8259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Kepala–kaki</a:t>
            </a:r>
          </a:p>
        </p:txBody>
      </p:sp>
      <p:sp>
        <p:nvSpPr>
          <p:cNvPr id="31" name="flow-dot-5">
            <a:extLst xmlns:a="http://schemas.openxmlformats.org/drawingml/2006/main">
              <a:ext uri="{FF2B5EF4-FFF2-40B4-BE49-F238E27FC236}">
                <a16:creationId xmlns:a16="http://schemas.microsoft.com/office/drawing/2014/main" id="{B4E90EC5-ED31-4286-B440-4CC6361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32" name="flow-num-5">
            <a:extLst xmlns:a="http://schemas.openxmlformats.org/drawingml/2006/main">
              <a:ext uri="{FF2B5EF4-FFF2-40B4-BE49-F238E27FC236}">
                <a16:creationId xmlns:a16="http://schemas.microsoft.com/office/drawing/2014/main" id="{DFCDA4C9-9720-48D0-932F-EA51C67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D99E3CD1-3F86-4188-8B75-779E78A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34" name="flow-body-5">
            <a:extLst xmlns:a="http://schemas.openxmlformats.org/drawingml/2006/main">
              <a:ext uri="{FF2B5EF4-FFF2-40B4-BE49-F238E27FC236}">
                <a16:creationId xmlns:a16="http://schemas.microsoft.com/office/drawing/2014/main" id="{AEEA1F4C-056B-4049-9C02-62DC393F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cm dan file hasil</a:t>
            </a:r>
          </a:p>
        </p:txBody>
      </p:sp>
      <p:sp>
        <p:nvSpPr>
          <p:cNvPr id="35" name="flow-note">
            <a:extLst xmlns:a="http://schemas.openxmlformats.org/drawingml/2006/main">
              <a:ext uri="{FF2B5EF4-FFF2-40B4-BE49-F238E27FC236}">
                <a16:creationId xmlns:a16="http://schemas.microsoft.com/office/drawing/2014/main" id="{D0B5CF8E-8418-4403-82C5-DCA0DA9B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76875"/>
            <a:ext cx="838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Data skala board, jarak kamera, dan URI gambar diteruskan ke tahap berikutnya agar formula akhir tetap konsisten.</a:t>
            </a:r>
          </a:p>
        </p:txBody>
      </p:sp>
    </p:spTree>
    <p:extLst>
      <p:ext uri="{BB962C8B-B14F-4D97-AF65-F5344CB8AC3E}">
        <p14:creationId xmlns:p14="http://schemas.microsoft.com/office/powerpoint/2010/main" val="124976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istance-slide-background">
            <a:extLst xmlns:a="http://schemas.openxmlformats.org/drawingml/2006/main">
              <a:ext uri="{FF2B5EF4-FFF2-40B4-BE49-F238E27FC236}">
                <a16:creationId xmlns:a16="http://schemas.microsoft.com/office/drawing/2014/main" id="{7EC9EF5F-8EBA-4A6C-B6FF-BEC9485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8D29C07-9574-4C64-8C7D-0EB57DF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Jarak kamera dikalibrasi dari ukuran marker ArUco</a:t>
            </a:r>
          </a:p>
        </p:txBody>
      </p:sp>
      <p:cxnSp>
        <p:nvCxnSpPr>
          <p:cNvPr id="26" name="accent-5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38DAF7F-21B1-4101-806A-A36E038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ource-5">
            <a:extLst xmlns:a="http://schemas.openxmlformats.org/drawingml/2006/main">
              <a:ext uri="{FF2B5EF4-FFF2-40B4-BE49-F238E27FC236}">
                <a16:creationId xmlns:a16="http://schemas.microsoft.com/office/drawing/2014/main" id="{40182F1C-97EF-47EC-A777-BDA4A34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CameraDistanceActivity.java</a:t>
            </a:r>
          </a:p>
        </p:txBody>
      </p:sp>
      <p:sp>
        <p:nvSpPr>
          <p:cNvPr id="6" name="distance-formula">
            <a:extLst xmlns:a="http://schemas.openxmlformats.org/drawingml/2006/main">
              <a:ext uri="{FF2B5EF4-FFF2-40B4-BE49-F238E27FC236}">
                <a16:creationId xmlns:a16="http://schemas.microsoft.com/office/drawing/2014/main" id="{B442A6DA-50BE-480E-BA4F-6F0B107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048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Zraw = (Smarker × fpx) / spx</a:t>
            </a:r>
          </a:p>
        </p:txBody>
      </p:sp>
      <p:sp>
        <p:nvSpPr>
          <p:cNvPr id="7" name="distance-def">
            <a:extLst xmlns:a="http://schemas.openxmlformats.org/drawingml/2006/main">
              <a:ext uri="{FF2B5EF4-FFF2-40B4-BE49-F238E27FC236}">
                <a16:creationId xmlns:a16="http://schemas.microsoft.com/office/drawing/2014/main" id="{B1ED6CDA-7F73-4949-8ACB-71A687C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Smarker = 7,6485 cm   •   fpx = lebar gambar × (fokal mm / lebar sensor mm)   •   spx = sisi marker dalam piksel</a:t>
            </a:r>
          </a:p>
        </p:txBody>
      </p:sp>
      <p:sp>
        <p:nvSpPr>
          <p:cNvPr id="8" name="target-panel">
            <a:extLst xmlns:a="http://schemas.openxmlformats.org/drawingml/2006/main">
              <a:ext uri="{FF2B5EF4-FFF2-40B4-BE49-F238E27FC236}">
                <a16:creationId xmlns:a16="http://schemas.microsoft.com/office/drawing/2014/main" id="{F455C8BF-C35D-42D6-9F24-4C0D6D02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rget-bar">
            <a:extLst xmlns:a="http://schemas.openxmlformats.org/drawingml/2006/main">
              <a:ext uri="{FF2B5EF4-FFF2-40B4-BE49-F238E27FC236}">
                <a16:creationId xmlns:a16="http://schemas.microsoft.com/office/drawing/2014/main" id="{78DC18D4-79DA-46FA-BEC7-2345ED48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721452A6-383D-4C20-9EFE-7B553C3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JARAK TARGET</a:t>
            </a:r>
          </a:p>
        </p:txBody>
      </p:sp>
      <p:sp>
        <p:nvSpPr>
          <p:cNvPr id="11" name="target-value">
            <a:extLst xmlns:a="http://schemas.openxmlformats.org/drawingml/2006/main">
              <a:ext uri="{FF2B5EF4-FFF2-40B4-BE49-F238E27FC236}">
                <a16:creationId xmlns:a16="http://schemas.microsoft.com/office/drawing/2014/main" id="{23DE2499-48C4-4F09-BDC2-2E359A3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914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150 cm</a:t>
            </a:r>
          </a:p>
        </p:txBody>
      </p:sp>
      <p:sp>
        <p:nvSpPr>
          <p:cNvPr id="12" name="target-detail">
            <a:extLst xmlns:a="http://schemas.openxmlformats.org/drawingml/2006/main">
              <a:ext uri="{FF2B5EF4-FFF2-40B4-BE49-F238E27FC236}">
                <a16:creationId xmlns:a16="http://schemas.microsoft.com/office/drawing/2014/main" id="{CF638617-F979-46CC-8D42-70AC426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Toleransi sistem ±10 cm</a:t>
            </a:r>
          </a:p>
        </p:txBody>
      </p:sp>
      <p:sp>
        <p:nvSpPr>
          <p:cNvPr id="13" name="calibration-panel">
            <a:extLst xmlns:a="http://schemas.openxmlformats.org/drawingml/2006/main">
              <a:ext uri="{FF2B5EF4-FFF2-40B4-BE49-F238E27FC236}">
                <a16:creationId xmlns:a16="http://schemas.microsoft.com/office/drawing/2014/main" id="{ABE2260A-5DEF-44B1-B79A-FA2A3248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ibration-bar">
            <a:extLst xmlns:a="http://schemas.openxmlformats.org/drawingml/2006/main">
              <a:ext uri="{FF2B5EF4-FFF2-40B4-BE49-F238E27FC236}">
                <a16:creationId xmlns:a16="http://schemas.microsoft.com/office/drawing/2014/main" id="{7D4003F2-8A27-4F8E-9152-A33C4CF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libration-label">
            <a:extLst xmlns:a="http://schemas.openxmlformats.org/drawingml/2006/main">
              <a:ext uri="{FF2B5EF4-FFF2-40B4-BE49-F238E27FC236}">
                <a16:creationId xmlns:a16="http://schemas.microsoft.com/office/drawing/2014/main" id="{F75B5C2A-7C9D-4568-9C95-2CD6AE3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FAKTOR KALIBRASI</a:t>
            </a:r>
          </a:p>
        </p:txBody>
      </p:sp>
      <p:sp>
        <p:nvSpPr>
          <p:cNvPr id="16" name="calibration-value">
            <a:extLst xmlns:a="http://schemas.openxmlformats.org/drawingml/2006/main">
              <a:ext uri="{FF2B5EF4-FFF2-40B4-BE49-F238E27FC236}">
                <a16:creationId xmlns:a16="http://schemas.microsoft.com/office/drawing/2014/main" id="{A65654AB-AB1A-4D0A-8693-C89722D5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52875"/>
            <a:ext cx="2914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 = 150 / Zraw</a:t>
            </a:r>
          </a:p>
        </p:txBody>
      </p:sp>
      <p:sp>
        <p:nvSpPr>
          <p:cNvPr id="17" name="calibration-detail">
            <a:extLst xmlns:a="http://schemas.openxmlformats.org/drawingml/2006/main">
              <a:ext uri="{FF2B5EF4-FFF2-40B4-BE49-F238E27FC236}">
                <a16:creationId xmlns:a16="http://schemas.microsoft.com/office/drawing/2014/main" id="{21F7842B-861A-42F4-8D9E-8FA9580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Zkalibrasi = Zraw × K</a:t>
            </a:r>
          </a:p>
        </p:txBody>
      </p:sp>
      <p:sp>
        <p:nvSpPr>
          <p:cNvPr id="18" name="smoothing-panel">
            <a:extLst xmlns:a="http://schemas.openxmlformats.org/drawingml/2006/main">
              <a:ext uri="{FF2B5EF4-FFF2-40B4-BE49-F238E27FC236}">
                <a16:creationId xmlns:a16="http://schemas.microsoft.com/office/drawing/2014/main" id="{10C2D355-BCC9-40AC-8ECB-6E2DE7FE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moothing-bar">
            <a:extLst xmlns:a="http://schemas.openxmlformats.org/drawingml/2006/main">
              <a:ext uri="{FF2B5EF4-FFF2-40B4-BE49-F238E27FC236}">
                <a16:creationId xmlns:a16="http://schemas.microsoft.com/office/drawing/2014/main" id="{7E90B999-34FB-4A3E-BCC9-DE9C377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moothing-label">
            <a:extLst xmlns:a="http://schemas.openxmlformats.org/drawingml/2006/main">
              <a:ext uri="{FF2B5EF4-FFF2-40B4-BE49-F238E27FC236}">
                <a16:creationId xmlns:a16="http://schemas.microsoft.com/office/drawing/2014/main" id="{E34F9E2E-9E53-4630-ACF4-44257EC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67125"/>
            <a:ext cx="329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SMOOTHING</a:t>
            </a:r>
          </a:p>
        </p:txBody>
      </p:sp>
      <p:sp>
        <p:nvSpPr>
          <p:cNvPr id="21" name="smoothing-value">
            <a:extLst xmlns:a="http://schemas.openxmlformats.org/drawingml/2006/main">
              <a:ext uri="{FF2B5EF4-FFF2-40B4-BE49-F238E27FC236}">
                <a16:creationId xmlns:a16="http://schemas.microsoft.com/office/drawing/2014/main" id="{CB5D0AAC-9467-4D72-8C1E-1D65F93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3295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α = 0,25</a:t>
            </a:r>
          </a:p>
        </p:txBody>
      </p:sp>
      <p:sp>
        <p:nvSpPr>
          <p:cNvPr id="22" name="smoothing-detail">
            <a:extLst xmlns:a="http://schemas.openxmlformats.org/drawingml/2006/main">
              <a:ext uri="{FF2B5EF4-FFF2-40B4-BE49-F238E27FC236}">
                <a16:creationId xmlns:a16="http://schemas.microsoft.com/office/drawing/2014/main" id="{7D5F4052-0E64-4B79-AE94-FB5870E9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29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Zt = αZbaru + (1−α)Zlama</a:t>
            </a:r>
          </a:p>
        </p:txBody>
      </p:sp>
      <p:sp>
        <p:nvSpPr>
          <p:cNvPr id="23" name="distance-meaning">
            <a:extLst xmlns:a="http://schemas.openxmlformats.org/drawingml/2006/main">
              <a:ext uri="{FF2B5EF4-FFF2-40B4-BE49-F238E27FC236}">
                <a16:creationId xmlns:a16="http://schemas.microsoft.com/office/drawing/2014/main" id="{D98BF768-7E2C-4117-8A74-DF31369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66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Makna: marker memberi acuan ukuran nyata; kalibrasi mengoreksi bias kamera sebelum foto dikirim ke tahap perspektif.</a:t>
            </a:r>
          </a:p>
        </p:txBody>
      </p:sp>
    </p:spTree>
    <p:extLst>
      <p:ext uri="{BB962C8B-B14F-4D97-AF65-F5344CB8AC3E}">
        <p14:creationId xmlns:p14="http://schemas.microsoft.com/office/powerpoint/2010/main" val="166291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spective-slide-background">
            <a:extLst xmlns:a="http://schemas.openxmlformats.org/drawingml/2006/main">
              <a:ext uri="{FF2B5EF4-FFF2-40B4-BE49-F238E27FC236}">
                <a16:creationId xmlns:a16="http://schemas.microsoft.com/office/drawing/2014/main" id="{C8991692-7B13-4246-9B9C-3ED01B20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A01AF1B-D9B4-42E8-A59B-D956302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Perspective correction membentuk skala board yang stabil</a:t>
            </a:r>
          </a:p>
        </p:txBody>
      </p:sp>
      <p:cxnSp>
        <p:nvCxnSpPr>
          <p:cNvPr id="28" name="accent-6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5272299-80B5-4970-A990-50D38698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ource-6">
            <a:extLst xmlns:a="http://schemas.openxmlformats.org/drawingml/2006/main">
              <a:ext uri="{FF2B5EF4-FFF2-40B4-BE49-F238E27FC236}">
                <a16:creationId xmlns:a16="http://schemas.microsoft.com/office/drawing/2014/main" id="{2C9B52A4-474F-4A84-AEFF-C9F39DC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PerspectiveCorrectionActivity.java</a:t>
            </a:r>
          </a:p>
        </p:txBody>
      </p:sp>
      <p:sp>
        <p:nvSpPr>
          <p:cNvPr id="6" name="persp-left">
            <a:extLst xmlns:a="http://schemas.openxmlformats.org/drawingml/2006/main">
              <a:ext uri="{FF2B5EF4-FFF2-40B4-BE49-F238E27FC236}">
                <a16:creationId xmlns:a16="http://schemas.microsoft.com/office/drawing/2014/main" id="{6361F8D2-C65C-421C-9AE0-0C27B1E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238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p-left-title">
            <a:extLst xmlns:a="http://schemas.openxmlformats.org/drawingml/2006/main">
              <a:ext uri="{FF2B5EF4-FFF2-40B4-BE49-F238E27FC236}">
                <a16:creationId xmlns:a16="http://schemas.microsoft.com/office/drawing/2014/main" id="{5D309D12-51F9-4679-BDA1-30D6DEC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geometri</a:t>
            </a:r>
          </a:p>
        </p:txBody>
      </p:sp>
      <p:sp>
        <p:nvSpPr>
          <p:cNvPr id="8" name="persp-step-dot-0">
            <a:extLst xmlns:a="http://schemas.openxmlformats.org/drawingml/2006/main">
              <a:ext uri="{FF2B5EF4-FFF2-40B4-BE49-F238E27FC236}">
                <a16:creationId xmlns:a16="http://schemas.microsoft.com/office/drawing/2014/main" id="{60E71055-49D8-441E-908C-6FA6AD4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persp-step-line-0">
            <a:extLst xmlns:a="http://schemas.openxmlformats.org/drawingml/2006/main">
              <a:ext uri="{FF2B5EF4-FFF2-40B4-BE49-F238E27FC236}">
                <a16:creationId xmlns:a16="http://schemas.microsoft.com/office/drawing/2014/main" id="{8A12002C-76DC-41DA-B92E-47F6DDC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ersp-step-0">
            <a:extLst xmlns:a="http://schemas.openxmlformats.org/drawingml/2006/main">
              <a:ext uri="{FF2B5EF4-FFF2-40B4-BE49-F238E27FC236}">
                <a16:creationId xmlns:a16="http://schemas.microsoft.com/office/drawing/2014/main" id="{145CAEC8-79B8-42D6-A822-06C8F69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Deteksi minimal 4 marker</a:t>
            </a:r>
          </a:p>
        </p:txBody>
      </p:sp>
      <p:sp>
        <p:nvSpPr>
          <p:cNvPr id="11" name="persp-step-dot-1">
            <a:extLst xmlns:a="http://schemas.openxmlformats.org/drawingml/2006/main">
              <a:ext uri="{FF2B5EF4-FFF2-40B4-BE49-F238E27FC236}">
                <a16:creationId xmlns:a16="http://schemas.microsoft.com/office/drawing/2014/main" id="{449DB198-45CF-48AE-8806-F4A17FF0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persp-step-line-1">
            <a:extLst xmlns:a="http://schemas.openxmlformats.org/drawingml/2006/main">
              <a:ext uri="{FF2B5EF4-FFF2-40B4-BE49-F238E27FC236}">
                <a16:creationId xmlns:a16="http://schemas.microsoft.com/office/drawing/2014/main" id="{223B1F5E-E1DC-4E2E-AD3C-D20915DA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p-step-1">
            <a:extLst xmlns:a="http://schemas.openxmlformats.org/drawingml/2006/main">
              <a:ext uri="{FF2B5EF4-FFF2-40B4-BE49-F238E27FC236}">
                <a16:creationId xmlns:a16="http://schemas.microsoft.com/office/drawing/2014/main" id="{EA664955-86A3-4236-9D03-776ABBC8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Pasangkan titik gambar dengan titik board</a:t>
            </a:r>
          </a:p>
        </p:txBody>
      </p:sp>
      <p:sp>
        <p:nvSpPr>
          <p:cNvPr id="14" name="persp-step-dot-2">
            <a:extLst xmlns:a="http://schemas.openxmlformats.org/drawingml/2006/main">
              <a:ext uri="{FF2B5EF4-FFF2-40B4-BE49-F238E27FC236}">
                <a16:creationId xmlns:a16="http://schemas.microsoft.com/office/drawing/2014/main" id="{D6AA910F-138F-4BDA-AB57-7826D76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persp-step-line-2">
            <a:extLst xmlns:a="http://schemas.openxmlformats.org/drawingml/2006/main">
              <a:ext uri="{FF2B5EF4-FFF2-40B4-BE49-F238E27FC236}">
                <a16:creationId xmlns:a16="http://schemas.microsoft.com/office/drawing/2014/main" id="{150F4825-413A-497D-9B9B-8D1BC41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p-step-2">
            <a:extLst xmlns:a="http://schemas.openxmlformats.org/drawingml/2006/main">
              <a:ext uri="{FF2B5EF4-FFF2-40B4-BE49-F238E27FC236}">
                <a16:creationId xmlns:a16="http://schemas.microsoft.com/office/drawing/2014/main" id="{A97ACE1B-E2BE-4C2D-969E-4552BFC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Hitung homografi dengan RANSAC</a:t>
            </a:r>
          </a:p>
        </p:txBody>
      </p:sp>
      <p:sp>
        <p:nvSpPr>
          <p:cNvPr id="17" name="persp-step-dot-3">
            <a:extLst xmlns:a="http://schemas.openxmlformats.org/drawingml/2006/main">
              <a:ext uri="{FF2B5EF4-FFF2-40B4-BE49-F238E27FC236}">
                <a16:creationId xmlns:a16="http://schemas.microsoft.com/office/drawing/2014/main" id="{01C8C0BB-4882-41DB-B528-DC047329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8" name="persp-step-3">
            <a:extLst xmlns:a="http://schemas.openxmlformats.org/drawingml/2006/main">
              <a:ext uri="{FF2B5EF4-FFF2-40B4-BE49-F238E27FC236}">
                <a16:creationId xmlns:a16="http://schemas.microsoft.com/office/drawing/2014/main" id="{FAAC46E4-2BAA-4A0B-9D69-02D70EF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630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Warp ke bidang board terstandar</a:t>
            </a:r>
          </a:p>
        </p:txBody>
      </p:sp>
      <p:sp>
        <p:nvSpPr>
          <p:cNvPr id="19" name="persp-right-title">
            <a:extLst xmlns:a="http://schemas.openxmlformats.org/drawingml/2006/main">
              <a:ext uri="{FF2B5EF4-FFF2-40B4-BE49-F238E27FC236}">
                <a16:creationId xmlns:a16="http://schemas.microsoft.com/office/drawing/2014/main" id="{9C840865-F223-4B08-B81B-AEADC4C7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 hasil warp</a:t>
            </a:r>
          </a:p>
        </p:txBody>
      </p:sp>
      <p:sp>
        <p:nvSpPr>
          <p:cNvPr id="20" name="persp-board">
            <a:extLst xmlns:a="http://schemas.openxmlformats.org/drawingml/2006/main">
              <a:ext uri="{FF2B5EF4-FFF2-40B4-BE49-F238E27FC236}">
                <a16:creationId xmlns:a16="http://schemas.microsoft.com/office/drawing/2014/main" id="{905C9E5B-0693-4A3C-BB20-04C7C7E7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Tinggi board nyata = 200 cm</a:t>
            </a:r>
          </a:p>
        </p:txBody>
      </p:sp>
      <p:sp>
        <p:nvSpPr>
          <p:cNvPr id="21" name="persp-pixel">
            <a:extLst xmlns:a="http://schemas.openxmlformats.org/drawingml/2006/main">
              <a:ext uri="{FF2B5EF4-FFF2-40B4-BE49-F238E27FC236}">
                <a16:creationId xmlns:a16="http://schemas.microsoft.com/office/drawing/2014/main" id="{B01D6CDA-1F56-4E1C-8F80-FBA2BB8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Tinggi board hasil koreksi = 2322 px</a:t>
            </a:r>
          </a:p>
        </p:txBody>
      </p:sp>
      <p:cxnSp>
        <p:nvCxnSpPr>
          <p:cNvPr id="47" name="persp-rule"/>
          <p:cNvCxnSpPr/>
          <p:nvPr/>
        </p:nvCxnSpPr>
        <p:spPr>
          <a:xfrm xmlns:a="http://schemas.openxmlformats.org/drawingml/2006/main">
            <a:off x="6191250" y="3571875"/>
            <a:ext cx="485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3" name="persp-formula">
            <a:extLst xmlns:a="http://schemas.openxmlformats.org/drawingml/2006/main">
              <a:ext uri="{FF2B5EF4-FFF2-40B4-BE49-F238E27FC236}">
                <a16:creationId xmlns:a16="http://schemas.microsoft.com/office/drawing/2014/main" id="{08C08B52-9A4D-4D4C-8000-B9433EF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cm/piksel = 200 / 2322</a:t>
            </a:r>
          </a:p>
        </p:txBody>
      </p:sp>
      <p:sp>
        <p:nvSpPr>
          <p:cNvPr id="24" name="persp-result">
            <a:extLst xmlns:a="http://schemas.openxmlformats.org/drawingml/2006/main">
              <a:ext uri="{FF2B5EF4-FFF2-40B4-BE49-F238E27FC236}">
                <a16:creationId xmlns:a16="http://schemas.microsoft.com/office/drawing/2014/main" id="{384C45A3-5AFA-4ED1-835E-44FE793D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≈ 0,08613 cm/piksel</a:t>
            </a:r>
          </a:p>
        </p:txBody>
      </p:sp>
      <p:sp>
        <p:nvSpPr>
          <p:cNvPr id="25" name="persp-note">
            <a:extLst xmlns:a="http://schemas.openxmlformats.org/drawingml/2006/main">
              <a:ext uri="{FF2B5EF4-FFF2-40B4-BE49-F238E27FC236}">
                <a16:creationId xmlns:a16="http://schemas.microsoft.com/office/drawing/2014/main" id="{E36CCC30-749E-42A8-93E8-5CDFC5A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953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Setelah bidang board dinormalisasi, selisih koordinat piksel dapat dibandingkan dengan ukuran nyata.</a:t>
            </a:r>
          </a:p>
        </p:txBody>
      </p:sp>
    </p:spTree>
    <p:extLst>
      <p:ext uri="{BB962C8B-B14F-4D97-AF65-F5344CB8AC3E}">
        <p14:creationId xmlns:p14="http://schemas.microsoft.com/office/powerpoint/2010/main" val="1066999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xif-slide-background">
            <a:extLst xmlns:a="http://schemas.openxmlformats.org/drawingml/2006/main">
              <a:ext uri="{FF2B5EF4-FFF2-40B4-BE49-F238E27FC236}">
                <a16:creationId xmlns:a16="http://schemas.microsoft.com/office/drawing/2014/main" id="{D2BE5F25-279F-43EE-AA09-01FF168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1BAC72D-C4BB-4426-B2A1-A2C9BAA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EXIF hanya menormalkan orientasi</a:t>
            </a:r>
          </a:p>
        </p:txBody>
      </p:sp>
      <p:cxnSp>
        <p:nvCxnSpPr>
          <p:cNvPr id="20" name="accent-7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4157915-BC3B-4E6A-B111-F8E3EE0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ource-7">
            <a:extLst xmlns:a="http://schemas.openxmlformats.org/drawingml/2006/main">
              <a:ext uri="{FF2B5EF4-FFF2-40B4-BE49-F238E27FC236}">
                <a16:creationId xmlns:a16="http://schemas.microsoft.com/office/drawing/2014/main" id="{D7E79E28-A9D9-4496-B692-84A83D22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rotateBitmapIfRequired() pada tiga activity</a:t>
            </a:r>
          </a:p>
        </p:txBody>
      </p:sp>
      <p:sp>
        <p:nvSpPr>
          <p:cNvPr id="6" name="exif-lead">
            <a:extLst xmlns:a="http://schemas.openxmlformats.org/drawingml/2006/main">
              <a:ext uri="{FF2B5EF4-FFF2-40B4-BE49-F238E27FC236}">
                <a16:creationId xmlns:a16="http://schemas.microsoft.com/office/drawing/2014/main" id="{F76CBFF0-65E1-45B5-866E-22339BF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BitmapFactory membaca piksel; EXIF TAG_ORIENTATION memberi instruksi apakah bitmap perlu diputar 90°, 180°, atau 270°.</a:t>
            </a:r>
          </a:p>
        </p:txBody>
      </p:sp>
      <p:sp>
        <p:nvSpPr>
          <p:cNvPr id="7" name="exif-raw">
            <a:extLst xmlns:a="http://schemas.openxmlformats.org/drawingml/2006/main">
              <a:ext uri="{FF2B5EF4-FFF2-40B4-BE49-F238E27FC236}">
                <a16:creationId xmlns:a16="http://schemas.microsoft.com/office/drawing/2014/main" id="{4A25BC97-1441-42BD-801D-5568CF4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if-raw-body">
            <a:extLst xmlns:a="http://schemas.openxmlformats.org/drawingml/2006/main">
              <a:ext uri="{FF2B5EF4-FFF2-40B4-BE49-F238E27FC236}">
                <a16:creationId xmlns:a16="http://schemas.microsoft.com/office/drawing/2014/main" id="{1FF1DA74-907E-48DC-9441-132606A2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2286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if-raw-head">
            <a:extLst xmlns:a="http://schemas.openxmlformats.org/drawingml/2006/main">
              <a:ext uri="{FF2B5EF4-FFF2-40B4-BE49-F238E27FC236}">
                <a16:creationId xmlns:a16="http://schemas.microsoft.com/office/drawing/2014/main" id="{8C7C63A6-066B-4608-B44C-5F1DC3E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0" name="exif-raw-label">
            <a:extLst xmlns:a="http://schemas.openxmlformats.org/drawingml/2006/main">
              <a:ext uri="{FF2B5EF4-FFF2-40B4-BE49-F238E27FC236}">
                <a16:creationId xmlns:a16="http://schemas.microsoft.com/office/drawing/2014/main" id="{FE1C95BB-CC68-4FD7-8C7C-831DA5B3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Piksel mentah menyamping</a:t>
            </a:r>
          </a:p>
        </p:txBody>
      </p:sp>
      <p:cxnSp>
        <p:nvCxnSpPr>
          <p:cNvPr id="28" name="exif-arrow"/>
          <p:cNvCxnSpPr/>
          <p:nvPr/>
        </p:nvCxnSpPr>
        <p:spPr>
          <a:xfrm xmlns:a="http://schemas.openxmlformats.org/drawingml/2006/main">
            <a:off x="4524375" y="3571875"/>
            <a:ext cx="2857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2" name="exif-meta">
            <a:extLst xmlns:a="http://schemas.openxmlformats.org/drawingml/2006/main">
              <a:ext uri="{FF2B5EF4-FFF2-40B4-BE49-F238E27FC236}">
                <a16:creationId xmlns:a16="http://schemas.microsoft.com/office/drawing/2014/main" id="{905A17F5-AFC6-4D4C-BF45-6DAA9AE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EXIF: Rotate 90°</a:t>
            </a:r>
          </a:p>
        </p:txBody>
      </p:sp>
      <p:sp>
        <p:nvSpPr>
          <p:cNvPr id="13" name="exif-normal">
            <a:extLst xmlns:a="http://schemas.openxmlformats.org/drawingml/2006/main">
              <a:ext uri="{FF2B5EF4-FFF2-40B4-BE49-F238E27FC236}">
                <a16:creationId xmlns:a16="http://schemas.microsoft.com/office/drawing/2014/main" id="{5ECC1AB9-00AC-4B21-B988-84B66589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if-head">
            <a:extLst xmlns:a="http://schemas.openxmlformats.org/drawingml/2006/main">
              <a:ext uri="{FF2B5EF4-FFF2-40B4-BE49-F238E27FC236}">
                <a16:creationId xmlns:a16="http://schemas.microsoft.com/office/drawing/2014/main" id="{3E27D22D-2E44-4118-B9AB-75671B3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5" name="exif-body">
            <a:extLst xmlns:a="http://schemas.openxmlformats.org/drawingml/2006/main">
              <a:ext uri="{FF2B5EF4-FFF2-40B4-BE49-F238E27FC236}">
                <a16:creationId xmlns:a16="http://schemas.microsoft.com/office/drawing/2014/main" id="{34940DCB-C861-4EC8-9767-F5A5548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381000" cy="12858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if-normal-label">
            <a:extLst xmlns:a="http://schemas.openxmlformats.org/drawingml/2006/main">
              <a:ext uri="{FF2B5EF4-FFF2-40B4-BE49-F238E27FC236}">
                <a16:creationId xmlns:a16="http://schemas.microsoft.com/office/drawing/2014/main" id="{DD065695-3FCB-46E0-AEC4-9331985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Bitmap tegak</a:t>
            </a:r>
          </a:p>
        </p:txBody>
      </p:sp>
      <p:sp>
        <p:nvSpPr>
          <p:cNvPr id="17" name="exif-bottom">
            <a:extLst xmlns:a="http://schemas.openxmlformats.org/drawingml/2006/main">
              <a:ext uri="{FF2B5EF4-FFF2-40B4-BE49-F238E27FC236}">
                <a16:creationId xmlns:a16="http://schemas.microsoft.com/office/drawing/2014/main" id="{3BA7E559-D2B4-4A5F-AF3E-770DF979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Jika metadata hilang setelah foto diedit, aplikasi menganggap orientasi NORMAL; karena itu subjek tetap harus terlihat tegak.</a:t>
            </a:r>
          </a:p>
        </p:txBody>
      </p:sp>
    </p:spTree>
    <p:extLst>
      <p:ext uri="{BB962C8B-B14F-4D97-AF65-F5344CB8AC3E}">
        <p14:creationId xmlns:p14="http://schemas.microsoft.com/office/powerpoint/2010/main" val="440445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diapipe-slide-background">
            <a:extLst xmlns:a="http://schemas.openxmlformats.org/drawingml/2006/main">
              <a:ext uri="{FF2B5EF4-FFF2-40B4-BE49-F238E27FC236}">
                <a16:creationId xmlns:a16="http://schemas.microsoft.com/office/drawing/2014/main" id="{FBA8F895-8235-459C-8B8D-0A4A8743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80C449B-4911-45AA-BC7C-0F197FA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MediaPipe yang dipakai aplikasi</a:t>
            </a:r>
          </a:p>
        </p:txBody>
      </p:sp>
      <p:cxnSp>
        <p:nvCxnSpPr>
          <p:cNvPr id="26" name="accent-8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49914FB1-B925-41CC-ADF7-EE8949A0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ource-8">
            <a:extLst xmlns:a="http://schemas.openxmlformats.org/drawingml/2006/main">
              <a:ext uri="{FF2B5EF4-FFF2-40B4-BE49-F238E27FC236}">
                <a16:creationId xmlns:a16="http://schemas.microsoft.com/office/drawing/2014/main" id="{21AE90F2-4C7F-4BE1-B8EA-30962D81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MediaPipeActivity.java dan MeasurementActivity.java</a:t>
            </a:r>
          </a:p>
        </p:txBody>
      </p:sp>
      <p:sp>
        <p:nvSpPr>
          <p:cNvPr id="6" name="mp-lead">
            <a:extLst xmlns:a="http://schemas.openxmlformats.org/drawingml/2006/main">
              <a:ext uri="{FF2B5EF4-FFF2-40B4-BE49-F238E27FC236}">
                <a16:creationId xmlns:a16="http://schemas.microsoft.com/office/drawing/2014/main" id="{A80B729D-0507-4A62-BBF2-6D4F60C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Koordinat ternormalisasi dikonversi menjadi piksel: xpx = x × lebar gambar, ypx = y × tinggi gambar.</a:t>
            </a:r>
          </a:p>
        </p:txBody>
      </p:sp>
      <p:sp>
        <p:nvSpPr>
          <p:cNvPr id="7" name="mp-panel-0">
            <a:extLst xmlns:a="http://schemas.openxmlformats.org/drawingml/2006/main">
              <a:ext uri="{FF2B5EF4-FFF2-40B4-BE49-F238E27FC236}">
                <a16:creationId xmlns:a16="http://schemas.microsoft.com/office/drawing/2014/main" id="{E3A5AD5B-C3EC-4F74-8437-760DFFC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p-top-0">
            <a:extLst xmlns:a="http://schemas.openxmlformats.org/drawingml/2006/main">
              <a:ext uri="{FF2B5EF4-FFF2-40B4-BE49-F238E27FC236}">
                <a16:creationId xmlns:a16="http://schemas.microsoft.com/office/drawing/2014/main" id="{096B59E3-6268-4FA1-BEB3-940236EF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p-title-0">
            <a:extLst xmlns:a="http://schemas.openxmlformats.org/drawingml/2006/main">
              <a:ext uri="{FF2B5EF4-FFF2-40B4-BE49-F238E27FC236}">
                <a16:creationId xmlns:a16="http://schemas.microsoft.com/office/drawing/2014/main" id="{342AC62B-E700-4A3B-AEA4-2990B08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Wajah</a:t>
            </a:r>
          </a:p>
        </p:txBody>
      </p:sp>
      <p:sp>
        <p:nvSpPr>
          <p:cNvPr id="10" name="mp-body-0">
            <a:extLst xmlns:a="http://schemas.openxmlformats.org/drawingml/2006/main">
              <a:ext uri="{FF2B5EF4-FFF2-40B4-BE49-F238E27FC236}">
                <a16:creationId xmlns:a16="http://schemas.microsoft.com/office/drawing/2014/main" id="{2145CF8E-97D7-4AFC-9A8D-8BDE8C5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 hidung
1/4 mata dalam
2/5 mata
7/8 telinga</a:t>
            </a:r>
          </a:p>
        </p:txBody>
      </p:sp>
      <p:sp>
        <p:nvSpPr>
          <p:cNvPr id="11" name="mp-panel-1">
            <a:extLst xmlns:a="http://schemas.openxmlformats.org/drawingml/2006/main">
              <a:ext uri="{FF2B5EF4-FFF2-40B4-BE49-F238E27FC236}">
                <a16:creationId xmlns:a16="http://schemas.microsoft.com/office/drawing/2014/main" id="{58F82831-4377-42D2-B80D-366B911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p-top-1">
            <a:extLst xmlns:a="http://schemas.openxmlformats.org/drawingml/2006/main">
              <a:ext uri="{FF2B5EF4-FFF2-40B4-BE49-F238E27FC236}">
                <a16:creationId xmlns:a16="http://schemas.microsoft.com/office/drawing/2014/main" id="{22B7EAD3-BC39-4A81-BF15-18DF3DC9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p-title-1">
            <a:extLst xmlns:a="http://schemas.openxmlformats.org/drawingml/2006/main">
              <a:ext uri="{FF2B5EF4-FFF2-40B4-BE49-F238E27FC236}">
                <a16:creationId xmlns:a16="http://schemas.microsoft.com/office/drawing/2014/main" id="{43D3DF8E-C02B-49C1-99D2-A4FE89B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Bahu</a:t>
            </a:r>
          </a:p>
        </p:txBody>
      </p:sp>
      <p:sp>
        <p:nvSpPr>
          <p:cNvPr id="14" name="mp-body-1">
            <a:extLst xmlns:a="http://schemas.openxmlformats.org/drawingml/2006/main">
              <a:ext uri="{FF2B5EF4-FFF2-40B4-BE49-F238E27FC236}">
                <a16:creationId xmlns:a16="http://schemas.microsoft.com/office/drawing/2014/main" id="{2F4BAF9F-65E6-43CE-B5D1-56D23D7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 bahu kiri
12 bahu kanan
→ shoulderMid</a:t>
            </a:r>
          </a:p>
        </p:txBody>
      </p:sp>
      <p:sp>
        <p:nvSpPr>
          <p:cNvPr id="15" name="mp-panel-2">
            <a:extLst xmlns:a="http://schemas.openxmlformats.org/drawingml/2006/main">
              <a:ext uri="{FF2B5EF4-FFF2-40B4-BE49-F238E27FC236}">
                <a16:creationId xmlns:a16="http://schemas.microsoft.com/office/drawing/2014/main" id="{3EBD7EAD-1C50-45BE-B182-0B15452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p-top-2">
            <a:extLst xmlns:a="http://schemas.openxmlformats.org/drawingml/2006/main">
              <a:ext uri="{FF2B5EF4-FFF2-40B4-BE49-F238E27FC236}">
                <a16:creationId xmlns:a16="http://schemas.microsoft.com/office/drawing/2014/main" id="{EAAAFFBD-567D-43E6-968C-8F559875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p-title-2">
            <a:extLst xmlns:a="http://schemas.openxmlformats.org/drawingml/2006/main">
              <a:ext uri="{FF2B5EF4-FFF2-40B4-BE49-F238E27FC236}">
                <a16:creationId xmlns:a16="http://schemas.microsoft.com/office/drawing/2014/main" id="{5BB9DCBF-A2FA-4165-9A0B-1393590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Rangka kaki</a:t>
            </a:r>
          </a:p>
        </p:txBody>
      </p:sp>
      <p:sp>
        <p:nvSpPr>
          <p:cNvPr id="18" name="mp-body-2">
            <a:extLst xmlns:a="http://schemas.openxmlformats.org/drawingml/2006/main">
              <a:ext uri="{FF2B5EF4-FFF2-40B4-BE49-F238E27FC236}">
                <a16:creationId xmlns:a16="http://schemas.microsoft.com/office/drawing/2014/main" id="{74FB28FB-AD9D-4413-81F3-41C7C569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23/24 pinggul
25/26 lutut
27/28 ankle</a:t>
            </a:r>
          </a:p>
        </p:txBody>
      </p:sp>
      <p:sp>
        <p:nvSpPr>
          <p:cNvPr id="19" name="mp-panel-3">
            <a:extLst xmlns:a="http://schemas.openxmlformats.org/drawingml/2006/main">
              <a:ext uri="{FF2B5EF4-FFF2-40B4-BE49-F238E27FC236}">
                <a16:creationId xmlns:a16="http://schemas.microsoft.com/office/drawing/2014/main" id="{A2DD7AB2-99B5-4AC3-BF46-D9C4233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p-top-3">
            <a:extLst xmlns:a="http://schemas.openxmlformats.org/drawingml/2006/main">
              <a:ext uri="{FF2B5EF4-FFF2-40B4-BE49-F238E27FC236}">
                <a16:creationId xmlns:a16="http://schemas.microsoft.com/office/drawing/2014/main" id="{C9794F5E-2F89-47F0-80E0-55787E1B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p-title-3">
            <a:extLst xmlns:a="http://schemas.openxmlformats.org/drawingml/2006/main">
              <a:ext uri="{FF2B5EF4-FFF2-40B4-BE49-F238E27FC236}">
                <a16:creationId xmlns:a16="http://schemas.microsoft.com/office/drawing/2014/main" id="{BFEAF89F-978B-4439-BE3C-48194E03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Kontak kaki</a:t>
            </a:r>
          </a:p>
        </p:txBody>
      </p:sp>
      <p:sp>
        <p:nvSpPr>
          <p:cNvPr id="22" name="mp-body-3">
            <a:extLst xmlns:a="http://schemas.openxmlformats.org/drawingml/2006/main">
              <a:ext uri="{FF2B5EF4-FFF2-40B4-BE49-F238E27FC236}">
                <a16:creationId xmlns:a16="http://schemas.microsoft.com/office/drawing/2014/main" id="{A84FEB5B-9EBC-49AD-BCAE-8EB71EC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29/30 tumit
31/32 ujung kaki
→ footBottom</a:t>
            </a:r>
          </a:p>
        </p:txBody>
      </p:sp>
      <p:sp>
        <p:nvSpPr>
          <p:cNvPr id="23" name="mp-note">
            <a:extLst xmlns:a="http://schemas.openxmlformats.org/drawingml/2006/main">
              <a:ext uri="{FF2B5EF4-FFF2-40B4-BE49-F238E27FC236}">
                <a16:creationId xmlns:a16="http://schemas.microsoft.com/office/drawing/2014/main" id="{44D7D47E-95B5-4B8F-A39E-DB15385E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9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dipakai untuk geometri tubuh; kontur OpenCV hanya menjadi informasi pendukung.</a:t>
            </a:r>
          </a:p>
        </p:txBody>
      </p:sp>
    </p:spTree>
    <p:extLst>
      <p:ext uri="{BB962C8B-B14F-4D97-AF65-F5344CB8AC3E}">
        <p14:creationId xmlns:p14="http://schemas.microsoft.com/office/powerpoint/2010/main" val="419254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-foot-slide-background">
            <a:extLst xmlns:a="http://schemas.openxmlformats.org/drawingml/2006/main">
              <a:ext uri="{FF2B5EF4-FFF2-40B4-BE49-F238E27FC236}">
                <a16:creationId xmlns:a16="http://schemas.microsoft.com/office/drawing/2014/main" id="{D018601B-4FE7-4715-B840-A51577F8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2A11A14-1CC4-45D4-8DDA-9B5B555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6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dan kaki terbawah membentuk tinggi vertikal</a:t>
            </a:r>
          </a:p>
        </p:txBody>
      </p:sp>
      <p:cxnSp>
        <p:nvCxnSpPr>
          <p:cNvPr id="21" name="accent-9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B248BA7B-5EF0-4FEC-A96F-03EDCC9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ource-9">
            <a:extLst xmlns:a="http://schemas.openxmlformats.org/drawingml/2006/main">
              <a:ext uri="{FF2B5EF4-FFF2-40B4-BE49-F238E27FC236}">
                <a16:creationId xmlns:a16="http://schemas.microsoft.com/office/drawing/2014/main" id="{39227409-80F1-4669-94FF-8BE6A06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estimateAnatomicalHeadTop() dan getFootBottomPoint()</a:t>
            </a:r>
          </a:p>
        </p:txBody>
      </p:sp>
      <p:sp>
        <p:nvSpPr>
          <p:cNvPr id="6" name="head-panel">
            <a:extLst xmlns:a="http://schemas.openxmlformats.org/drawingml/2006/main">
              <a:ext uri="{FF2B5EF4-FFF2-40B4-BE49-F238E27FC236}">
                <a16:creationId xmlns:a16="http://schemas.microsoft.com/office/drawing/2014/main" id="{86D06CBB-755B-48C5-BC9A-1154C46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816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title">
            <a:extLst xmlns:a="http://schemas.openxmlformats.org/drawingml/2006/main">
              <a:ext uri="{FF2B5EF4-FFF2-40B4-BE49-F238E27FC236}">
                <a16:creationId xmlns:a16="http://schemas.microsoft.com/office/drawing/2014/main" id="{8BAAFA76-0CBD-430D-8A9D-26EF012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Estimasi puncak kepala</a:t>
            </a:r>
          </a:p>
        </p:txBody>
      </p:sp>
      <p:sp>
        <p:nvSpPr>
          <p:cNvPr id="8" name="head-formula-1">
            <a:extLst xmlns:a="http://schemas.openxmlformats.org/drawingml/2006/main">
              <a:ext uri="{FF2B5EF4-FFF2-40B4-BE49-F238E27FC236}">
                <a16:creationId xmlns:a16="http://schemas.microsoft.com/office/drawing/2014/main" id="{AC70E204-1253-47FE-90C2-E252E6B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faceCenter = midpoint(hidung, eyeMid)</a:t>
            </a:r>
          </a:p>
        </p:txBody>
      </p:sp>
      <p:sp>
        <p:nvSpPr>
          <p:cNvPr id="9" name="head-formula-2">
            <a:extLst xmlns:a="http://schemas.openxmlformats.org/drawingml/2006/main">
              <a:ext uri="{FF2B5EF4-FFF2-40B4-BE49-F238E27FC236}">
                <a16:creationId xmlns:a16="http://schemas.microsoft.com/office/drawing/2014/main" id="{AD6C05F7-6F28-488F-A8AB-914B863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= normalize(faceCenter − shoulderMid)</a:t>
            </a:r>
          </a:p>
        </p:txBody>
      </p:sp>
      <p:sp>
        <p:nvSpPr>
          <p:cNvPr id="10" name="head-formula-3">
            <a:extLst xmlns:a="http://schemas.openxmlformats.org/drawingml/2006/main">
              <a:ext uri="{FF2B5EF4-FFF2-40B4-BE49-F238E27FC236}">
                <a16:creationId xmlns:a16="http://schemas.microsoft.com/office/drawing/2014/main" id="{C7BA485B-D08C-4551-AC19-A369517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= eye–shoulder × 0,28
              + ear–eye × 0,15</a:t>
            </a:r>
          </a:p>
        </p:txBody>
      </p:sp>
      <p:sp>
        <p:nvSpPr>
          <p:cNvPr id="11" name="head-result">
            <a:extLst xmlns:a="http://schemas.openxmlformats.org/drawingml/2006/main">
              <a:ext uri="{FF2B5EF4-FFF2-40B4-BE49-F238E27FC236}">
                <a16:creationId xmlns:a16="http://schemas.microsoft.com/office/drawing/2014/main" id="{A80203D1-3226-4A77-A1DD-F466584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headTop = faceCenter + arah × koreksi</a:t>
            </a:r>
          </a:p>
        </p:txBody>
      </p:sp>
      <p:sp>
        <p:nvSpPr>
          <p:cNvPr id="12" name="head-why">
            <a:extLst xmlns:a="http://schemas.openxmlformats.org/drawingml/2006/main">
              <a:ext uri="{FF2B5EF4-FFF2-40B4-BE49-F238E27FC236}">
                <a16:creationId xmlns:a16="http://schemas.microsoft.com/office/drawing/2014/main" id="{CD9B2D8F-7A27-4CA4-ABD1-4087CAA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Menghindari rambut, hijab, atau topi sebagai batas kepala.</a:t>
            </a:r>
          </a:p>
        </p:txBody>
      </p:sp>
      <p:sp>
        <p:nvSpPr>
          <p:cNvPr id="13" name="foot-panel">
            <a:extLst xmlns:a="http://schemas.openxmlformats.org/drawingml/2006/main">
              <a:ext uri="{FF2B5EF4-FFF2-40B4-BE49-F238E27FC236}">
                <a16:creationId xmlns:a16="http://schemas.microsoft.com/office/drawing/2014/main" id="{B89188F2-4185-4F70-8F80-2BDB9AEF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410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-title">
            <a:extLst xmlns:a="http://schemas.openxmlformats.org/drawingml/2006/main">
              <a:ext uri="{FF2B5EF4-FFF2-40B4-BE49-F238E27FC236}">
                <a16:creationId xmlns:a16="http://schemas.microsoft.com/office/drawing/2014/main" id="{3AF6A228-3474-4135-9F24-E250B640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Pemilihan kaki terbawah</a:t>
            </a:r>
          </a:p>
        </p:txBody>
      </p:sp>
      <p:sp>
        <p:nvSpPr>
          <p:cNvPr id="15" name="foot-candidates">
            <a:extLst xmlns:a="http://schemas.openxmlformats.org/drawingml/2006/main">
              <a:ext uri="{FF2B5EF4-FFF2-40B4-BE49-F238E27FC236}">
                <a16:creationId xmlns:a16="http://schemas.microsoft.com/office/drawing/2014/main" id="{17D4CFA8-879B-4E5E-8460-A4D97D0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57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Kandidat: ankle, heel, dan foot index
untuk kaki kiri serta kanan</a:t>
            </a:r>
          </a:p>
        </p:txBody>
      </p:sp>
      <p:sp>
        <p:nvSpPr>
          <p:cNvPr id="16" name="foot-rule">
            <a:extLst xmlns:a="http://schemas.openxmlformats.org/drawingml/2006/main">
              <a:ext uri="{FF2B5EF4-FFF2-40B4-BE49-F238E27FC236}">
                <a16:creationId xmlns:a16="http://schemas.microsoft.com/office/drawing/2014/main" id="{86B846B3-66F6-413F-BAA0-CB1E9801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6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footBottom = titik dengan nilai Y terbesar</a:t>
            </a:r>
          </a:p>
        </p:txBody>
      </p:sp>
      <p:sp>
        <p:nvSpPr>
          <p:cNvPr id="17" name="height-px">
            <a:extLst xmlns:a="http://schemas.openxmlformats.org/drawingml/2006/main">
              <a:ext uri="{FF2B5EF4-FFF2-40B4-BE49-F238E27FC236}">
                <a16:creationId xmlns:a16="http://schemas.microsoft.com/office/drawing/2014/main" id="{B14B1AD9-631A-43CC-8061-32EC195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heightPx = |footBottom.y − headTop.y|</a:t>
            </a:r>
          </a:p>
        </p:txBody>
      </p:sp>
      <p:sp>
        <p:nvSpPr>
          <p:cNvPr id="18" name="case-example">
            <a:extLst xmlns:a="http://schemas.openxmlformats.org/drawingml/2006/main">
              <a:ext uri="{FF2B5EF4-FFF2-40B4-BE49-F238E27FC236}">
                <a16:creationId xmlns:a16="http://schemas.microsoft.com/office/drawing/2014/main" id="{E0BE6008-3D2D-4B80-B070-39637CCF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4572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Contoh ilustratif:
headTop.y = 224 px, footBottom.y = 1710 px
heightPx = 1486 px</a:t>
            </a:r>
          </a:p>
        </p:txBody>
      </p:sp>
    </p:spTree>
    <p:extLst>
      <p:ext uri="{BB962C8B-B14F-4D97-AF65-F5344CB8AC3E}">
        <p14:creationId xmlns:p14="http://schemas.microsoft.com/office/powerpoint/2010/main" val="952672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our-slide-background">
            <a:extLst xmlns:a="http://schemas.openxmlformats.org/drawingml/2006/main">
              <a:ext uri="{FF2B5EF4-FFF2-40B4-BE49-F238E27FC236}">
                <a16:creationId xmlns:a16="http://schemas.microsoft.com/office/drawing/2014/main" id="{8306D4E7-038D-4E15-B446-B3468934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4D2ABF2-763A-4509-8C6B-7A4FE714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23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OpenCV mendukung visualisasi dan pembanding</a:t>
            </a:r>
          </a:p>
        </p:txBody>
      </p:sp>
      <p:cxnSp>
        <p:nvCxnSpPr>
          <p:cNvPr id="39" name="accent-10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0E34C732-F442-4E39-84FA-B1E181A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64E51716-F92B-486A-B01F-FC3D3F33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runContourProcess() pada MeasurementActivity.java</a:t>
            </a:r>
          </a:p>
        </p:txBody>
      </p:sp>
      <p:cxnSp>
        <p:nvCxnSpPr>
          <p:cNvPr id="42" name="contour-link-0"/>
          <p:cNvCxnSpPr/>
          <p:nvPr/>
        </p:nvCxnSpPr>
        <p:spPr>
          <a:xfrm xmlns:a="http://schemas.openxmlformats.org/drawingml/2006/main">
            <a:off x="16192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contour-link-1"/>
          <p:cNvCxnSpPr/>
          <p:nvPr/>
        </p:nvCxnSpPr>
        <p:spPr>
          <a:xfrm xmlns:a="http://schemas.openxmlformats.org/drawingml/2006/main">
            <a:off x="342900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4" name="contour-link-2"/>
          <p:cNvCxnSpPr/>
          <p:nvPr/>
        </p:nvCxnSpPr>
        <p:spPr>
          <a:xfrm xmlns:a="http://schemas.openxmlformats.org/drawingml/2006/main">
            <a:off x="52387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5" name="contour-link-3"/>
          <p:cNvCxnSpPr/>
          <p:nvPr/>
        </p:nvCxnSpPr>
        <p:spPr>
          <a:xfrm xmlns:a="http://schemas.openxmlformats.org/drawingml/2006/main">
            <a:off x="704850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6" name="contour-link-4"/>
          <p:cNvCxnSpPr/>
          <p:nvPr/>
        </p:nvCxnSpPr>
        <p:spPr>
          <a:xfrm xmlns:a="http://schemas.openxmlformats.org/drawingml/2006/main">
            <a:off x="88582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1" name="contour-dot-0">
            <a:extLst xmlns:a="http://schemas.openxmlformats.org/drawingml/2006/main">
              <a:ext uri="{FF2B5EF4-FFF2-40B4-BE49-F238E27FC236}">
                <a16:creationId xmlns:a16="http://schemas.microsoft.com/office/drawing/2014/main" id="{D5D97946-CC59-4E53-8F3F-CA53051F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contour-num-0">
            <a:extLst xmlns:a="http://schemas.openxmlformats.org/drawingml/2006/main">
              <a:ext uri="{FF2B5EF4-FFF2-40B4-BE49-F238E27FC236}">
                <a16:creationId xmlns:a16="http://schemas.microsoft.com/office/drawing/2014/main" id="{602B7488-A3C6-47B1-8583-42139E5E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contour-title-0">
            <a:extLst xmlns:a="http://schemas.openxmlformats.org/drawingml/2006/main">
              <a:ext uri="{FF2B5EF4-FFF2-40B4-BE49-F238E27FC236}">
                <a16:creationId xmlns:a16="http://schemas.microsoft.com/office/drawing/2014/main" id="{D23FED49-B2A4-4C9E-A765-FB258C3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Grayscale</a:t>
            </a:r>
          </a:p>
        </p:txBody>
      </p:sp>
      <p:sp>
        <p:nvSpPr>
          <p:cNvPr id="14" name="contour-body-0">
            <a:extLst xmlns:a="http://schemas.openxmlformats.org/drawingml/2006/main">
              <a:ext uri="{FF2B5EF4-FFF2-40B4-BE49-F238E27FC236}">
                <a16:creationId xmlns:a16="http://schemas.microsoft.com/office/drawing/2014/main" id="{157A08B6-E32B-4A59-81A7-6C71444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Kurangi kanal warna</a:t>
            </a:r>
          </a:p>
        </p:txBody>
      </p:sp>
      <p:sp>
        <p:nvSpPr>
          <p:cNvPr id="15" name="contour-dot-1">
            <a:extLst xmlns:a="http://schemas.openxmlformats.org/drawingml/2006/main">
              <a:ext uri="{FF2B5EF4-FFF2-40B4-BE49-F238E27FC236}">
                <a16:creationId xmlns:a16="http://schemas.microsoft.com/office/drawing/2014/main" id="{888306BB-428C-4733-ACFF-32B0535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contour-num-1">
            <a:extLst xmlns:a="http://schemas.openxmlformats.org/drawingml/2006/main">
              <a:ext uri="{FF2B5EF4-FFF2-40B4-BE49-F238E27FC236}">
                <a16:creationId xmlns:a16="http://schemas.microsoft.com/office/drawing/2014/main" id="{7DB6B190-297E-4CC2-9E53-6D61604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contour-title-1">
            <a:extLst xmlns:a="http://schemas.openxmlformats.org/drawingml/2006/main">
              <a:ext uri="{FF2B5EF4-FFF2-40B4-BE49-F238E27FC236}">
                <a16:creationId xmlns:a16="http://schemas.microsoft.com/office/drawing/2014/main" id="{003F6591-C51D-49D8-BA0F-611847F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Blur 5×5</a:t>
            </a:r>
          </a:p>
        </p:txBody>
      </p:sp>
      <p:sp>
        <p:nvSpPr>
          <p:cNvPr id="18" name="contour-body-1">
            <a:extLst xmlns:a="http://schemas.openxmlformats.org/drawingml/2006/main">
              <a:ext uri="{FF2B5EF4-FFF2-40B4-BE49-F238E27FC236}">
                <a16:creationId xmlns:a16="http://schemas.microsoft.com/office/drawing/2014/main" id="{4565A947-178F-4354-86F1-122209EC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Redam noise</a:t>
            </a:r>
          </a:p>
        </p:txBody>
      </p:sp>
      <p:sp>
        <p:nvSpPr>
          <p:cNvPr id="19" name="contour-dot-2">
            <a:extLst xmlns:a="http://schemas.openxmlformats.org/drawingml/2006/main">
              <a:ext uri="{FF2B5EF4-FFF2-40B4-BE49-F238E27FC236}">
                <a16:creationId xmlns:a16="http://schemas.microsoft.com/office/drawing/2014/main" id="{92D1C9CA-6650-4D77-9A26-8EFDD6F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contour-num-2">
            <a:extLst xmlns:a="http://schemas.openxmlformats.org/drawingml/2006/main">
              <a:ext uri="{FF2B5EF4-FFF2-40B4-BE49-F238E27FC236}">
                <a16:creationId xmlns:a16="http://schemas.microsoft.com/office/drawing/2014/main" id="{7A7FAEC8-DE11-4BD7-8816-2A1EB56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contour-title-2">
            <a:extLst xmlns:a="http://schemas.openxmlformats.org/drawingml/2006/main">
              <a:ext uri="{FF2B5EF4-FFF2-40B4-BE49-F238E27FC236}">
                <a16:creationId xmlns:a16="http://schemas.microsoft.com/office/drawing/2014/main" id="{CECA7E00-23AB-45C1-A5F1-88BB2238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Canny</a:t>
            </a:r>
          </a:p>
        </p:txBody>
      </p:sp>
      <p:sp>
        <p:nvSpPr>
          <p:cNvPr id="22" name="contour-body-2">
            <a:extLst xmlns:a="http://schemas.openxmlformats.org/drawingml/2006/main">
              <a:ext uri="{FF2B5EF4-FFF2-40B4-BE49-F238E27FC236}">
                <a16:creationId xmlns:a16="http://schemas.microsoft.com/office/drawing/2014/main" id="{F246C804-32B2-4AD5-BF0D-60D8F2B1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Threshold 45/140</a:t>
            </a:r>
          </a:p>
        </p:txBody>
      </p:sp>
      <p:sp>
        <p:nvSpPr>
          <p:cNvPr id="23" name="contour-dot-3">
            <a:extLst xmlns:a="http://schemas.openxmlformats.org/drawingml/2006/main">
              <a:ext uri="{FF2B5EF4-FFF2-40B4-BE49-F238E27FC236}">
                <a16:creationId xmlns:a16="http://schemas.microsoft.com/office/drawing/2014/main" id="{BBD49DBF-B8F8-4821-BE30-BDB37F4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contour-num-3">
            <a:extLst xmlns:a="http://schemas.openxmlformats.org/drawingml/2006/main">
              <a:ext uri="{FF2B5EF4-FFF2-40B4-BE49-F238E27FC236}">
                <a16:creationId xmlns:a16="http://schemas.microsoft.com/office/drawing/2014/main" id="{08DFEC47-9BBE-4858-8D6E-B608AD8E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contour-title-3">
            <a:extLst xmlns:a="http://schemas.openxmlformats.org/drawingml/2006/main">
              <a:ext uri="{FF2B5EF4-FFF2-40B4-BE49-F238E27FC236}">
                <a16:creationId xmlns:a16="http://schemas.microsoft.com/office/drawing/2014/main" id="{502D44F3-A489-4FAA-9A71-AC4C7D7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Dilasi 7×7</a:t>
            </a:r>
          </a:p>
        </p:txBody>
      </p:sp>
      <p:sp>
        <p:nvSpPr>
          <p:cNvPr id="26" name="contour-body-3">
            <a:extLst xmlns:a="http://schemas.openxmlformats.org/drawingml/2006/main">
              <a:ext uri="{FF2B5EF4-FFF2-40B4-BE49-F238E27FC236}">
                <a16:creationId xmlns:a16="http://schemas.microsoft.com/office/drawing/2014/main" id="{8C3E7AC1-8AD0-43CB-A9F6-2325292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Sambungkan tepi</a:t>
            </a:r>
          </a:p>
        </p:txBody>
      </p:sp>
      <p:sp>
        <p:nvSpPr>
          <p:cNvPr id="27" name="contour-dot-4">
            <a:extLst xmlns:a="http://schemas.openxmlformats.org/drawingml/2006/main">
              <a:ext uri="{FF2B5EF4-FFF2-40B4-BE49-F238E27FC236}">
                <a16:creationId xmlns:a16="http://schemas.microsoft.com/office/drawing/2014/main" id="{C56D4A46-CA51-4EB4-A7BF-F4EEBCE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8" name="contour-num-4">
            <a:extLst xmlns:a="http://schemas.openxmlformats.org/drawingml/2006/main">
              <a:ext uri="{FF2B5EF4-FFF2-40B4-BE49-F238E27FC236}">
                <a16:creationId xmlns:a16="http://schemas.microsoft.com/office/drawing/2014/main" id="{2CE2A7E7-B56E-4E05-9838-E6243CC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contour-title-4">
            <a:extLst xmlns:a="http://schemas.openxmlformats.org/drawingml/2006/main">
              <a:ext uri="{FF2B5EF4-FFF2-40B4-BE49-F238E27FC236}">
                <a16:creationId xmlns:a16="http://schemas.microsoft.com/office/drawing/2014/main" id="{DC8FAC76-F20C-4DF6-8FB2-10B4C39D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luar</a:t>
            </a:r>
          </a:p>
        </p:txBody>
      </p:sp>
      <p:sp>
        <p:nvSpPr>
          <p:cNvPr id="30" name="contour-body-4">
            <a:extLst xmlns:a="http://schemas.openxmlformats.org/drawingml/2006/main">
              <a:ext uri="{FF2B5EF4-FFF2-40B4-BE49-F238E27FC236}">
                <a16:creationId xmlns:a16="http://schemas.microsoft.com/office/drawing/2014/main" id="{2EA2C520-C2A7-4D3D-962E-90C85458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RETR_EXTERNAL</a:t>
            </a:r>
          </a:p>
        </p:txBody>
      </p:sp>
      <p:sp>
        <p:nvSpPr>
          <p:cNvPr id="31" name="contour-dot-5">
            <a:extLst xmlns:a="http://schemas.openxmlformats.org/drawingml/2006/main">
              <a:ext uri="{FF2B5EF4-FFF2-40B4-BE49-F238E27FC236}">
                <a16:creationId xmlns:a16="http://schemas.microsoft.com/office/drawing/2014/main" id="{E3CAE9AE-747A-4E01-8867-4B5F9D9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32" name="contour-num-5">
            <a:extLst xmlns:a="http://schemas.openxmlformats.org/drawingml/2006/main">
              <a:ext uri="{FF2B5EF4-FFF2-40B4-BE49-F238E27FC236}">
                <a16:creationId xmlns:a16="http://schemas.microsoft.com/office/drawing/2014/main" id="{0075A81D-BFF0-4728-8723-FD1DBB2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contour-title-5">
            <a:extLst xmlns:a="http://schemas.openxmlformats.org/drawingml/2006/main">
              <a:ext uri="{FF2B5EF4-FFF2-40B4-BE49-F238E27FC236}">
                <a16:creationId xmlns:a16="http://schemas.microsoft.com/office/drawing/2014/main" id="{EC10773E-BFFE-4132-943C-B64068B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terbaik</a:t>
            </a:r>
          </a:p>
        </p:txBody>
      </p:sp>
      <p:sp>
        <p:nvSpPr>
          <p:cNvPr id="34" name="contour-body-5">
            <a:extLst xmlns:a="http://schemas.openxmlformats.org/drawingml/2006/main">
              <a:ext uri="{FF2B5EF4-FFF2-40B4-BE49-F238E27FC236}">
                <a16:creationId xmlns:a16="http://schemas.microsoft.com/office/drawing/2014/main" id="{A5C130A4-DC4F-4997-9AE5-C84B0B2D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Overlap + area</a:t>
            </a:r>
          </a:p>
        </p:txBody>
      </p:sp>
      <p:sp>
        <p:nvSpPr>
          <p:cNvPr id="35" name="contour-callout">
            <a:extLst xmlns:a="http://schemas.openxmlformats.org/drawingml/2006/main">
              <a:ext uri="{FF2B5EF4-FFF2-40B4-BE49-F238E27FC236}">
                <a16:creationId xmlns:a16="http://schemas.microsoft.com/office/drawing/2014/main" id="{8CC3A5DC-B3CF-42BB-BC25-239602B4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ntour-callout-text">
            <a:extLst xmlns:a="http://schemas.openxmlformats.org/drawingml/2006/main">
              <a:ext uri="{FF2B5EF4-FFF2-40B4-BE49-F238E27FC236}">
                <a16:creationId xmlns:a16="http://schemas.microsoft.com/office/drawing/2014/main" id="{C04EB640-F0E7-4189-931F-5F482C3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91150"/>
            <a:ext cx="809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Hasil kontur menggambar batas tubuh dan bounding box. Tinggi utama tetap berasal dari headTop–footBottom MediaPipe.</a:t>
            </a:r>
          </a:p>
        </p:txBody>
      </p:sp>
    </p:spTree>
    <p:extLst>
      <p:ext uri="{BB962C8B-B14F-4D97-AF65-F5344CB8AC3E}">
        <p14:creationId xmlns:p14="http://schemas.microsoft.com/office/powerpoint/2010/main" val="1202907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mula-slide-background">
            <a:extLst xmlns:a="http://schemas.openxmlformats.org/drawingml/2006/main">
              <a:ext uri="{FF2B5EF4-FFF2-40B4-BE49-F238E27FC236}">
                <a16:creationId xmlns:a16="http://schemas.microsoft.com/office/drawing/2014/main" id="{E4AA0C3D-3054-4793-B7C7-4B765054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404EB07-9C4B-423E-BB47-B54FF6D1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457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Rumus akhir menggabungkan tinggi piksel, skala, dan kedalaman</a:t>
            </a:r>
          </a:p>
        </p:txBody>
      </p:sp>
      <p:cxnSp>
        <p:nvCxnSpPr>
          <p:cNvPr id="30" name="accent-11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BFD1FF38-E73D-4DB9-9AAC-1F56AA96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5B4D61A1-D7E9-4317-A613-FD41DB8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pixelToCm() dan getDepthCorrectionFactor()</a:t>
            </a:r>
          </a:p>
        </p:txBody>
      </p:sp>
      <p:sp>
        <p:nvSpPr>
          <p:cNvPr id="6" name="final-formula">
            <a:extLst xmlns:a="http://schemas.openxmlformats.org/drawingml/2006/main">
              <a:ext uri="{FF2B5EF4-FFF2-40B4-BE49-F238E27FC236}">
                <a16:creationId xmlns:a16="http://schemas.microsoft.com/office/drawing/2014/main" id="{198695BB-1E21-4201-8D97-776BC8F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 = Hpx × Sboard × Fdepth × Fkalibrasi</a:t>
            </a:r>
          </a:p>
        </p:txBody>
      </p:sp>
      <p:cxnSp>
        <p:nvCxnSpPr>
          <p:cNvPr id="34" name="formula-rule"/>
          <p:cNvCxnSpPr/>
          <p:nvPr/>
        </p:nvCxnSpPr>
        <p:spPr>
          <a:xfrm xmlns:a="http://schemas.openxmlformats.org/drawingml/2006/main">
            <a:off x="2095500" y="2571750"/>
            <a:ext cx="800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def-panel-0">
            <a:extLst xmlns:a="http://schemas.openxmlformats.org/drawingml/2006/main">
              <a:ext uri="{FF2B5EF4-FFF2-40B4-BE49-F238E27FC236}">
                <a16:creationId xmlns:a16="http://schemas.microsoft.com/office/drawing/2014/main" id="{808EB661-EF1B-418B-8FA3-D0BDD8A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f-bar-0">
            <a:extLst xmlns:a="http://schemas.openxmlformats.org/drawingml/2006/main">
              <a:ext uri="{FF2B5EF4-FFF2-40B4-BE49-F238E27FC236}">
                <a16:creationId xmlns:a16="http://schemas.microsoft.com/office/drawing/2014/main" id="{F1F732FB-2084-42AE-8BC6-AEDECEC9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f-key-0">
            <a:extLst xmlns:a="http://schemas.openxmlformats.org/drawingml/2006/main">
              <a:ext uri="{FF2B5EF4-FFF2-40B4-BE49-F238E27FC236}">
                <a16:creationId xmlns:a16="http://schemas.microsoft.com/office/drawing/2014/main" id="{8FD16CFE-B441-4861-87AD-4A39920A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Hpx</a:t>
            </a:r>
          </a:p>
        </p:txBody>
      </p:sp>
      <p:sp>
        <p:nvSpPr>
          <p:cNvPr id="11" name="def-val-0">
            <a:extLst xmlns:a="http://schemas.openxmlformats.org/drawingml/2006/main">
              <a:ext uri="{FF2B5EF4-FFF2-40B4-BE49-F238E27FC236}">
                <a16:creationId xmlns:a16="http://schemas.microsoft.com/office/drawing/2014/main" id="{CB83BA64-1E11-46C9-8C30-D8353CD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|Ykaki − Ykepala|</a:t>
            </a:r>
          </a:p>
        </p:txBody>
      </p:sp>
      <p:sp>
        <p:nvSpPr>
          <p:cNvPr id="12" name="def-panel-1">
            <a:extLst xmlns:a="http://schemas.openxmlformats.org/drawingml/2006/main">
              <a:ext uri="{FF2B5EF4-FFF2-40B4-BE49-F238E27FC236}">
                <a16:creationId xmlns:a16="http://schemas.microsoft.com/office/drawing/2014/main" id="{3ACEC421-B6ED-4B7A-B3ED-23CAC4A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f-bar-1">
            <a:extLst xmlns:a="http://schemas.openxmlformats.org/drawingml/2006/main">
              <a:ext uri="{FF2B5EF4-FFF2-40B4-BE49-F238E27FC236}">
                <a16:creationId xmlns:a16="http://schemas.microsoft.com/office/drawing/2014/main" id="{5C7B80B9-5E77-4A2C-9D4C-65EDB6DA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f-key-1">
            <a:extLst xmlns:a="http://schemas.openxmlformats.org/drawingml/2006/main">
              <a:ext uri="{FF2B5EF4-FFF2-40B4-BE49-F238E27FC236}">
                <a16:creationId xmlns:a16="http://schemas.microsoft.com/office/drawing/2014/main" id="{1EE7C81F-7DA2-4315-BB8F-FD6C259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Sboard</a:t>
            </a:r>
          </a:p>
        </p:txBody>
      </p:sp>
      <p:sp>
        <p:nvSpPr>
          <p:cNvPr id="15" name="def-val-1">
            <a:extLst xmlns:a="http://schemas.openxmlformats.org/drawingml/2006/main">
              <a:ext uri="{FF2B5EF4-FFF2-40B4-BE49-F238E27FC236}">
                <a16:creationId xmlns:a16="http://schemas.microsoft.com/office/drawing/2014/main" id="{407C0776-93E8-45F9-9607-634C3F1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200 / 2322 ≈ 0,08613 cm/px</a:t>
            </a:r>
          </a:p>
        </p:txBody>
      </p:sp>
      <p:sp>
        <p:nvSpPr>
          <p:cNvPr id="16" name="def-panel-2">
            <a:extLst xmlns:a="http://schemas.openxmlformats.org/drawingml/2006/main">
              <a:ext uri="{FF2B5EF4-FFF2-40B4-BE49-F238E27FC236}">
                <a16:creationId xmlns:a16="http://schemas.microsoft.com/office/drawing/2014/main" id="{CE5EAABC-FEF1-4FFC-8284-F52F0E7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f-bar-2">
            <a:extLst xmlns:a="http://schemas.openxmlformats.org/drawingml/2006/main">
              <a:ext uri="{FF2B5EF4-FFF2-40B4-BE49-F238E27FC236}">
                <a16:creationId xmlns:a16="http://schemas.microsoft.com/office/drawing/2014/main" id="{B35BA8FE-B011-4D1B-86E3-A58101FC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f-key-2">
            <a:extLst xmlns:a="http://schemas.openxmlformats.org/drawingml/2006/main">
              <a:ext uri="{FF2B5EF4-FFF2-40B4-BE49-F238E27FC236}">
                <a16:creationId xmlns:a16="http://schemas.microsoft.com/office/drawing/2014/main" id="{2910227E-C700-435F-9B98-01034B26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Fdepth</a:t>
            </a:r>
          </a:p>
        </p:txBody>
      </p:sp>
      <p:sp>
        <p:nvSpPr>
          <p:cNvPr id="19" name="def-val-2">
            <a:extLst xmlns:a="http://schemas.openxmlformats.org/drawingml/2006/main">
              <a:ext uri="{FF2B5EF4-FFF2-40B4-BE49-F238E27FC236}">
                <a16:creationId xmlns:a16="http://schemas.microsoft.com/office/drawing/2014/main" id="{440083B7-2A3A-4B4A-BE34-661AD8B5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(Dkamera − Dsubjek-board) / Dkamera</a:t>
            </a:r>
          </a:p>
        </p:txBody>
      </p:sp>
      <p:sp>
        <p:nvSpPr>
          <p:cNvPr id="20" name="def-panel-3">
            <a:extLst xmlns:a="http://schemas.openxmlformats.org/drawingml/2006/main">
              <a:ext uri="{FF2B5EF4-FFF2-40B4-BE49-F238E27FC236}">
                <a16:creationId xmlns:a16="http://schemas.microsoft.com/office/drawing/2014/main" id="{8A14E6AA-311A-4767-AD70-FE9035B1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f-bar-3">
            <a:extLst xmlns:a="http://schemas.openxmlformats.org/drawingml/2006/main">
              <a:ext uri="{FF2B5EF4-FFF2-40B4-BE49-F238E27FC236}">
                <a16:creationId xmlns:a16="http://schemas.microsoft.com/office/drawing/2014/main" id="{CADB54CA-A0FB-4941-8D6B-48CD9552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f-key-3">
            <a:extLst xmlns:a="http://schemas.openxmlformats.org/drawingml/2006/main">
              <a:ext uri="{FF2B5EF4-FFF2-40B4-BE49-F238E27FC236}">
                <a16:creationId xmlns:a16="http://schemas.microsoft.com/office/drawing/2014/main" id="{07F0EA76-8B5D-47AE-8584-A4AFAF7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Fkalibrasi</a:t>
            </a:r>
          </a:p>
        </p:txBody>
      </p:sp>
      <p:sp>
        <p:nvSpPr>
          <p:cNvPr id="23" name="def-val-3">
            <a:extLst xmlns:a="http://schemas.openxmlformats.org/drawingml/2006/main">
              <a:ext uri="{FF2B5EF4-FFF2-40B4-BE49-F238E27FC236}">
                <a16:creationId xmlns:a16="http://schemas.microsoft.com/office/drawing/2014/main" id="{ECD01D06-4D05-4523-BF11-8F43A5A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1,0 pada kode saat ini</a:t>
            </a:r>
          </a:p>
        </p:txBody>
      </p:sp>
      <p:sp>
        <p:nvSpPr>
          <p:cNvPr id="24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EE25717-F79E-441B-8D4B-F830D95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E8229E83-0073-4284-B442-26AB6A0A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Contoh ilustratif</a:t>
            </a:r>
          </a:p>
        </p:txBody>
      </p:sp>
      <p:sp>
        <p:nvSpPr>
          <p:cNvPr id="26" name="example-calc">
            <a:extLst xmlns:a="http://schemas.openxmlformats.org/drawingml/2006/main">
              <a:ext uri="{FF2B5EF4-FFF2-40B4-BE49-F238E27FC236}">
                <a16:creationId xmlns:a16="http://schemas.microsoft.com/office/drawing/2014/main" id="{F117E2ED-595D-42AC-8F35-3B04809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Tinggi berbasis board 186,1 cm × faktor kedalaman 0,857 × faktor kalibrasi 1,0 = 159,5 cm</a:t>
            </a:r>
          </a:p>
        </p:txBody>
      </p:sp>
      <p:sp>
        <p:nvSpPr>
          <p:cNvPr id="27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55276FF0-D5C8-4D07-95ED-2764D6C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53125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Contoh menjelaskan rumus, bukan hasil uji akurasi.</a:t>
            </a:r>
          </a:p>
        </p:txBody>
      </p:sp>
    </p:spTree>
    <p:extLst>
      <p:ext uri="{BB962C8B-B14F-4D97-AF65-F5344CB8AC3E}">
        <p14:creationId xmlns:p14="http://schemas.microsoft.com/office/powerpoint/2010/main" val="14050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validation-slide-background">
            <a:extLst xmlns:a="http://schemas.openxmlformats.org/drawingml/2006/main">
              <a:ext uri="{FF2B5EF4-FFF2-40B4-BE49-F238E27FC236}">
                <a16:creationId xmlns:a16="http://schemas.microsoft.com/office/drawing/2014/main" id="{F03F6706-B159-4048-9414-115B71AB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01B41E5B-D0B3-4605-9557-D719BF5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Validasi pose dan batasan sistem</a:t>
            </a:r>
          </a:p>
        </p:txBody>
      </p:sp>
      <p:cxnSp>
        <p:nvCxnSpPr>
          <p:cNvPr id="27" name="accent-12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8EA31390-4A53-4CAE-A212-809FAFE2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source-12">
            <a:extLst xmlns:a="http://schemas.openxmlformats.org/drawingml/2006/main">
              <a:ext uri="{FF2B5EF4-FFF2-40B4-BE49-F238E27FC236}">
                <a16:creationId xmlns:a16="http://schemas.microsoft.com/office/drawing/2014/main" id="{EEFD4D48-C4BF-4C50-AFBA-55703315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validatePose() pada MeasurementActivity.java</a:t>
            </a:r>
          </a:p>
        </p:txBody>
      </p:sp>
      <p:sp>
        <p:nvSpPr>
          <p:cNvPr id="6" name="validation-lead">
            <a:extLst xmlns:a="http://schemas.openxmlformats.org/drawingml/2006/main">
              <a:ext uri="{FF2B5EF4-FFF2-40B4-BE49-F238E27FC236}">
                <a16:creationId xmlns:a16="http://schemas.microsoft.com/office/drawing/2014/main" id="{05553859-1236-4735-9F83-743B9E9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Sistem memeriksa kualitas pose sebelum hasil digunakan; warning tidak selalu menggagalkan proses, tetapi memberi konteks kualitas.</a:t>
            </a:r>
          </a:p>
        </p:txBody>
      </p:sp>
      <p:sp>
        <p:nvSpPr>
          <p:cNvPr id="7" name="check-dot-0">
            <a:extLst xmlns:a="http://schemas.openxmlformats.org/drawingml/2006/main">
              <a:ext uri="{FF2B5EF4-FFF2-40B4-BE49-F238E27FC236}">
                <a16:creationId xmlns:a16="http://schemas.microsoft.com/office/drawing/2014/main" id="{F164EFC7-3446-4CA2-81E6-9258916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A143640A-014B-4F44-B2CE-810B34E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DDB3E3EB-071C-428C-985C-8CED0B8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utama tersedia dan cukup terlihat</a:t>
            </a:r>
          </a:p>
        </p:txBody>
      </p:sp>
      <p:sp>
        <p:nvSpPr>
          <p:cNvPr id="10" name="check-dot-1">
            <a:extLst xmlns:a="http://schemas.openxmlformats.org/drawingml/2006/main">
              <a:ext uri="{FF2B5EF4-FFF2-40B4-BE49-F238E27FC236}">
                <a16:creationId xmlns:a16="http://schemas.microsoft.com/office/drawing/2014/main" id="{C6A6F7AE-EF9B-41CA-8741-FB13482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5EF124D2-A1E8-4677-8C1C-DB57F04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6B713D8E-7247-40F1-9F2F-B7A679BC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serta kaki berada di dalam frame</a:t>
            </a:r>
          </a:p>
        </p:txBody>
      </p:sp>
      <p:sp>
        <p:nvSpPr>
          <p:cNvPr id="13" name="check-dot-2">
            <a:extLst xmlns:a="http://schemas.openxmlformats.org/drawingml/2006/main">
              <a:ext uri="{FF2B5EF4-FFF2-40B4-BE49-F238E27FC236}">
                <a16:creationId xmlns:a16="http://schemas.microsoft.com/office/drawing/2014/main" id="{905BDBD1-A4DB-4395-B5DC-34813DA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4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19393DC3-D513-400E-9FF0-F540D53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5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D1104B77-B65E-4892-804A-F5AC09C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Kemiringan bahu dan pinggul tidak berlebihan</a:t>
            </a:r>
          </a:p>
        </p:txBody>
      </p:sp>
      <p:sp>
        <p:nvSpPr>
          <p:cNvPr id="16" name="check-dot-3">
            <a:extLst xmlns:a="http://schemas.openxmlformats.org/drawingml/2006/main">
              <a:ext uri="{FF2B5EF4-FFF2-40B4-BE49-F238E27FC236}">
                <a16:creationId xmlns:a16="http://schemas.microsoft.com/office/drawing/2014/main" id="{7B139B35-E9D5-4290-8421-837DB8DE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5360FA3A-6DE8-4E7B-8E33-25E8D38F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8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FF4FA775-6FF8-4ED5-A1D1-CB51EA81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Sudut lutut minimal sekitar 130°</a:t>
            </a:r>
          </a:p>
        </p:txBody>
      </p:sp>
      <p:sp>
        <p:nvSpPr>
          <p:cNvPr id="19" name="check-dot-4">
            <a:extLst xmlns:a="http://schemas.openxmlformats.org/drawingml/2006/main">
              <a:ext uri="{FF2B5EF4-FFF2-40B4-BE49-F238E27FC236}">
                <a16:creationId xmlns:a16="http://schemas.microsoft.com/office/drawing/2014/main" id="{1DE88CBA-2822-4FF0-AFEB-1E21C7D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check-mark-4">
            <a:extLst xmlns:a="http://schemas.openxmlformats.org/drawingml/2006/main">
              <a:ext uri="{FF2B5EF4-FFF2-40B4-BE49-F238E27FC236}">
                <a16:creationId xmlns:a16="http://schemas.microsoft.com/office/drawing/2014/main" id="{E53CC5C8-8FBF-4200-9D74-E5EB5EE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72826017-6440-4534-91C6-FBD3357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Torso tidak terlalu miring dan subjek tidak di tepi</a:t>
            </a:r>
          </a:p>
        </p:txBody>
      </p:sp>
      <p:sp>
        <p:nvSpPr>
          <p:cNvPr id="22" name="limits">
            <a:extLst xmlns:a="http://schemas.openxmlformats.org/drawingml/2006/main">
              <a:ext uri="{FF2B5EF4-FFF2-40B4-BE49-F238E27FC236}">
                <a16:creationId xmlns:a16="http://schemas.microsoft.com/office/drawing/2014/main" id="{ECB17370-0C00-4B90-A358-57030AB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B56E90EC-8596-4406-954B-A09EB275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28875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Batasan implementasi</a:t>
            </a:r>
          </a:p>
        </p:txBody>
      </p:sp>
      <p:sp>
        <p:nvSpPr>
          <p:cNvPr id="24" name="limits-body">
            <a:extLst xmlns:a="http://schemas.openxmlformats.org/drawingml/2006/main">
              <a:ext uri="{FF2B5EF4-FFF2-40B4-BE49-F238E27FC236}">
                <a16:creationId xmlns:a16="http://schemas.microsoft.com/office/drawing/2014/main" id="{D56AAA2C-52A3-43CD-B1F1-ABFAC69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3286125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0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• Input harus menampilkan tubuh dan board secara utuh
• EXIF hasil edit bisa hilang atau tidak konsisten
• Kontur dapat menyatu dengan background
• Akurasi akhir tetap membutuhkan validasi terhadap pengukuran manual</a:t>
            </a:r>
          </a:p>
        </p:txBody>
      </p:sp>
    </p:spTree>
    <p:extLst>
      <p:ext uri="{BB962C8B-B14F-4D97-AF65-F5344CB8AC3E}">
        <p14:creationId xmlns:p14="http://schemas.microsoft.com/office/powerpoint/2010/main" val="1627690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slide-background">
            <a:extLst xmlns:a="http://schemas.openxmlformats.org/drawingml/2006/main">
              <a:ext uri="{FF2B5EF4-FFF2-40B4-BE49-F238E27FC236}">
                <a16:creationId xmlns:a16="http://schemas.microsoft.com/office/drawing/2014/main" id="{1B7F4FCA-59F1-41A2-AA7C-AFFDD75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5720E7C-1B9F-412E-AE32-9EC9D13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KESIMPULAN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B825298-78D7-4F4C-955D-8BEBB1F0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5725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 dapat
ditelusuri dari piksel
hingga sentimeter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247A1656-F9E7-485D-9768-C441CF0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809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1. Geometri distabilkan dengan marker dan perspective correction.
2. Anatomi diperkirakan dari landmark MediaPipe.
3. Skala board dan koreksi kedalaman menghasilkan tinggi akhir.</a:t>
            </a:r>
          </a:p>
        </p:txBody>
      </p:sp>
      <p:sp>
        <p:nvSpPr>
          <p:cNvPr id="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C4B50EF5-D35A-4893-AD31-A9CE9BF8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42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accent-2">
            <a:extLst xmlns:a="http://schemas.openxmlformats.org/drawingml/2006/main">
              <a:ext uri="{FF2B5EF4-FFF2-40B4-BE49-F238E27FC236}">
                <a16:creationId xmlns:a16="http://schemas.microsoft.com/office/drawing/2014/main" id="{94BC93C4-AB30-4719-8287-1021C1DC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73428342-82D5-4577-8B56-141209E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810250"/>
            <a:ext cx="39528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736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Langkah berikutnya: validasi terukur terhadap data tinggi manual pada beberapa subjek dan kondisi pengambilan.</a:t>
            </a:r>
          </a:p>
        </p:txBody>
      </p:sp>
    </p:spTree>
    <p:extLst>
      <p:ext uri="{BB962C8B-B14F-4D97-AF65-F5344CB8AC3E}">
        <p14:creationId xmlns:p14="http://schemas.microsoft.com/office/powerpoint/2010/main" val="1618424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2026-07-11T04:56:14.9550000Z</dcterms:created>
  <dcterms:modified xsi:type="dcterms:W3CDTF">2026-07-11T04:56:14.9550000Z</dcterms:modified>
</coreProperties>
</file>