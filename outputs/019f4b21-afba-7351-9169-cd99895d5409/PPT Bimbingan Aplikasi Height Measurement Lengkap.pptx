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slide-background">
            <a:extLst>
              <a:ext uri="{FF2B5EF4-FFF2-40B4-BE49-F238E27FC236}">
                <a16:creationId xmlns:a16="http://schemas.microsoft.com/office/drawing/2014/main" id="{7269E85F-90B4-4F07-9191-28561576E5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cover-eyebrow">
            <a:extLst>
              <a:ext uri="{FF2B5EF4-FFF2-40B4-BE49-F238E27FC236}">
                <a16:creationId xmlns:a16="http://schemas.microsoft.com/office/drawing/2014/main" id="{38665E37-864E-4D91-B493-D59B51B8CAE5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59055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APLIKASI ANDROID • COMPUTER VISION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8F35758F-1C4B-4456-90C7-D2C182FA7FB4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6858000" cy="20955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5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Height
Measurement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D4B12B61-2798-4B95-912F-2BC4E46FFAAC}"/>
              </a:ext>
            </a:extLst>
          </p:cNvPr>
          <p:cNvSpPr>
            <a:spLocks noGrp="1"/>
          </p:cNvSpPr>
          <p:nvPr/>
        </p:nvSpPr>
        <p:spPr>
          <a:xfrm>
            <a:off x="400050" y="4000500"/>
            <a:ext cx="6667500" cy="1047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Alur sistem, pengolahan citra, dan perhitungan tinggi badan dari piksel ke sentimeter</a:t>
            </a:r>
          </a:p>
        </p:txBody>
      </p:sp>
      <p:sp>
        <p:nvSpPr>
          <p:cNvPr id="5" name="cover-meta">
            <a:extLst>
              <a:ext uri="{FF2B5EF4-FFF2-40B4-BE49-F238E27FC236}">
                <a16:creationId xmlns:a16="http://schemas.microsoft.com/office/drawing/2014/main" id="{2057F0D6-FCEE-4604-9213-2B3D5FE8B7E5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66675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OpenCV • CameraX • MediaPipe Pose Landmarker</a:t>
            </a:r>
          </a:p>
        </p:txBody>
      </p:sp>
      <p:sp>
        <p:nvSpPr>
          <p:cNvPr id="6" name="logo-backing">
            <a:extLst>
              <a:ext uri="{FF2B5EF4-FFF2-40B4-BE49-F238E27FC236}">
                <a16:creationId xmlns:a16="http://schemas.microsoft.com/office/drawing/2014/main" id="{B8E38EF6-5528-4B30-8D30-9EAD2B8B9D81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2857500" cy="2857500"/>
          </a:xfrm>
          <a:prstGeom prst="roundRect">
            <a:avLst>
              <a:gd name="adj" fmla="val 2667"/>
            </a:avLst>
          </a:prstGeom>
          <a:solidFill>
            <a:srgbClr val="F0ECFF"/>
          </a:solidFill>
          <a:ln w="9525">
            <a:solidFill>
              <a:srgbClr val="D8D0FF"/>
            </a:solidFill>
            <a:prstDash val="solid"/>
          </a:ln>
        </p:spPr>
      </p:sp>
      <p:sp>
        <p:nvSpPr>
          <p:cNvPr id="7" name="cover-blue-band">
            <a:extLst>
              <a:ext uri="{FF2B5EF4-FFF2-40B4-BE49-F238E27FC236}">
                <a16:creationId xmlns:a16="http://schemas.microsoft.com/office/drawing/2014/main" id="{DB6B46A1-5DCA-4B4A-B6D3-A4AEA4ED2379}"/>
              </a:ext>
            </a:extLst>
          </p:cNvPr>
          <p:cNvSpPr>
            <a:spLocks noGrp="1"/>
          </p:cNvSpPr>
          <p:nvPr/>
        </p:nvSpPr>
        <p:spPr>
          <a:xfrm>
            <a:off x="8001000" y="4619625"/>
            <a:ext cx="333375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1809750"/>
            <a:ext cx="2190750" cy="21907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7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blem-slide-background">
            <a:extLst>
              <a:ext uri="{FF2B5EF4-FFF2-40B4-BE49-F238E27FC236}">
                <a16:creationId xmlns:a16="http://schemas.microsoft.com/office/drawing/2014/main" id="{A30CF354-72FB-44DF-8A8E-32DD428790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B56F0669-6C4F-4355-8227-B8910AD760A4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dirty="0" err="1"/>
              <a:t>s</a:t>
            </a:r>
            <a:r>
              <a:rPr dirty="0" err="1"/>
              <a:t>ebelum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 </a:t>
            </a:r>
            <a:r>
              <a:rPr dirty="0" err="1"/>
              <a:t>dihitung</a:t>
            </a:r>
            <a:endParaRPr dirty="0"/>
          </a:p>
        </p:txBody>
      </p:sp>
      <p:cxnSp>
        <p:nvCxnSpPr>
          <p:cNvPr id="35" name="accent-2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2">
            <a:extLst>
              <a:ext uri="{FF2B5EF4-FFF2-40B4-BE49-F238E27FC236}">
                <a16:creationId xmlns:a16="http://schemas.microsoft.com/office/drawing/2014/main" id="{410AFE70-E7D1-4A5B-8F2A-865A1AD24424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source-2">
            <a:extLst>
              <a:ext uri="{FF2B5EF4-FFF2-40B4-BE49-F238E27FC236}">
                <a16:creationId xmlns:a16="http://schemas.microsoft.com/office/drawing/2014/main" id="{EDD0DFC6-89DE-4FFB-A15D-828A52A27379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implementasi project HeightMeasurement</a:t>
            </a:r>
          </a:p>
        </p:txBody>
      </p:sp>
      <p:sp>
        <p:nvSpPr>
          <p:cNvPr id="6" name="problem-lead">
            <a:extLst>
              <a:ext uri="{FF2B5EF4-FFF2-40B4-BE49-F238E27FC236}">
                <a16:creationId xmlns:a16="http://schemas.microsoft.com/office/drawing/2014/main" id="{643E76B6-C6D6-44BF-96DE-AA904EB9C50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715000" cy="857250"/>
          </a:xfrm>
          <a:prstGeom prst="rect">
            <a:avLst/>
          </a:prstGeom>
        </p:spPr>
        <p:txBody>
          <a:bodyPr lIns="0" tIns="0" rIns="0" bIns="0" anchor="t">
            <a:normAutofit fontScale="96154" lnSpcReduction="10000"/>
          </a:bodyPr>
          <a:lstStyle/>
          <a:p>
            <a:pPr algn="l">
              <a:defRPr sz="19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Akurasi</a:t>
            </a:r>
            <a:r>
              <a:rPr dirty="0"/>
              <a:t> </a:t>
            </a:r>
            <a:r>
              <a:rPr dirty="0" err="1"/>
              <a:t>dipengaruhi</a:t>
            </a:r>
            <a:r>
              <a:rPr dirty="0"/>
              <a:t> oleh </a:t>
            </a:r>
            <a:r>
              <a:rPr dirty="0" err="1"/>
              <a:t>empat</a:t>
            </a:r>
            <a:r>
              <a:rPr dirty="0"/>
              <a:t> </a:t>
            </a:r>
            <a:r>
              <a:rPr dirty="0" err="1"/>
              <a:t>hal</a:t>
            </a:r>
            <a:r>
              <a:rPr dirty="0"/>
              <a:t> yang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dinormalisasi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</a:t>
            </a:r>
            <a:r>
              <a:rPr dirty="0" err="1"/>
              <a:t>dinyatakan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sentimeter</a:t>
            </a:r>
            <a:r>
              <a:rPr dirty="0"/>
              <a:t>.</a:t>
            </a:r>
          </a:p>
        </p:txBody>
      </p:sp>
      <p:sp>
        <p:nvSpPr>
          <p:cNvPr id="7" name="problem-num-0">
            <a:extLst>
              <a:ext uri="{FF2B5EF4-FFF2-40B4-BE49-F238E27FC236}">
                <a16:creationId xmlns:a16="http://schemas.microsoft.com/office/drawing/2014/main" id="{723AD6EF-7E89-4BCD-BA2A-9A259F8577D9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476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problem-title-0">
            <a:extLst>
              <a:ext uri="{FF2B5EF4-FFF2-40B4-BE49-F238E27FC236}">
                <a16:creationId xmlns:a16="http://schemas.microsoft.com/office/drawing/2014/main" id="{DCE2CBDC-FC56-4031-B780-28BEBC3F0ACD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1619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Orientasi</a:t>
            </a:r>
          </a:p>
        </p:txBody>
      </p:sp>
      <p:sp>
        <p:nvSpPr>
          <p:cNvPr id="9" name="problem-body-0">
            <a:extLst>
              <a:ext uri="{FF2B5EF4-FFF2-40B4-BE49-F238E27FC236}">
                <a16:creationId xmlns:a16="http://schemas.microsoft.com/office/drawing/2014/main" id="{48EA9DB3-25A5-4557-902F-B135EF94FF63}"/>
              </a:ext>
            </a:extLst>
          </p:cNvPr>
          <p:cNvSpPr>
            <a:spLocks noGrp="1"/>
          </p:cNvSpPr>
          <p:nvPr/>
        </p:nvSpPr>
        <p:spPr>
          <a:xfrm>
            <a:off x="2762250" y="2476500"/>
            <a:ext cx="33337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Foto harus tegak sebelum diproses.</a:t>
            </a:r>
          </a:p>
        </p:txBody>
      </p:sp>
      <p:sp>
        <p:nvSpPr>
          <p:cNvPr id="10" name="problem-num-1">
            <a:extLst>
              <a:ext uri="{FF2B5EF4-FFF2-40B4-BE49-F238E27FC236}">
                <a16:creationId xmlns:a16="http://schemas.microsoft.com/office/drawing/2014/main" id="{F0B9C9A1-4747-48CB-AD58-2C47F182100A}"/>
              </a:ext>
            </a:extLst>
          </p:cNvPr>
          <p:cNvSpPr>
            <a:spLocks noGrp="1"/>
          </p:cNvSpPr>
          <p:nvPr/>
        </p:nvSpPr>
        <p:spPr>
          <a:xfrm>
            <a:off x="400050" y="3314700"/>
            <a:ext cx="476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problem-title-1">
            <a:extLst>
              <a:ext uri="{FF2B5EF4-FFF2-40B4-BE49-F238E27FC236}">
                <a16:creationId xmlns:a16="http://schemas.microsoft.com/office/drawing/2014/main" id="{85AC2B7F-D983-400C-B32F-95313FD4F976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1619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Perspektif</a:t>
            </a:r>
          </a:p>
        </p:txBody>
      </p:sp>
      <p:sp>
        <p:nvSpPr>
          <p:cNvPr id="12" name="problem-body-1">
            <a:extLst>
              <a:ext uri="{FF2B5EF4-FFF2-40B4-BE49-F238E27FC236}">
                <a16:creationId xmlns:a16="http://schemas.microsoft.com/office/drawing/2014/main" id="{56513FD0-87F4-48D1-8E94-EE3BDD509A01}"/>
              </a:ext>
            </a:extLst>
          </p:cNvPr>
          <p:cNvSpPr>
            <a:spLocks noGrp="1"/>
          </p:cNvSpPr>
          <p:nvPr/>
        </p:nvSpPr>
        <p:spPr>
          <a:xfrm>
            <a:off x="2762250" y="3314700"/>
            <a:ext cx="33337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/>
              <a:t>Board </a:t>
            </a:r>
            <a:r>
              <a:rPr dirty="0" err="1"/>
              <a:t>dikoreksi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bidang</a:t>
            </a:r>
            <a:r>
              <a:rPr dirty="0"/>
              <a:t> </a:t>
            </a:r>
            <a:r>
              <a:rPr dirty="0" err="1"/>
              <a:t>acuan</a:t>
            </a:r>
            <a:r>
              <a:rPr dirty="0"/>
              <a:t>.</a:t>
            </a:r>
          </a:p>
        </p:txBody>
      </p:sp>
      <p:sp>
        <p:nvSpPr>
          <p:cNvPr id="13" name="problem-num-2">
            <a:extLst>
              <a:ext uri="{FF2B5EF4-FFF2-40B4-BE49-F238E27FC236}">
                <a16:creationId xmlns:a16="http://schemas.microsoft.com/office/drawing/2014/main" id="{A258F00A-6DE9-4456-B661-2DC7F3EB62AF}"/>
              </a:ext>
            </a:extLst>
          </p:cNvPr>
          <p:cNvSpPr>
            <a:spLocks noGrp="1"/>
          </p:cNvSpPr>
          <p:nvPr/>
        </p:nvSpPr>
        <p:spPr>
          <a:xfrm>
            <a:off x="400050" y="4152900"/>
            <a:ext cx="476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problem-title-2">
            <a:extLst>
              <a:ext uri="{FF2B5EF4-FFF2-40B4-BE49-F238E27FC236}">
                <a16:creationId xmlns:a16="http://schemas.microsoft.com/office/drawing/2014/main" id="{15D8A8C4-AEE3-419A-A084-29900657B20B}"/>
              </a:ext>
            </a:extLst>
          </p:cNvPr>
          <p:cNvSpPr>
            <a:spLocks noGrp="1"/>
          </p:cNvSpPr>
          <p:nvPr/>
        </p:nvSpPr>
        <p:spPr>
          <a:xfrm>
            <a:off x="1047750" y="4152900"/>
            <a:ext cx="1619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Skala</a:t>
            </a:r>
          </a:p>
        </p:txBody>
      </p:sp>
      <p:sp>
        <p:nvSpPr>
          <p:cNvPr id="15" name="problem-body-2">
            <a:extLst>
              <a:ext uri="{FF2B5EF4-FFF2-40B4-BE49-F238E27FC236}">
                <a16:creationId xmlns:a16="http://schemas.microsoft.com/office/drawing/2014/main" id="{9883A614-CA3C-424C-86D0-17A4F875C5E1}"/>
              </a:ext>
            </a:extLst>
          </p:cNvPr>
          <p:cNvSpPr>
            <a:spLocks noGrp="1"/>
          </p:cNvSpPr>
          <p:nvPr/>
        </p:nvSpPr>
        <p:spPr>
          <a:xfrm>
            <a:off x="2762250" y="4152900"/>
            <a:ext cx="33337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Tinggi board 200 cm menjadi cm/piksel.</a:t>
            </a:r>
          </a:p>
        </p:txBody>
      </p:sp>
      <p:sp>
        <p:nvSpPr>
          <p:cNvPr id="16" name="problem-num-3">
            <a:extLst>
              <a:ext uri="{FF2B5EF4-FFF2-40B4-BE49-F238E27FC236}">
                <a16:creationId xmlns:a16="http://schemas.microsoft.com/office/drawing/2014/main" id="{76B33E9F-FE4A-4F38-AD99-6C1E32CAF32A}"/>
              </a:ext>
            </a:extLst>
          </p:cNvPr>
          <p:cNvSpPr>
            <a:spLocks noGrp="1"/>
          </p:cNvSpPr>
          <p:nvPr/>
        </p:nvSpPr>
        <p:spPr>
          <a:xfrm>
            <a:off x="400050" y="4991100"/>
            <a:ext cx="476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7" name="problem-title-3">
            <a:extLst>
              <a:ext uri="{FF2B5EF4-FFF2-40B4-BE49-F238E27FC236}">
                <a16:creationId xmlns:a16="http://schemas.microsoft.com/office/drawing/2014/main" id="{BB4BC2DE-0316-49EB-A4D9-4154644C045D}"/>
              </a:ext>
            </a:extLst>
          </p:cNvPr>
          <p:cNvSpPr>
            <a:spLocks noGrp="1"/>
          </p:cNvSpPr>
          <p:nvPr/>
        </p:nvSpPr>
        <p:spPr>
          <a:xfrm>
            <a:off x="1047750" y="4991100"/>
            <a:ext cx="1619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Kedalaman</a:t>
            </a:r>
          </a:p>
        </p:txBody>
      </p:sp>
      <p:sp>
        <p:nvSpPr>
          <p:cNvPr id="18" name="problem-body-3">
            <a:extLst>
              <a:ext uri="{FF2B5EF4-FFF2-40B4-BE49-F238E27FC236}">
                <a16:creationId xmlns:a16="http://schemas.microsoft.com/office/drawing/2014/main" id="{B0229648-D63B-451A-B794-131B5B24759B}"/>
              </a:ext>
            </a:extLst>
          </p:cNvPr>
          <p:cNvSpPr>
            <a:spLocks noGrp="1"/>
          </p:cNvSpPr>
          <p:nvPr/>
        </p:nvSpPr>
        <p:spPr>
          <a:xfrm>
            <a:off x="2762250" y="4991100"/>
            <a:ext cx="333375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/>
              <a:t>Faktor </a:t>
            </a:r>
            <a:r>
              <a:rPr dirty="0" err="1"/>
              <a:t>dihitung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acuan</a:t>
            </a:r>
            <a:r>
              <a:rPr dirty="0"/>
              <a:t> 350 cm.</a:t>
            </a:r>
          </a:p>
        </p:txBody>
      </p:sp>
      <p:sp>
        <p:nvSpPr>
          <p:cNvPr id="19" name="measure-line">
            <a:extLst>
              <a:ext uri="{FF2B5EF4-FFF2-40B4-BE49-F238E27FC236}">
                <a16:creationId xmlns:a16="http://schemas.microsoft.com/office/drawing/2014/main" id="{39858AAC-E4A5-492F-931C-E1D57877846E}"/>
              </a:ext>
            </a:extLst>
          </p:cNvPr>
          <p:cNvSpPr>
            <a:spLocks noGrp="1"/>
          </p:cNvSpPr>
          <p:nvPr/>
        </p:nvSpPr>
        <p:spPr>
          <a:xfrm>
            <a:off x="8743950" y="1666875"/>
            <a:ext cx="47625" cy="37147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cxnSp>
        <p:nvCxnSpPr>
          <p:cNvPr id="52" name="tick-0"/>
          <p:cNvCxnSpPr/>
          <p:nvPr/>
        </p:nvCxnSpPr>
        <p:spPr>
          <a:xfrm>
            <a:off x="8382000" y="1809750"/>
            <a:ext cx="381000" cy="9525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53" name="tick-1"/>
          <p:cNvCxnSpPr/>
          <p:nvPr/>
        </p:nvCxnSpPr>
        <p:spPr>
          <a:xfrm>
            <a:off x="8382000" y="2286000"/>
            <a:ext cx="228600" cy="9525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54" name="tick-2"/>
          <p:cNvCxnSpPr/>
          <p:nvPr/>
        </p:nvCxnSpPr>
        <p:spPr>
          <a:xfrm>
            <a:off x="8382000" y="2762250"/>
            <a:ext cx="381000" cy="9525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55" name="tick-3"/>
          <p:cNvCxnSpPr/>
          <p:nvPr/>
        </p:nvCxnSpPr>
        <p:spPr>
          <a:xfrm>
            <a:off x="8382000" y="3238500"/>
            <a:ext cx="228600" cy="9525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56" name="tick-4"/>
          <p:cNvCxnSpPr/>
          <p:nvPr/>
        </p:nvCxnSpPr>
        <p:spPr>
          <a:xfrm>
            <a:off x="8382000" y="3714750"/>
            <a:ext cx="381000" cy="9525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57" name="tick-5"/>
          <p:cNvCxnSpPr/>
          <p:nvPr/>
        </p:nvCxnSpPr>
        <p:spPr>
          <a:xfrm>
            <a:off x="8382000" y="4191000"/>
            <a:ext cx="228600" cy="9525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58" name="tick-6"/>
          <p:cNvCxnSpPr/>
          <p:nvPr/>
        </p:nvCxnSpPr>
        <p:spPr>
          <a:xfrm>
            <a:off x="8382000" y="4667250"/>
            <a:ext cx="381000" cy="9525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59" name="tick-7"/>
          <p:cNvCxnSpPr/>
          <p:nvPr/>
        </p:nvCxnSpPr>
        <p:spPr>
          <a:xfrm>
            <a:off x="8382000" y="5143500"/>
            <a:ext cx="228600" cy="9525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28" name="head">
            <a:extLst>
              <a:ext uri="{FF2B5EF4-FFF2-40B4-BE49-F238E27FC236}">
                <a16:creationId xmlns:a16="http://schemas.microsoft.com/office/drawing/2014/main" id="{C83AA117-244D-44C6-85BE-F8ABABDC268D}"/>
              </a:ext>
            </a:extLst>
          </p:cNvPr>
          <p:cNvSpPr>
            <a:spLocks noGrp="1"/>
          </p:cNvSpPr>
          <p:nvPr/>
        </p:nvSpPr>
        <p:spPr>
          <a:xfrm>
            <a:off x="9572625" y="2143125"/>
            <a:ext cx="685800" cy="685800"/>
          </a:xfrm>
          <a:prstGeom prst="ellipse">
            <a:avLst/>
          </a:prstGeom>
          <a:solidFill>
            <a:srgbClr val="6D45DF"/>
          </a:solidFill>
        </p:spPr>
      </p:sp>
      <p:sp>
        <p:nvSpPr>
          <p:cNvPr id="29" name="torso">
            <a:extLst>
              <a:ext uri="{FF2B5EF4-FFF2-40B4-BE49-F238E27FC236}">
                <a16:creationId xmlns:a16="http://schemas.microsoft.com/office/drawing/2014/main" id="{A4DBB592-B0DE-4B61-BB5F-1E49642877E1}"/>
              </a:ext>
            </a:extLst>
          </p:cNvPr>
          <p:cNvSpPr>
            <a:spLocks noGrp="1"/>
          </p:cNvSpPr>
          <p:nvPr/>
        </p:nvSpPr>
        <p:spPr>
          <a:xfrm>
            <a:off x="9696450" y="2905125"/>
            <a:ext cx="438150" cy="1524000"/>
          </a:xfrm>
          <a:prstGeom prst="roundRect">
            <a:avLst>
              <a:gd name="adj" fmla="val 17391"/>
            </a:avLst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30" name="leg-left">
            <a:extLst>
              <a:ext uri="{FF2B5EF4-FFF2-40B4-BE49-F238E27FC236}">
                <a16:creationId xmlns:a16="http://schemas.microsoft.com/office/drawing/2014/main" id="{43F64089-4CF1-4945-8CE0-AF06CA677269}"/>
              </a:ext>
            </a:extLst>
          </p:cNvPr>
          <p:cNvSpPr>
            <a:spLocks noGrp="1"/>
          </p:cNvSpPr>
          <p:nvPr/>
        </p:nvSpPr>
        <p:spPr>
          <a:xfrm>
            <a:off x="9620250" y="4381500"/>
            <a:ext cx="171450" cy="1047750"/>
          </a:xfrm>
          <a:prstGeom prst="rect">
            <a:avLst/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31" name="leg-right">
            <a:extLst>
              <a:ext uri="{FF2B5EF4-FFF2-40B4-BE49-F238E27FC236}">
                <a16:creationId xmlns:a16="http://schemas.microsoft.com/office/drawing/2014/main" id="{B6324B2D-565A-432C-AF7C-B1457235C7CA}"/>
              </a:ext>
            </a:extLst>
          </p:cNvPr>
          <p:cNvSpPr>
            <a:spLocks noGrp="1"/>
          </p:cNvSpPr>
          <p:nvPr/>
        </p:nvSpPr>
        <p:spPr>
          <a:xfrm>
            <a:off x="10096500" y="4381500"/>
            <a:ext cx="171450" cy="1047750"/>
          </a:xfrm>
          <a:prstGeom prst="rect">
            <a:avLst/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32" name="measure-caption">
            <a:extLst>
              <a:ext uri="{FF2B5EF4-FFF2-40B4-BE49-F238E27FC236}">
                <a16:creationId xmlns:a16="http://schemas.microsoft.com/office/drawing/2014/main" id="{8FE8243E-815C-4948-BAAD-2C9623F7C939}"/>
              </a:ext>
            </a:extLst>
          </p:cNvPr>
          <p:cNvSpPr>
            <a:spLocks noGrp="1"/>
          </p:cNvSpPr>
          <p:nvPr/>
        </p:nvSpPr>
        <p:spPr>
          <a:xfrm>
            <a:off x="7239000" y="5619750"/>
            <a:ext cx="4286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Tinggi utama = selisih vertikal
puncak kepala hingga kaki terbawah</a:t>
            </a:r>
          </a:p>
        </p:txBody>
      </p:sp>
    </p:spTree>
    <p:extLst>
      <p:ext uri="{BB962C8B-B14F-4D97-AF65-F5344CB8AC3E}">
        <p14:creationId xmlns:p14="http://schemas.microsoft.com/office/powerpoint/2010/main" val="198801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hitecture-slide-background">
            <a:extLst>
              <a:ext uri="{FF2B5EF4-FFF2-40B4-BE49-F238E27FC236}">
                <a16:creationId xmlns:a16="http://schemas.microsoft.com/office/drawing/2014/main" id="{95EAE735-1E4B-4E44-B694-2AA9FF1B4B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5930AB34-8021-45A0-A5FF-9503964F3F7A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 fontScale="98186"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Empat</a:t>
            </a:r>
            <a:r>
              <a:rPr dirty="0"/>
              <a:t> </a:t>
            </a:r>
            <a:r>
              <a:rPr dirty="0" err="1"/>
              <a:t>komponen</a:t>
            </a:r>
            <a:r>
              <a:rPr dirty="0"/>
              <a:t> </a:t>
            </a:r>
            <a:r>
              <a:rPr dirty="0" err="1"/>
              <a:t>teknis</a:t>
            </a:r>
            <a:endParaRPr dirty="0"/>
          </a:p>
        </p:txBody>
      </p:sp>
      <p:cxnSp>
        <p:nvCxnSpPr>
          <p:cNvPr id="25" name="accent-3"/>
          <p:cNvCxnSpPr/>
          <p:nvPr/>
        </p:nvCxnSpPr>
        <p:spPr>
          <a:xfrm>
            <a:off x="400050" y="146685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3">
            <a:extLst>
              <a:ext uri="{FF2B5EF4-FFF2-40B4-BE49-F238E27FC236}">
                <a16:creationId xmlns:a16="http://schemas.microsoft.com/office/drawing/2014/main" id="{BB5030E3-FD5D-404E-8008-7DEE7C3B63CA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source-3">
            <a:extLst>
              <a:ext uri="{FF2B5EF4-FFF2-40B4-BE49-F238E27FC236}">
                <a16:creationId xmlns:a16="http://schemas.microsoft.com/office/drawing/2014/main" id="{CE7645D4-D9E6-432F-883C-FF76A324E619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app/build.gradle dan activity utama</a:t>
            </a:r>
          </a:p>
        </p:txBody>
      </p:sp>
      <p:sp>
        <p:nvSpPr>
          <p:cNvPr id="6" name="arch-lead">
            <a:extLst>
              <a:ext uri="{FF2B5EF4-FFF2-40B4-BE49-F238E27FC236}">
                <a16:creationId xmlns:a16="http://schemas.microsoft.com/office/drawing/2014/main" id="{A2E870B0-A8CA-426F-8427-FEEFCB80BBDF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1049000" cy="523875"/>
          </a:xfrm>
          <a:prstGeom prst="rect">
            <a:avLst/>
          </a:prstGeom>
        </p:spPr>
        <p:txBody>
          <a:bodyPr lIns="0" tIns="0" rIns="0" bIns="0" anchor="t">
            <a:normAutofit fontScale="99638" lnSpcReduction="10000"/>
          </a:bodyPr>
          <a:lstStyle/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r>
              <a:rPr lang="en-US" dirty="0"/>
              <a:t>. Data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</a:t>
            </a:r>
            <a:r>
              <a:rPr lang="en-US" dirty="0" err="1"/>
              <a:t>dikirim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Intent,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disimpan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file cache.</a:t>
            </a:r>
          </a:p>
        </p:txBody>
      </p:sp>
      <p:sp>
        <p:nvSpPr>
          <p:cNvPr id="7" name="arch-panel-0">
            <a:extLst>
              <a:ext uri="{FF2B5EF4-FFF2-40B4-BE49-F238E27FC236}">
                <a16:creationId xmlns:a16="http://schemas.microsoft.com/office/drawing/2014/main" id="{0A116EA8-12B1-4BED-9840-D1970FBF8D6B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5429250" cy="1571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8" name="arch-bar-0">
            <a:extLst>
              <a:ext uri="{FF2B5EF4-FFF2-40B4-BE49-F238E27FC236}">
                <a16:creationId xmlns:a16="http://schemas.microsoft.com/office/drawing/2014/main" id="{CF8F7357-17D4-4C3C-B73A-A5DE71D0D135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95250" cy="1571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arch-title-0">
            <a:extLst>
              <a:ext uri="{FF2B5EF4-FFF2-40B4-BE49-F238E27FC236}">
                <a16:creationId xmlns:a16="http://schemas.microsoft.com/office/drawing/2014/main" id="{D176A581-5E17-4F72-8317-8C172A9EFBDE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4762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CameraX</a:t>
            </a:r>
          </a:p>
        </p:txBody>
      </p:sp>
      <p:sp>
        <p:nvSpPr>
          <p:cNvPr id="10" name="arch-body-0">
            <a:extLst>
              <a:ext uri="{FF2B5EF4-FFF2-40B4-BE49-F238E27FC236}">
                <a16:creationId xmlns:a16="http://schemas.microsoft.com/office/drawing/2014/main" id="{A1D90D03-EF52-4A64-B638-7E626DBB4F3A}"/>
              </a:ext>
            </a:extLst>
          </p:cNvPr>
          <p:cNvSpPr>
            <a:spLocks noGrp="1"/>
          </p:cNvSpPr>
          <p:nvPr/>
        </p:nvSpPr>
        <p:spPr>
          <a:xfrm>
            <a:off x="685800" y="2981325"/>
            <a:ext cx="4762500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Mengambil</a:t>
            </a:r>
            <a:r>
              <a:rPr dirty="0"/>
              <a:t> </a:t>
            </a:r>
            <a:r>
              <a:rPr dirty="0" err="1"/>
              <a:t>foto</a:t>
            </a:r>
            <a:r>
              <a:rPr dirty="0"/>
              <a:t> dan </a:t>
            </a:r>
            <a:r>
              <a:rPr dirty="0" err="1"/>
              <a:t>menganalisis</a:t>
            </a:r>
            <a:r>
              <a:rPr dirty="0"/>
              <a:t> frame </a:t>
            </a:r>
            <a:r>
              <a:rPr dirty="0" err="1"/>
              <a:t>kamera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real time.</a:t>
            </a:r>
          </a:p>
        </p:txBody>
      </p:sp>
      <p:sp>
        <p:nvSpPr>
          <p:cNvPr id="11" name="arch-panel-1">
            <a:extLst>
              <a:ext uri="{FF2B5EF4-FFF2-40B4-BE49-F238E27FC236}">
                <a16:creationId xmlns:a16="http://schemas.microsoft.com/office/drawing/2014/main" id="{B31AFF86-711F-43E7-AB69-02B322B79958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5429250" cy="1571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2" name="arch-bar-1">
            <a:extLst>
              <a:ext uri="{FF2B5EF4-FFF2-40B4-BE49-F238E27FC236}">
                <a16:creationId xmlns:a16="http://schemas.microsoft.com/office/drawing/2014/main" id="{DA1F40E2-125F-4709-815C-6B1D9EF70747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95250" cy="157162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3" name="arch-title-1">
            <a:extLst>
              <a:ext uri="{FF2B5EF4-FFF2-40B4-BE49-F238E27FC236}">
                <a16:creationId xmlns:a16="http://schemas.microsoft.com/office/drawing/2014/main" id="{3A8A4274-0CF0-4B1E-8D57-A8793396D73F}"/>
              </a:ext>
            </a:extLst>
          </p:cNvPr>
          <p:cNvSpPr>
            <a:spLocks noGrp="1"/>
          </p:cNvSpPr>
          <p:nvPr/>
        </p:nvSpPr>
        <p:spPr>
          <a:xfrm>
            <a:off x="6477000" y="2505075"/>
            <a:ext cx="4762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OpenCV + ArUco</a:t>
            </a:r>
          </a:p>
        </p:txBody>
      </p:sp>
      <p:sp>
        <p:nvSpPr>
          <p:cNvPr id="14" name="arch-body-1">
            <a:extLst>
              <a:ext uri="{FF2B5EF4-FFF2-40B4-BE49-F238E27FC236}">
                <a16:creationId xmlns:a16="http://schemas.microsoft.com/office/drawing/2014/main" id="{80922D6B-E664-4FDA-88B9-89F456EFDF45}"/>
              </a:ext>
            </a:extLst>
          </p:cNvPr>
          <p:cNvSpPr>
            <a:spLocks noGrp="1"/>
          </p:cNvSpPr>
          <p:nvPr/>
        </p:nvSpPr>
        <p:spPr>
          <a:xfrm>
            <a:off x="6477000" y="2981325"/>
            <a:ext cx="4762500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Mendeteksi</a:t>
            </a:r>
            <a:r>
              <a:rPr dirty="0"/>
              <a:t> marker, </a:t>
            </a:r>
            <a:r>
              <a:rPr dirty="0" err="1"/>
              <a:t>homografi</a:t>
            </a:r>
            <a:r>
              <a:rPr dirty="0"/>
              <a:t>, perspective warp, dan </a:t>
            </a:r>
            <a:r>
              <a:rPr dirty="0" err="1"/>
              <a:t>kontur</a:t>
            </a:r>
            <a:r>
              <a:rPr dirty="0"/>
              <a:t>.</a:t>
            </a:r>
          </a:p>
        </p:txBody>
      </p:sp>
      <p:sp>
        <p:nvSpPr>
          <p:cNvPr id="15" name="arch-panel-2">
            <a:extLst>
              <a:ext uri="{FF2B5EF4-FFF2-40B4-BE49-F238E27FC236}">
                <a16:creationId xmlns:a16="http://schemas.microsoft.com/office/drawing/2014/main" id="{E171A8F9-DD5A-4921-83DC-2CB2E3F5659E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5429250" cy="1571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6" name="arch-bar-2">
            <a:extLst>
              <a:ext uri="{FF2B5EF4-FFF2-40B4-BE49-F238E27FC236}">
                <a16:creationId xmlns:a16="http://schemas.microsoft.com/office/drawing/2014/main" id="{D72924C0-3C3E-452E-910F-1E9339B3C12B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95250" cy="1571625"/>
          </a:xfrm>
          <a:prstGeom prst="rect">
            <a:avLst/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17" name="arch-title-2">
            <a:extLst>
              <a:ext uri="{FF2B5EF4-FFF2-40B4-BE49-F238E27FC236}">
                <a16:creationId xmlns:a16="http://schemas.microsoft.com/office/drawing/2014/main" id="{F80B38A8-ABD8-4389-8F69-A81ABB8B0784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4762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MediaPipe Pose</a:t>
            </a:r>
          </a:p>
        </p:txBody>
      </p:sp>
      <p:sp>
        <p:nvSpPr>
          <p:cNvPr id="18" name="arch-body-2">
            <a:extLst>
              <a:ext uri="{FF2B5EF4-FFF2-40B4-BE49-F238E27FC236}">
                <a16:creationId xmlns:a16="http://schemas.microsoft.com/office/drawing/2014/main" id="{E11D2896-A614-4E1D-BAF0-3C76846E4C09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4762500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Menghasilkan 33 landmark tubuh dalam koordinat ternormalisasi.</a:t>
            </a:r>
          </a:p>
        </p:txBody>
      </p:sp>
      <p:sp>
        <p:nvSpPr>
          <p:cNvPr id="19" name="arch-panel-3">
            <a:extLst>
              <a:ext uri="{FF2B5EF4-FFF2-40B4-BE49-F238E27FC236}">
                <a16:creationId xmlns:a16="http://schemas.microsoft.com/office/drawing/2014/main" id="{2397096D-6016-491C-ADA9-994958FC1909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5429250" cy="1571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0" name="arch-bar-3">
            <a:extLst>
              <a:ext uri="{FF2B5EF4-FFF2-40B4-BE49-F238E27FC236}">
                <a16:creationId xmlns:a16="http://schemas.microsoft.com/office/drawing/2014/main" id="{86F06999-D525-4FEC-AF71-4E60F3F389D0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95250" cy="1571625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21" name="arch-title-3">
            <a:extLst>
              <a:ext uri="{FF2B5EF4-FFF2-40B4-BE49-F238E27FC236}">
                <a16:creationId xmlns:a16="http://schemas.microsoft.com/office/drawing/2014/main" id="{BBF1E563-FBC7-4241-9FD3-1853877C8076}"/>
              </a:ext>
            </a:extLst>
          </p:cNvPr>
          <p:cNvSpPr>
            <a:spLocks noGrp="1"/>
          </p:cNvSpPr>
          <p:nvPr/>
        </p:nvSpPr>
        <p:spPr>
          <a:xfrm>
            <a:off x="6477000" y="4600575"/>
            <a:ext cx="4762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Measurement</a:t>
            </a:r>
          </a:p>
        </p:txBody>
      </p:sp>
      <p:sp>
        <p:nvSpPr>
          <p:cNvPr id="22" name="arch-body-3">
            <a:extLst>
              <a:ext uri="{FF2B5EF4-FFF2-40B4-BE49-F238E27FC236}">
                <a16:creationId xmlns:a16="http://schemas.microsoft.com/office/drawing/2014/main" id="{629E83FB-9E44-4A67-94FD-521EFC93FA44}"/>
              </a:ext>
            </a:extLst>
          </p:cNvPr>
          <p:cNvSpPr>
            <a:spLocks noGrp="1"/>
          </p:cNvSpPr>
          <p:nvPr/>
        </p:nvSpPr>
        <p:spPr>
          <a:xfrm>
            <a:off x="6477000" y="5076825"/>
            <a:ext cx="4762500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Mengubah tinggi piksel menjadi sentimeter dengan faktor depth dan kalibrasi.</a:t>
            </a:r>
          </a:p>
        </p:txBody>
      </p:sp>
    </p:spTree>
    <p:extLst>
      <p:ext uri="{BB962C8B-B14F-4D97-AF65-F5344CB8AC3E}">
        <p14:creationId xmlns:p14="http://schemas.microsoft.com/office/powerpoint/2010/main" val="790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-slide-background">
            <a:extLst>
              <a:ext uri="{FF2B5EF4-FFF2-40B4-BE49-F238E27FC236}">
                <a16:creationId xmlns:a16="http://schemas.microsoft.com/office/drawing/2014/main" id="{CDF73B96-0AF9-42E8-B318-B883D0FFA8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D590845-522F-4324-B891-BF370392FEC7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Alur aplikasi dari input ke hasil</a:t>
            </a:r>
          </a:p>
        </p:txBody>
      </p:sp>
      <p:cxnSp>
        <p:nvCxnSpPr>
          <p:cNvPr id="38" name="accent-4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4">
            <a:extLst>
              <a:ext uri="{FF2B5EF4-FFF2-40B4-BE49-F238E27FC236}">
                <a16:creationId xmlns:a16="http://schemas.microsoft.com/office/drawing/2014/main" id="{50419D33-E833-4998-9A15-157B1F4BBE2B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ource-4">
            <a:extLst>
              <a:ext uri="{FF2B5EF4-FFF2-40B4-BE49-F238E27FC236}">
                <a16:creationId xmlns:a16="http://schemas.microsoft.com/office/drawing/2014/main" id="{4D79189C-3497-4065-BE0C-8B7ECC793033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MainActivity, Perspective, MediaPipe, dan Measurement</a:t>
            </a:r>
          </a:p>
        </p:txBody>
      </p:sp>
      <p:cxnSp>
        <p:nvCxnSpPr>
          <p:cNvPr id="41" name="flow-line-0"/>
          <p:cNvCxnSpPr/>
          <p:nvPr/>
        </p:nvCxnSpPr>
        <p:spPr>
          <a:xfrm>
            <a:off x="1619250" y="3333750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cxnSp>
        <p:nvCxnSpPr>
          <p:cNvPr id="42" name="flow-line-1"/>
          <p:cNvCxnSpPr/>
          <p:nvPr/>
        </p:nvCxnSpPr>
        <p:spPr>
          <a:xfrm>
            <a:off x="3524250" y="3333750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cxnSp>
        <p:nvCxnSpPr>
          <p:cNvPr id="43" name="flow-line-2"/>
          <p:cNvCxnSpPr/>
          <p:nvPr/>
        </p:nvCxnSpPr>
        <p:spPr>
          <a:xfrm>
            <a:off x="5429250" y="3333750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cxnSp>
        <p:nvCxnSpPr>
          <p:cNvPr id="44" name="flow-line-3"/>
          <p:cNvCxnSpPr/>
          <p:nvPr/>
        </p:nvCxnSpPr>
        <p:spPr>
          <a:xfrm>
            <a:off x="7334250" y="3333750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cxnSp>
        <p:nvCxnSpPr>
          <p:cNvPr id="45" name="flow-line-4"/>
          <p:cNvCxnSpPr/>
          <p:nvPr/>
        </p:nvCxnSpPr>
        <p:spPr>
          <a:xfrm>
            <a:off x="9239250" y="3333750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1" name="flow-dot-0">
            <a:extLst>
              <a:ext uri="{FF2B5EF4-FFF2-40B4-BE49-F238E27FC236}">
                <a16:creationId xmlns:a16="http://schemas.microsoft.com/office/drawing/2014/main" id="{B99D1E90-AB75-4B26-91A9-CBDFDDB08999}"/>
              </a:ext>
            </a:extLst>
          </p:cNvPr>
          <p:cNvSpPr>
            <a:spLocks noGrp="1"/>
          </p:cNvSpPr>
          <p:nvPr/>
        </p:nvSpPr>
        <p:spPr>
          <a:xfrm>
            <a:off x="1171575" y="3095625"/>
            <a:ext cx="457200" cy="4572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2" name="flow-num-0">
            <a:extLst>
              <a:ext uri="{FF2B5EF4-FFF2-40B4-BE49-F238E27FC236}">
                <a16:creationId xmlns:a16="http://schemas.microsoft.com/office/drawing/2014/main" id="{6DAC9AD5-7A31-4CBB-BFDE-5960883B61A8}"/>
              </a:ext>
            </a:extLst>
          </p:cNvPr>
          <p:cNvSpPr>
            <a:spLocks noGrp="1"/>
          </p:cNvSpPr>
          <p:nvPr/>
        </p:nvSpPr>
        <p:spPr>
          <a:xfrm>
            <a:off x="1171575" y="3162300"/>
            <a:ext cx="4572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3" name="flow-title-0">
            <a:extLst>
              <a:ext uri="{FF2B5EF4-FFF2-40B4-BE49-F238E27FC236}">
                <a16:creationId xmlns:a16="http://schemas.microsoft.com/office/drawing/2014/main" id="{23D5D34E-5D03-4564-92CB-021556ACF7DF}"/>
              </a:ext>
            </a:extLst>
          </p:cNvPr>
          <p:cNvSpPr>
            <a:spLocks noGrp="1"/>
          </p:cNvSpPr>
          <p:nvPr/>
        </p:nvSpPr>
        <p:spPr>
          <a:xfrm>
            <a:off x="428625" y="385762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</p:txBody>
      </p:sp>
      <p:sp>
        <p:nvSpPr>
          <p:cNvPr id="14" name="flow-body-0">
            <a:extLst>
              <a:ext uri="{FF2B5EF4-FFF2-40B4-BE49-F238E27FC236}">
                <a16:creationId xmlns:a16="http://schemas.microsoft.com/office/drawing/2014/main" id="{6703F109-7A89-41FF-A2C9-FE598B226B92}"/>
              </a:ext>
            </a:extLst>
          </p:cNvPr>
          <p:cNvSpPr>
            <a:spLocks noGrp="1"/>
          </p:cNvSpPr>
          <p:nvPr/>
        </p:nvSpPr>
        <p:spPr>
          <a:xfrm>
            <a:off x="428625" y="4286250"/>
            <a:ext cx="1619250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Kamera atau galeri</a:t>
            </a:r>
          </a:p>
        </p:txBody>
      </p:sp>
      <p:sp>
        <p:nvSpPr>
          <p:cNvPr id="15" name="flow-dot-1">
            <a:extLst>
              <a:ext uri="{FF2B5EF4-FFF2-40B4-BE49-F238E27FC236}">
                <a16:creationId xmlns:a16="http://schemas.microsoft.com/office/drawing/2014/main" id="{CE000539-F521-4E09-AABF-8261994A7DF8}"/>
              </a:ext>
            </a:extLst>
          </p:cNvPr>
          <p:cNvSpPr>
            <a:spLocks noGrp="1"/>
          </p:cNvSpPr>
          <p:nvPr/>
        </p:nvSpPr>
        <p:spPr>
          <a:xfrm>
            <a:off x="3076575" y="3095625"/>
            <a:ext cx="457200" cy="4572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6" name="flow-num-1">
            <a:extLst>
              <a:ext uri="{FF2B5EF4-FFF2-40B4-BE49-F238E27FC236}">
                <a16:creationId xmlns:a16="http://schemas.microsoft.com/office/drawing/2014/main" id="{D3647D8F-ECCB-426B-B434-9C26BA3E698A}"/>
              </a:ext>
            </a:extLst>
          </p:cNvPr>
          <p:cNvSpPr>
            <a:spLocks noGrp="1"/>
          </p:cNvSpPr>
          <p:nvPr/>
        </p:nvSpPr>
        <p:spPr>
          <a:xfrm>
            <a:off x="3076575" y="3162300"/>
            <a:ext cx="4572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flow-title-1">
            <a:extLst>
              <a:ext uri="{FF2B5EF4-FFF2-40B4-BE49-F238E27FC236}">
                <a16:creationId xmlns:a16="http://schemas.microsoft.com/office/drawing/2014/main" id="{0EFD4920-59CD-4D38-A480-C15BE05E0907}"/>
              </a:ext>
            </a:extLst>
          </p:cNvPr>
          <p:cNvSpPr>
            <a:spLocks noGrp="1"/>
          </p:cNvSpPr>
          <p:nvPr/>
        </p:nvSpPr>
        <p:spPr>
          <a:xfrm>
            <a:off x="2333625" y="385762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Jarak</a:t>
            </a:r>
          </a:p>
        </p:txBody>
      </p:sp>
      <p:sp>
        <p:nvSpPr>
          <p:cNvPr id="18" name="flow-body-1">
            <a:extLst>
              <a:ext uri="{FF2B5EF4-FFF2-40B4-BE49-F238E27FC236}">
                <a16:creationId xmlns:a16="http://schemas.microsoft.com/office/drawing/2014/main" id="{ADCCA712-5282-443F-8BA4-7AB5EA5E91AF}"/>
              </a:ext>
            </a:extLst>
          </p:cNvPr>
          <p:cNvSpPr>
            <a:spLocks noGrp="1"/>
          </p:cNvSpPr>
          <p:nvPr/>
        </p:nvSpPr>
        <p:spPr>
          <a:xfrm>
            <a:off x="2333625" y="4286250"/>
            <a:ext cx="1619250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/>
              <a:t>Marker </a:t>
            </a:r>
            <a:r>
              <a:rPr dirty="0" err="1"/>
              <a:t>ArUco</a:t>
            </a:r>
            <a:endParaRPr dirty="0"/>
          </a:p>
        </p:txBody>
      </p:sp>
      <p:sp>
        <p:nvSpPr>
          <p:cNvPr id="19" name="flow-dot-2">
            <a:extLst>
              <a:ext uri="{FF2B5EF4-FFF2-40B4-BE49-F238E27FC236}">
                <a16:creationId xmlns:a16="http://schemas.microsoft.com/office/drawing/2014/main" id="{65B34D88-A0F3-49DF-9520-5AE4DCD629FF}"/>
              </a:ext>
            </a:extLst>
          </p:cNvPr>
          <p:cNvSpPr>
            <a:spLocks noGrp="1"/>
          </p:cNvSpPr>
          <p:nvPr/>
        </p:nvSpPr>
        <p:spPr>
          <a:xfrm>
            <a:off x="4981575" y="3095625"/>
            <a:ext cx="457200" cy="4572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20" name="flow-num-2">
            <a:extLst>
              <a:ext uri="{FF2B5EF4-FFF2-40B4-BE49-F238E27FC236}">
                <a16:creationId xmlns:a16="http://schemas.microsoft.com/office/drawing/2014/main" id="{345D1884-6675-4E73-915C-8378F4194A4A}"/>
              </a:ext>
            </a:extLst>
          </p:cNvPr>
          <p:cNvSpPr>
            <a:spLocks noGrp="1"/>
          </p:cNvSpPr>
          <p:nvPr/>
        </p:nvSpPr>
        <p:spPr>
          <a:xfrm>
            <a:off x="4981575" y="3162300"/>
            <a:ext cx="4572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flow-title-2">
            <a:extLst>
              <a:ext uri="{FF2B5EF4-FFF2-40B4-BE49-F238E27FC236}">
                <a16:creationId xmlns:a16="http://schemas.microsoft.com/office/drawing/2014/main" id="{553DB46E-3C11-4F19-8854-DB3FEB1B37FC}"/>
              </a:ext>
            </a:extLst>
          </p:cNvPr>
          <p:cNvSpPr>
            <a:spLocks noGrp="1"/>
          </p:cNvSpPr>
          <p:nvPr/>
        </p:nvSpPr>
        <p:spPr>
          <a:xfrm>
            <a:off x="4238625" y="385762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Perspektif</a:t>
            </a:r>
          </a:p>
        </p:txBody>
      </p:sp>
      <p:sp>
        <p:nvSpPr>
          <p:cNvPr id="22" name="flow-body-2">
            <a:extLst>
              <a:ext uri="{FF2B5EF4-FFF2-40B4-BE49-F238E27FC236}">
                <a16:creationId xmlns:a16="http://schemas.microsoft.com/office/drawing/2014/main" id="{CFC1217B-08AD-4FFE-9BD9-D523B996D221}"/>
              </a:ext>
            </a:extLst>
          </p:cNvPr>
          <p:cNvSpPr>
            <a:spLocks noGrp="1"/>
          </p:cNvSpPr>
          <p:nvPr/>
        </p:nvSpPr>
        <p:spPr>
          <a:xfrm>
            <a:off x="4238625" y="4286250"/>
            <a:ext cx="1619250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Homografi board</a:t>
            </a:r>
          </a:p>
        </p:txBody>
      </p:sp>
      <p:sp>
        <p:nvSpPr>
          <p:cNvPr id="23" name="flow-dot-3">
            <a:extLst>
              <a:ext uri="{FF2B5EF4-FFF2-40B4-BE49-F238E27FC236}">
                <a16:creationId xmlns:a16="http://schemas.microsoft.com/office/drawing/2014/main" id="{8CC7CD44-4C33-40EA-BD72-3CE53124A809}"/>
              </a:ext>
            </a:extLst>
          </p:cNvPr>
          <p:cNvSpPr>
            <a:spLocks noGrp="1"/>
          </p:cNvSpPr>
          <p:nvPr/>
        </p:nvSpPr>
        <p:spPr>
          <a:xfrm>
            <a:off x="6886575" y="3095625"/>
            <a:ext cx="457200" cy="4572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24" name="flow-num-3">
            <a:extLst>
              <a:ext uri="{FF2B5EF4-FFF2-40B4-BE49-F238E27FC236}">
                <a16:creationId xmlns:a16="http://schemas.microsoft.com/office/drawing/2014/main" id="{386A9E92-19DD-4923-957C-45ED05E1D7F1}"/>
              </a:ext>
            </a:extLst>
          </p:cNvPr>
          <p:cNvSpPr>
            <a:spLocks noGrp="1"/>
          </p:cNvSpPr>
          <p:nvPr/>
        </p:nvSpPr>
        <p:spPr>
          <a:xfrm>
            <a:off x="6886575" y="3162300"/>
            <a:ext cx="4572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flow-title-3">
            <a:extLst>
              <a:ext uri="{FF2B5EF4-FFF2-40B4-BE49-F238E27FC236}">
                <a16:creationId xmlns:a16="http://schemas.microsoft.com/office/drawing/2014/main" id="{757FCEAA-8642-4988-945D-CA407D484C50}"/>
              </a:ext>
            </a:extLst>
          </p:cNvPr>
          <p:cNvSpPr>
            <a:spLocks noGrp="1"/>
          </p:cNvSpPr>
          <p:nvPr/>
        </p:nvSpPr>
        <p:spPr>
          <a:xfrm>
            <a:off x="6143625" y="385762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</a:t>
            </a:r>
          </a:p>
        </p:txBody>
      </p:sp>
      <p:sp>
        <p:nvSpPr>
          <p:cNvPr id="26" name="flow-body-3">
            <a:extLst>
              <a:ext uri="{FF2B5EF4-FFF2-40B4-BE49-F238E27FC236}">
                <a16:creationId xmlns:a16="http://schemas.microsoft.com/office/drawing/2014/main" id="{DF099BC8-BFD4-4878-965A-B11732E0E5C2}"/>
              </a:ext>
            </a:extLst>
          </p:cNvPr>
          <p:cNvSpPr>
            <a:spLocks noGrp="1"/>
          </p:cNvSpPr>
          <p:nvPr/>
        </p:nvSpPr>
        <p:spPr>
          <a:xfrm>
            <a:off x="6143625" y="4286250"/>
            <a:ext cx="1619250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MediaPipe Pose</a:t>
            </a:r>
          </a:p>
        </p:txBody>
      </p:sp>
      <p:sp>
        <p:nvSpPr>
          <p:cNvPr id="27" name="flow-dot-4">
            <a:extLst>
              <a:ext uri="{FF2B5EF4-FFF2-40B4-BE49-F238E27FC236}">
                <a16:creationId xmlns:a16="http://schemas.microsoft.com/office/drawing/2014/main" id="{666DDBF5-5416-4BE6-902D-B5FEDAD2E98C}"/>
              </a:ext>
            </a:extLst>
          </p:cNvPr>
          <p:cNvSpPr>
            <a:spLocks noGrp="1"/>
          </p:cNvSpPr>
          <p:nvPr/>
        </p:nvSpPr>
        <p:spPr>
          <a:xfrm>
            <a:off x="8791575" y="3095625"/>
            <a:ext cx="457200" cy="4572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28" name="flow-num-4">
            <a:extLst>
              <a:ext uri="{FF2B5EF4-FFF2-40B4-BE49-F238E27FC236}">
                <a16:creationId xmlns:a16="http://schemas.microsoft.com/office/drawing/2014/main" id="{9D829D83-08AA-4762-9CA8-4A9936C00EB1}"/>
              </a:ext>
            </a:extLst>
          </p:cNvPr>
          <p:cNvSpPr>
            <a:spLocks noGrp="1"/>
          </p:cNvSpPr>
          <p:nvPr/>
        </p:nvSpPr>
        <p:spPr>
          <a:xfrm>
            <a:off x="8791575" y="3162300"/>
            <a:ext cx="4572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9" name="flow-title-4">
            <a:extLst>
              <a:ext uri="{FF2B5EF4-FFF2-40B4-BE49-F238E27FC236}">
                <a16:creationId xmlns:a16="http://schemas.microsoft.com/office/drawing/2014/main" id="{357BE580-1DEA-4E2F-9F62-33F67492977D}"/>
              </a:ext>
            </a:extLst>
          </p:cNvPr>
          <p:cNvSpPr>
            <a:spLocks noGrp="1"/>
          </p:cNvSpPr>
          <p:nvPr/>
        </p:nvSpPr>
        <p:spPr>
          <a:xfrm>
            <a:off x="8048625" y="385762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Pengukuran</a:t>
            </a:r>
          </a:p>
        </p:txBody>
      </p:sp>
      <p:sp>
        <p:nvSpPr>
          <p:cNvPr id="30" name="flow-body-4">
            <a:extLst>
              <a:ext uri="{FF2B5EF4-FFF2-40B4-BE49-F238E27FC236}">
                <a16:creationId xmlns:a16="http://schemas.microsoft.com/office/drawing/2014/main" id="{4B837282-6CD1-4EF5-8BD6-E279C24F2B43}"/>
              </a:ext>
            </a:extLst>
          </p:cNvPr>
          <p:cNvSpPr>
            <a:spLocks noGrp="1"/>
          </p:cNvSpPr>
          <p:nvPr/>
        </p:nvSpPr>
        <p:spPr>
          <a:xfrm>
            <a:off x="8048625" y="4286250"/>
            <a:ext cx="1619250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Kepala–kaki</a:t>
            </a:r>
          </a:p>
        </p:txBody>
      </p:sp>
      <p:sp>
        <p:nvSpPr>
          <p:cNvPr id="31" name="flow-dot-5">
            <a:extLst>
              <a:ext uri="{FF2B5EF4-FFF2-40B4-BE49-F238E27FC236}">
                <a16:creationId xmlns:a16="http://schemas.microsoft.com/office/drawing/2014/main" id="{D73D6153-49AA-497A-87BE-73A1AEBE4D68}"/>
              </a:ext>
            </a:extLst>
          </p:cNvPr>
          <p:cNvSpPr>
            <a:spLocks noGrp="1"/>
          </p:cNvSpPr>
          <p:nvPr/>
        </p:nvSpPr>
        <p:spPr>
          <a:xfrm>
            <a:off x="10696575" y="3095625"/>
            <a:ext cx="457200" cy="457200"/>
          </a:xfrm>
          <a:prstGeom prst="ellipse">
            <a:avLst/>
          </a:prstGeom>
          <a:solidFill>
            <a:srgbClr val="6D45DF"/>
          </a:solidFill>
        </p:spPr>
      </p:sp>
      <p:sp>
        <p:nvSpPr>
          <p:cNvPr id="32" name="flow-num-5">
            <a:extLst>
              <a:ext uri="{FF2B5EF4-FFF2-40B4-BE49-F238E27FC236}">
                <a16:creationId xmlns:a16="http://schemas.microsoft.com/office/drawing/2014/main" id="{068828FD-231A-4742-8E87-E7E444C5B8C3}"/>
              </a:ext>
            </a:extLst>
          </p:cNvPr>
          <p:cNvSpPr>
            <a:spLocks noGrp="1"/>
          </p:cNvSpPr>
          <p:nvPr/>
        </p:nvSpPr>
        <p:spPr>
          <a:xfrm>
            <a:off x="10696575" y="3162300"/>
            <a:ext cx="457200" cy="2476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3" name="flow-title-5">
            <a:extLst>
              <a:ext uri="{FF2B5EF4-FFF2-40B4-BE49-F238E27FC236}">
                <a16:creationId xmlns:a16="http://schemas.microsoft.com/office/drawing/2014/main" id="{55C3000D-9C74-4176-A5F4-441288D91042}"/>
              </a:ext>
            </a:extLst>
          </p:cNvPr>
          <p:cNvSpPr>
            <a:spLocks noGrp="1"/>
          </p:cNvSpPr>
          <p:nvPr/>
        </p:nvSpPr>
        <p:spPr>
          <a:xfrm>
            <a:off x="9953625" y="385762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34" name="flow-body-5">
            <a:extLst>
              <a:ext uri="{FF2B5EF4-FFF2-40B4-BE49-F238E27FC236}">
                <a16:creationId xmlns:a16="http://schemas.microsoft.com/office/drawing/2014/main" id="{632C51B1-6C36-4F39-9210-6941C896D480}"/>
              </a:ext>
            </a:extLst>
          </p:cNvPr>
          <p:cNvSpPr>
            <a:spLocks noGrp="1"/>
          </p:cNvSpPr>
          <p:nvPr/>
        </p:nvSpPr>
        <p:spPr>
          <a:xfrm>
            <a:off x="9953625" y="4286250"/>
            <a:ext cx="1619250" cy="5143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/>
              <a:t>cm dan file </a:t>
            </a:r>
            <a:r>
              <a:rPr dirty="0" err="1"/>
              <a:t>hasil</a:t>
            </a:r>
            <a:endParaRPr dirty="0"/>
          </a:p>
        </p:txBody>
      </p:sp>
      <p:sp>
        <p:nvSpPr>
          <p:cNvPr id="35" name="flow-note">
            <a:extLst>
              <a:ext uri="{FF2B5EF4-FFF2-40B4-BE49-F238E27FC236}">
                <a16:creationId xmlns:a16="http://schemas.microsoft.com/office/drawing/2014/main" id="{9D3A45A5-7D57-49DD-9334-67BE3AD9225A}"/>
              </a:ext>
            </a:extLst>
          </p:cNvPr>
          <p:cNvSpPr>
            <a:spLocks noGrp="1"/>
          </p:cNvSpPr>
          <p:nvPr/>
        </p:nvSpPr>
        <p:spPr>
          <a:xfrm>
            <a:off x="1905000" y="5476875"/>
            <a:ext cx="838200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cmPerPixel</a:t>
            </a:r>
            <a:r>
              <a:rPr dirty="0"/>
              <a:t>, </a:t>
            </a:r>
            <a:r>
              <a:rPr dirty="0" err="1"/>
              <a:t>jarak</a:t>
            </a:r>
            <a:r>
              <a:rPr dirty="0"/>
              <a:t> </a:t>
            </a:r>
            <a:r>
              <a:rPr dirty="0" err="1"/>
              <a:t>pengukuran</a:t>
            </a:r>
            <a:r>
              <a:rPr dirty="0"/>
              <a:t> 350 cm, dan </a:t>
            </a:r>
            <a:r>
              <a:rPr dirty="0" err="1"/>
              <a:t>gambar</a:t>
            </a:r>
            <a:r>
              <a:rPr dirty="0"/>
              <a:t> </a:t>
            </a:r>
            <a:r>
              <a:rPr dirty="0" err="1"/>
              <a:t>diteruskan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tahap</a:t>
            </a:r>
            <a:r>
              <a:rPr dirty="0"/>
              <a:t> </a:t>
            </a:r>
            <a:r>
              <a:rPr dirty="0" err="1"/>
              <a:t>pengukuran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3086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umber-map-slide-background">
            <a:extLst>
              <a:ext uri="{FF2B5EF4-FFF2-40B4-BE49-F238E27FC236}">
                <a16:creationId xmlns:a16="http://schemas.microsoft.com/office/drawing/2014/main" id="{707085C7-BCE9-480A-964D-07357EBE04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1FBE805E-B46E-4CE3-AE64-8D043069C183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Setiap angka memiliki asal dan fungsi berbeda</a:t>
            </a:r>
          </a:p>
        </p:txBody>
      </p:sp>
      <p:cxnSp>
        <p:nvCxnSpPr>
          <p:cNvPr id="32" name="accent-5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5">
            <a:extLst>
              <a:ext uri="{FF2B5EF4-FFF2-40B4-BE49-F238E27FC236}">
                <a16:creationId xmlns:a16="http://schemas.microsoft.com/office/drawing/2014/main" id="{0182D572-12FB-4F96-80A0-3B611911C104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source-5">
            <a:extLst>
              <a:ext uri="{FF2B5EF4-FFF2-40B4-BE49-F238E27FC236}">
                <a16:creationId xmlns:a16="http://schemas.microsoft.com/office/drawing/2014/main" id="{12FFC001-1C75-4C63-A6C3-C49A8921EE4E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konstanta pada CameraDistanceActivity, PerspectiveCorrectionActivity, dan MeasurementActivity</a:t>
            </a:r>
          </a:p>
        </p:txBody>
      </p:sp>
      <p:sp>
        <p:nvSpPr>
          <p:cNvPr id="6" name="number-row-0">
            <a:extLst>
              <a:ext uri="{FF2B5EF4-FFF2-40B4-BE49-F238E27FC236}">
                <a16:creationId xmlns:a16="http://schemas.microsoft.com/office/drawing/2014/main" id="{30BFCBA6-0D1D-4259-800B-B7DD53DC06F0}"/>
              </a:ext>
            </a:extLst>
          </p:cNvPr>
          <p:cNvSpPr>
            <a:spLocks noGrp="1"/>
          </p:cNvSpPr>
          <p:nvPr/>
        </p:nvSpPr>
        <p:spPr>
          <a:xfrm>
            <a:off x="403098" y="1428750"/>
            <a:ext cx="11049000" cy="5905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number-value-0">
            <a:extLst>
              <a:ext uri="{FF2B5EF4-FFF2-40B4-BE49-F238E27FC236}">
                <a16:creationId xmlns:a16="http://schemas.microsoft.com/office/drawing/2014/main" id="{7ACC3356-845F-4A99-83F8-65D3333437BB}"/>
              </a:ext>
            </a:extLst>
          </p:cNvPr>
          <p:cNvSpPr>
            <a:spLocks noGrp="1"/>
          </p:cNvSpPr>
          <p:nvPr/>
        </p:nvSpPr>
        <p:spPr>
          <a:xfrm>
            <a:off x="590550" y="1552575"/>
            <a:ext cx="2000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7,6485 cm</a:t>
            </a:r>
          </a:p>
        </p:txBody>
      </p:sp>
      <p:sp>
        <p:nvSpPr>
          <p:cNvPr id="8" name="number-origin-0">
            <a:extLst>
              <a:ext uri="{FF2B5EF4-FFF2-40B4-BE49-F238E27FC236}">
                <a16:creationId xmlns:a16="http://schemas.microsoft.com/office/drawing/2014/main" id="{A73D8E76-6ABB-468A-9F9E-6ED1D9124C2D}"/>
              </a:ext>
            </a:extLst>
          </p:cNvPr>
          <p:cNvSpPr>
            <a:spLocks noGrp="1"/>
          </p:cNvSpPr>
          <p:nvPr/>
        </p:nvSpPr>
        <p:spPr>
          <a:xfrm>
            <a:off x="2714625" y="1552575"/>
            <a:ext cx="3476625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0,74 </a:t>
            </a:r>
            <a:r>
              <a:rPr dirty="0" err="1"/>
              <a:t>sel</a:t>
            </a:r>
            <a:r>
              <a:rPr dirty="0"/>
              <a:t> × (200/19,35)</a:t>
            </a:r>
          </a:p>
        </p:txBody>
      </p:sp>
      <p:sp>
        <p:nvSpPr>
          <p:cNvPr id="9" name="number-use-0">
            <a:extLst>
              <a:ext uri="{FF2B5EF4-FFF2-40B4-BE49-F238E27FC236}">
                <a16:creationId xmlns:a16="http://schemas.microsoft.com/office/drawing/2014/main" id="{27CD49B2-065C-4CD6-A19D-2259459B0004}"/>
              </a:ext>
            </a:extLst>
          </p:cNvPr>
          <p:cNvSpPr>
            <a:spLocks noGrp="1"/>
          </p:cNvSpPr>
          <p:nvPr/>
        </p:nvSpPr>
        <p:spPr>
          <a:xfrm>
            <a:off x="6477000" y="1552575"/>
            <a:ext cx="4667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Ukuran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 marker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estimasi</a:t>
            </a:r>
            <a:r>
              <a:rPr dirty="0"/>
              <a:t> </a:t>
            </a:r>
            <a:r>
              <a:rPr dirty="0" err="1"/>
              <a:t>jarak</a:t>
            </a:r>
            <a:endParaRPr dirty="0"/>
          </a:p>
        </p:txBody>
      </p:sp>
      <p:sp>
        <p:nvSpPr>
          <p:cNvPr id="10" name="number-row-1">
            <a:extLst>
              <a:ext uri="{FF2B5EF4-FFF2-40B4-BE49-F238E27FC236}">
                <a16:creationId xmlns:a16="http://schemas.microsoft.com/office/drawing/2014/main" id="{8455C023-A7B3-4E2F-A9A6-28CFEE75FB7C}"/>
              </a:ext>
            </a:extLst>
          </p:cNvPr>
          <p:cNvSpPr>
            <a:spLocks noGrp="1"/>
          </p:cNvSpPr>
          <p:nvPr/>
        </p:nvSpPr>
        <p:spPr>
          <a:xfrm>
            <a:off x="400050" y="2171700"/>
            <a:ext cx="110490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" name="number-value-1">
            <a:extLst>
              <a:ext uri="{FF2B5EF4-FFF2-40B4-BE49-F238E27FC236}">
                <a16:creationId xmlns:a16="http://schemas.microsoft.com/office/drawing/2014/main" id="{B0549B8E-1DB2-4875-A009-82A53CD36257}"/>
              </a:ext>
            </a:extLst>
          </p:cNvPr>
          <p:cNvSpPr>
            <a:spLocks noGrp="1"/>
          </p:cNvSpPr>
          <p:nvPr/>
        </p:nvSpPr>
        <p:spPr>
          <a:xfrm>
            <a:off x="590550" y="2295525"/>
            <a:ext cx="2000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3</a:t>
            </a:r>
            <a:r>
              <a:rPr dirty="0"/>
              <a:t>50 ± 10 cm</a:t>
            </a:r>
          </a:p>
        </p:txBody>
      </p:sp>
      <p:sp>
        <p:nvSpPr>
          <p:cNvPr id="12" name="number-origin-1">
            <a:extLst>
              <a:ext uri="{FF2B5EF4-FFF2-40B4-BE49-F238E27FC236}">
                <a16:creationId xmlns:a16="http://schemas.microsoft.com/office/drawing/2014/main" id="{8EC8329B-19B9-455C-9F60-BD31FEA650CD}"/>
              </a:ext>
            </a:extLst>
          </p:cNvPr>
          <p:cNvSpPr>
            <a:spLocks noGrp="1"/>
          </p:cNvSpPr>
          <p:nvPr/>
        </p:nvSpPr>
        <p:spPr>
          <a:xfrm>
            <a:off x="2714625" y="2295525"/>
            <a:ext cx="3476625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TARGET_DISTANCE dan tolerance</a:t>
            </a:r>
          </a:p>
        </p:txBody>
      </p:sp>
      <p:sp>
        <p:nvSpPr>
          <p:cNvPr id="13" name="number-use-1">
            <a:extLst>
              <a:ext uri="{FF2B5EF4-FFF2-40B4-BE49-F238E27FC236}">
                <a16:creationId xmlns:a16="http://schemas.microsoft.com/office/drawing/2014/main" id="{FF9924A8-B06F-4391-95E9-10C51D973667}"/>
              </a:ext>
            </a:extLst>
          </p:cNvPr>
          <p:cNvSpPr>
            <a:spLocks noGrp="1"/>
          </p:cNvSpPr>
          <p:nvPr/>
        </p:nvSpPr>
        <p:spPr>
          <a:xfrm>
            <a:off x="6477000" y="2295525"/>
            <a:ext cx="4667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Syarat siap memotret pada halaman kamera</a:t>
            </a:r>
          </a:p>
        </p:txBody>
      </p:sp>
      <p:sp>
        <p:nvSpPr>
          <p:cNvPr id="14" name="number-row-2">
            <a:extLst>
              <a:ext uri="{FF2B5EF4-FFF2-40B4-BE49-F238E27FC236}">
                <a16:creationId xmlns:a16="http://schemas.microsoft.com/office/drawing/2014/main" id="{1C0230CA-46B0-476B-9740-6CFCBECD1AF2}"/>
              </a:ext>
            </a:extLst>
          </p:cNvPr>
          <p:cNvSpPr>
            <a:spLocks noGrp="1"/>
          </p:cNvSpPr>
          <p:nvPr/>
        </p:nvSpPr>
        <p:spPr>
          <a:xfrm>
            <a:off x="400050" y="2914650"/>
            <a:ext cx="11049000" cy="5905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5" name="number-value-2">
            <a:extLst>
              <a:ext uri="{FF2B5EF4-FFF2-40B4-BE49-F238E27FC236}">
                <a16:creationId xmlns:a16="http://schemas.microsoft.com/office/drawing/2014/main" id="{D095BE83-CEBD-411A-9D03-E4559B31FD1B}"/>
              </a:ext>
            </a:extLst>
          </p:cNvPr>
          <p:cNvSpPr>
            <a:spLocks noGrp="1"/>
          </p:cNvSpPr>
          <p:nvPr/>
        </p:nvSpPr>
        <p:spPr>
          <a:xfrm>
            <a:off x="590550" y="3038475"/>
            <a:ext cx="2000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120 </a:t>
            </a:r>
            <a:r>
              <a:rPr dirty="0" err="1"/>
              <a:t>px</a:t>
            </a:r>
            <a:r>
              <a:rPr dirty="0"/>
              <a:t>/</a:t>
            </a:r>
            <a:r>
              <a:rPr dirty="0" err="1"/>
              <a:t>sel</a:t>
            </a:r>
            <a:endParaRPr dirty="0"/>
          </a:p>
        </p:txBody>
      </p:sp>
      <p:sp>
        <p:nvSpPr>
          <p:cNvPr id="16" name="number-origin-2">
            <a:extLst>
              <a:ext uri="{FF2B5EF4-FFF2-40B4-BE49-F238E27FC236}">
                <a16:creationId xmlns:a16="http://schemas.microsoft.com/office/drawing/2014/main" id="{B1118390-6005-4A74-9AE8-95119F784256}"/>
              </a:ext>
            </a:extLst>
          </p:cNvPr>
          <p:cNvSpPr>
            <a:spLocks noGrp="1"/>
          </p:cNvSpPr>
          <p:nvPr/>
        </p:nvSpPr>
        <p:spPr>
          <a:xfrm>
            <a:off x="2714625" y="3038475"/>
            <a:ext cx="3476625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PX_PER_CELL</a:t>
            </a:r>
          </a:p>
        </p:txBody>
      </p:sp>
      <p:sp>
        <p:nvSpPr>
          <p:cNvPr id="17" name="number-use-2">
            <a:extLst>
              <a:ext uri="{FF2B5EF4-FFF2-40B4-BE49-F238E27FC236}">
                <a16:creationId xmlns:a16="http://schemas.microsoft.com/office/drawing/2014/main" id="{41AED46A-6C01-47B8-8543-B8A74217AA68}"/>
              </a:ext>
            </a:extLst>
          </p:cNvPr>
          <p:cNvSpPr>
            <a:spLocks noGrp="1"/>
          </p:cNvSpPr>
          <p:nvPr/>
        </p:nvSpPr>
        <p:spPr>
          <a:xfrm>
            <a:off x="6477000" y="3038475"/>
            <a:ext cx="4667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Membangun bidang board hasil warp</a:t>
            </a:r>
          </a:p>
        </p:txBody>
      </p:sp>
      <p:sp>
        <p:nvSpPr>
          <p:cNvPr id="18" name="number-row-3">
            <a:extLst>
              <a:ext uri="{FF2B5EF4-FFF2-40B4-BE49-F238E27FC236}">
                <a16:creationId xmlns:a16="http://schemas.microsoft.com/office/drawing/2014/main" id="{D5E8B1E1-21C7-45CB-9B03-F3E57C8BE132}"/>
              </a:ext>
            </a:extLst>
          </p:cNvPr>
          <p:cNvSpPr>
            <a:spLocks noGrp="1"/>
          </p:cNvSpPr>
          <p:nvPr/>
        </p:nvSpPr>
        <p:spPr>
          <a:xfrm>
            <a:off x="400050" y="3657600"/>
            <a:ext cx="110490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number-value-3">
            <a:extLst>
              <a:ext uri="{FF2B5EF4-FFF2-40B4-BE49-F238E27FC236}">
                <a16:creationId xmlns:a16="http://schemas.microsoft.com/office/drawing/2014/main" id="{B1C4541B-7A28-4D24-B1C6-633CF87B7FA2}"/>
              </a:ext>
            </a:extLst>
          </p:cNvPr>
          <p:cNvSpPr>
            <a:spLocks noGrp="1"/>
          </p:cNvSpPr>
          <p:nvPr/>
        </p:nvSpPr>
        <p:spPr>
          <a:xfrm>
            <a:off x="590550" y="3781425"/>
            <a:ext cx="2000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200 cm</a:t>
            </a:r>
          </a:p>
        </p:txBody>
      </p:sp>
      <p:sp>
        <p:nvSpPr>
          <p:cNvPr id="20" name="number-origin-3">
            <a:extLst>
              <a:ext uri="{FF2B5EF4-FFF2-40B4-BE49-F238E27FC236}">
                <a16:creationId xmlns:a16="http://schemas.microsoft.com/office/drawing/2014/main" id="{79A2FA87-4CBD-4F47-82B1-AC926B82166A}"/>
              </a:ext>
            </a:extLst>
          </p:cNvPr>
          <p:cNvSpPr>
            <a:spLocks noGrp="1"/>
          </p:cNvSpPr>
          <p:nvPr/>
        </p:nvSpPr>
        <p:spPr>
          <a:xfrm>
            <a:off x="2714625" y="3781425"/>
            <a:ext cx="3476625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BOARD_REAL_HEIGHT_CM</a:t>
            </a:r>
          </a:p>
        </p:txBody>
      </p:sp>
      <p:sp>
        <p:nvSpPr>
          <p:cNvPr id="21" name="number-use-3">
            <a:extLst>
              <a:ext uri="{FF2B5EF4-FFF2-40B4-BE49-F238E27FC236}">
                <a16:creationId xmlns:a16="http://schemas.microsoft.com/office/drawing/2014/main" id="{3A402E98-723C-494A-9295-88B457AF925A}"/>
              </a:ext>
            </a:extLst>
          </p:cNvPr>
          <p:cNvSpPr>
            <a:spLocks noGrp="1"/>
          </p:cNvSpPr>
          <p:nvPr/>
        </p:nvSpPr>
        <p:spPr>
          <a:xfrm>
            <a:off x="6477000" y="3781425"/>
            <a:ext cx="4667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Mengubah tinggi board piksel menjadi cm/piksel</a:t>
            </a:r>
          </a:p>
        </p:txBody>
      </p:sp>
      <p:sp>
        <p:nvSpPr>
          <p:cNvPr id="22" name="number-row-4">
            <a:extLst>
              <a:ext uri="{FF2B5EF4-FFF2-40B4-BE49-F238E27FC236}">
                <a16:creationId xmlns:a16="http://schemas.microsoft.com/office/drawing/2014/main" id="{B04B7A62-8AF7-4440-8BA2-26570BCDBC8E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11049000" cy="5905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3" name="number-value-4">
            <a:extLst>
              <a:ext uri="{FF2B5EF4-FFF2-40B4-BE49-F238E27FC236}">
                <a16:creationId xmlns:a16="http://schemas.microsoft.com/office/drawing/2014/main" id="{57241D39-DF21-416C-975A-74B5CF4F7855}"/>
              </a:ext>
            </a:extLst>
          </p:cNvPr>
          <p:cNvSpPr>
            <a:spLocks noGrp="1"/>
          </p:cNvSpPr>
          <p:nvPr/>
        </p:nvSpPr>
        <p:spPr>
          <a:xfrm>
            <a:off x="590550" y="4524375"/>
            <a:ext cx="2000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rPr dirty="0"/>
              <a:t>0,28 &amp; 0,15</a:t>
            </a:r>
          </a:p>
        </p:txBody>
      </p:sp>
      <p:sp>
        <p:nvSpPr>
          <p:cNvPr id="24" name="number-origin-4">
            <a:extLst>
              <a:ext uri="{FF2B5EF4-FFF2-40B4-BE49-F238E27FC236}">
                <a16:creationId xmlns:a16="http://schemas.microsoft.com/office/drawing/2014/main" id="{FD36B278-5070-4133-8AF3-D2DE4906C1C7}"/>
              </a:ext>
            </a:extLst>
          </p:cNvPr>
          <p:cNvSpPr>
            <a:spLocks noGrp="1"/>
          </p:cNvSpPr>
          <p:nvPr/>
        </p:nvSpPr>
        <p:spPr>
          <a:xfrm>
            <a:off x="2714625" y="4524375"/>
            <a:ext cx="3476625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Ditulis langsung pada estimasi kepala</a:t>
            </a:r>
          </a:p>
        </p:txBody>
      </p:sp>
      <p:sp>
        <p:nvSpPr>
          <p:cNvPr id="25" name="number-use-4">
            <a:extLst>
              <a:ext uri="{FF2B5EF4-FFF2-40B4-BE49-F238E27FC236}">
                <a16:creationId xmlns:a16="http://schemas.microsoft.com/office/drawing/2014/main" id="{7C8BBBCA-D5A3-4CE5-B03D-A7FC338EBD89}"/>
              </a:ext>
            </a:extLst>
          </p:cNvPr>
          <p:cNvSpPr>
            <a:spLocks noGrp="1"/>
          </p:cNvSpPr>
          <p:nvPr/>
        </p:nvSpPr>
        <p:spPr>
          <a:xfrm>
            <a:off x="6477000" y="4524375"/>
            <a:ext cx="4667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Memperkirakan jarak wajah ke puncak kepala</a:t>
            </a:r>
          </a:p>
        </p:txBody>
      </p:sp>
      <p:sp>
        <p:nvSpPr>
          <p:cNvPr id="26" name="number-row-5">
            <a:extLst>
              <a:ext uri="{FF2B5EF4-FFF2-40B4-BE49-F238E27FC236}">
                <a16:creationId xmlns:a16="http://schemas.microsoft.com/office/drawing/2014/main" id="{F4213521-350D-4D3F-84F4-97D96FBF797B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11049000" cy="5905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number-value-5">
            <a:extLst>
              <a:ext uri="{FF2B5EF4-FFF2-40B4-BE49-F238E27FC236}">
                <a16:creationId xmlns:a16="http://schemas.microsoft.com/office/drawing/2014/main" id="{E28B909E-6B4B-484C-8C09-DA04EDC8F31B}"/>
              </a:ext>
            </a:extLst>
          </p:cNvPr>
          <p:cNvSpPr>
            <a:spLocks noGrp="1"/>
          </p:cNvSpPr>
          <p:nvPr/>
        </p:nvSpPr>
        <p:spPr>
          <a:xfrm>
            <a:off x="590550" y="5267325"/>
            <a:ext cx="2000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rPr dirty="0"/>
              <a:t>0,857 &amp; 1,025</a:t>
            </a:r>
          </a:p>
        </p:txBody>
      </p:sp>
      <p:sp>
        <p:nvSpPr>
          <p:cNvPr id="28" name="number-origin-5">
            <a:extLst>
              <a:ext uri="{FF2B5EF4-FFF2-40B4-BE49-F238E27FC236}">
                <a16:creationId xmlns:a16="http://schemas.microsoft.com/office/drawing/2014/main" id="{F0EDDF99-3A72-48DC-8A16-3DAD99CC59A1}"/>
              </a:ext>
            </a:extLst>
          </p:cNvPr>
          <p:cNvSpPr>
            <a:spLocks noGrp="1"/>
          </p:cNvSpPr>
          <p:nvPr/>
        </p:nvSpPr>
        <p:spPr>
          <a:xfrm>
            <a:off x="2714625" y="5267325"/>
            <a:ext cx="3476625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Depth dan height calibration</a:t>
            </a:r>
          </a:p>
        </p:txBody>
      </p:sp>
      <p:sp>
        <p:nvSpPr>
          <p:cNvPr id="29" name="number-use-5">
            <a:extLst>
              <a:ext uri="{FF2B5EF4-FFF2-40B4-BE49-F238E27FC236}">
                <a16:creationId xmlns:a16="http://schemas.microsoft.com/office/drawing/2014/main" id="{6F6DED93-005C-4B7C-A550-D41D279190B6}"/>
              </a:ext>
            </a:extLst>
          </p:cNvPr>
          <p:cNvSpPr>
            <a:spLocks noGrp="1"/>
          </p:cNvSpPr>
          <p:nvPr/>
        </p:nvSpPr>
        <p:spPr>
          <a:xfrm>
            <a:off x="6477000" y="5267325"/>
            <a:ext cx="4667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Pengali akhir tinggi pada kode terbaru</a:t>
            </a:r>
          </a:p>
        </p:txBody>
      </p:sp>
    </p:spTree>
    <p:extLst>
      <p:ext uri="{BB962C8B-B14F-4D97-AF65-F5344CB8AC3E}">
        <p14:creationId xmlns:p14="http://schemas.microsoft.com/office/powerpoint/2010/main" val="66608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ker-origin-slide-background">
            <a:extLst>
              <a:ext uri="{FF2B5EF4-FFF2-40B4-BE49-F238E27FC236}">
                <a16:creationId xmlns:a16="http://schemas.microsoft.com/office/drawing/2014/main" id="{71178FD6-D2DC-4813-8479-E5C7EFA283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EA445B0B-0DA4-4EBF-B933-A7F6EF6AB44A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Ukuran marker berasal dari geometri board</a:t>
            </a:r>
          </a:p>
        </p:txBody>
      </p:sp>
      <p:cxnSp>
        <p:nvCxnSpPr>
          <p:cNvPr id="17" name="accent-6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6">
            <a:extLst>
              <a:ext uri="{FF2B5EF4-FFF2-40B4-BE49-F238E27FC236}">
                <a16:creationId xmlns:a16="http://schemas.microsoft.com/office/drawing/2014/main" id="{762100B8-801C-43E7-A61C-3FF05E350679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source-6">
            <a:extLst>
              <a:ext uri="{FF2B5EF4-FFF2-40B4-BE49-F238E27FC236}">
                <a16:creationId xmlns:a16="http://schemas.microsoft.com/office/drawing/2014/main" id="{E1F2EA8B-981C-4C72-8F95-D1F94636E25B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REAL_MARKER_SIZE_CM pada CameraDistanceActivity.java</a:t>
            </a:r>
          </a:p>
        </p:txBody>
      </p:sp>
      <p:sp>
        <p:nvSpPr>
          <p:cNvPr id="6" name="marker-step-1">
            <a:extLst>
              <a:ext uri="{FF2B5EF4-FFF2-40B4-BE49-F238E27FC236}">
                <a16:creationId xmlns:a16="http://schemas.microsoft.com/office/drawing/2014/main" id="{163FF2FC-16B7-4206-B934-CC6F1C117F3B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8575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sel board</a:t>
            </a:r>
          </a:p>
        </p:txBody>
      </p:sp>
      <p:sp>
        <p:nvSpPr>
          <p:cNvPr id="7" name="marker-step-1-value">
            <a:extLst>
              <a:ext uri="{FF2B5EF4-FFF2-40B4-BE49-F238E27FC236}">
                <a16:creationId xmlns:a16="http://schemas.microsoft.com/office/drawing/2014/main" id="{A0C33CEC-B99C-4B97-8C75-C3DE57E9DAD5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314325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200 cm / 19,35 </a:t>
            </a:r>
            <a:r>
              <a:rPr dirty="0" err="1"/>
              <a:t>sel</a:t>
            </a:r>
            <a:r>
              <a:rPr dirty="0"/>
              <a:t>
= 10,3359 cm/</a:t>
            </a:r>
            <a:r>
              <a:rPr dirty="0" err="1"/>
              <a:t>sel</a:t>
            </a:r>
            <a:endParaRPr dirty="0"/>
          </a:p>
        </p:txBody>
      </p:sp>
      <p:sp>
        <p:nvSpPr>
          <p:cNvPr id="8" name="marker-step-2">
            <a:extLst>
              <a:ext uri="{FF2B5EF4-FFF2-40B4-BE49-F238E27FC236}">
                <a16:creationId xmlns:a16="http://schemas.microsoft.com/office/drawing/2014/main" id="{38B4510A-422D-4351-B47D-D5B25521E87B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Ukuran sisi marker</a:t>
            </a:r>
          </a:p>
        </p:txBody>
      </p:sp>
      <p:sp>
        <p:nvSpPr>
          <p:cNvPr id="9" name="marker-step-2-value">
            <a:extLst>
              <a:ext uri="{FF2B5EF4-FFF2-40B4-BE49-F238E27FC236}">
                <a16:creationId xmlns:a16="http://schemas.microsoft.com/office/drawing/2014/main" id="{3C3E1F45-05D5-4A10-9614-20B0B095DAE2}"/>
              </a:ext>
            </a:extLst>
          </p:cNvPr>
          <p:cNvSpPr>
            <a:spLocks noGrp="1"/>
          </p:cNvSpPr>
          <p:nvPr/>
        </p:nvSpPr>
        <p:spPr>
          <a:xfrm>
            <a:off x="4524375" y="2286000"/>
            <a:ext cx="314325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rPr dirty="0"/>
              <a:t>0,74 </a:t>
            </a:r>
            <a:r>
              <a:rPr dirty="0" err="1"/>
              <a:t>sel</a:t>
            </a:r>
            <a:r>
              <a:rPr dirty="0"/>
              <a:t> × 10,3359
= 7,6486 cm</a:t>
            </a:r>
          </a:p>
        </p:txBody>
      </p:sp>
      <p:sp>
        <p:nvSpPr>
          <p:cNvPr id="10" name="marker-step-3">
            <a:extLst>
              <a:ext uri="{FF2B5EF4-FFF2-40B4-BE49-F238E27FC236}">
                <a16:creationId xmlns:a16="http://schemas.microsoft.com/office/drawing/2014/main" id="{F4C4A7F3-8341-478C-A6D7-CDF0EAE6367A}"/>
              </a:ext>
            </a:extLst>
          </p:cNvPr>
          <p:cNvSpPr>
            <a:spLocks noGrp="1"/>
          </p:cNvSpPr>
          <p:nvPr/>
        </p:nvSpPr>
        <p:spPr>
          <a:xfrm>
            <a:off x="8334375" y="1714500"/>
            <a:ext cx="28575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Nilai pada kode</a:t>
            </a:r>
          </a:p>
        </p:txBody>
      </p:sp>
      <p:sp>
        <p:nvSpPr>
          <p:cNvPr id="11" name="marker-step-3-value">
            <a:extLst>
              <a:ext uri="{FF2B5EF4-FFF2-40B4-BE49-F238E27FC236}">
                <a16:creationId xmlns:a16="http://schemas.microsoft.com/office/drawing/2014/main" id="{FC97BBDA-C2B2-43F6-BEEA-C104CB966B76}"/>
              </a:ext>
            </a:extLst>
          </p:cNvPr>
          <p:cNvSpPr>
            <a:spLocks noGrp="1"/>
          </p:cNvSpPr>
          <p:nvPr/>
        </p:nvSpPr>
        <p:spPr>
          <a:xfrm>
            <a:off x="8334375" y="2286000"/>
            <a:ext cx="3143250" cy="857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REAL_MARKER_SIZE_CM
= 7,6485 cm</a:t>
            </a:r>
          </a:p>
        </p:txBody>
      </p:sp>
      <p:sp>
        <p:nvSpPr>
          <p:cNvPr id="12" name="marker-explain">
            <a:extLst>
              <a:ext uri="{FF2B5EF4-FFF2-40B4-BE49-F238E27FC236}">
                <a16:creationId xmlns:a16="http://schemas.microsoft.com/office/drawing/2014/main" id="{A59A4532-F637-4F9E-B52C-27EDBC98FE55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10429875" cy="1476375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3" name="marker-explain-title">
            <a:extLst>
              <a:ext uri="{FF2B5EF4-FFF2-40B4-BE49-F238E27FC236}">
                <a16:creationId xmlns:a16="http://schemas.microsoft.com/office/drawing/2014/main" id="{F71E162E-9A5C-41C0-9B98-AAEA0E636558}"/>
              </a:ext>
            </a:extLst>
          </p:cNvPr>
          <p:cNvSpPr>
            <a:spLocks noGrp="1"/>
          </p:cNvSpPr>
          <p:nvPr/>
        </p:nvSpPr>
        <p:spPr>
          <a:xfrm>
            <a:off x="1095375" y="4052887"/>
            <a:ext cx="20955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Kegunaan</a:t>
            </a:r>
            <a:endParaRPr dirty="0"/>
          </a:p>
        </p:txBody>
      </p:sp>
      <p:sp>
        <p:nvSpPr>
          <p:cNvPr id="14" name="marker-explain-body">
            <a:extLst>
              <a:ext uri="{FF2B5EF4-FFF2-40B4-BE49-F238E27FC236}">
                <a16:creationId xmlns:a16="http://schemas.microsoft.com/office/drawing/2014/main" id="{B585C871-DEEF-4837-9C41-AC2240AFAE51}"/>
              </a:ext>
            </a:extLst>
          </p:cNvPr>
          <p:cNvSpPr>
            <a:spLocks noGrp="1"/>
          </p:cNvSpPr>
          <p:nvPr/>
        </p:nvSpPr>
        <p:spPr>
          <a:xfrm>
            <a:off x="1009650" y="4429125"/>
            <a:ext cx="10182225" cy="809625"/>
          </a:xfrm>
          <a:prstGeom prst="rect">
            <a:avLst/>
          </a:prstGeom>
        </p:spPr>
        <p:txBody>
          <a:bodyPr lIns="0" tIns="0" rIns="0" bIns="0" anchor="t">
            <a:normAutofit fontScale="98464"/>
          </a:bodyPr>
          <a:lstStyle/>
          <a:p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Ukuran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menjadi</a:t>
            </a:r>
            <a:r>
              <a:rPr dirty="0"/>
              <a:t> </a:t>
            </a:r>
            <a:r>
              <a:rPr dirty="0" err="1"/>
              <a:t>pembilang</a:t>
            </a:r>
            <a:r>
              <a:rPr dirty="0"/>
              <a:t> pada </a:t>
            </a:r>
            <a:r>
              <a:rPr dirty="0" err="1"/>
              <a:t>rumus</a:t>
            </a:r>
            <a:r>
              <a:rPr dirty="0"/>
              <a:t> </a:t>
            </a:r>
            <a:r>
              <a:rPr dirty="0" err="1"/>
              <a:t>jarak</a:t>
            </a:r>
            <a:r>
              <a:rPr dirty="0"/>
              <a:t>. </a:t>
            </a:r>
            <a:r>
              <a:rPr dirty="0" err="1"/>
              <a:t>Semakin</a:t>
            </a:r>
            <a:r>
              <a:rPr dirty="0"/>
              <a:t> </a:t>
            </a:r>
            <a:r>
              <a:rPr dirty="0" err="1"/>
              <a:t>besar</a:t>
            </a:r>
            <a:r>
              <a:rPr dirty="0"/>
              <a:t> marker </a:t>
            </a:r>
            <a:r>
              <a:rPr dirty="0" err="1"/>
              <a:t>terlihat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piksel</a:t>
            </a:r>
            <a:r>
              <a:rPr dirty="0"/>
              <a:t>, </a:t>
            </a:r>
            <a:r>
              <a:rPr dirty="0" err="1"/>
              <a:t>semakin</a:t>
            </a:r>
            <a:r>
              <a:rPr dirty="0"/>
              <a:t> </a:t>
            </a:r>
            <a:r>
              <a:rPr dirty="0" err="1"/>
              <a:t>dekat</a:t>
            </a:r>
            <a:r>
              <a:rPr dirty="0"/>
              <a:t> </a:t>
            </a:r>
            <a:r>
              <a:rPr dirty="0" err="1"/>
              <a:t>jarak</a:t>
            </a:r>
            <a:r>
              <a:rPr dirty="0"/>
              <a:t> </a:t>
            </a:r>
            <a:r>
              <a:rPr dirty="0" err="1"/>
              <a:t>kamera</a:t>
            </a:r>
            <a:r>
              <a:rPr dirty="0"/>
              <a:t> yang </a:t>
            </a:r>
            <a:r>
              <a:rPr dirty="0" err="1"/>
              <a:t>diperkirakan</a:t>
            </a:r>
            <a:r>
              <a:rPr dirty="0"/>
              <a:t>. Nilai 7,6485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</a:t>
            </a:r>
            <a:r>
              <a:rPr dirty="0" err="1"/>
              <a:t>deteksi</a:t>
            </a:r>
            <a:r>
              <a:rPr dirty="0"/>
              <a:t>; </a:t>
            </a:r>
            <a:r>
              <a:rPr dirty="0" err="1"/>
              <a:t>nilainya</a:t>
            </a:r>
            <a:r>
              <a:rPr dirty="0"/>
              <a:t> </a:t>
            </a:r>
            <a:r>
              <a:rPr dirty="0" err="1"/>
              <a:t>berasal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desain</a:t>
            </a:r>
            <a:r>
              <a:rPr dirty="0"/>
              <a:t> </a:t>
            </a:r>
            <a:r>
              <a:rPr dirty="0" err="1"/>
              <a:t>fisik</a:t>
            </a:r>
            <a:r>
              <a:rPr dirty="0"/>
              <a:t> board.</a:t>
            </a:r>
          </a:p>
        </p:txBody>
      </p:sp>
    </p:spTree>
    <p:extLst>
      <p:ext uri="{BB962C8B-B14F-4D97-AF65-F5344CB8AC3E}">
        <p14:creationId xmlns:p14="http://schemas.microsoft.com/office/powerpoint/2010/main" val="1336933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tance-slide-background">
            <a:extLst>
              <a:ext uri="{FF2B5EF4-FFF2-40B4-BE49-F238E27FC236}">
                <a16:creationId xmlns:a16="http://schemas.microsoft.com/office/drawing/2014/main" id="{C27A83E7-1AE7-4A05-8596-CD68F10F1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197291BE-9A51-4A14-8BB4-AF66ACEA2557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 fontScale="88780"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Jarak kamera dikalibrasi dari ukuran marker ArUco</a:t>
            </a:r>
          </a:p>
        </p:txBody>
      </p:sp>
      <p:cxnSp>
        <p:nvCxnSpPr>
          <p:cNvPr id="26" name="accent-7"/>
          <p:cNvCxnSpPr/>
          <p:nvPr/>
        </p:nvCxnSpPr>
        <p:spPr>
          <a:xfrm>
            <a:off x="400050" y="1495425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7">
            <a:extLst>
              <a:ext uri="{FF2B5EF4-FFF2-40B4-BE49-F238E27FC236}">
                <a16:creationId xmlns:a16="http://schemas.microsoft.com/office/drawing/2014/main" id="{CC362126-96C8-4E53-AE6C-66A18FA67947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source-7">
            <a:extLst>
              <a:ext uri="{FF2B5EF4-FFF2-40B4-BE49-F238E27FC236}">
                <a16:creationId xmlns:a16="http://schemas.microsoft.com/office/drawing/2014/main" id="{1C405E2D-77A9-4918-BA0E-3B9C6095CC50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CameraDistanceActivity.java</a:t>
            </a:r>
          </a:p>
        </p:txBody>
      </p:sp>
      <p:sp>
        <p:nvSpPr>
          <p:cNvPr id="6" name="distance-formula">
            <a:extLst>
              <a:ext uri="{FF2B5EF4-FFF2-40B4-BE49-F238E27FC236}">
                <a16:creationId xmlns:a16="http://schemas.microsoft.com/office/drawing/2014/main" id="{AE3B2B55-5EC7-4486-8FBF-67B68399F546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70485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Zraw = (Smarker × fpx) / spx</a:t>
            </a:r>
          </a:p>
        </p:txBody>
      </p:sp>
      <p:sp>
        <p:nvSpPr>
          <p:cNvPr id="7" name="distance-def">
            <a:extLst>
              <a:ext uri="{FF2B5EF4-FFF2-40B4-BE49-F238E27FC236}">
                <a16:creationId xmlns:a16="http://schemas.microsoft.com/office/drawing/2014/main" id="{530CF0DC-E5D1-4F12-9D89-7A7FA686857B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10668000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Smarker = 7,6485 cm   •   fpx = lebar gambar × (fokal mm / lebar sensor mm)   •   spx = sisi marker dalam piksel</a:t>
            </a:r>
          </a:p>
        </p:txBody>
      </p:sp>
      <p:sp>
        <p:nvSpPr>
          <p:cNvPr id="8" name="target-panel">
            <a:extLst>
              <a:ext uri="{FF2B5EF4-FFF2-40B4-BE49-F238E27FC236}">
                <a16:creationId xmlns:a16="http://schemas.microsoft.com/office/drawing/2014/main" id="{3B0CF4E4-D7EC-43F5-A22C-3C4B29A47D77}"/>
              </a:ext>
            </a:extLst>
          </p:cNvPr>
          <p:cNvSpPr>
            <a:spLocks noGrp="1"/>
          </p:cNvSpPr>
          <p:nvPr/>
        </p:nvSpPr>
        <p:spPr>
          <a:xfrm>
            <a:off x="400050" y="3476625"/>
            <a:ext cx="3333750" cy="14287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9" name="target-bar">
            <a:extLst>
              <a:ext uri="{FF2B5EF4-FFF2-40B4-BE49-F238E27FC236}">
                <a16:creationId xmlns:a16="http://schemas.microsoft.com/office/drawing/2014/main" id="{547212CF-0511-4D34-9434-3CBD8702B113}"/>
              </a:ext>
            </a:extLst>
          </p:cNvPr>
          <p:cNvSpPr>
            <a:spLocks noGrp="1"/>
          </p:cNvSpPr>
          <p:nvPr/>
        </p:nvSpPr>
        <p:spPr>
          <a:xfrm>
            <a:off x="400050" y="3476625"/>
            <a:ext cx="76200" cy="1428750"/>
          </a:xfrm>
          <a:prstGeom prst="rect">
            <a:avLst/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10" name="target-label">
            <a:extLst>
              <a:ext uri="{FF2B5EF4-FFF2-40B4-BE49-F238E27FC236}">
                <a16:creationId xmlns:a16="http://schemas.microsoft.com/office/drawing/2014/main" id="{D9477765-4618-4C67-86C5-D296602E6F4A}"/>
              </a:ext>
            </a:extLst>
          </p:cNvPr>
          <p:cNvSpPr>
            <a:spLocks noGrp="1"/>
          </p:cNvSpPr>
          <p:nvPr/>
        </p:nvSpPr>
        <p:spPr>
          <a:xfrm>
            <a:off x="628650" y="3667125"/>
            <a:ext cx="29146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JARAK TARGET</a:t>
            </a:r>
          </a:p>
        </p:txBody>
      </p:sp>
      <p:sp>
        <p:nvSpPr>
          <p:cNvPr id="11" name="target-value">
            <a:extLst>
              <a:ext uri="{FF2B5EF4-FFF2-40B4-BE49-F238E27FC236}">
                <a16:creationId xmlns:a16="http://schemas.microsoft.com/office/drawing/2014/main" id="{C5E29B2A-7700-41CC-A0AA-7ADF7EAB435C}"/>
              </a:ext>
            </a:extLst>
          </p:cNvPr>
          <p:cNvSpPr>
            <a:spLocks noGrp="1"/>
          </p:cNvSpPr>
          <p:nvPr/>
        </p:nvSpPr>
        <p:spPr>
          <a:xfrm>
            <a:off x="628650" y="3952875"/>
            <a:ext cx="291465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3</a:t>
            </a:r>
            <a:r>
              <a:rPr dirty="0"/>
              <a:t>50 cm</a:t>
            </a:r>
          </a:p>
        </p:txBody>
      </p:sp>
      <p:sp>
        <p:nvSpPr>
          <p:cNvPr id="12" name="target-detail">
            <a:extLst>
              <a:ext uri="{FF2B5EF4-FFF2-40B4-BE49-F238E27FC236}">
                <a16:creationId xmlns:a16="http://schemas.microsoft.com/office/drawing/2014/main" id="{72064612-7889-44A2-AC0C-111682E3A216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29146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Toleransi sistem ±10 cm</a:t>
            </a:r>
          </a:p>
        </p:txBody>
      </p:sp>
      <p:sp>
        <p:nvSpPr>
          <p:cNvPr id="13" name="calibration-panel">
            <a:extLst>
              <a:ext uri="{FF2B5EF4-FFF2-40B4-BE49-F238E27FC236}">
                <a16:creationId xmlns:a16="http://schemas.microsoft.com/office/drawing/2014/main" id="{796B23CA-83F5-4DC5-A2E6-9B8C4E8B6B54}"/>
              </a:ext>
            </a:extLst>
          </p:cNvPr>
          <p:cNvSpPr>
            <a:spLocks noGrp="1"/>
          </p:cNvSpPr>
          <p:nvPr/>
        </p:nvSpPr>
        <p:spPr>
          <a:xfrm>
            <a:off x="4095750" y="3476625"/>
            <a:ext cx="3333750" cy="14287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4" name="calibration-bar">
            <a:extLst>
              <a:ext uri="{FF2B5EF4-FFF2-40B4-BE49-F238E27FC236}">
                <a16:creationId xmlns:a16="http://schemas.microsoft.com/office/drawing/2014/main" id="{3520DD85-6C94-4D85-AB1B-06B1F64B5D0E}"/>
              </a:ext>
            </a:extLst>
          </p:cNvPr>
          <p:cNvSpPr>
            <a:spLocks noGrp="1"/>
          </p:cNvSpPr>
          <p:nvPr/>
        </p:nvSpPr>
        <p:spPr>
          <a:xfrm>
            <a:off x="4095750" y="3476625"/>
            <a:ext cx="76200" cy="14287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5" name="calibration-label">
            <a:extLst>
              <a:ext uri="{FF2B5EF4-FFF2-40B4-BE49-F238E27FC236}">
                <a16:creationId xmlns:a16="http://schemas.microsoft.com/office/drawing/2014/main" id="{56CF0CB8-FDA7-46F8-891E-803BB2903104}"/>
              </a:ext>
            </a:extLst>
          </p:cNvPr>
          <p:cNvSpPr>
            <a:spLocks noGrp="1"/>
          </p:cNvSpPr>
          <p:nvPr/>
        </p:nvSpPr>
        <p:spPr>
          <a:xfrm>
            <a:off x="4324350" y="3667125"/>
            <a:ext cx="29146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FAKTOR KALIBRASI</a:t>
            </a:r>
          </a:p>
        </p:txBody>
      </p:sp>
      <p:sp>
        <p:nvSpPr>
          <p:cNvPr id="16" name="calibration-value">
            <a:extLst>
              <a:ext uri="{FF2B5EF4-FFF2-40B4-BE49-F238E27FC236}">
                <a16:creationId xmlns:a16="http://schemas.microsoft.com/office/drawing/2014/main" id="{092EB9C2-489E-469B-8804-58E4410517D8}"/>
              </a:ext>
            </a:extLst>
          </p:cNvPr>
          <p:cNvSpPr>
            <a:spLocks noGrp="1"/>
          </p:cNvSpPr>
          <p:nvPr/>
        </p:nvSpPr>
        <p:spPr>
          <a:xfrm>
            <a:off x="4324350" y="3952875"/>
            <a:ext cx="291465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K = </a:t>
            </a:r>
            <a:r>
              <a:rPr lang="en-US" dirty="0"/>
              <a:t>3</a:t>
            </a:r>
            <a:r>
              <a:rPr dirty="0"/>
              <a:t>50 / </a:t>
            </a:r>
            <a:r>
              <a:rPr dirty="0" err="1"/>
              <a:t>Zraw</a:t>
            </a:r>
            <a:endParaRPr dirty="0"/>
          </a:p>
        </p:txBody>
      </p:sp>
      <p:sp>
        <p:nvSpPr>
          <p:cNvPr id="17" name="calibration-detail">
            <a:extLst>
              <a:ext uri="{FF2B5EF4-FFF2-40B4-BE49-F238E27FC236}">
                <a16:creationId xmlns:a16="http://schemas.microsoft.com/office/drawing/2014/main" id="{86060EF4-54DB-4938-8D6C-C5AC82A2167F}"/>
              </a:ext>
            </a:extLst>
          </p:cNvPr>
          <p:cNvSpPr>
            <a:spLocks noGrp="1"/>
          </p:cNvSpPr>
          <p:nvPr/>
        </p:nvSpPr>
        <p:spPr>
          <a:xfrm>
            <a:off x="4324350" y="4457700"/>
            <a:ext cx="29146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Zkalibrasi = Zraw × K</a:t>
            </a:r>
          </a:p>
        </p:txBody>
      </p:sp>
      <p:sp>
        <p:nvSpPr>
          <p:cNvPr id="18" name="smoothing-panel">
            <a:extLst>
              <a:ext uri="{FF2B5EF4-FFF2-40B4-BE49-F238E27FC236}">
                <a16:creationId xmlns:a16="http://schemas.microsoft.com/office/drawing/2014/main" id="{2BEBF060-B7C3-4719-ADD9-C5AA4F452936}"/>
              </a:ext>
            </a:extLst>
          </p:cNvPr>
          <p:cNvSpPr>
            <a:spLocks noGrp="1"/>
          </p:cNvSpPr>
          <p:nvPr/>
        </p:nvSpPr>
        <p:spPr>
          <a:xfrm>
            <a:off x="7791450" y="3476625"/>
            <a:ext cx="3714750" cy="14287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9" name="smoothing-bar">
            <a:extLst>
              <a:ext uri="{FF2B5EF4-FFF2-40B4-BE49-F238E27FC236}">
                <a16:creationId xmlns:a16="http://schemas.microsoft.com/office/drawing/2014/main" id="{D195E92E-BF26-4D65-8522-5064794D2004}"/>
              </a:ext>
            </a:extLst>
          </p:cNvPr>
          <p:cNvSpPr>
            <a:spLocks noGrp="1"/>
          </p:cNvSpPr>
          <p:nvPr/>
        </p:nvSpPr>
        <p:spPr>
          <a:xfrm>
            <a:off x="7791450" y="3476625"/>
            <a:ext cx="76200" cy="14287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0" name="smoothing-label">
            <a:extLst>
              <a:ext uri="{FF2B5EF4-FFF2-40B4-BE49-F238E27FC236}">
                <a16:creationId xmlns:a16="http://schemas.microsoft.com/office/drawing/2014/main" id="{54AE00B1-B5E8-40A6-A296-1DB2B6053A60}"/>
              </a:ext>
            </a:extLst>
          </p:cNvPr>
          <p:cNvSpPr>
            <a:spLocks noGrp="1"/>
          </p:cNvSpPr>
          <p:nvPr/>
        </p:nvSpPr>
        <p:spPr>
          <a:xfrm>
            <a:off x="8020050" y="3667125"/>
            <a:ext cx="32956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SMOOTHING</a:t>
            </a:r>
          </a:p>
        </p:txBody>
      </p:sp>
      <p:sp>
        <p:nvSpPr>
          <p:cNvPr id="21" name="smoothing-value">
            <a:extLst>
              <a:ext uri="{FF2B5EF4-FFF2-40B4-BE49-F238E27FC236}">
                <a16:creationId xmlns:a16="http://schemas.microsoft.com/office/drawing/2014/main" id="{CEE75EDB-566E-47AD-93D4-7D96B3E61CA6}"/>
              </a:ext>
            </a:extLst>
          </p:cNvPr>
          <p:cNvSpPr>
            <a:spLocks noGrp="1"/>
          </p:cNvSpPr>
          <p:nvPr/>
        </p:nvSpPr>
        <p:spPr>
          <a:xfrm>
            <a:off x="8020050" y="3952875"/>
            <a:ext cx="329565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α = 0,25</a:t>
            </a:r>
          </a:p>
        </p:txBody>
      </p:sp>
      <p:sp>
        <p:nvSpPr>
          <p:cNvPr id="22" name="smoothing-detail">
            <a:extLst>
              <a:ext uri="{FF2B5EF4-FFF2-40B4-BE49-F238E27FC236}">
                <a16:creationId xmlns:a16="http://schemas.microsoft.com/office/drawing/2014/main" id="{B9E3663B-9CFF-4E37-B94A-F8103B885700}"/>
              </a:ext>
            </a:extLst>
          </p:cNvPr>
          <p:cNvSpPr>
            <a:spLocks noGrp="1"/>
          </p:cNvSpPr>
          <p:nvPr/>
        </p:nvSpPr>
        <p:spPr>
          <a:xfrm>
            <a:off x="8020050" y="4457700"/>
            <a:ext cx="32956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Zt = αZbaru + (1−α)Zlama</a:t>
            </a:r>
          </a:p>
        </p:txBody>
      </p:sp>
      <p:sp>
        <p:nvSpPr>
          <p:cNvPr id="23" name="distance-meaning">
            <a:extLst>
              <a:ext uri="{FF2B5EF4-FFF2-40B4-BE49-F238E27FC236}">
                <a16:creationId xmlns:a16="http://schemas.microsoft.com/office/drawing/2014/main" id="{1C63CCF8-2B68-4B9E-87CC-228E94806CB8}"/>
              </a:ext>
            </a:extLst>
          </p:cNvPr>
          <p:cNvSpPr>
            <a:spLocks noGrp="1"/>
          </p:cNvSpPr>
          <p:nvPr/>
        </p:nvSpPr>
        <p:spPr>
          <a:xfrm>
            <a:off x="400050" y="5381625"/>
            <a:ext cx="10668000" cy="523875"/>
          </a:xfrm>
          <a:prstGeom prst="rect">
            <a:avLst/>
          </a:prstGeom>
        </p:spPr>
        <p:txBody>
          <a:bodyPr lIns="0" tIns="0" rIns="0" bIns="0" anchor="t">
            <a:normAutofit fontScale="77138" lnSpcReduction="20000"/>
          </a:bodyPr>
          <a:lstStyle/>
          <a:p>
            <a:pPr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/>
              <a:t>Nilai alpha 0,25 </a:t>
            </a:r>
            <a:r>
              <a:rPr lang="en-US" sz="1725" b="1" dirty="0" err="1"/>
              <a:t>digunakan</a:t>
            </a:r>
            <a:r>
              <a:rPr lang="en-US" sz="1725" b="1" dirty="0"/>
              <a:t> </a:t>
            </a:r>
            <a:r>
              <a:rPr lang="en-US" sz="1725" b="1" dirty="0" err="1"/>
              <a:t>sebagai</a:t>
            </a:r>
            <a:r>
              <a:rPr lang="en-US" sz="1725" b="1" dirty="0"/>
              <a:t> parameter smoothing. Nilai </a:t>
            </a:r>
            <a:r>
              <a:rPr lang="en-US" sz="1725" b="1" dirty="0" err="1"/>
              <a:t>tersebut</a:t>
            </a:r>
            <a:r>
              <a:rPr lang="en-US" sz="1725" b="1" dirty="0"/>
              <a:t> </a:t>
            </a:r>
            <a:r>
              <a:rPr lang="en-US" sz="1725" b="1" dirty="0" err="1"/>
              <a:t>memberi</a:t>
            </a:r>
            <a:r>
              <a:rPr lang="en-US" sz="1725" b="1" dirty="0"/>
              <a:t> </a:t>
            </a:r>
            <a:r>
              <a:rPr lang="en-US" sz="1725" b="1" dirty="0" err="1"/>
              <a:t>bobot</a:t>
            </a:r>
            <a:r>
              <a:rPr lang="en-US" sz="1725" b="1" dirty="0"/>
              <a:t> 25% pada data </a:t>
            </a:r>
            <a:r>
              <a:rPr lang="en-US" sz="1725" b="1" dirty="0" err="1"/>
              <a:t>baru</a:t>
            </a:r>
            <a:r>
              <a:rPr lang="en-US" sz="1725" b="1" dirty="0"/>
              <a:t> dan 75% pada data </a:t>
            </a:r>
            <a:r>
              <a:rPr lang="en-US" sz="1725" b="1" dirty="0" err="1"/>
              <a:t>sebelumnya</a:t>
            </a:r>
            <a:r>
              <a:rPr lang="en-US" sz="1725" b="1" dirty="0"/>
              <a:t> agar </a:t>
            </a:r>
            <a:r>
              <a:rPr lang="en-US" sz="1725" b="1" dirty="0" err="1"/>
              <a:t>hasil</a:t>
            </a:r>
            <a:r>
              <a:rPr lang="en-US" sz="1725" b="1" dirty="0"/>
              <a:t> </a:t>
            </a:r>
            <a:r>
              <a:rPr lang="en-US" sz="1725" b="1" dirty="0" err="1"/>
              <a:t>jarak</a:t>
            </a:r>
            <a:r>
              <a:rPr lang="en-US" sz="1725" b="1" dirty="0"/>
              <a:t> </a:t>
            </a:r>
            <a:r>
              <a:rPr lang="en-US" sz="1725" b="1" dirty="0" err="1"/>
              <a:t>realtime</a:t>
            </a:r>
            <a:r>
              <a:rPr lang="en-US" sz="1725" b="1" dirty="0"/>
              <a:t> </a:t>
            </a:r>
            <a:r>
              <a:rPr lang="en-US" sz="1725" b="1" dirty="0" err="1"/>
              <a:t>lebih</a:t>
            </a:r>
            <a:r>
              <a:rPr lang="en-US" sz="1725" b="1" dirty="0"/>
              <a:t> </a:t>
            </a:r>
            <a:r>
              <a:rPr lang="en-US" sz="1725" b="1" dirty="0" err="1"/>
              <a:t>stabil</a:t>
            </a:r>
            <a:r>
              <a:rPr lang="en-US" sz="1725" b="1" dirty="0"/>
              <a:t>. Nilai </a:t>
            </a:r>
            <a:r>
              <a:rPr lang="en-US" sz="1725" b="1" dirty="0" err="1"/>
              <a:t>ini</a:t>
            </a:r>
            <a:r>
              <a:rPr lang="en-US" sz="1725" b="1" dirty="0"/>
              <a:t> </a:t>
            </a:r>
            <a:r>
              <a:rPr lang="en-US" sz="1725" b="1" dirty="0" err="1"/>
              <a:t>dapat</a:t>
            </a:r>
            <a:r>
              <a:rPr lang="en-US" sz="1725" b="1" dirty="0"/>
              <a:t> </a:t>
            </a:r>
            <a:r>
              <a:rPr lang="en-US" sz="1725" b="1" dirty="0" err="1"/>
              <a:t>dibandingkan</a:t>
            </a:r>
            <a:r>
              <a:rPr lang="en-US" sz="1725" b="1" dirty="0"/>
              <a:t> </a:t>
            </a:r>
            <a:r>
              <a:rPr lang="en-US" sz="1725" b="1" dirty="0" err="1"/>
              <a:t>dengan</a:t>
            </a:r>
            <a:r>
              <a:rPr lang="en-US" sz="1725" b="1" dirty="0"/>
              <a:t> alpha lain </a:t>
            </a:r>
            <a:r>
              <a:rPr lang="en-US" sz="1725" b="1" dirty="0" err="1"/>
              <a:t>berdasarkan</a:t>
            </a:r>
            <a:r>
              <a:rPr lang="en-US" sz="1725" b="1" dirty="0"/>
              <a:t> </a:t>
            </a:r>
            <a:r>
              <a:rPr lang="en-US" sz="1725" b="1" dirty="0" err="1"/>
              <a:t>kestabilan</a:t>
            </a:r>
            <a:r>
              <a:rPr lang="en-US" sz="1725" b="1" dirty="0"/>
              <a:t> dan </a:t>
            </a:r>
            <a:r>
              <a:rPr lang="en-US" sz="1725" b="1" dirty="0" err="1"/>
              <a:t>kecepatan</a:t>
            </a:r>
            <a:r>
              <a:rPr lang="en-US" sz="1725" b="1" dirty="0"/>
              <a:t> </a:t>
            </a:r>
            <a:r>
              <a:rPr lang="en-US" sz="1725" b="1" dirty="0" err="1"/>
              <a:t>respons</a:t>
            </a:r>
            <a:r>
              <a:rPr lang="en-US" sz="1725" b="1" dirty="0"/>
              <a:t> </a:t>
            </a:r>
            <a:r>
              <a:rPr lang="en-US" sz="1725" b="1" dirty="0" err="1"/>
              <a:t>pengukuran</a:t>
            </a:r>
            <a:r>
              <a:rPr lang="en-US" sz="1725" b="1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0157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tance-roles-slide-background">
            <a:extLst>
              <a:ext uri="{FF2B5EF4-FFF2-40B4-BE49-F238E27FC236}">
                <a16:creationId xmlns:a16="http://schemas.microsoft.com/office/drawing/2014/main" id="{BB88C790-A9AF-4CAA-BE3B-3D8DFDB7E9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07A2EB71-D067-4692-B510-AF6E1FF5BA11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Acuan jarak: 150 cm dan 350 cm</a:t>
            </a:r>
          </a:p>
        </p:txBody>
      </p:sp>
      <p:cxnSp>
        <p:nvCxnSpPr>
          <p:cNvPr id="17" name="accent-8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8">
            <a:extLst>
              <a:ext uri="{FF2B5EF4-FFF2-40B4-BE49-F238E27FC236}">
                <a16:creationId xmlns:a16="http://schemas.microsoft.com/office/drawing/2014/main" id="{A426F0B9-7EEE-47C5-9C23-D2662C9D62F7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ource-8">
            <a:extLst>
              <a:ext uri="{FF2B5EF4-FFF2-40B4-BE49-F238E27FC236}">
                <a16:creationId xmlns:a16="http://schemas.microsoft.com/office/drawing/2014/main" id="{8E0B5AF5-715F-4817-863A-2449740773E7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CameraDistanceActivity.java dan MeasurementActivity.java</a:t>
            </a:r>
          </a:p>
        </p:txBody>
      </p:sp>
      <p:sp>
        <p:nvSpPr>
          <p:cNvPr id="6" name="distance-capture">
            <a:extLst>
              <a:ext uri="{FF2B5EF4-FFF2-40B4-BE49-F238E27FC236}">
                <a16:creationId xmlns:a16="http://schemas.microsoft.com/office/drawing/2014/main" id="{50F7F884-3A00-49B9-95E4-32C720EC5D96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5238750" cy="33337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distance-capture-title">
            <a:extLst>
              <a:ext uri="{FF2B5EF4-FFF2-40B4-BE49-F238E27FC236}">
                <a16:creationId xmlns:a16="http://schemas.microsoft.com/office/drawing/2014/main" id="{00C224D9-9A94-4359-AD20-8A9F82AF018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5720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3</a:t>
            </a:r>
            <a:r>
              <a:rPr dirty="0"/>
              <a:t>50 cm — </a:t>
            </a:r>
            <a:r>
              <a:rPr dirty="0" err="1"/>
              <a:t>jarak</a:t>
            </a:r>
            <a:r>
              <a:rPr dirty="0"/>
              <a:t> </a:t>
            </a:r>
            <a:r>
              <a:rPr dirty="0" err="1"/>
              <a:t>pengambilan</a:t>
            </a:r>
            <a:endParaRPr dirty="0"/>
          </a:p>
        </p:txBody>
      </p:sp>
      <p:sp>
        <p:nvSpPr>
          <p:cNvPr id="8" name="distance-capture-body">
            <a:extLst>
              <a:ext uri="{FF2B5EF4-FFF2-40B4-BE49-F238E27FC236}">
                <a16:creationId xmlns:a16="http://schemas.microsoft.com/office/drawing/2014/main" id="{7B17454C-3DE3-4E28-881F-0AC28DDAE666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4429125" cy="1047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Berasal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TARGET_DISTANCE_CM. </a:t>
            </a:r>
            <a:r>
              <a:rPr dirty="0" err="1"/>
              <a:t>Dipakai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indikator</a:t>
            </a:r>
            <a:r>
              <a:rPr dirty="0"/>
              <a:t> </a:t>
            </a:r>
            <a:r>
              <a:rPr dirty="0" err="1"/>
              <a:t>siap</a:t>
            </a:r>
            <a:r>
              <a:rPr dirty="0"/>
              <a:t> </a:t>
            </a:r>
            <a:r>
              <a:rPr dirty="0" err="1"/>
              <a:t>memotret</a:t>
            </a:r>
            <a:r>
              <a:rPr dirty="0"/>
              <a:t>, </a:t>
            </a:r>
            <a:r>
              <a:rPr dirty="0" err="1"/>
              <a:t>toleransi</a:t>
            </a:r>
            <a:r>
              <a:rPr dirty="0"/>
              <a:t> ±10 cm, dan </a:t>
            </a:r>
            <a:r>
              <a:rPr dirty="0" err="1"/>
              <a:t>kalibrasi</a:t>
            </a:r>
            <a:r>
              <a:rPr dirty="0"/>
              <a:t> K = 150/</a:t>
            </a:r>
            <a:r>
              <a:rPr dirty="0" err="1"/>
              <a:t>Zraw</a:t>
            </a:r>
            <a:r>
              <a:rPr dirty="0"/>
              <a:t>.</a:t>
            </a:r>
          </a:p>
        </p:txBody>
      </p:sp>
      <p:sp>
        <p:nvSpPr>
          <p:cNvPr id="9" name="distance-capture-impact">
            <a:extLst>
              <a:ext uri="{FF2B5EF4-FFF2-40B4-BE49-F238E27FC236}">
                <a16:creationId xmlns:a16="http://schemas.microsoft.com/office/drawing/2014/main" id="{AF2B5287-5AED-4A6E-8BCC-57134132E620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429125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Dampak</a:t>
            </a:r>
            <a:r>
              <a:rPr dirty="0"/>
              <a:t>: </a:t>
            </a:r>
            <a:r>
              <a:rPr dirty="0" err="1"/>
              <a:t>mengatur</a:t>
            </a:r>
            <a:r>
              <a:rPr dirty="0"/>
              <a:t> proses </a:t>
            </a:r>
            <a:r>
              <a:rPr dirty="0" err="1"/>
              <a:t>kamera</a:t>
            </a:r>
            <a:r>
              <a:rPr dirty="0"/>
              <a:t> dan </a:t>
            </a:r>
            <a:r>
              <a:rPr dirty="0" err="1"/>
              <a:t>nilai</a:t>
            </a:r>
            <a:r>
              <a:rPr dirty="0"/>
              <a:t> </a:t>
            </a:r>
            <a:r>
              <a:rPr dirty="0" err="1"/>
              <a:t>jarak</a:t>
            </a:r>
            <a:r>
              <a:rPr dirty="0"/>
              <a:t> yang </a:t>
            </a:r>
            <a:r>
              <a:rPr dirty="0" err="1"/>
              <a:t>dikirim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tahap</a:t>
            </a:r>
            <a:r>
              <a:rPr dirty="0"/>
              <a:t> </a:t>
            </a:r>
            <a:r>
              <a:rPr dirty="0" err="1"/>
              <a:t>berikutnya</a:t>
            </a:r>
            <a:r>
              <a:rPr dirty="0"/>
              <a:t>.</a:t>
            </a:r>
          </a:p>
        </p:txBody>
      </p:sp>
      <p:sp>
        <p:nvSpPr>
          <p:cNvPr id="10" name="distance-measure">
            <a:extLst>
              <a:ext uri="{FF2B5EF4-FFF2-40B4-BE49-F238E27FC236}">
                <a16:creationId xmlns:a16="http://schemas.microsoft.com/office/drawing/2014/main" id="{F6755295-B9E3-4A51-BCEB-6B53C2B99287}"/>
              </a:ext>
            </a:extLst>
          </p:cNvPr>
          <p:cNvSpPr>
            <a:spLocks noGrp="1"/>
          </p:cNvSpPr>
          <p:nvPr/>
        </p:nvSpPr>
        <p:spPr>
          <a:xfrm>
            <a:off x="6096000" y="1571625"/>
            <a:ext cx="5410200" cy="3333750"/>
          </a:xfrm>
          <a:prstGeom prst="rect">
            <a:avLst/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11" name="distance-measure-title">
            <a:extLst>
              <a:ext uri="{FF2B5EF4-FFF2-40B4-BE49-F238E27FC236}">
                <a16:creationId xmlns:a16="http://schemas.microsoft.com/office/drawing/2014/main" id="{F29F5446-AE53-4DC8-B3BB-90EBD5FD5F0F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47625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350 cm — acuan Measurement</a:t>
            </a:r>
          </a:p>
        </p:txBody>
      </p:sp>
      <p:sp>
        <p:nvSpPr>
          <p:cNvPr id="12" name="distance-measure-body">
            <a:extLst>
              <a:ext uri="{FF2B5EF4-FFF2-40B4-BE49-F238E27FC236}">
                <a16:creationId xmlns:a16="http://schemas.microsoft.com/office/drawing/2014/main" id="{28FCC5F0-7623-4E3F-90FF-8E766C82422E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4619625" cy="1047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Berasal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CAMERA_DISTANCE_CM pada </a:t>
            </a:r>
            <a:r>
              <a:rPr dirty="0" err="1"/>
              <a:t>MeasurementActivity</a:t>
            </a:r>
            <a:r>
              <a:rPr dirty="0"/>
              <a:t>. Nilai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menjadi</a:t>
            </a:r>
            <a:r>
              <a:rPr dirty="0"/>
              <a:t> </a:t>
            </a:r>
            <a:r>
              <a:rPr dirty="0" err="1"/>
              <a:t>acuan</a:t>
            </a:r>
            <a:r>
              <a:rPr dirty="0"/>
              <a:t> </a:t>
            </a:r>
            <a:r>
              <a:rPr dirty="0" err="1"/>
              <a:t>jarak</a:t>
            </a:r>
            <a:r>
              <a:rPr dirty="0"/>
              <a:t> </a:t>
            </a:r>
            <a:r>
              <a:rPr dirty="0" err="1"/>
              <a:t>kamera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koreksi</a:t>
            </a:r>
            <a:r>
              <a:rPr dirty="0"/>
              <a:t> </a:t>
            </a:r>
            <a:r>
              <a:rPr dirty="0" err="1"/>
              <a:t>kedalaman</a:t>
            </a:r>
            <a:r>
              <a:rPr dirty="0"/>
              <a:t>.</a:t>
            </a:r>
          </a:p>
        </p:txBody>
      </p:sp>
      <p:sp>
        <p:nvSpPr>
          <p:cNvPr id="13" name="distance-measure-impact">
            <a:extLst>
              <a:ext uri="{FF2B5EF4-FFF2-40B4-BE49-F238E27FC236}">
                <a16:creationId xmlns:a16="http://schemas.microsoft.com/office/drawing/2014/main" id="{288FBAD2-E8CC-4321-97FB-DAF7343B27F2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4619625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Dampak</a:t>
            </a:r>
            <a:r>
              <a:rPr dirty="0"/>
              <a:t>: </a:t>
            </a:r>
            <a:r>
              <a:rPr dirty="0" err="1"/>
              <a:t>bersama</a:t>
            </a:r>
            <a:r>
              <a:rPr dirty="0"/>
              <a:t> </a:t>
            </a:r>
            <a:r>
              <a:rPr dirty="0" err="1"/>
              <a:t>jarak</a:t>
            </a:r>
            <a:r>
              <a:rPr dirty="0"/>
              <a:t> </a:t>
            </a:r>
            <a:r>
              <a:rPr dirty="0" err="1"/>
              <a:t>subjek</a:t>
            </a:r>
            <a:r>
              <a:rPr dirty="0"/>
              <a:t> 50 cm, </a:t>
            </a:r>
            <a:r>
              <a:rPr dirty="0" err="1"/>
              <a:t>menghasilkan</a:t>
            </a:r>
            <a:r>
              <a:rPr dirty="0"/>
              <a:t> </a:t>
            </a:r>
            <a:r>
              <a:rPr dirty="0" err="1"/>
              <a:t>Fdepth</a:t>
            </a:r>
            <a:r>
              <a:rPr dirty="0"/>
              <a:t> = (350−0)/350 = 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14" name="distance-warning">
            <a:extLst>
              <a:ext uri="{FF2B5EF4-FFF2-40B4-BE49-F238E27FC236}">
                <a16:creationId xmlns:a16="http://schemas.microsoft.com/office/drawing/2014/main" id="{76352B11-B055-4C37-B119-107A9E1BA7D8}"/>
              </a:ext>
            </a:extLst>
          </p:cNvPr>
          <p:cNvSpPr>
            <a:spLocks noGrp="1"/>
          </p:cNvSpPr>
          <p:nvPr/>
        </p:nvSpPr>
        <p:spPr>
          <a:xfrm>
            <a:off x="1143000" y="5381625"/>
            <a:ext cx="99060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150 cm </a:t>
            </a:r>
            <a:r>
              <a:rPr dirty="0" err="1"/>
              <a:t>dipakai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kalibrasi</a:t>
            </a:r>
            <a:r>
              <a:rPr dirty="0"/>
              <a:t> marker </a:t>
            </a:r>
            <a:r>
              <a:rPr dirty="0" err="1"/>
              <a:t>kamera</a:t>
            </a:r>
            <a:r>
              <a:rPr dirty="0"/>
              <a:t>; 350 cm </a:t>
            </a:r>
            <a:r>
              <a:rPr dirty="0" err="1"/>
              <a:t>dipakai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acuan</a:t>
            </a:r>
            <a:r>
              <a:rPr dirty="0"/>
              <a:t> </a:t>
            </a:r>
            <a:r>
              <a:rPr dirty="0" err="1"/>
              <a:t>perhitungan</a:t>
            </a:r>
            <a:r>
              <a:rPr dirty="0"/>
              <a:t> </a:t>
            </a:r>
            <a:r>
              <a:rPr dirty="0" err="1"/>
              <a:t>tinggi</a:t>
            </a:r>
            <a:r>
              <a:rPr dirty="0"/>
              <a:t> badan.</a:t>
            </a:r>
          </a:p>
        </p:txBody>
      </p:sp>
    </p:spTree>
    <p:extLst>
      <p:ext uri="{BB962C8B-B14F-4D97-AF65-F5344CB8AC3E}">
        <p14:creationId xmlns:p14="http://schemas.microsoft.com/office/powerpoint/2010/main" val="111956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erspective-slide-background">
            <a:extLst>
              <a:ext uri="{FF2B5EF4-FFF2-40B4-BE49-F238E27FC236}">
                <a16:creationId xmlns:a16="http://schemas.microsoft.com/office/drawing/2014/main" id="{9BBF0E1D-E10F-4988-81D1-C2DF369597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42C1B2A2-FFD4-4BB6-AA82-5249D9DE0062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 fontScale="90807" lnSpcReduction="20000"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Perspective correction membentuk skala board yang stabil</a:t>
            </a:r>
          </a:p>
        </p:txBody>
      </p:sp>
      <p:cxnSp>
        <p:nvCxnSpPr>
          <p:cNvPr id="28" name="accent-9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9">
            <a:extLst>
              <a:ext uri="{FF2B5EF4-FFF2-40B4-BE49-F238E27FC236}">
                <a16:creationId xmlns:a16="http://schemas.microsoft.com/office/drawing/2014/main" id="{DDCE8B5B-701A-49AB-A15F-23BAC2B80049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source-9">
            <a:extLst>
              <a:ext uri="{FF2B5EF4-FFF2-40B4-BE49-F238E27FC236}">
                <a16:creationId xmlns:a16="http://schemas.microsoft.com/office/drawing/2014/main" id="{CCCE689A-5AD7-441A-ABED-126D0A022A6A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PerspectiveCorrectionActivity.java</a:t>
            </a:r>
          </a:p>
        </p:txBody>
      </p:sp>
      <p:sp>
        <p:nvSpPr>
          <p:cNvPr id="6" name="persp-left">
            <a:extLst>
              <a:ext uri="{FF2B5EF4-FFF2-40B4-BE49-F238E27FC236}">
                <a16:creationId xmlns:a16="http://schemas.microsoft.com/office/drawing/2014/main" id="{1725FB4E-FD8B-4B8F-B2DD-FB2923230FA6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238750" cy="44767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persp-left-title">
            <a:extLst>
              <a:ext uri="{FF2B5EF4-FFF2-40B4-BE49-F238E27FC236}">
                <a16:creationId xmlns:a16="http://schemas.microsoft.com/office/drawing/2014/main" id="{246E11D6-115E-431D-840C-3B2F7B1EFB41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28625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Koreksi geometri</a:t>
            </a:r>
          </a:p>
        </p:txBody>
      </p:sp>
      <p:sp>
        <p:nvSpPr>
          <p:cNvPr id="8" name="persp-step-dot-0">
            <a:extLst>
              <a:ext uri="{FF2B5EF4-FFF2-40B4-BE49-F238E27FC236}">
                <a16:creationId xmlns:a16="http://schemas.microsoft.com/office/drawing/2014/main" id="{A276DBD2-CE8D-4821-9428-D5731C752F9C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228600" cy="2286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9" name="persp-step-line-0">
            <a:extLst>
              <a:ext uri="{FF2B5EF4-FFF2-40B4-BE49-F238E27FC236}">
                <a16:creationId xmlns:a16="http://schemas.microsoft.com/office/drawing/2014/main" id="{677FDAF5-2ABD-4DE8-83B9-357E2D89FFED}"/>
              </a:ext>
            </a:extLst>
          </p:cNvPr>
          <p:cNvSpPr>
            <a:spLocks noGrp="1"/>
          </p:cNvSpPr>
          <p:nvPr/>
        </p:nvSpPr>
        <p:spPr>
          <a:xfrm>
            <a:off x="838200" y="2790825"/>
            <a:ext cx="28575" cy="4953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persp-step-0">
            <a:extLst>
              <a:ext uri="{FF2B5EF4-FFF2-40B4-BE49-F238E27FC236}">
                <a16:creationId xmlns:a16="http://schemas.microsoft.com/office/drawing/2014/main" id="{62B65964-3535-45CC-9C0B-464E4AD065E0}"/>
              </a:ext>
            </a:extLst>
          </p:cNvPr>
          <p:cNvSpPr>
            <a:spLocks noGrp="1"/>
          </p:cNvSpPr>
          <p:nvPr/>
        </p:nvSpPr>
        <p:spPr>
          <a:xfrm>
            <a:off x="1190625" y="2457450"/>
            <a:ext cx="38100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Deteksi minimal 4 marker</a:t>
            </a:r>
          </a:p>
        </p:txBody>
      </p:sp>
      <p:sp>
        <p:nvSpPr>
          <p:cNvPr id="11" name="persp-step-dot-1">
            <a:extLst>
              <a:ext uri="{FF2B5EF4-FFF2-40B4-BE49-F238E27FC236}">
                <a16:creationId xmlns:a16="http://schemas.microsoft.com/office/drawing/2014/main" id="{10DDF2E9-8835-4976-98AD-F79324958835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228600" cy="2286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2" name="persp-step-line-1">
            <a:extLst>
              <a:ext uri="{FF2B5EF4-FFF2-40B4-BE49-F238E27FC236}">
                <a16:creationId xmlns:a16="http://schemas.microsoft.com/office/drawing/2014/main" id="{01B779FC-3A2F-45CE-8687-7DB805890554}"/>
              </a:ext>
            </a:extLst>
          </p:cNvPr>
          <p:cNvSpPr>
            <a:spLocks noGrp="1"/>
          </p:cNvSpPr>
          <p:nvPr/>
        </p:nvSpPr>
        <p:spPr>
          <a:xfrm>
            <a:off x="838200" y="3533775"/>
            <a:ext cx="28575" cy="4953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persp-step-1">
            <a:extLst>
              <a:ext uri="{FF2B5EF4-FFF2-40B4-BE49-F238E27FC236}">
                <a16:creationId xmlns:a16="http://schemas.microsoft.com/office/drawing/2014/main" id="{3B7777DA-E3FB-4976-99DC-4C572D046AA1}"/>
              </a:ext>
            </a:extLst>
          </p:cNvPr>
          <p:cNvSpPr>
            <a:spLocks noGrp="1"/>
          </p:cNvSpPr>
          <p:nvPr/>
        </p:nvSpPr>
        <p:spPr>
          <a:xfrm>
            <a:off x="1190625" y="3200400"/>
            <a:ext cx="38100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Pasangkan titik gambar dengan titik board</a:t>
            </a:r>
          </a:p>
        </p:txBody>
      </p:sp>
      <p:sp>
        <p:nvSpPr>
          <p:cNvPr id="14" name="persp-step-dot-2">
            <a:extLst>
              <a:ext uri="{FF2B5EF4-FFF2-40B4-BE49-F238E27FC236}">
                <a16:creationId xmlns:a16="http://schemas.microsoft.com/office/drawing/2014/main" id="{4C130786-C724-4716-B62B-1EA07DB701B4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28600" cy="2286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5" name="persp-step-line-2">
            <a:extLst>
              <a:ext uri="{FF2B5EF4-FFF2-40B4-BE49-F238E27FC236}">
                <a16:creationId xmlns:a16="http://schemas.microsoft.com/office/drawing/2014/main" id="{6B6E045A-65F0-4119-B98D-05F90676575D}"/>
              </a:ext>
            </a:extLst>
          </p:cNvPr>
          <p:cNvSpPr>
            <a:spLocks noGrp="1"/>
          </p:cNvSpPr>
          <p:nvPr/>
        </p:nvSpPr>
        <p:spPr>
          <a:xfrm>
            <a:off x="838200" y="4276725"/>
            <a:ext cx="28575" cy="4953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persp-step-2">
            <a:extLst>
              <a:ext uri="{FF2B5EF4-FFF2-40B4-BE49-F238E27FC236}">
                <a16:creationId xmlns:a16="http://schemas.microsoft.com/office/drawing/2014/main" id="{9E015AEA-8A24-47E3-9246-D858E0CE3CEE}"/>
              </a:ext>
            </a:extLst>
          </p:cNvPr>
          <p:cNvSpPr>
            <a:spLocks noGrp="1"/>
          </p:cNvSpPr>
          <p:nvPr/>
        </p:nvSpPr>
        <p:spPr>
          <a:xfrm>
            <a:off x="1190625" y="3943350"/>
            <a:ext cx="38100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Hitung homografi dengan RANSAC</a:t>
            </a:r>
          </a:p>
        </p:txBody>
      </p:sp>
      <p:sp>
        <p:nvSpPr>
          <p:cNvPr id="17" name="persp-step-dot-3">
            <a:extLst>
              <a:ext uri="{FF2B5EF4-FFF2-40B4-BE49-F238E27FC236}">
                <a16:creationId xmlns:a16="http://schemas.microsoft.com/office/drawing/2014/main" id="{3D0BFC55-F5A3-4CC4-8462-E09C75A1C202}"/>
              </a:ext>
            </a:extLst>
          </p:cNvPr>
          <p:cNvSpPr>
            <a:spLocks noGrp="1"/>
          </p:cNvSpPr>
          <p:nvPr/>
        </p:nvSpPr>
        <p:spPr>
          <a:xfrm>
            <a:off x="742950" y="4800600"/>
            <a:ext cx="228600" cy="228600"/>
          </a:xfrm>
          <a:prstGeom prst="ellipse">
            <a:avLst/>
          </a:prstGeom>
          <a:solidFill>
            <a:srgbClr val="6D45DF"/>
          </a:solidFill>
        </p:spPr>
      </p:sp>
      <p:sp>
        <p:nvSpPr>
          <p:cNvPr id="18" name="persp-step-3">
            <a:extLst>
              <a:ext uri="{FF2B5EF4-FFF2-40B4-BE49-F238E27FC236}">
                <a16:creationId xmlns:a16="http://schemas.microsoft.com/office/drawing/2014/main" id="{1CBE02C1-E14E-4E71-910B-E7AF3B4AF685}"/>
              </a:ext>
            </a:extLst>
          </p:cNvPr>
          <p:cNvSpPr>
            <a:spLocks noGrp="1"/>
          </p:cNvSpPr>
          <p:nvPr/>
        </p:nvSpPr>
        <p:spPr>
          <a:xfrm>
            <a:off x="1190625" y="4686300"/>
            <a:ext cx="38100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Warp ke bidang board terstandar</a:t>
            </a:r>
          </a:p>
        </p:txBody>
      </p:sp>
      <p:sp>
        <p:nvSpPr>
          <p:cNvPr id="19" name="persp-right-title">
            <a:extLst>
              <a:ext uri="{FF2B5EF4-FFF2-40B4-BE49-F238E27FC236}">
                <a16:creationId xmlns:a16="http://schemas.microsoft.com/office/drawing/2014/main" id="{63748BCB-1492-4EBF-BD53-0DF2C82B7152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7625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Skala hasil warp</a:t>
            </a:r>
          </a:p>
        </p:txBody>
      </p:sp>
      <p:sp>
        <p:nvSpPr>
          <p:cNvPr id="20" name="persp-board">
            <a:extLst>
              <a:ext uri="{FF2B5EF4-FFF2-40B4-BE49-F238E27FC236}">
                <a16:creationId xmlns:a16="http://schemas.microsoft.com/office/drawing/2014/main" id="{7D2BF5A4-95D7-40EF-885F-FF9A25D539B1}"/>
              </a:ext>
            </a:extLst>
          </p:cNvPr>
          <p:cNvSpPr>
            <a:spLocks noGrp="1"/>
          </p:cNvSpPr>
          <p:nvPr/>
        </p:nvSpPr>
        <p:spPr>
          <a:xfrm>
            <a:off x="6191250" y="2333625"/>
            <a:ext cx="49530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Tinggi board nyata = 200 cm</a:t>
            </a:r>
          </a:p>
        </p:txBody>
      </p:sp>
      <p:sp>
        <p:nvSpPr>
          <p:cNvPr id="21" name="persp-pixel">
            <a:extLst>
              <a:ext uri="{FF2B5EF4-FFF2-40B4-BE49-F238E27FC236}">
                <a16:creationId xmlns:a16="http://schemas.microsoft.com/office/drawing/2014/main" id="{76DFD41E-0EF4-4927-92B4-76CFFEF36E16}"/>
              </a:ext>
            </a:extLst>
          </p:cNvPr>
          <p:cNvSpPr>
            <a:spLocks noGrp="1"/>
          </p:cNvSpPr>
          <p:nvPr/>
        </p:nvSpPr>
        <p:spPr>
          <a:xfrm>
            <a:off x="6191250" y="2905125"/>
            <a:ext cx="49530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Tinggi board hasil koreksi = 2322 px</a:t>
            </a:r>
          </a:p>
        </p:txBody>
      </p:sp>
      <p:cxnSp>
        <p:nvCxnSpPr>
          <p:cNvPr id="47" name="persp-rule"/>
          <p:cNvCxnSpPr/>
          <p:nvPr/>
        </p:nvCxnSpPr>
        <p:spPr>
          <a:xfrm>
            <a:off x="6191250" y="3571875"/>
            <a:ext cx="4857750" cy="9525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23" name="persp-formula">
            <a:extLst>
              <a:ext uri="{FF2B5EF4-FFF2-40B4-BE49-F238E27FC236}">
                <a16:creationId xmlns:a16="http://schemas.microsoft.com/office/drawing/2014/main" id="{0BBAF645-4330-4F20-BB69-F8E565CBC339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49530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cm/piksel = 200 / 2322</a:t>
            </a:r>
          </a:p>
        </p:txBody>
      </p:sp>
      <p:sp>
        <p:nvSpPr>
          <p:cNvPr id="24" name="persp-result">
            <a:extLst>
              <a:ext uri="{FF2B5EF4-FFF2-40B4-BE49-F238E27FC236}">
                <a16:creationId xmlns:a16="http://schemas.microsoft.com/office/drawing/2014/main" id="{99CEE8DF-CDCA-45F3-A6F5-DE4AEC7A15AF}"/>
              </a:ext>
            </a:extLst>
          </p:cNvPr>
          <p:cNvSpPr>
            <a:spLocks noGrp="1"/>
          </p:cNvSpPr>
          <p:nvPr/>
        </p:nvSpPr>
        <p:spPr>
          <a:xfrm>
            <a:off x="6191250" y="4524375"/>
            <a:ext cx="4953000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≈ 0,08613 cm/piksel</a:t>
            </a:r>
          </a:p>
        </p:txBody>
      </p:sp>
      <p:sp>
        <p:nvSpPr>
          <p:cNvPr id="25" name="persp-note">
            <a:extLst>
              <a:ext uri="{FF2B5EF4-FFF2-40B4-BE49-F238E27FC236}">
                <a16:creationId xmlns:a16="http://schemas.microsoft.com/office/drawing/2014/main" id="{C10CFDEE-C910-4D77-AAEC-7454F2FB1520}"/>
              </a:ext>
            </a:extLst>
          </p:cNvPr>
          <p:cNvSpPr>
            <a:spLocks noGrp="1"/>
          </p:cNvSpPr>
          <p:nvPr/>
        </p:nvSpPr>
        <p:spPr>
          <a:xfrm>
            <a:off x="6191250" y="5191125"/>
            <a:ext cx="4953000" cy="6191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Setelah bidang board dinormalisasi, selisih koordinat piksel dapat dibandingkan dengan ukuran nyata.</a:t>
            </a:r>
          </a:p>
        </p:txBody>
      </p:sp>
    </p:spTree>
    <p:extLst>
      <p:ext uri="{BB962C8B-B14F-4D97-AF65-F5344CB8AC3E}">
        <p14:creationId xmlns:p14="http://schemas.microsoft.com/office/powerpoint/2010/main" val="132681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ard-math-slide-background">
            <a:extLst>
              <a:ext uri="{FF2B5EF4-FFF2-40B4-BE49-F238E27FC236}">
                <a16:creationId xmlns:a16="http://schemas.microsoft.com/office/drawing/2014/main" id="{4660309B-83A1-48F1-AE4F-03BD66B1DB9A}"/>
              </a:ext>
            </a:extLst>
          </p:cNvPr>
          <p:cNvSpPr>
            <a:spLocks noGrp="1"/>
          </p:cNvSpPr>
          <p:nvPr/>
        </p:nvSpPr>
        <p:spPr>
          <a:xfrm>
            <a:off x="0" y="18288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7F5559B2-6EEE-4BFD-AA1E-CC48161BD391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Skala board dihitung dari koordinat hasil warp</a:t>
            </a:r>
          </a:p>
        </p:txBody>
      </p:sp>
      <p:cxnSp>
        <p:nvCxnSpPr>
          <p:cNvPr id="18" name="accent-10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0">
            <a:extLst>
              <a:ext uri="{FF2B5EF4-FFF2-40B4-BE49-F238E27FC236}">
                <a16:creationId xmlns:a16="http://schemas.microsoft.com/office/drawing/2014/main" id="{F813659F-380D-4804-9F37-5E59A83AAE8C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source-10">
            <a:extLst>
              <a:ext uri="{FF2B5EF4-FFF2-40B4-BE49-F238E27FC236}">
                <a16:creationId xmlns:a16="http://schemas.microsoft.com/office/drawing/2014/main" id="{A8883C65-E07C-4E02-B2BC-E91CEE207A3B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konstanta dan perhitungan Intent pada PerspectiveCorrectionActivity.java</a:t>
            </a:r>
          </a:p>
        </p:txBody>
      </p:sp>
      <p:sp>
        <p:nvSpPr>
          <p:cNvPr id="6" name="board-top">
            <a:extLst>
              <a:ext uri="{FF2B5EF4-FFF2-40B4-BE49-F238E27FC236}">
                <a16:creationId xmlns:a16="http://schemas.microsoft.com/office/drawing/2014/main" id="{2EE49E5A-563A-4B38-A5AC-CB1FBB6FD584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24765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boardTopY</a:t>
            </a:r>
          </a:p>
        </p:txBody>
      </p:sp>
      <p:sp>
        <p:nvSpPr>
          <p:cNvPr id="7" name="board-top-calc">
            <a:extLst>
              <a:ext uri="{FF2B5EF4-FFF2-40B4-BE49-F238E27FC236}">
                <a16:creationId xmlns:a16="http://schemas.microsoft.com/office/drawing/2014/main" id="{7039B763-727B-426B-AFFE-35C4F1B5D38D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3238500" cy="4191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dirty="0"/>
              <a:t>0,35 × 120 = 42 </a:t>
            </a:r>
            <a:r>
              <a:rPr dirty="0" err="1"/>
              <a:t>px</a:t>
            </a:r>
            <a:endParaRPr dirty="0"/>
          </a:p>
        </p:txBody>
      </p:sp>
      <p:sp>
        <p:nvSpPr>
          <p:cNvPr id="8" name="board-bottom">
            <a:extLst>
              <a:ext uri="{FF2B5EF4-FFF2-40B4-BE49-F238E27FC236}">
                <a16:creationId xmlns:a16="http://schemas.microsoft.com/office/drawing/2014/main" id="{3DDF3EAF-CB0F-438E-9252-D6F8A726BCA4}"/>
              </a:ext>
            </a:extLst>
          </p:cNvPr>
          <p:cNvSpPr>
            <a:spLocks noGrp="1"/>
          </p:cNvSpPr>
          <p:nvPr/>
        </p:nvSpPr>
        <p:spPr>
          <a:xfrm>
            <a:off x="4476750" y="1666875"/>
            <a:ext cx="28575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boardBottomY</a:t>
            </a:r>
          </a:p>
        </p:txBody>
      </p:sp>
      <p:sp>
        <p:nvSpPr>
          <p:cNvPr id="9" name="board-bottom-calc">
            <a:extLst>
              <a:ext uri="{FF2B5EF4-FFF2-40B4-BE49-F238E27FC236}">
                <a16:creationId xmlns:a16="http://schemas.microsoft.com/office/drawing/2014/main" id="{BA778C07-14C2-4DA9-9BF8-66E9648147A7}"/>
              </a:ext>
            </a:extLst>
          </p:cNvPr>
          <p:cNvSpPr>
            <a:spLocks noGrp="1"/>
          </p:cNvSpPr>
          <p:nvPr/>
        </p:nvSpPr>
        <p:spPr>
          <a:xfrm>
            <a:off x="4476750" y="2143125"/>
            <a:ext cx="3905250" cy="762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rPr dirty="0"/>
              <a:t>(0,35 + 11,35 + 8) × 120
= 2364 </a:t>
            </a:r>
            <a:r>
              <a:rPr dirty="0" err="1"/>
              <a:t>px</a:t>
            </a:r>
            <a:endParaRPr dirty="0"/>
          </a:p>
        </p:txBody>
      </p:sp>
      <p:sp>
        <p:nvSpPr>
          <p:cNvPr id="10" name="board-height">
            <a:extLst>
              <a:ext uri="{FF2B5EF4-FFF2-40B4-BE49-F238E27FC236}">
                <a16:creationId xmlns:a16="http://schemas.microsoft.com/office/drawing/2014/main" id="{40D85098-CD0C-4663-AB36-7DCBFBEF6BB4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27622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boardPixelHeight</a:t>
            </a:r>
          </a:p>
        </p:txBody>
      </p:sp>
      <p:sp>
        <p:nvSpPr>
          <p:cNvPr id="11" name="board-height-calc">
            <a:extLst>
              <a:ext uri="{FF2B5EF4-FFF2-40B4-BE49-F238E27FC236}">
                <a16:creationId xmlns:a16="http://schemas.microsoft.com/office/drawing/2014/main" id="{BBAE0BB2-0146-4FB3-8162-EA2359F40EB3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2381250" cy="762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dirty="0"/>
              <a:t>2364 − 42
= 2322 </a:t>
            </a:r>
            <a:r>
              <a:rPr dirty="0" err="1"/>
              <a:t>px</a:t>
            </a:r>
            <a:endParaRPr dirty="0"/>
          </a:p>
        </p:txBody>
      </p:sp>
      <p:sp>
        <p:nvSpPr>
          <p:cNvPr id="12" name="scale-result">
            <a:extLst>
              <a:ext uri="{FF2B5EF4-FFF2-40B4-BE49-F238E27FC236}">
                <a16:creationId xmlns:a16="http://schemas.microsoft.com/office/drawing/2014/main" id="{EDBF726C-9358-439E-A220-EE1781658B54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10572750" cy="1095375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3" name="scale-result-formula">
            <a:extLst>
              <a:ext uri="{FF2B5EF4-FFF2-40B4-BE49-F238E27FC236}">
                <a16:creationId xmlns:a16="http://schemas.microsoft.com/office/drawing/2014/main" id="{9988781F-4FE8-4F0F-8965-EC3353705338}"/>
              </a:ext>
            </a:extLst>
          </p:cNvPr>
          <p:cNvSpPr>
            <a:spLocks noGrp="1"/>
          </p:cNvSpPr>
          <p:nvPr/>
        </p:nvSpPr>
        <p:spPr>
          <a:xfrm>
            <a:off x="952500" y="3762375"/>
            <a:ext cx="10001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cmPerPixel = 200 cm / 2322 px = 0,08613 cm/px</a:t>
            </a:r>
          </a:p>
        </p:txBody>
      </p:sp>
      <p:sp>
        <p:nvSpPr>
          <p:cNvPr id="14" name="output-dim">
            <a:extLst>
              <a:ext uri="{FF2B5EF4-FFF2-40B4-BE49-F238E27FC236}">
                <a16:creationId xmlns:a16="http://schemas.microsoft.com/office/drawing/2014/main" id="{F9285A5D-748B-418B-9D39-EC59B722746D}"/>
              </a:ext>
            </a:extLst>
          </p:cNvPr>
          <p:cNvSpPr>
            <a:spLocks noGrp="1"/>
          </p:cNvSpPr>
          <p:nvPr/>
        </p:nvSpPr>
        <p:spPr>
          <a:xfrm>
            <a:off x="1095375" y="5048250"/>
            <a:ext cx="1000125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Bidang keluaran: lebar 11 × 120 = 1320 px; tinggi (0,35 + 11,35 + 8 + 5,60) × 120 = 3036 px.</a:t>
            </a:r>
          </a:p>
        </p:txBody>
      </p:sp>
      <p:sp>
        <p:nvSpPr>
          <p:cNvPr id="15" name="output-note">
            <a:extLst>
              <a:ext uri="{FF2B5EF4-FFF2-40B4-BE49-F238E27FC236}">
                <a16:creationId xmlns:a16="http://schemas.microsoft.com/office/drawing/2014/main" id="{51CE4664-EB0C-4F5F-9EA7-23FECEF93313}"/>
              </a:ext>
            </a:extLst>
          </p:cNvPr>
          <p:cNvSpPr>
            <a:spLocks noGrp="1"/>
          </p:cNvSpPr>
          <p:nvPr/>
        </p:nvSpPr>
        <p:spPr>
          <a:xfrm>
            <a:off x="1905000" y="5715000"/>
            <a:ext cx="83820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Tambahan 5,60 sel memperluas kanvas bawah; tidak masuk ke tinggi board 2322 px.</a:t>
            </a:r>
          </a:p>
        </p:txBody>
      </p:sp>
    </p:spTree>
    <p:extLst>
      <p:ext uri="{BB962C8B-B14F-4D97-AF65-F5344CB8AC3E}">
        <p14:creationId xmlns:p14="http://schemas.microsoft.com/office/powerpoint/2010/main" val="791638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xif-slide-background">
            <a:extLst>
              <a:ext uri="{FF2B5EF4-FFF2-40B4-BE49-F238E27FC236}">
                <a16:creationId xmlns:a16="http://schemas.microsoft.com/office/drawing/2014/main" id="{DED78A6E-E64A-4A2A-95D3-C90F07229E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80A3EA8F-700E-4CB5-86B0-3B143ACA98D0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EXIF hanya menormalkan orientasi</a:t>
            </a:r>
          </a:p>
        </p:txBody>
      </p:sp>
      <p:cxnSp>
        <p:nvCxnSpPr>
          <p:cNvPr id="20" name="accent-11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1">
            <a:extLst>
              <a:ext uri="{FF2B5EF4-FFF2-40B4-BE49-F238E27FC236}">
                <a16:creationId xmlns:a16="http://schemas.microsoft.com/office/drawing/2014/main" id="{524699AE-6169-48B1-91DF-04C526EE25D9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source-11">
            <a:extLst>
              <a:ext uri="{FF2B5EF4-FFF2-40B4-BE49-F238E27FC236}">
                <a16:creationId xmlns:a16="http://schemas.microsoft.com/office/drawing/2014/main" id="{CFB1BD14-339C-48B6-8358-054AB16C0E89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rotateBitmapIfRequired() pada tiga activity</a:t>
            </a:r>
          </a:p>
        </p:txBody>
      </p:sp>
      <p:sp>
        <p:nvSpPr>
          <p:cNvPr id="6" name="exif-lead">
            <a:extLst>
              <a:ext uri="{FF2B5EF4-FFF2-40B4-BE49-F238E27FC236}">
                <a16:creationId xmlns:a16="http://schemas.microsoft.com/office/drawing/2014/main" id="{AF5782DF-07B9-49B2-BF26-410818CB44EF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0668000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BitmapFactory membaca piksel; EXIF TAG_ORIENTATION memberi instruksi apakah bitmap perlu diputar 90°, 180°, atau 270°.</a:t>
            </a:r>
          </a:p>
        </p:txBody>
      </p:sp>
      <p:sp>
        <p:nvSpPr>
          <p:cNvPr id="7" name="exif-raw">
            <a:extLst>
              <a:ext uri="{FF2B5EF4-FFF2-40B4-BE49-F238E27FC236}">
                <a16:creationId xmlns:a16="http://schemas.microsoft.com/office/drawing/2014/main" id="{308F0A80-34B0-4C90-90F1-3E96DE952DD1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3143250" cy="23812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8" name="exif-raw-body">
            <a:extLst>
              <a:ext uri="{FF2B5EF4-FFF2-40B4-BE49-F238E27FC236}">
                <a16:creationId xmlns:a16="http://schemas.microsoft.com/office/drawing/2014/main" id="{A2B40AB2-8A5F-420A-88E5-A6F8CA562ED4}"/>
              </a:ext>
            </a:extLst>
          </p:cNvPr>
          <p:cNvSpPr>
            <a:spLocks noGrp="1"/>
          </p:cNvSpPr>
          <p:nvPr/>
        </p:nvSpPr>
        <p:spPr>
          <a:xfrm>
            <a:off x="1190625" y="3190875"/>
            <a:ext cx="2286000" cy="571500"/>
          </a:xfrm>
          <a:prstGeom prst="roundRect">
            <a:avLst>
              <a:gd name="adj" fmla="val 13333"/>
            </a:avLst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9" name="exif-raw-head">
            <a:extLst>
              <a:ext uri="{FF2B5EF4-FFF2-40B4-BE49-F238E27FC236}">
                <a16:creationId xmlns:a16="http://schemas.microsoft.com/office/drawing/2014/main" id="{25356452-4E18-4A66-A80C-8E5C61AC6BF7}"/>
              </a:ext>
            </a:extLst>
          </p:cNvPr>
          <p:cNvSpPr>
            <a:spLocks noGrp="1"/>
          </p:cNvSpPr>
          <p:nvPr/>
        </p:nvSpPr>
        <p:spPr>
          <a:xfrm>
            <a:off x="2905125" y="3067050"/>
            <a:ext cx="457200" cy="457200"/>
          </a:xfrm>
          <a:prstGeom prst="ellipse">
            <a:avLst/>
          </a:prstGeom>
          <a:solidFill>
            <a:srgbClr val="6D45DF"/>
          </a:solidFill>
        </p:spPr>
      </p:sp>
      <p:sp>
        <p:nvSpPr>
          <p:cNvPr id="10" name="exif-raw-label">
            <a:extLst>
              <a:ext uri="{FF2B5EF4-FFF2-40B4-BE49-F238E27FC236}">
                <a16:creationId xmlns:a16="http://schemas.microsoft.com/office/drawing/2014/main" id="{5BCDA8FE-4C81-4DE6-84EA-61884D103305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3143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Piksel mentah menyamping</a:t>
            </a:r>
          </a:p>
        </p:txBody>
      </p:sp>
      <p:cxnSp>
        <p:nvCxnSpPr>
          <p:cNvPr id="28" name="exif-arrow"/>
          <p:cNvCxnSpPr/>
          <p:nvPr/>
        </p:nvCxnSpPr>
        <p:spPr>
          <a:xfrm>
            <a:off x="4524375" y="3571875"/>
            <a:ext cx="285750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12" name="exif-meta">
            <a:extLst>
              <a:ext uri="{FF2B5EF4-FFF2-40B4-BE49-F238E27FC236}">
                <a16:creationId xmlns:a16="http://schemas.microsoft.com/office/drawing/2014/main" id="{D842B34F-1ABC-45F9-9EDD-C9260D22A667}"/>
              </a:ext>
            </a:extLst>
          </p:cNvPr>
          <p:cNvSpPr>
            <a:spLocks noGrp="1"/>
          </p:cNvSpPr>
          <p:nvPr/>
        </p:nvSpPr>
        <p:spPr>
          <a:xfrm>
            <a:off x="4667250" y="3048000"/>
            <a:ext cx="257175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EXIF: Rotate 90°</a:t>
            </a:r>
          </a:p>
        </p:txBody>
      </p:sp>
      <p:sp>
        <p:nvSpPr>
          <p:cNvPr id="13" name="exif-normal">
            <a:extLst>
              <a:ext uri="{FF2B5EF4-FFF2-40B4-BE49-F238E27FC236}">
                <a16:creationId xmlns:a16="http://schemas.microsoft.com/office/drawing/2014/main" id="{9B348AF7-B6AC-4F61-AA1B-47BCA8E75BBC}"/>
              </a:ext>
            </a:extLst>
          </p:cNvPr>
          <p:cNvSpPr>
            <a:spLocks noGrp="1"/>
          </p:cNvSpPr>
          <p:nvPr/>
        </p:nvSpPr>
        <p:spPr>
          <a:xfrm>
            <a:off x="8001000" y="2143125"/>
            <a:ext cx="2476500" cy="3143250"/>
          </a:xfrm>
          <a:prstGeom prst="rect">
            <a:avLst/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14" name="exif-head">
            <a:extLst>
              <a:ext uri="{FF2B5EF4-FFF2-40B4-BE49-F238E27FC236}">
                <a16:creationId xmlns:a16="http://schemas.microsoft.com/office/drawing/2014/main" id="{ABADB737-D365-421B-B0EC-33D1630A6CE6}"/>
              </a:ext>
            </a:extLst>
          </p:cNvPr>
          <p:cNvSpPr>
            <a:spLocks noGrp="1"/>
          </p:cNvSpPr>
          <p:nvPr/>
        </p:nvSpPr>
        <p:spPr>
          <a:xfrm>
            <a:off x="8896350" y="2571750"/>
            <a:ext cx="666750" cy="666750"/>
          </a:xfrm>
          <a:prstGeom prst="ellipse">
            <a:avLst/>
          </a:prstGeom>
          <a:solidFill>
            <a:srgbClr val="6D45DF"/>
          </a:solidFill>
        </p:spPr>
      </p:sp>
      <p:sp>
        <p:nvSpPr>
          <p:cNvPr id="15" name="exif-body">
            <a:extLst>
              <a:ext uri="{FF2B5EF4-FFF2-40B4-BE49-F238E27FC236}">
                <a16:creationId xmlns:a16="http://schemas.microsoft.com/office/drawing/2014/main" id="{ECD91B12-5FBA-4F4B-8551-C664F9AA328D}"/>
              </a:ext>
            </a:extLst>
          </p:cNvPr>
          <p:cNvSpPr>
            <a:spLocks noGrp="1"/>
          </p:cNvSpPr>
          <p:nvPr/>
        </p:nvSpPr>
        <p:spPr>
          <a:xfrm>
            <a:off x="9048750" y="3333750"/>
            <a:ext cx="381000" cy="1285875"/>
          </a:xfrm>
          <a:prstGeom prst="roundRect">
            <a:avLst>
              <a:gd name="adj" fmla="val 20000"/>
            </a:avLst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16" name="exif-normal-label">
            <a:extLst>
              <a:ext uri="{FF2B5EF4-FFF2-40B4-BE49-F238E27FC236}">
                <a16:creationId xmlns:a16="http://schemas.microsoft.com/office/drawing/2014/main" id="{C50B209A-15BD-42CC-A226-458BBE39E9E4}"/>
              </a:ext>
            </a:extLst>
          </p:cNvPr>
          <p:cNvSpPr>
            <a:spLocks noGrp="1"/>
          </p:cNvSpPr>
          <p:nvPr/>
        </p:nvSpPr>
        <p:spPr>
          <a:xfrm>
            <a:off x="7667625" y="5524500"/>
            <a:ext cx="3143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Bitmap tegak</a:t>
            </a:r>
          </a:p>
        </p:txBody>
      </p:sp>
      <p:sp>
        <p:nvSpPr>
          <p:cNvPr id="17" name="exif-bottom">
            <a:extLst>
              <a:ext uri="{FF2B5EF4-FFF2-40B4-BE49-F238E27FC236}">
                <a16:creationId xmlns:a16="http://schemas.microsoft.com/office/drawing/2014/main" id="{1F05F74C-33F3-4364-9AA8-696D1DB649E9}"/>
              </a:ext>
            </a:extLst>
          </p:cNvPr>
          <p:cNvSpPr>
            <a:spLocks noGrp="1"/>
          </p:cNvSpPr>
          <p:nvPr/>
        </p:nvSpPr>
        <p:spPr>
          <a:xfrm>
            <a:off x="1714500" y="5953125"/>
            <a:ext cx="8763000" cy="419100"/>
          </a:xfrm>
          <a:prstGeom prst="rect">
            <a:avLst/>
          </a:prstGeom>
        </p:spPr>
        <p:txBody>
          <a:bodyPr lIns="0" tIns="0" rIns="0" bIns="0" anchor="t">
            <a:normAutofit fontScale="96491" lnSpcReduction="10000"/>
          </a:bodyPr>
          <a:lstStyle/>
          <a:p>
            <a:pPr algn="ctr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Jika metadata hilang setelah foto diedit, aplikasi menganggap orientasi NORMAL; karena itu subjek tetap harus terlihat tegak.</a:t>
            </a:r>
          </a:p>
        </p:txBody>
      </p:sp>
    </p:spTree>
    <p:extLst>
      <p:ext uri="{BB962C8B-B14F-4D97-AF65-F5344CB8AC3E}">
        <p14:creationId xmlns:p14="http://schemas.microsoft.com/office/powerpoint/2010/main" val="1640936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pipe-slide-background">
            <a:extLst>
              <a:ext uri="{FF2B5EF4-FFF2-40B4-BE49-F238E27FC236}">
                <a16:creationId xmlns:a16="http://schemas.microsoft.com/office/drawing/2014/main" id="{A8E24549-54CA-4C08-A08A-ED2464E623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D9B63FD8-61AA-4006-B075-CC035271518E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MediaPipe yang dipakai aplikasi</a:t>
            </a:r>
          </a:p>
        </p:txBody>
      </p:sp>
      <p:cxnSp>
        <p:nvCxnSpPr>
          <p:cNvPr id="26" name="accent-12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2">
            <a:extLst>
              <a:ext uri="{FF2B5EF4-FFF2-40B4-BE49-F238E27FC236}">
                <a16:creationId xmlns:a16="http://schemas.microsoft.com/office/drawing/2014/main" id="{6FB20E66-FA70-4B54-B3E1-B8D582AAE9D0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source-12">
            <a:extLst>
              <a:ext uri="{FF2B5EF4-FFF2-40B4-BE49-F238E27FC236}">
                <a16:creationId xmlns:a16="http://schemas.microsoft.com/office/drawing/2014/main" id="{82FAE435-8054-4BD5-AE4C-067C257FBAA3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MediaPipeActivity.java dan MeasurementActivity.java</a:t>
            </a:r>
          </a:p>
        </p:txBody>
      </p:sp>
      <p:sp>
        <p:nvSpPr>
          <p:cNvPr id="6" name="mp-lead">
            <a:extLst>
              <a:ext uri="{FF2B5EF4-FFF2-40B4-BE49-F238E27FC236}">
                <a16:creationId xmlns:a16="http://schemas.microsoft.com/office/drawing/2014/main" id="{B7920273-2237-4AE5-B234-D4E82F56FC2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06680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Koordinat ternormalisasi dikonversi menjadi piksel: xpx = x × lebar gambar, ypx = y × tinggi gambar.</a:t>
            </a:r>
          </a:p>
        </p:txBody>
      </p:sp>
      <p:sp>
        <p:nvSpPr>
          <p:cNvPr id="7" name="mp-panel-0">
            <a:extLst>
              <a:ext uri="{FF2B5EF4-FFF2-40B4-BE49-F238E27FC236}">
                <a16:creationId xmlns:a16="http://schemas.microsoft.com/office/drawing/2014/main" id="{912FB59F-06D0-49ED-A422-248A8E8B2F18}"/>
              </a:ext>
            </a:extLst>
          </p:cNvPr>
          <p:cNvSpPr>
            <a:spLocks noGrp="1"/>
          </p:cNvSpPr>
          <p:nvPr/>
        </p:nvSpPr>
        <p:spPr>
          <a:xfrm>
            <a:off x="400050" y="2286000"/>
            <a:ext cx="2476500" cy="28575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8" name="mp-top-0">
            <a:extLst>
              <a:ext uri="{FF2B5EF4-FFF2-40B4-BE49-F238E27FC236}">
                <a16:creationId xmlns:a16="http://schemas.microsoft.com/office/drawing/2014/main" id="{E425542B-8542-4397-93DC-F40420022DE3}"/>
              </a:ext>
            </a:extLst>
          </p:cNvPr>
          <p:cNvSpPr>
            <a:spLocks noGrp="1"/>
          </p:cNvSpPr>
          <p:nvPr/>
        </p:nvSpPr>
        <p:spPr>
          <a:xfrm>
            <a:off x="400050" y="2286000"/>
            <a:ext cx="2476500" cy="95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mp-title-0">
            <a:extLst>
              <a:ext uri="{FF2B5EF4-FFF2-40B4-BE49-F238E27FC236}">
                <a16:creationId xmlns:a16="http://schemas.microsoft.com/office/drawing/2014/main" id="{CAD9ACEB-A8C4-4C48-AD69-1D7277B0F232}"/>
              </a:ext>
            </a:extLst>
          </p:cNvPr>
          <p:cNvSpPr>
            <a:spLocks noGrp="1"/>
          </p:cNvSpPr>
          <p:nvPr/>
        </p:nvSpPr>
        <p:spPr>
          <a:xfrm>
            <a:off x="590550" y="2619375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Wajah</a:t>
            </a:r>
          </a:p>
        </p:txBody>
      </p:sp>
      <p:sp>
        <p:nvSpPr>
          <p:cNvPr id="10" name="mp-body-0">
            <a:extLst>
              <a:ext uri="{FF2B5EF4-FFF2-40B4-BE49-F238E27FC236}">
                <a16:creationId xmlns:a16="http://schemas.microsoft.com/office/drawing/2014/main" id="{F97B2126-73F1-4450-AD0B-D86D6078753A}"/>
              </a:ext>
            </a:extLst>
          </p:cNvPr>
          <p:cNvSpPr>
            <a:spLocks noGrp="1"/>
          </p:cNvSpPr>
          <p:nvPr/>
        </p:nvSpPr>
        <p:spPr>
          <a:xfrm>
            <a:off x="590550" y="3190875"/>
            <a:ext cx="2095500" cy="1476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 hidung
1/4 mata dalam
2/5 mata
7/8 telinga</a:t>
            </a:r>
          </a:p>
        </p:txBody>
      </p:sp>
      <p:sp>
        <p:nvSpPr>
          <p:cNvPr id="11" name="mp-panel-1">
            <a:extLst>
              <a:ext uri="{FF2B5EF4-FFF2-40B4-BE49-F238E27FC236}">
                <a16:creationId xmlns:a16="http://schemas.microsoft.com/office/drawing/2014/main" id="{77F97D34-E002-43B7-BFA6-4559221BE796}"/>
              </a:ext>
            </a:extLst>
          </p:cNvPr>
          <p:cNvSpPr>
            <a:spLocks noGrp="1"/>
          </p:cNvSpPr>
          <p:nvPr/>
        </p:nvSpPr>
        <p:spPr>
          <a:xfrm>
            <a:off x="3238500" y="2286000"/>
            <a:ext cx="2476500" cy="28575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2" name="mp-top-1">
            <a:extLst>
              <a:ext uri="{FF2B5EF4-FFF2-40B4-BE49-F238E27FC236}">
                <a16:creationId xmlns:a16="http://schemas.microsoft.com/office/drawing/2014/main" id="{4C38063E-4FBA-4407-9D59-40FF27B4017C}"/>
              </a:ext>
            </a:extLst>
          </p:cNvPr>
          <p:cNvSpPr>
            <a:spLocks noGrp="1"/>
          </p:cNvSpPr>
          <p:nvPr/>
        </p:nvSpPr>
        <p:spPr>
          <a:xfrm>
            <a:off x="3238500" y="2286000"/>
            <a:ext cx="2476500" cy="952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3" name="mp-title-1">
            <a:extLst>
              <a:ext uri="{FF2B5EF4-FFF2-40B4-BE49-F238E27FC236}">
                <a16:creationId xmlns:a16="http://schemas.microsoft.com/office/drawing/2014/main" id="{359E92AB-D37D-45FF-A807-9ADDFB11DADC}"/>
              </a:ext>
            </a:extLst>
          </p:cNvPr>
          <p:cNvSpPr>
            <a:spLocks noGrp="1"/>
          </p:cNvSpPr>
          <p:nvPr/>
        </p:nvSpPr>
        <p:spPr>
          <a:xfrm>
            <a:off x="3429000" y="2619375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Bahu</a:t>
            </a:r>
          </a:p>
        </p:txBody>
      </p:sp>
      <p:sp>
        <p:nvSpPr>
          <p:cNvPr id="14" name="mp-body-1">
            <a:extLst>
              <a:ext uri="{FF2B5EF4-FFF2-40B4-BE49-F238E27FC236}">
                <a16:creationId xmlns:a16="http://schemas.microsoft.com/office/drawing/2014/main" id="{48395097-3D71-4AF3-A866-A17032129B19}"/>
              </a:ext>
            </a:extLst>
          </p:cNvPr>
          <p:cNvSpPr>
            <a:spLocks noGrp="1"/>
          </p:cNvSpPr>
          <p:nvPr/>
        </p:nvSpPr>
        <p:spPr>
          <a:xfrm>
            <a:off x="3429000" y="3190875"/>
            <a:ext cx="2095500" cy="1476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11 bahu kiri
12 bahu kanan
→ shoulderMid</a:t>
            </a:r>
          </a:p>
        </p:txBody>
      </p:sp>
      <p:sp>
        <p:nvSpPr>
          <p:cNvPr id="15" name="mp-panel-2">
            <a:extLst>
              <a:ext uri="{FF2B5EF4-FFF2-40B4-BE49-F238E27FC236}">
                <a16:creationId xmlns:a16="http://schemas.microsoft.com/office/drawing/2014/main" id="{6912C62E-1676-4F93-91A6-CCF3B3D020C1}"/>
              </a:ext>
            </a:extLst>
          </p:cNvPr>
          <p:cNvSpPr>
            <a:spLocks noGrp="1"/>
          </p:cNvSpPr>
          <p:nvPr/>
        </p:nvSpPr>
        <p:spPr>
          <a:xfrm>
            <a:off x="6076950" y="2286000"/>
            <a:ext cx="2476500" cy="28575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6" name="mp-top-2">
            <a:extLst>
              <a:ext uri="{FF2B5EF4-FFF2-40B4-BE49-F238E27FC236}">
                <a16:creationId xmlns:a16="http://schemas.microsoft.com/office/drawing/2014/main" id="{AB508B79-9E5D-4DED-B1EC-B41930B423A7}"/>
              </a:ext>
            </a:extLst>
          </p:cNvPr>
          <p:cNvSpPr>
            <a:spLocks noGrp="1"/>
          </p:cNvSpPr>
          <p:nvPr/>
        </p:nvSpPr>
        <p:spPr>
          <a:xfrm>
            <a:off x="6076950" y="2286000"/>
            <a:ext cx="2476500" cy="95250"/>
          </a:xfrm>
          <a:prstGeom prst="rect">
            <a:avLst/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17" name="mp-title-2">
            <a:extLst>
              <a:ext uri="{FF2B5EF4-FFF2-40B4-BE49-F238E27FC236}">
                <a16:creationId xmlns:a16="http://schemas.microsoft.com/office/drawing/2014/main" id="{C5C4DC46-7037-446A-AA3A-E37BFCF656D9}"/>
              </a:ext>
            </a:extLst>
          </p:cNvPr>
          <p:cNvSpPr>
            <a:spLocks noGrp="1"/>
          </p:cNvSpPr>
          <p:nvPr/>
        </p:nvSpPr>
        <p:spPr>
          <a:xfrm>
            <a:off x="6267450" y="2619375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Rangka kaki</a:t>
            </a:r>
          </a:p>
        </p:txBody>
      </p:sp>
      <p:sp>
        <p:nvSpPr>
          <p:cNvPr id="18" name="mp-body-2">
            <a:extLst>
              <a:ext uri="{FF2B5EF4-FFF2-40B4-BE49-F238E27FC236}">
                <a16:creationId xmlns:a16="http://schemas.microsoft.com/office/drawing/2014/main" id="{DF2FFC2A-6AD3-4D37-9866-AAD3C3FEC5FE}"/>
              </a:ext>
            </a:extLst>
          </p:cNvPr>
          <p:cNvSpPr>
            <a:spLocks noGrp="1"/>
          </p:cNvSpPr>
          <p:nvPr/>
        </p:nvSpPr>
        <p:spPr>
          <a:xfrm>
            <a:off x="6267450" y="3190875"/>
            <a:ext cx="2095500" cy="1476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23/24 pinggul
25/26 lutut
27/28 ankle</a:t>
            </a:r>
          </a:p>
        </p:txBody>
      </p:sp>
      <p:sp>
        <p:nvSpPr>
          <p:cNvPr id="19" name="mp-panel-3">
            <a:extLst>
              <a:ext uri="{FF2B5EF4-FFF2-40B4-BE49-F238E27FC236}">
                <a16:creationId xmlns:a16="http://schemas.microsoft.com/office/drawing/2014/main" id="{3080C6D6-DFC8-483A-90A1-789EE43FDB6D}"/>
              </a:ext>
            </a:extLst>
          </p:cNvPr>
          <p:cNvSpPr>
            <a:spLocks noGrp="1"/>
          </p:cNvSpPr>
          <p:nvPr/>
        </p:nvSpPr>
        <p:spPr>
          <a:xfrm>
            <a:off x="8915400" y="2286000"/>
            <a:ext cx="2476500" cy="28575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0" name="mp-top-3">
            <a:extLst>
              <a:ext uri="{FF2B5EF4-FFF2-40B4-BE49-F238E27FC236}">
                <a16:creationId xmlns:a16="http://schemas.microsoft.com/office/drawing/2014/main" id="{590288A2-9909-4700-A6A8-B3B87101420A}"/>
              </a:ext>
            </a:extLst>
          </p:cNvPr>
          <p:cNvSpPr>
            <a:spLocks noGrp="1"/>
          </p:cNvSpPr>
          <p:nvPr/>
        </p:nvSpPr>
        <p:spPr>
          <a:xfrm>
            <a:off x="8915400" y="2286000"/>
            <a:ext cx="2476500" cy="952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21" name="mp-title-3">
            <a:extLst>
              <a:ext uri="{FF2B5EF4-FFF2-40B4-BE49-F238E27FC236}">
                <a16:creationId xmlns:a16="http://schemas.microsoft.com/office/drawing/2014/main" id="{F356ACC1-9FA0-401A-88D5-64F4D6575892}"/>
              </a:ext>
            </a:extLst>
          </p:cNvPr>
          <p:cNvSpPr>
            <a:spLocks noGrp="1"/>
          </p:cNvSpPr>
          <p:nvPr/>
        </p:nvSpPr>
        <p:spPr>
          <a:xfrm>
            <a:off x="9105900" y="2619375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Kontak kaki</a:t>
            </a:r>
          </a:p>
        </p:txBody>
      </p:sp>
      <p:sp>
        <p:nvSpPr>
          <p:cNvPr id="22" name="mp-body-3">
            <a:extLst>
              <a:ext uri="{FF2B5EF4-FFF2-40B4-BE49-F238E27FC236}">
                <a16:creationId xmlns:a16="http://schemas.microsoft.com/office/drawing/2014/main" id="{BC123892-02C6-43D6-B573-529AF49EC538}"/>
              </a:ext>
            </a:extLst>
          </p:cNvPr>
          <p:cNvSpPr>
            <a:spLocks noGrp="1"/>
          </p:cNvSpPr>
          <p:nvPr/>
        </p:nvSpPr>
        <p:spPr>
          <a:xfrm>
            <a:off x="9105900" y="3190875"/>
            <a:ext cx="2095500" cy="1476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29/30 tumit
31/32 ujung kaki
→ footBottom</a:t>
            </a:r>
          </a:p>
        </p:txBody>
      </p:sp>
      <p:sp>
        <p:nvSpPr>
          <p:cNvPr id="23" name="mp-note">
            <a:extLst>
              <a:ext uri="{FF2B5EF4-FFF2-40B4-BE49-F238E27FC236}">
                <a16:creationId xmlns:a16="http://schemas.microsoft.com/office/drawing/2014/main" id="{B62B08DD-26F6-4CB3-AADB-C5A377A8DFF7}"/>
              </a:ext>
            </a:extLst>
          </p:cNvPr>
          <p:cNvSpPr>
            <a:spLocks noGrp="1"/>
          </p:cNvSpPr>
          <p:nvPr/>
        </p:nvSpPr>
        <p:spPr>
          <a:xfrm>
            <a:off x="2095500" y="5572125"/>
            <a:ext cx="8001000" cy="419100"/>
          </a:xfrm>
          <a:prstGeom prst="rect">
            <a:avLst/>
          </a:prstGeom>
        </p:spPr>
        <p:txBody>
          <a:bodyPr lIns="0" tIns="0" rIns="0" bIns="0" anchor="t">
            <a:normAutofit fontScale="92461" lnSpcReduction="10000"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dipakai untuk geometri tubuh; kontur OpenCV hanya menjadi informasi pendukung.</a:t>
            </a:r>
          </a:p>
        </p:txBody>
      </p:sp>
    </p:spTree>
    <p:extLst>
      <p:ext uri="{BB962C8B-B14F-4D97-AF65-F5344CB8AC3E}">
        <p14:creationId xmlns:p14="http://schemas.microsoft.com/office/powerpoint/2010/main" val="1835504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-foot-slide-background">
            <a:extLst>
              <a:ext uri="{FF2B5EF4-FFF2-40B4-BE49-F238E27FC236}">
                <a16:creationId xmlns:a16="http://schemas.microsoft.com/office/drawing/2014/main" id="{09CC347A-3B27-4A02-968F-38DEBAE976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3">
            <a:extLst>
              <a:ext uri="{FF2B5EF4-FFF2-40B4-BE49-F238E27FC236}">
                <a16:creationId xmlns:a16="http://schemas.microsoft.com/office/drawing/2014/main" id="{A2C26A94-1EC3-4921-A554-5895B5B51544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 fontScale="89182" lnSpcReduction="20000"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Puncak kepala dan kaki terbawah membentuk tinggi vertikal</a:t>
            </a:r>
          </a:p>
        </p:txBody>
      </p:sp>
      <p:cxnSp>
        <p:nvCxnSpPr>
          <p:cNvPr id="21" name="accent-13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3">
            <a:extLst>
              <a:ext uri="{FF2B5EF4-FFF2-40B4-BE49-F238E27FC236}">
                <a16:creationId xmlns:a16="http://schemas.microsoft.com/office/drawing/2014/main" id="{B7A87600-2D3B-4B70-948C-4E421C989C11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5" name="source-13">
            <a:extLst>
              <a:ext uri="{FF2B5EF4-FFF2-40B4-BE49-F238E27FC236}">
                <a16:creationId xmlns:a16="http://schemas.microsoft.com/office/drawing/2014/main" id="{86DBF940-8B50-4946-97E5-220823D3473F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estimateAnatomicalHeadTop() dan getFootBottomPoint()</a:t>
            </a:r>
          </a:p>
        </p:txBody>
      </p:sp>
      <p:sp>
        <p:nvSpPr>
          <p:cNvPr id="6" name="head-panel">
            <a:extLst>
              <a:ext uri="{FF2B5EF4-FFF2-40B4-BE49-F238E27FC236}">
                <a16:creationId xmlns:a16="http://schemas.microsoft.com/office/drawing/2014/main" id="{C1CC2CD5-51FB-4724-B567-DD341E658664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381625" cy="43815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7" name="head-title">
            <a:extLst>
              <a:ext uri="{FF2B5EF4-FFF2-40B4-BE49-F238E27FC236}">
                <a16:creationId xmlns:a16="http://schemas.microsoft.com/office/drawing/2014/main" id="{BC868764-2700-4912-9D37-0FB573D2A865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572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Estimasi puncak kepala</a:t>
            </a:r>
          </a:p>
        </p:txBody>
      </p:sp>
      <p:sp>
        <p:nvSpPr>
          <p:cNvPr id="8" name="head-formula-1">
            <a:extLst>
              <a:ext uri="{FF2B5EF4-FFF2-40B4-BE49-F238E27FC236}">
                <a16:creationId xmlns:a16="http://schemas.microsoft.com/office/drawing/2014/main" id="{F29FEFC1-A491-4C97-9F77-600C1A7DE80D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45720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faceCenter = midpoint(hidung, eyeMid)</a:t>
            </a:r>
          </a:p>
        </p:txBody>
      </p:sp>
      <p:sp>
        <p:nvSpPr>
          <p:cNvPr id="9" name="head-formula-2">
            <a:extLst>
              <a:ext uri="{FF2B5EF4-FFF2-40B4-BE49-F238E27FC236}">
                <a16:creationId xmlns:a16="http://schemas.microsoft.com/office/drawing/2014/main" id="{C840BAC8-4C8F-42C2-8C5F-00E79EEED8BC}"/>
              </a:ext>
            </a:extLst>
          </p:cNvPr>
          <p:cNvSpPr>
            <a:spLocks noGrp="1"/>
          </p:cNvSpPr>
          <p:nvPr/>
        </p:nvSpPr>
        <p:spPr>
          <a:xfrm>
            <a:off x="685800" y="3000375"/>
            <a:ext cx="457200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 = normalize(faceCenter − shoulderMid)</a:t>
            </a:r>
          </a:p>
        </p:txBody>
      </p:sp>
      <p:sp>
        <p:nvSpPr>
          <p:cNvPr id="10" name="head-formula-3">
            <a:extLst>
              <a:ext uri="{FF2B5EF4-FFF2-40B4-BE49-F238E27FC236}">
                <a16:creationId xmlns:a16="http://schemas.microsoft.com/office/drawing/2014/main" id="{F07021EB-FAE9-45C3-ABDB-DAA2DB5A21EF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4572000" cy="714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koreksi = eye–shoulder × 0,28
              + ear–eye × 0,15</a:t>
            </a:r>
          </a:p>
        </p:txBody>
      </p:sp>
      <p:sp>
        <p:nvSpPr>
          <p:cNvPr id="11" name="head-result">
            <a:extLst>
              <a:ext uri="{FF2B5EF4-FFF2-40B4-BE49-F238E27FC236}">
                <a16:creationId xmlns:a16="http://schemas.microsoft.com/office/drawing/2014/main" id="{FB137315-87BB-41A8-B72E-104D3C80704B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4572000" cy="4762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headTop = faceCenter + arah × koreksi</a:t>
            </a:r>
          </a:p>
        </p:txBody>
      </p:sp>
      <p:sp>
        <p:nvSpPr>
          <p:cNvPr id="12" name="head-why">
            <a:extLst>
              <a:ext uri="{FF2B5EF4-FFF2-40B4-BE49-F238E27FC236}">
                <a16:creationId xmlns:a16="http://schemas.microsoft.com/office/drawing/2014/main" id="{6C46A481-E6D1-4D0B-8AEB-0E9209FC38F8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0" cy="333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Menghindari rambut, hijab, atau topi sebagai batas kepala.</a:t>
            </a:r>
          </a:p>
        </p:txBody>
      </p:sp>
      <p:sp>
        <p:nvSpPr>
          <p:cNvPr id="13" name="foot-panel">
            <a:extLst>
              <a:ext uri="{FF2B5EF4-FFF2-40B4-BE49-F238E27FC236}">
                <a16:creationId xmlns:a16="http://schemas.microsoft.com/office/drawing/2014/main" id="{D4F280AC-C3FC-41C5-9D5A-6C86667012A9}"/>
              </a:ext>
            </a:extLst>
          </p:cNvPr>
          <p:cNvSpPr>
            <a:spLocks noGrp="1"/>
          </p:cNvSpPr>
          <p:nvPr/>
        </p:nvSpPr>
        <p:spPr>
          <a:xfrm>
            <a:off x="6096000" y="1476375"/>
            <a:ext cx="5410200" cy="4381500"/>
          </a:xfrm>
          <a:prstGeom prst="rect">
            <a:avLst/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14" name="foot-title">
            <a:extLst>
              <a:ext uri="{FF2B5EF4-FFF2-40B4-BE49-F238E27FC236}">
                <a16:creationId xmlns:a16="http://schemas.microsoft.com/office/drawing/2014/main" id="{1848BA8D-DAB1-4F0A-847E-9A03FFEC7705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466725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Pemilihan kaki terbawah</a:t>
            </a:r>
          </a:p>
        </p:txBody>
      </p:sp>
      <p:sp>
        <p:nvSpPr>
          <p:cNvPr id="15" name="foot-candidates">
            <a:extLst>
              <a:ext uri="{FF2B5EF4-FFF2-40B4-BE49-F238E27FC236}">
                <a16:creationId xmlns:a16="http://schemas.microsoft.com/office/drawing/2014/main" id="{63A495A8-760C-47DB-B226-CE887E27CFD3}"/>
              </a:ext>
            </a:extLst>
          </p:cNvPr>
          <p:cNvSpPr>
            <a:spLocks noGrp="1"/>
          </p:cNvSpPr>
          <p:nvPr/>
        </p:nvSpPr>
        <p:spPr>
          <a:xfrm>
            <a:off x="6381750" y="2428875"/>
            <a:ext cx="4572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Kandidat: ankle, heel, dan foot index
untuk kaki kiri serta kanan</a:t>
            </a:r>
          </a:p>
        </p:txBody>
      </p:sp>
      <p:sp>
        <p:nvSpPr>
          <p:cNvPr id="16" name="foot-rule">
            <a:extLst>
              <a:ext uri="{FF2B5EF4-FFF2-40B4-BE49-F238E27FC236}">
                <a16:creationId xmlns:a16="http://schemas.microsoft.com/office/drawing/2014/main" id="{5AC90F20-33EF-412B-A8E0-FE477C838A54}"/>
              </a:ext>
            </a:extLst>
          </p:cNvPr>
          <p:cNvSpPr>
            <a:spLocks noGrp="1"/>
          </p:cNvSpPr>
          <p:nvPr/>
        </p:nvSpPr>
        <p:spPr>
          <a:xfrm>
            <a:off x="6381750" y="3429000"/>
            <a:ext cx="4572000" cy="400050"/>
          </a:xfrm>
          <a:prstGeom prst="rect">
            <a:avLst/>
          </a:prstGeom>
        </p:spPr>
        <p:txBody>
          <a:bodyPr lIns="0" tIns="0" rIns="0" bIns="0" anchor="t">
            <a:normAutofit fontScale="90761"/>
          </a:bodyPr>
          <a:lstStyle/>
          <a:p>
            <a:pPr algn="l">
              <a:defRPr sz="202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footBottom = titik dengan nilai Y terbesar</a:t>
            </a:r>
          </a:p>
        </p:txBody>
      </p:sp>
      <p:sp>
        <p:nvSpPr>
          <p:cNvPr id="17" name="height-px">
            <a:extLst>
              <a:ext uri="{FF2B5EF4-FFF2-40B4-BE49-F238E27FC236}">
                <a16:creationId xmlns:a16="http://schemas.microsoft.com/office/drawing/2014/main" id="{D2E504CA-1352-4A01-AF1B-27F06A18D42F}"/>
              </a:ext>
            </a:extLst>
          </p:cNvPr>
          <p:cNvSpPr>
            <a:spLocks noGrp="1"/>
          </p:cNvSpPr>
          <p:nvPr/>
        </p:nvSpPr>
        <p:spPr>
          <a:xfrm>
            <a:off x="6381750" y="4238625"/>
            <a:ext cx="4572000" cy="476250"/>
          </a:xfrm>
          <a:prstGeom prst="rect">
            <a:avLst/>
          </a:prstGeom>
        </p:spPr>
        <p:txBody>
          <a:bodyPr lIns="0" tIns="0" rIns="0" bIns="0" anchor="t">
            <a:normAutofit fontScale="86652"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heightPx = |footBottom.y − headTop.y|</a:t>
            </a:r>
          </a:p>
        </p:txBody>
      </p:sp>
      <p:sp>
        <p:nvSpPr>
          <p:cNvPr id="18" name="case-example">
            <a:extLst>
              <a:ext uri="{FF2B5EF4-FFF2-40B4-BE49-F238E27FC236}">
                <a16:creationId xmlns:a16="http://schemas.microsoft.com/office/drawing/2014/main" id="{D0E2DF2C-F2A2-437A-9A9A-9FD1951936C3}"/>
              </a:ext>
            </a:extLst>
          </p:cNvPr>
          <p:cNvSpPr>
            <a:spLocks noGrp="1"/>
          </p:cNvSpPr>
          <p:nvPr/>
        </p:nvSpPr>
        <p:spPr>
          <a:xfrm>
            <a:off x="6381750" y="4905375"/>
            <a:ext cx="4572000" cy="742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Contoh ilustratif:
headTop.y = 224 px, footBottom.y = 1710 px
heightPx = 1486 px</a:t>
            </a:r>
          </a:p>
        </p:txBody>
      </p:sp>
    </p:spTree>
    <p:extLst>
      <p:ext uri="{BB962C8B-B14F-4D97-AF65-F5344CB8AC3E}">
        <p14:creationId xmlns:p14="http://schemas.microsoft.com/office/powerpoint/2010/main" val="170626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-detail-slide-background">
            <a:extLst>
              <a:ext uri="{FF2B5EF4-FFF2-40B4-BE49-F238E27FC236}">
                <a16:creationId xmlns:a16="http://schemas.microsoft.com/office/drawing/2014/main" id="{354AE959-B8E8-46BA-B93A-B4BC930B60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4">
            <a:extLst>
              <a:ext uri="{FF2B5EF4-FFF2-40B4-BE49-F238E27FC236}">
                <a16:creationId xmlns:a16="http://schemas.microsoft.com/office/drawing/2014/main" id="{6A0DE423-E09B-437C-BB54-3A99A7431810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headTop memperkirakan puncak kepala anatomi</a:t>
            </a:r>
          </a:p>
        </p:txBody>
      </p:sp>
      <p:cxnSp>
        <p:nvCxnSpPr>
          <p:cNvPr id="30" name="accent-14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4">
            <a:extLst>
              <a:ext uri="{FF2B5EF4-FFF2-40B4-BE49-F238E27FC236}">
                <a16:creationId xmlns:a16="http://schemas.microsoft.com/office/drawing/2014/main" id="{93F168E1-084D-477E-A385-225F00310038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5" name="source-14">
            <a:extLst>
              <a:ext uri="{FF2B5EF4-FFF2-40B4-BE49-F238E27FC236}">
                <a16:creationId xmlns:a16="http://schemas.microsoft.com/office/drawing/2014/main" id="{C1902DDC-6E50-414D-8BE5-21679C6DA3DA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estimateBodyMeasurement() dan estimateAnatomicalHeadTop()</a:t>
            </a:r>
          </a:p>
        </p:txBody>
      </p:sp>
      <p:sp>
        <p:nvSpPr>
          <p:cNvPr id="6" name="head-step-dot-0">
            <a:extLst>
              <a:ext uri="{FF2B5EF4-FFF2-40B4-BE49-F238E27FC236}">
                <a16:creationId xmlns:a16="http://schemas.microsoft.com/office/drawing/2014/main" id="{2CBA4165-0953-4E42-88BF-5100F69FD2A7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400050" cy="4000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7" name="head-step-num-0">
            <a:extLst>
              <a:ext uri="{FF2B5EF4-FFF2-40B4-BE49-F238E27FC236}">
                <a16:creationId xmlns:a16="http://schemas.microsoft.com/office/drawing/2014/main" id="{63413EB9-EEFE-444C-B0C7-D618B2588391}"/>
              </a:ext>
            </a:extLst>
          </p:cNvPr>
          <p:cNvSpPr>
            <a:spLocks noGrp="1"/>
          </p:cNvSpPr>
          <p:nvPr/>
        </p:nvSpPr>
        <p:spPr>
          <a:xfrm>
            <a:off x="523875" y="1533525"/>
            <a:ext cx="4000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head-step-title-0">
            <a:extLst>
              <a:ext uri="{FF2B5EF4-FFF2-40B4-BE49-F238E27FC236}">
                <a16:creationId xmlns:a16="http://schemas.microsoft.com/office/drawing/2014/main" id="{4FABD6B5-A19C-4842-B803-098F5AF336C3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eyeMid</a:t>
            </a:r>
          </a:p>
        </p:txBody>
      </p:sp>
      <p:sp>
        <p:nvSpPr>
          <p:cNvPr id="9" name="head-step-body-0">
            <a:extLst>
              <a:ext uri="{FF2B5EF4-FFF2-40B4-BE49-F238E27FC236}">
                <a16:creationId xmlns:a16="http://schemas.microsoft.com/office/drawing/2014/main" id="{0E7F7192-B300-436F-BA08-D0146266A89F}"/>
              </a:ext>
            </a:extLst>
          </p:cNvPr>
          <p:cNvSpPr>
            <a:spLocks noGrp="1"/>
          </p:cNvSpPr>
          <p:nvPr/>
        </p:nvSpPr>
        <p:spPr>
          <a:xfrm>
            <a:off x="3333750" y="1428750"/>
            <a:ext cx="7810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Rata-rata mata 2/5 dan mata-dalam 1/4</a:t>
            </a:r>
          </a:p>
        </p:txBody>
      </p:sp>
      <p:sp>
        <p:nvSpPr>
          <p:cNvPr id="10" name="head-step-dot-1">
            <a:extLst>
              <a:ext uri="{FF2B5EF4-FFF2-40B4-BE49-F238E27FC236}">
                <a16:creationId xmlns:a16="http://schemas.microsoft.com/office/drawing/2014/main" id="{F55DA259-6488-4AB1-8679-BA6ED7138305}"/>
              </a:ext>
            </a:extLst>
          </p:cNvPr>
          <p:cNvSpPr>
            <a:spLocks noGrp="1"/>
          </p:cNvSpPr>
          <p:nvPr/>
        </p:nvSpPr>
        <p:spPr>
          <a:xfrm>
            <a:off x="523875" y="2266950"/>
            <a:ext cx="400050" cy="4000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1" name="head-step-num-1">
            <a:extLst>
              <a:ext uri="{FF2B5EF4-FFF2-40B4-BE49-F238E27FC236}">
                <a16:creationId xmlns:a16="http://schemas.microsoft.com/office/drawing/2014/main" id="{F30CAC89-1003-4095-BB42-5C166B83EE00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4000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head-step-title-1">
            <a:extLst>
              <a:ext uri="{FF2B5EF4-FFF2-40B4-BE49-F238E27FC236}">
                <a16:creationId xmlns:a16="http://schemas.microsoft.com/office/drawing/2014/main" id="{C7101C56-764A-4ECF-9480-8EF9B76F257C}"/>
              </a:ext>
            </a:extLst>
          </p:cNvPr>
          <p:cNvSpPr>
            <a:spLocks noGrp="1"/>
          </p:cNvSpPr>
          <p:nvPr/>
        </p:nvSpPr>
        <p:spPr>
          <a:xfrm>
            <a:off x="1190625" y="2228850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faceCenter</a:t>
            </a:r>
          </a:p>
        </p:txBody>
      </p:sp>
      <p:sp>
        <p:nvSpPr>
          <p:cNvPr id="13" name="head-step-body-1">
            <a:extLst>
              <a:ext uri="{FF2B5EF4-FFF2-40B4-BE49-F238E27FC236}">
                <a16:creationId xmlns:a16="http://schemas.microsoft.com/office/drawing/2014/main" id="{5159D940-B740-4CD3-BEC7-A3EF85B148D8}"/>
              </a:ext>
            </a:extLst>
          </p:cNvPr>
          <p:cNvSpPr>
            <a:spLocks noGrp="1"/>
          </p:cNvSpPr>
          <p:nvPr/>
        </p:nvSpPr>
        <p:spPr>
          <a:xfrm>
            <a:off x="3333750" y="2228850"/>
            <a:ext cx="7810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Titik tengah nose (0) dan eyeMid</a:t>
            </a:r>
          </a:p>
        </p:txBody>
      </p:sp>
      <p:sp>
        <p:nvSpPr>
          <p:cNvPr id="14" name="head-step-dot-2">
            <a:extLst>
              <a:ext uri="{FF2B5EF4-FFF2-40B4-BE49-F238E27FC236}">
                <a16:creationId xmlns:a16="http://schemas.microsoft.com/office/drawing/2014/main" id="{431310D8-660B-4939-AA7A-9FBF2FCA0507}"/>
              </a:ext>
            </a:extLst>
          </p:cNvPr>
          <p:cNvSpPr>
            <a:spLocks noGrp="1"/>
          </p:cNvSpPr>
          <p:nvPr/>
        </p:nvSpPr>
        <p:spPr>
          <a:xfrm>
            <a:off x="523875" y="3067050"/>
            <a:ext cx="400050" cy="4000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5" name="head-step-num-2">
            <a:extLst>
              <a:ext uri="{FF2B5EF4-FFF2-40B4-BE49-F238E27FC236}">
                <a16:creationId xmlns:a16="http://schemas.microsoft.com/office/drawing/2014/main" id="{B0BDF1A3-4982-431D-B9BC-64A62AB7C76C}"/>
              </a:ext>
            </a:extLst>
          </p:cNvPr>
          <p:cNvSpPr>
            <a:spLocks noGrp="1"/>
          </p:cNvSpPr>
          <p:nvPr/>
        </p:nvSpPr>
        <p:spPr>
          <a:xfrm>
            <a:off x="523875" y="3133725"/>
            <a:ext cx="4000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6" name="head-step-title-2">
            <a:extLst>
              <a:ext uri="{FF2B5EF4-FFF2-40B4-BE49-F238E27FC236}">
                <a16:creationId xmlns:a16="http://schemas.microsoft.com/office/drawing/2014/main" id="{C0ECFCA9-DB10-4B33-9989-C312D86C3255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</a:t>
            </a:r>
          </a:p>
        </p:txBody>
      </p:sp>
      <p:sp>
        <p:nvSpPr>
          <p:cNvPr id="17" name="head-step-body-2">
            <a:extLst>
              <a:ext uri="{FF2B5EF4-FFF2-40B4-BE49-F238E27FC236}">
                <a16:creationId xmlns:a16="http://schemas.microsoft.com/office/drawing/2014/main" id="{0D20D859-6505-4544-AB8A-AC3B7ADE4055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7810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Vektor faceCenter − shoulderMid, lalu dinormalisasi</a:t>
            </a:r>
          </a:p>
        </p:txBody>
      </p:sp>
      <p:sp>
        <p:nvSpPr>
          <p:cNvPr id="18" name="head-step-dot-3">
            <a:extLst>
              <a:ext uri="{FF2B5EF4-FFF2-40B4-BE49-F238E27FC236}">
                <a16:creationId xmlns:a16="http://schemas.microsoft.com/office/drawing/2014/main" id="{FFE9103C-C966-4837-8210-612469EF1AF8}"/>
              </a:ext>
            </a:extLst>
          </p:cNvPr>
          <p:cNvSpPr>
            <a:spLocks noGrp="1"/>
          </p:cNvSpPr>
          <p:nvPr/>
        </p:nvSpPr>
        <p:spPr>
          <a:xfrm>
            <a:off x="523875" y="3867150"/>
            <a:ext cx="400050" cy="4000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9" name="head-step-num-3">
            <a:extLst>
              <a:ext uri="{FF2B5EF4-FFF2-40B4-BE49-F238E27FC236}">
                <a16:creationId xmlns:a16="http://schemas.microsoft.com/office/drawing/2014/main" id="{AB128C50-59C3-47DE-B0F5-CA8E59888015}"/>
              </a:ext>
            </a:extLst>
          </p:cNvPr>
          <p:cNvSpPr>
            <a:spLocks noGrp="1"/>
          </p:cNvSpPr>
          <p:nvPr/>
        </p:nvSpPr>
        <p:spPr>
          <a:xfrm>
            <a:off x="523875" y="3933825"/>
            <a:ext cx="4000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0" name="head-step-title-3">
            <a:extLst>
              <a:ext uri="{FF2B5EF4-FFF2-40B4-BE49-F238E27FC236}">
                <a16:creationId xmlns:a16="http://schemas.microsoft.com/office/drawing/2014/main" id="{E6FC1C03-C467-40AD-98D3-EA7D6F7BFDB8}"/>
              </a:ext>
            </a:extLst>
          </p:cNvPr>
          <p:cNvSpPr>
            <a:spLocks noGrp="1"/>
          </p:cNvSpPr>
          <p:nvPr/>
        </p:nvSpPr>
        <p:spPr>
          <a:xfrm>
            <a:off x="1190625" y="3829050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koreksi</a:t>
            </a:r>
          </a:p>
        </p:txBody>
      </p:sp>
      <p:sp>
        <p:nvSpPr>
          <p:cNvPr id="21" name="head-step-body-3">
            <a:extLst>
              <a:ext uri="{FF2B5EF4-FFF2-40B4-BE49-F238E27FC236}">
                <a16:creationId xmlns:a16="http://schemas.microsoft.com/office/drawing/2014/main" id="{7891F335-E544-484A-8650-B191D3C976AC}"/>
              </a:ext>
            </a:extLst>
          </p:cNvPr>
          <p:cNvSpPr>
            <a:spLocks noGrp="1"/>
          </p:cNvSpPr>
          <p:nvPr/>
        </p:nvSpPr>
        <p:spPr>
          <a:xfrm>
            <a:off x="3333750" y="3829050"/>
            <a:ext cx="7810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eyeToShoulder × 0,28 + earToEye × 0,15</a:t>
            </a:r>
          </a:p>
        </p:txBody>
      </p:sp>
      <p:sp>
        <p:nvSpPr>
          <p:cNvPr id="22" name="head-step-dot-4">
            <a:extLst>
              <a:ext uri="{FF2B5EF4-FFF2-40B4-BE49-F238E27FC236}">
                <a16:creationId xmlns:a16="http://schemas.microsoft.com/office/drawing/2014/main" id="{4A2E6A69-21C5-4A1B-B6AC-E97FF10B5A00}"/>
              </a:ext>
            </a:extLst>
          </p:cNvPr>
          <p:cNvSpPr>
            <a:spLocks noGrp="1"/>
          </p:cNvSpPr>
          <p:nvPr/>
        </p:nvSpPr>
        <p:spPr>
          <a:xfrm>
            <a:off x="523875" y="4667250"/>
            <a:ext cx="400050" cy="400050"/>
          </a:xfrm>
          <a:prstGeom prst="ellipse">
            <a:avLst/>
          </a:prstGeom>
          <a:solidFill>
            <a:srgbClr val="6D45DF"/>
          </a:solidFill>
        </p:spPr>
      </p:sp>
      <p:sp>
        <p:nvSpPr>
          <p:cNvPr id="23" name="head-step-num-4">
            <a:extLst>
              <a:ext uri="{FF2B5EF4-FFF2-40B4-BE49-F238E27FC236}">
                <a16:creationId xmlns:a16="http://schemas.microsoft.com/office/drawing/2014/main" id="{1F57E653-6CDE-48C8-9798-33D892D69FF5}"/>
              </a:ext>
            </a:extLst>
          </p:cNvPr>
          <p:cNvSpPr>
            <a:spLocks noGrp="1"/>
          </p:cNvSpPr>
          <p:nvPr/>
        </p:nvSpPr>
        <p:spPr>
          <a:xfrm>
            <a:off x="523875" y="4733925"/>
            <a:ext cx="40005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4" name="head-step-title-4">
            <a:extLst>
              <a:ext uri="{FF2B5EF4-FFF2-40B4-BE49-F238E27FC236}">
                <a16:creationId xmlns:a16="http://schemas.microsoft.com/office/drawing/2014/main" id="{EC95A220-2120-408C-81DD-895F1CB1E6B6}"/>
              </a:ext>
            </a:extLst>
          </p:cNvPr>
          <p:cNvSpPr>
            <a:spLocks noGrp="1"/>
          </p:cNvSpPr>
          <p:nvPr/>
        </p:nvSpPr>
        <p:spPr>
          <a:xfrm>
            <a:off x="1190625" y="4629150"/>
            <a:ext cx="2095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headTop</a:t>
            </a:r>
          </a:p>
        </p:txBody>
      </p:sp>
      <p:sp>
        <p:nvSpPr>
          <p:cNvPr id="25" name="head-step-body-4">
            <a:extLst>
              <a:ext uri="{FF2B5EF4-FFF2-40B4-BE49-F238E27FC236}">
                <a16:creationId xmlns:a16="http://schemas.microsoft.com/office/drawing/2014/main" id="{E5728A7B-5D48-4378-ACBC-6273CEE56680}"/>
              </a:ext>
            </a:extLst>
          </p:cNvPr>
          <p:cNvSpPr>
            <a:spLocks noGrp="1"/>
          </p:cNvSpPr>
          <p:nvPr/>
        </p:nvSpPr>
        <p:spPr>
          <a:xfrm>
            <a:off x="3333750" y="4629150"/>
            <a:ext cx="7810500" cy="4572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faceCenter + arah × koreksi</a:t>
            </a:r>
          </a:p>
        </p:txBody>
      </p:sp>
      <p:sp>
        <p:nvSpPr>
          <p:cNvPr id="26" name="head-coef-note">
            <a:extLst>
              <a:ext uri="{FF2B5EF4-FFF2-40B4-BE49-F238E27FC236}">
                <a16:creationId xmlns:a16="http://schemas.microsoft.com/office/drawing/2014/main" id="{CCB42C3F-05EC-4D1C-A316-D07D02E26E97}"/>
              </a:ext>
            </a:extLst>
          </p:cNvPr>
          <p:cNvSpPr>
            <a:spLocks noGrp="1"/>
          </p:cNvSpPr>
          <p:nvPr/>
        </p:nvSpPr>
        <p:spPr>
          <a:xfrm>
            <a:off x="1190625" y="5572125"/>
            <a:ext cx="9953625" cy="619125"/>
          </a:xfrm>
          <a:prstGeom prst="rect">
            <a:avLst/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27" name="head-coef-text">
            <a:extLst>
              <a:ext uri="{FF2B5EF4-FFF2-40B4-BE49-F238E27FC236}">
                <a16:creationId xmlns:a16="http://schemas.microsoft.com/office/drawing/2014/main" id="{FF541708-832A-4FE2-990C-418FE2F1C737}"/>
              </a:ext>
            </a:extLst>
          </p:cNvPr>
          <p:cNvSpPr>
            <a:spLocks noGrp="1"/>
          </p:cNvSpPr>
          <p:nvPr/>
        </p:nvSpPr>
        <p:spPr>
          <a:xfrm>
            <a:off x="1428750" y="5715000"/>
            <a:ext cx="9477375" cy="381000"/>
          </a:xfrm>
          <a:prstGeom prst="rect">
            <a:avLst/>
          </a:prstGeom>
        </p:spPr>
        <p:txBody>
          <a:bodyPr lIns="0" tIns="0" rIns="0" bIns="0" anchor="t">
            <a:normAutofit fontScale="87719"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Asal 0,28 dan 0,15: konstanta heuristik yang ditulis langsung di kode. Fungsinya memperpanjang landmark wajah menuju puncak kepala; nilainya perlu dibuktikan melalui kalibrasi data nyata.</a:t>
            </a:r>
          </a:p>
        </p:txBody>
      </p:sp>
    </p:spTree>
    <p:extLst>
      <p:ext uri="{BB962C8B-B14F-4D97-AF65-F5344CB8AC3E}">
        <p14:creationId xmlns:p14="http://schemas.microsoft.com/office/powerpoint/2010/main" val="1158728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-detail-slide-background">
            <a:extLst>
              <a:ext uri="{FF2B5EF4-FFF2-40B4-BE49-F238E27FC236}">
                <a16:creationId xmlns:a16="http://schemas.microsoft.com/office/drawing/2014/main" id="{A382E73B-DDDF-43FB-AC50-0D680878B8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5">
            <a:extLst>
              <a:ext uri="{FF2B5EF4-FFF2-40B4-BE49-F238E27FC236}">
                <a16:creationId xmlns:a16="http://schemas.microsoft.com/office/drawing/2014/main" id="{ADDA3CB6-0EC4-429F-B54E-91287B1679D2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footBottom memilih titik kaki dengan Y terbesar</a:t>
            </a:r>
          </a:p>
        </p:txBody>
      </p:sp>
      <p:cxnSp>
        <p:nvCxnSpPr>
          <p:cNvPr id="24" name="accent-15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5">
            <a:extLst>
              <a:ext uri="{FF2B5EF4-FFF2-40B4-BE49-F238E27FC236}">
                <a16:creationId xmlns:a16="http://schemas.microsoft.com/office/drawing/2014/main" id="{16422D6A-7B0C-4BAE-ABDA-30ABD4165F47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5" name="source-15">
            <a:extLst>
              <a:ext uri="{FF2B5EF4-FFF2-40B4-BE49-F238E27FC236}">
                <a16:creationId xmlns:a16="http://schemas.microsoft.com/office/drawing/2014/main" id="{3D367675-E188-4562-8D50-5B3584FB4B5F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getFootBottomPoint() pada MeasurementActivity.java</a:t>
            </a:r>
          </a:p>
        </p:txBody>
      </p:sp>
      <p:sp>
        <p:nvSpPr>
          <p:cNvPr id="6" name="foot-coordinate">
            <a:extLst>
              <a:ext uri="{FF2B5EF4-FFF2-40B4-BE49-F238E27FC236}">
                <a16:creationId xmlns:a16="http://schemas.microsoft.com/office/drawing/2014/main" id="{B09F0647-5D92-40C7-A88F-A82B502DD74B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0763250" cy="381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Pada citra Android/OpenCV, Y bertambah dari atas ke bawah.</a:t>
            </a:r>
          </a:p>
        </p:txBody>
      </p:sp>
      <p:sp>
        <p:nvSpPr>
          <p:cNvPr id="7" name="foot-candidate-0">
            <a:extLst>
              <a:ext uri="{FF2B5EF4-FFF2-40B4-BE49-F238E27FC236}">
                <a16:creationId xmlns:a16="http://schemas.microsoft.com/office/drawing/2014/main" id="{62221698-172E-4A84-A29A-35F937762258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3333750" cy="1571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8" name="foot-id-0">
            <a:extLst>
              <a:ext uri="{FF2B5EF4-FFF2-40B4-BE49-F238E27FC236}">
                <a16:creationId xmlns:a16="http://schemas.microsoft.com/office/drawing/2014/main" id="{0B290CB2-7E95-4EFC-A5FA-F593D64BB21D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11430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27 / 28</a:t>
            </a:r>
          </a:p>
        </p:txBody>
      </p:sp>
      <p:sp>
        <p:nvSpPr>
          <p:cNvPr id="9" name="foot-name-0">
            <a:extLst>
              <a:ext uri="{FF2B5EF4-FFF2-40B4-BE49-F238E27FC236}">
                <a16:creationId xmlns:a16="http://schemas.microsoft.com/office/drawing/2014/main" id="{5320C8A0-B9EC-41E5-A59C-4B8AACA628EC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2857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Ankle</a:t>
            </a:r>
          </a:p>
        </p:txBody>
      </p:sp>
      <p:sp>
        <p:nvSpPr>
          <p:cNvPr id="10" name="foot-desc-0">
            <a:extLst>
              <a:ext uri="{FF2B5EF4-FFF2-40B4-BE49-F238E27FC236}">
                <a16:creationId xmlns:a16="http://schemas.microsoft.com/office/drawing/2014/main" id="{4A16ABB2-89AD-4AC5-8AE7-AC4DE0553F19}"/>
              </a:ext>
            </a:extLst>
          </p:cNvPr>
          <p:cNvSpPr>
            <a:spLocks noGrp="1"/>
          </p:cNvSpPr>
          <p:nvPr/>
        </p:nvSpPr>
        <p:spPr>
          <a:xfrm>
            <a:off x="952500" y="3381375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Pergelangan kaki</a:t>
            </a:r>
          </a:p>
        </p:txBody>
      </p:sp>
      <p:sp>
        <p:nvSpPr>
          <p:cNvPr id="11" name="foot-candidate-1">
            <a:extLst>
              <a:ext uri="{FF2B5EF4-FFF2-40B4-BE49-F238E27FC236}">
                <a16:creationId xmlns:a16="http://schemas.microsoft.com/office/drawing/2014/main" id="{BD86A24A-278D-4C16-AF47-BC7D52B706F7}"/>
              </a:ext>
            </a:extLst>
          </p:cNvPr>
          <p:cNvSpPr>
            <a:spLocks noGrp="1"/>
          </p:cNvSpPr>
          <p:nvPr/>
        </p:nvSpPr>
        <p:spPr>
          <a:xfrm>
            <a:off x="4429125" y="2238375"/>
            <a:ext cx="3333750" cy="1571625"/>
          </a:xfrm>
          <a:prstGeom prst="rect">
            <a:avLst/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12" name="foot-id-1">
            <a:extLst>
              <a:ext uri="{FF2B5EF4-FFF2-40B4-BE49-F238E27FC236}">
                <a16:creationId xmlns:a16="http://schemas.microsoft.com/office/drawing/2014/main" id="{FFCEE6B1-D161-4913-B35F-3B2D675784E2}"/>
              </a:ext>
            </a:extLst>
          </p:cNvPr>
          <p:cNvSpPr>
            <a:spLocks noGrp="1"/>
          </p:cNvSpPr>
          <p:nvPr/>
        </p:nvSpPr>
        <p:spPr>
          <a:xfrm>
            <a:off x="4667250" y="2476500"/>
            <a:ext cx="11430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29 / 30</a:t>
            </a:r>
          </a:p>
        </p:txBody>
      </p:sp>
      <p:sp>
        <p:nvSpPr>
          <p:cNvPr id="13" name="foot-name-1">
            <a:extLst>
              <a:ext uri="{FF2B5EF4-FFF2-40B4-BE49-F238E27FC236}">
                <a16:creationId xmlns:a16="http://schemas.microsoft.com/office/drawing/2014/main" id="{2F304B85-2EF1-48A2-85D4-CDDD2E2DF708}"/>
              </a:ext>
            </a:extLst>
          </p:cNvPr>
          <p:cNvSpPr>
            <a:spLocks noGrp="1"/>
          </p:cNvSpPr>
          <p:nvPr/>
        </p:nvSpPr>
        <p:spPr>
          <a:xfrm>
            <a:off x="4667250" y="2952750"/>
            <a:ext cx="2857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Heel</a:t>
            </a:r>
          </a:p>
        </p:txBody>
      </p:sp>
      <p:sp>
        <p:nvSpPr>
          <p:cNvPr id="14" name="foot-desc-1">
            <a:extLst>
              <a:ext uri="{FF2B5EF4-FFF2-40B4-BE49-F238E27FC236}">
                <a16:creationId xmlns:a16="http://schemas.microsoft.com/office/drawing/2014/main" id="{26923923-5C7F-4E01-908D-8FE024BE14F3}"/>
              </a:ext>
            </a:extLst>
          </p:cNvPr>
          <p:cNvSpPr>
            <a:spLocks noGrp="1"/>
          </p:cNvSpPr>
          <p:nvPr/>
        </p:nvSpPr>
        <p:spPr>
          <a:xfrm>
            <a:off x="4667250" y="3381375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Tumit</a:t>
            </a:r>
          </a:p>
        </p:txBody>
      </p:sp>
      <p:sp>
        <p:nvSpPr>
          <p:cNvPr id="15" name="foot-candidate-2">
            <a:extLst>
              <a:ext uri="{FF2B5EF4-FFF2-40B4-BE49-F238E27FC236}">
                <a16:creationId xmlns:a16="http://schemas.microsoft.com/office/drawing/2014/main" id="{35071DEF-89B8-4A24-B781-217C2ADC6A54}"/>
              </a:ext>
            </a:extLst>
          </p:cNvPr>
          <p:cNvSpPr>
            <a:spLocks noGrp="1"/>
          </p:cNvSpPr>
          <p:nvPr/>
        </p:nvSpPr>
        <p:spPr>
          <a:xfrm>
            <a:off x="8143875" y="2238375"/>
            <a:ext cx="3333750" cy="1571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6" name="foot-id-2">
            <a:extLst>
              <a:ext uri="{FF2B5EF4-FFF2-40B4-BE49-F238E27FC236}">
                <a16:creationId xmlns:a16="http://schemas.microsoft.com/office/drawing/2014/main" id="{6A0D1E9D-1D96-4668-A0BB-C065A928899A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11430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31 / 32</a:t>
            </a:r>
          </a:p>
        </p:txBody>
      </p:sp>
      <p:sp>
        <p:nvSpPr>
          <p:cNvPr id="17" name="foot-name-2">
            <a:extLst>
              <a:ext uri="{FF2B5EF4-FFF2-40B4-BE49-F238E27FC236}">
                <a16:creationId xmlns:a16="http://schemas.microsoft.com/office/drawing/2014/main" id="{437F3BC1-6B3F-421A-9434-C83F8EA57B8A}"/>
              </a:ext>
            </a:extLst>
          </p:cNvPr>
          <p:cNvSpPr>
            <a:spLocks noGrp="1"/>
          </p:cNvSpPr>
          <p:nvPr/>
        </p:nvSpPr>
        <p:spPr>
          <a:xfrm>
            <a:off x="8382000" y="2952750"/>
            <a:ext cx="285750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Foot index</a:t>
            </a:r>
          </a:p>
        </p:txBody>
      </p:sp>
      <p:sp>
        <p:nvSpPr>
          <p:cNvPr id="18" name="foot-desc-2">
            <a:extLst>
              <a:ext uri="{FF2B5EF4-FFF2-40B4-BE49-F238E27FC236}">
                <a16:creationId xmlns:a16="http://schemas.microsoft.com/office/drawing/2014/main" id="{CA416709-7AE9-4C45-8A58-0790B3AE5503}"/>
              </a:ext>
            </a:extLst>
          </p:cNvPr>
          <p:cNvSpPr>
            <a:spLocks noGrp="1"/>
          </p:cNvSpPr>
          <p:nvPr/>
        </p:nvSpPr>
        <p:spPr>
          <a:xfrm>
            <a:off x="8382000" y="3381375"/>
            <a:ext cx="2857500" cy="2667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Ujung kaki</a:t>
            </a:r>
          </a:p>
        </p:txBody>
      </p:sp>
      <p:sp>
        <p:nvSpPr>
          <p:cNvPr id="19" name="foot-rule-detail">
            <a:extLst>
              <a:ext uri="{FF2B5EF4-FFF2-40B4-BE49-F238E27FC236}">
                <a16:creationId xmlns:a16="http://schemas.microsoft.com/office/drawing/2014/main" id="{91BFDAE1-9C69-48B8-96EC-E45B798B4D62}"/>
              </a:ext>
            </a:extLst>
          </p:cNvPr>
          <p:cNvSpPr>
            <a:spLocks noGrp="1"/>
          </p:cNvSpPr>
          <p:nvPr/>
        </p:nvSpPr>
        <p:spPr>
          <a:xfrm>
            <a:off x="1333500" y="4333875"/>
            <a:ext cx="9525000" cy="5238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255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footBottom = arg max(Y) dari enam kandidat kiri dan kanan</a:t>
            </a:r>
          </a:p>
        </p:txBody>
      </p:sp>
      <p:sp>
        <p:nvSpPr>
          <p:cNvPr id="20" name="foot-example">
            <a:extLst>
              <a:ext uri="{FF2B5EF4-FFF2-40B4-BE49-F238E27FC236}">
                <a16:creationId xmlns:a16="http://schemas.microsoft.com/office/drawing/2014/main" id="{3FECE96D-1881-4F1F-847F-8D49B271154B}"/>
              </a:ext>
            </a:extLst>
          </p:cNvPr>
          <p:cNvSpPr>
            <a:spLocks noGrp="1"/>
          </p:cNvSpPr>
          <p:nvPr/>
        </p:nvSpPr>
        <p:spPr>
          <a:xfrm>
            <a:off x="2095500" y="5143500"/>
            <a:ext cx="8001000" cy="8572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1" name="foot-example-text">
            <a:extLst>
              <a:ext uri="{FF2B5EF4-FFF2-40B4-BE49-F238E27FC236}">
                <a16:creationId xmlns:a16="http://schemas.microsoft.com/office/drawing/2014/main" id="{538EA251-D285-40C5-B719-BDCC56102B5D}"/>
              </a:ext>
            </a:extLst>
          </p:cNvPr>
          <p:cNvSpPr>
            <a:spLocks noGrp="1"/>
          </p:cNvSpPr>
          <p:nvPr/>
        </p:nvSpPr>
        <p:spPr>
          <a:xfrm>
            <a:off x="2381250" y="5381625"/>
            <a:ext cx="7429500" cy="381000"/>
          </a:xfrm>
          <a:prstGeom prst="rect">
            <a:avLst/>
          </a:prstGeom>
        </p:spPr>
        <p:txBody>
          <a:bodyPr lIns="0" tIns="0" rIns="0" bIns="0" anchor="t">
            <a:normAutofit fontScale="88925" lnSpcReduction="20000"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Contoh: ankle 1680, heel 1710, foot index 1695 → yang dipilih adalah heel pada Y = 1710 px.</a:t>
            </a:r>
          </a:p>
        </p:txBody>
      </p:sp>
    </p:spTree>
    <p:extLst>
      <p:ext uri="{BB962C8B-B14F-4D97-AF65-F5344CB8AC3E}">
        <p14:creationId xmlns:p14="http://schemas.microsoft.com/office/powerpoint/2010/main" val="355432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our-slide-background">
            <a:extLst>
              <a:ext uri="{FF2B5EF4-FFF2-40B4-BE49-F238E27FC236}">
                <a16:creationId xmlns:a16="http://schemas.microsoft.com/office/drawing/2014/main" id="{66ECB358-D921-4073-B268-6D71350365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6">
            <a:extLst>
              <a:ext uri="{FF2B5EF4-FFF2-40B4-BE49-F238E27FC236}">
                <a16:creationId xmlns:a16="http://schemas.microsoft.com/office/drawing/2014/main" id="{A2FB79CB-CC04-4FED-8501-DA732A915A02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 fontScale="86234"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OpenCV mendukung visualisasi dan pembanding</a:t>
            </a:r>
          </a:p>
        </p:txBody>
      </p:sp>
      <p:cxnSp>
        <p:nvCxnSpPr>
          <p:cNvPr id="39" name="accent-16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6">
            <a:extLst>
              <a:ext uri="{FF2B5EF4-FFF2-40B4-BE49-F238E27FC236}">
                <a16:creationId xmlns:a16="http://schemas.microsoft.com/office/drawing/2014/main" id="{9779082C-95F9-4D7D-B382-8B8373D80FCA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5" name="source-16">
            <a:extLst>
              <a:ext uri="{FF2B5EF4-FFF2-40B4-BE49-F238E27FC236}">
                <a16:creationId xmlns:a16="http://schemas.microsoft.com/office/drawing/2014/main" id="{3836BBCD-B781-43FB-B0B9-8687D0DB06CD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runContourProcess() pada MeasurementActivity.java</a:t>
            </a:r>
          </a:p>
        </p:txBody>
      </p:sp>
      <p:cxnSp>
        <p:nvCxnSpPr>
          <p:cNvPr id="42" name="contour-link-0"/>
          <p:cNvCxnSpPr/>
          <p:nvPr/>
        </p:nvCxnSpPr>
        <p:spPr>
          <a:xfrm>
            <a:off x="1619250" y="3095625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cxnSp>
        <p:nvCxnSpPr>
          <p:cNvPr id="43" name="contour-link-1"/>
          <p:cNvCxnSpPr/>
          <p:nvPr/>
        </p:nvCxnSpPr>
        <p:spPr>
          <a:xfrm>
            <a:off x="3429000" y="3095625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cxnSp>
        <p:nvCxnSpPr>
          <p:cNvPr id="44" name="contour-link-2"/>
          <p:cNvCxnSpPr/>
          <p:nvPr/>
        </p:nvCxnSpPr>
        <p:spPr>
          <a:xfrm>
            <a:off x="5238750" y="3095625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cxnSp>
        <p:nvCxnSpPr>
          <p:cNvPr id="45" name="contour-link-3"/>
          <p:cNvCxnSpPr/>
          <p:nvPr/>
        </p:nvCxnSpPr>
        <p:spPr>
          <a:xfrm>
            <a:off x="7048500" y="3095625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cxnSp>
        <p:nvCxnSpPr>
          <p:cNvPr id="46" name="contour-link-4"/>
          <p:cNvCxnSpPr/>
          <p:nvPr/>
        </p:nvCxnSpPr>
        <p:spPr>
          <a:xfrm>
            <a:off x="8858250" y="3095625"/>
            <a:ext cx="714375" cy="9525"/>
          </a:xfrm>
          <a:prstGeom prst="straightConnector1">
            <a:avLst/>
          </a:prstGeom>
          <a:ln w="28575">
            <a:solidFill>
              <a:srgbClr val="B8BCC4"/>
            </a:solidFill>
            <a:prstDash val="solid"/>
          </a:ln>
        </p:spPr>
      </p:cxnSp>
      <p:sp>
        <p:nvSpPr>
          <p:cNvPr id="11" name="contour-dot-0">
            <a:extLst>
              <a:ext uri="{FF2B5EF4-FFF2-40B4-BE49-F238E27FC236}">
                <a16:creationId xmlns:a16="http://schemas.microsoft.com/office/drawing/2014/main" id="{A7395807-7A74-4222-BCC9-03808E00F925}"/>
              </a:ext>
            </a:extLst>
          </p:cNvPr>
          <p:cNvSpPr>
            <a:spLocks noGrp="1"/>
          </p:cNvSpPr>
          <p:nvPr/>
        </p:nvSpPr>
        <p:spPr>
          <a:xfrm>
            <a:off x="1162050" y="2857500"/>
            <a:ext cx="476250" cy="4762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2" name="contour-num-0">
            <a:extLst>
              <a:ext uri="{FF2B5EF4-FFF2-40B4-BE49-F238E27FC236}">
                <a16:creationId xmlns:a16="http://schemas.microsoft.com/office/drawing/2014/main" id="{351413F7-AC54-43EA-97EA-1AF818B518FA}"/>
              </a:ext>
            </a:extLst>
          </p:cNvPr>
          <p:cNvSpPr>
            <a:spLocks noGrp="1"/>
          </p:cNvSpPr>
          <p:nvPr/>
        </p:nvSpPr>
        <p:spPr>
          <a:xfrm>
            <a:off x="1162050" y="2952750"/>
            <a:ext cx="476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3" name="contour-title-0">
            <a:extLst>
              <a:ext uri="{FF2B5EF4-FFF2-40B4-BE49-F238E27FC236}">
                <a16:creationId xmlns:a16="http://schemas.microsoft.com/office/drawing/2014/main" id="{779BC9B7-A028-47E5-A599-47233678CB70}"/>
              </a:ext>
            </a:extLst>
          </p:cNvPr>
          <p:cNvSpPr>
            <a:spLocks noGrp="1"/>
          </p:cNvSpPr>
          <p:nvPr/>
        </p:nvSpPr>
        <p:spPr>
          <a:xfrm>
            <a:off x="523875" y="376237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Grayscale</a:t>
            </a:r>
          </a:p>
        </p:txBody>
      </p:sp>
      <p:sp>
        <p:nvSpPr>
          <p:cNvPr id="14" name="contour-body-0">
            <a:extLst>
              <a:ext uri="{FF2B5EF4-FFF2-40B4-BE49-F238E27FC236}">
                <a16:creationId xmlns:a16="http://schemas.microsoft.com/office/drawing/2014/main" id="{729E8DAF-B7A8-4786-BA7E-5D4532BB44A2}"/>
              </a:ext>
            </a:extLst>
          </p:cNvPr>
          <p:cNvSpPr>
            <a:spLocks noGrp="1"/>
          </p:cNvSpPr>
          <p:nvPr/>
        </p:nvSpPr>
        <p:spPr>
          <a:xfrm>
            <a:off x="523875" y="4191000"/>
            <a:ext cx="1619250" cy="4381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Kurangi kanal warna</a:t>
            </a:r>
          </a:p>
        </p:txBody>
      </p:sp>
      <p:sp>
        <p:nvSpPr>
          <p:cNvPr id="15" name="contour-dot-1">
            <a:extLst>
              <a:ext uri="{FF2B5EF4-FFF2-40B4-BE49-F238E27FC236}">
                <a16:creationId xmlns:a16="http://schemas.microsoft.com/office/drawing/2014/main" id="{C3F23AB7-90E9-43A2-964A-84E9A028A1BC}"/>
              </a:ext>
            </a:extLst>
          </p:cNvPr>
          <p:cNvSpPr>
            <a:spLocks noGrp="1"/>
          </p:cNvSpPr>
          <p:nvPr/>
        </p:nvSpPr>
        <p:spPr>
          <a:xfrm>
            <a:off x="2971800" y="2857500"/>
            <a:ext cx="476250" cy="4762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6" name="contour-num-1">
            <a:extLst>
              <a:ext uri="{FF2B5EF4-FFF2-40B4-BE49-F238E27FC236}">
                <a16:creationId xmlns:a16="http://schemas.microsoft.com/office/drawing/2014/main" id="{1E41B982-8520-40DA-832B-1212A5354946}"/>
              </a:ext>
            </a:extLst>
          </p:cNvPr>
          <p:cNvSpPr>
            <a:spLocks noGrp="1"/>
          </p:cNvSpPr>
          <p:nvPr/>
        </p:nvSpPr>
        <p:spPr>
          <a:xfrm>
            <a:off x="2971800" y="2952750"/>
            <a:ext cx="476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contour-title-1">
            <a:extLst>
              <a:ext uri="{FF2B5EF4-FFF2-40B4-BE49-F238E27FC236}">
                <a16:creationId xmlns:a16="http://schemas.microsoft.com/office/drawing/2014/main" id="{15DD583D-E5D9-4495-A488-5F46A0C40D0A}"/>
              </a:ext>
            </a:extLst>
          </p:cNvPr>
          <p:cNvSpPr>
            <a:spLocks noGrp="1"/>
          </p:cNvSpPr>
          <p:nvPr/>
        </p:nvSpPr>
        <p:spPr>
          <a:xfrm>
            <a:off x="2333625" y="376237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Blur 5×5</a:t>
            </a:r>
          </a:p>
        </p:txBody>
      </p:sp>
      <p:sp>
        <p:nvSpPr>
          <p:cNvPr id="18" name="contour-body-1">
            <a:extLst>
              <a:ext uri="{FF2B5EF4-FFF2-40B4-BE49-F238E27FC236}">
                <a16:creationId xmlns:a16="http://schemas.microsoft.com/office/drawing/2014/main" id="{A145583B-A958-402A-9693-91871E8F0D45}"/>
              </a:ext>
            </a:extLst>
          </p:cNvPr>
          <p:cNvSpPr>
            <a:spLocks noGrp="1"/>
          </p:cNvSpPr>
          <p:nvPr/>
        </p:nvSpPr>
        <p:spPr>
          <a:xfrm>
            <a:off x="2333625" y="4191000"/>
            <a:ext cx="1619250" cy="4381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Redam noise</a:t>
            </a:r>
          </a:p>
        </p:txBody>
      </p:sp>
      <p:sp>
        <p:nvSpPr>
          <p:cNvPr id="19" name="contour-dot-2">
            <a:extLst>
              <a:ext uri="{FF2B5EF4-FFF2-40B4-BE49-F238E27FC236}">
                <a16:creationId xmlns:a16="http://schemas.microsoft.com/office/drawing/2014/main" id="{C14B1DA3-ED34-4857-A253-96719658213C}"/>
              </a:ext>
            </a:extLst>
          </p:cNvPr>
          <p:cNvSpPr>
            <a:spLocks noGrp="1"/>
          </p:cNvSpPr>
          <p:nvPr/>
        </p:nvSpPr>
        <p:spPr>
          <a:xfrm>
            <a:off x="4781550" y="2857500"/>
            <a:ext cx="476250" cy="4762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20" name="contour-num-2">
            <a:extLst>
              <a:ext uri="{FF2B5EF4-FFF2-40B4-BE49-F238E27FC236}">
                <a16:creationId xmlns:a16="http://schemas.microsoft.com/office/drawing/2014/main" id="{7E2F9813-6C3E-4118-82F7-0A22D2C43C3C}"/>
              </a:ext>
            </a:extLst>
          </p:cNvPr>
          <p:cNvSpPr>
            <a:spLocks noGrp="1"/>
          </p:cNvSpPr>
          <p:nvPr/>
        </p:nvSpPr>
        <p:spPr>
          <a:xfrm>
            <a:off x="4781550" y="2952750"/>
            <a:ext cx="476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contour-title-2">
            <a:extLst>
              <a:ext uri="{FF2B5EF4-FFF2-40B4-BE49-F238E27FC236}">
                <a16:creationId xmlns:a16="http://schemas.microsoft.com/office/drawing/2014/main" id="{017BB8AD-862D-4616-BFD6-3A905F942847}"/>
              </a:ext>
            </a:extLst>
          </p:cNvPr>
          <p:cNvSpPr>
            <a:spLocks noGrp="1"/>
          </p:cNvSpPr>
          <p:nvPr/>
        </p:nvSpPr>
        <p:spPr>
          <a:xfrm>
            <a:off x="4143375" y="376237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Canny</a:t>
            </a:r>
          </a:p>
        </p:txBody>
      </p:sp>
      <p:sp>
        <p:nvSpPr>
          <p:cNvPr id="22" name="contour-body-2">
            <a:extLst>
              <a:ext uri="{FF2B5EF4-FFF2-40B4-BE49-F238E27FC236}">
                <a16:creationId xmlns:a16="http://schemas.microsoft.com/office/drawing/2014/main" id="{ABB207C3-793D-4A66-9EFF-35E39455D014}"/>
              </a:ext>
            </a:extLst>
          </p:cNvPr>
          <p:cNvSpPr>
            <a:spLocks noGrp="1"/>
          </p:cNvSpPr>
          <p:nvPr/>
        </p:nvSpPr>
        <p:spPr>
          <a:xfrm>
            <a:off x="4143375" y="4191000"/>
            <a:ext cx="1619250" cy="4381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Threshold 45/140</a:t>
            </a:r>
          </a:p>
        </p:txBody>
      </p:sp>
      <p:sp>
        <p:nvSpPr>
          <p:cNvPr id="23" name="contour-dot-3">
            <a:extLst>
              <a:ext uri="{FF2B5EF4-FFF2-40B4-BE49-F238E27FC236}">
                <a16:creationId xmlns:a16="http://schemas.microsoft.com/office/drawing/2014/main" id="{E5D4EA61-2021-4D7B-A840-80D36E054AE5}"/>
              </a:ext>
            </a:extLst>
          </p:cNvPr>
          <p:cNvSpPr>
            <a:spLocks noGrp="1"/>
          </p:cNvSpPr>
          <p:nvPr/>
        </p:nvSpPr>
        <p:spPr>
          <a:xfrm>
            <a:off x="6591300" y="2857500"/>
            <a:ext cx="476250" cy="4762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24" name="contour-num-3">
            <a:extLst>
              <a:ext uri="{FF2B5EF4-FFF2-40B4-BE49-F238E27FC236}">
                <a16:creationId xmlns:a16="http://schemas.microsoft.com/office/drawing/2014/main" id="{890FE954-E395-411C-A69E-4919773918ED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476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contour-title-3">
            <a:extLst>
              <a:ext uri="{FF2B5EF4-FFF2-40B4-BE49-F238E27FC236}">
                <a16:creationId xmlns:a16="http://schemas.microsoft.com/office/drawing/2014/main" id="{5E876A1E-1DBA-4A54-A091-685979C4148F}"/>
              </a:ext>
            </a:extLst>
          </p:cNvPr>
          <p:cNvSpPr>
            <a:spLocks noGrp="1"/>
          </p:cNvSpPr>
          <p:nvPr/>
        </p:nvSpPr>
        <p:spPr>
          <a:xfrm>
            <a:off x="5953125" y="376237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Dilasi 7×7</a:t>
            </a:r>
          </a:p>
        </p:txBody>
      </p:sp>
      <p:sp>
        <p:nvSpPr>
          <p:cNvPr id="26" name="contour-body-3">
            <a:extLst>
              <a:ext uri="{FF2B5EF4-FFF2-40B4-BE49-F238E27FC236}">
                <a16:creationId xmlns:a16="http://schemas.microsoft.com/office/drawing/2014/main" id="{91A86B03-0036-47AA-BAB0-DF55C5093920}"/>
              </a:ext>
            </a:extLst>
          </p:cNvPr>
          <p:cNvSpPr>
            <a:spLocks noGrp="1"/>
          </p:cNvSpPr>
          <p:nvPr/>
        </p:nvSpPr>
        <p:spPr>
          <a:xfrm>
            <a:off x="5953125" y="4191000"/>
            <a:ext cx="1619250" cy="4381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Sambungkan tepi</a:t>
            </a:r>
          </a:p>
        </p:txBody>
      </p:sp>
      <p:sp>
        <p:nvSpPr>
          <p:cNvPr id="27" name="contour-dot-4">
            <a:extLst>
              <a:ext uri="{FF2B5EF4-FFF2-40B4-BE49-F238E27FC236}">
                <a16:creationId xmlns:a16="http://schemas.microsoft.com/office/drawing/2014/main" id="{928F6831-9F9D-4964-B22B-45F65F88DCAA}"/>
              </a:ext>
            </a:extLst>
          </p:cNvPr>
          <p:cNvSpPr>
            <a:spLocks noGrp="1"/>
          </p:cNvSpPr>
          <p:nvPr/>
        </p:nvSpPr>
        <p:spPr>
          <a:xfrm>
            <a:off x="8401050" y="2857500"/>
            <a:ext cx="476250" cy="47625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28" name="contour-num-4">
            <a:extLst>
              <a:ext uri="{FF2B5EF4-FFF2-40B4-BE49-F238E27FC236}">
                <a16:creationId xmlns:a16="http://schemas.microsoft.com/office/drawing/2014/main" id="{2A00631A-7A7C-4C08-895D-C0A5FFE642E5}"/>
              </a:ext>
            </a:extLst>
          </p:cNvPr>
          <p:cNvSpPr>
            <a:spLocks noGrp="1"/>
          </p:cNvSpPr>
          <p:nvPr/>
        </p:nvSpPr>
        <p:spPr>
          <a:xfrm>
            <a:off x="8401050" y="2952750"/>
            <a:ext cx="476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9" name="contour-title-4">
            <a:extLst>
              <a:ext uri="{FF2B5EF4-FFF2-40B4-BE49-F238E27FC236}">
                <a16:creationId xmlns:a16="http://schemas.microsoft.com/office/drawing/2014/main" id="{63A41657-500F-4875-B191-5D4EB5A4D104}"/>
              </a:ext>
            </a:extLst>
          </p:cNvPr>
          <p:cNvSpPr>
            <a:spLocks noGrp="1"/>
          </p:cNvSpPr>
          <p:nvPr/>
        </p:nvSpPr>
        <p:spPr>
          <a:xfrm>
            <a:off x="7762875" y="376237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luar</a:t>
            </a:r>
          </a:p>
        </p:txBody>
      </p:sp>
      <p:sp>
        <p:nvSpPr>
          <p:cNvPr id="30" name="contour-body-4">
            <a:extLst>
              <a:ext uri="{FF2B5EF4-FFF2-40B4-BE49-F238E27FC236}">
                <a16:creationId xmlns:a16="http://schemas.microsoft.com/office/drawing/2014/main" id="{57099A93-5C7A-4265-B1B1-5E147D20F09E}"/>
              </a:ext>
            </a:extLst>
          </p:cNvPr>
          <p:cNvSpPr>
            <a:spLocks noGrp="1"/>
          </p:cNvSpPr>
          <p:nvPr/>
        </p:nvSpPr>
        <p:spPr>
          <a:xfrm>
            <a:off x="7762875" y="4191000"/>
            <a:ext cx="1619250" cy="4381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RETR_EXTERNAL</a:t>
            </a:r>
          </a:p>
        </p:txBody>
      </p:sp>
      <p:sp>
        <p:nvSpPr>
          <p:cNvPr id="31" name="contour-dot-5">
            <a:extLst>
              <a:ext uri="{FF2B5EF4-FFF2-40B4-BE49-F238E27FC236}">
                <a16:creationId xmlns:a16="http://schemas.microsoft.com/office/drawing/2014/main" id="{8048D7F5-A9B7-44E6-995A-761DC15BF586}"/>
              </a:ext>
            </a:extLst>
          </p:cNvPr>
          <p:cNvSpPr>
            <a:spLocks noGrp="1"/>
          </p:cNvSpPr>
          <p:nvPr/>
        </p:nvSpPr>
        <p:spPr>
          <a:xfrm>
            <a:off x="10210800" y="2857500"/>
            <a:ext cx="476250" cy="476250"/>
          </a:xfrm>
          <a:prstGeom prst="ellipse">
            <a:avLst/>
          </a:prstGeom>
          <a:solidFill>
            <a:srgbClr val="6D45DF"/>
          </a:solidFill>
        </p:spPr>
      </p:sp>
      <p:sp>
        <p:nvSpPr>
          <p:cNvPr id="32" name="contour-num-5">
            <a:extLst>
              <a:ext uri="{FF2B5EF4-FFF2-40B4-BE49-F238E27FC236}">
                <a16:creationId xmlns:a16="http://schemas.microsoft.com/office/drawing/2014/main" id="{494BA124-3AC8-49E5-BF52-3123BB865E31}"/>
              </a:ext>
            </a:extLst>
          </p:cNvPr>
          <p:cNvSpPr>
            <a:spLocks noGrp="1"/>
          </p:cNvSpPr>
          <p:nvPr/>
        </p:nvSpPr>
        <p:spPr>
          <a:xfrm>
            <a:off x="10210800" y="2952750"/>
            <a:ext cx="47625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3" name="contour-title-5">
            <a:extLst>
              <a:ext uri="{FF2B5EF4-FFF2-40B4-BE49-F238E27FC236}">
                <a16:creationId xmlns:a16="http://schemas.microsoft.com/office/drawing/2014/main" id="{34EF9F19-28B7-4408-9EE2-39D4C82F3C0D}"/>
              </a:ext>
            </a:extLst>
          </p:cNvPr>
          <p:cNvSpPr>
            <a:spLocks noGrp="1"/>
          </p:cNvSpPr>
          <p:nvPr/>
        </p:nvSpPr>
        <p:spPr>
          <a:xfrm>
            <a:off x="9572625" y="3762375"/>
            <a:ext cx="161925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Kontur terbaik</a:t>
            </a:r>
          </a:p>
        </p:txBody>
      </p:sp>
      <p:sp>
        <p:nvSpPr>
          <p:cNvPr id="34" name="contour-body-5">
            <a:extLst>
              <a:ext uri="{FF2B5EF4-FFF2-40B4-BE49-F238E27FC236}">
                <a16:creationId xmlns:a16="http://schemas.microsoft.com/office/drawing/2014/main" id="{94063656-1E9E-4CB1-AC11-507F389CAE6D}"/>
              </a:ext>
            </a:extLst>
          </p:cNvPr>
          <p:cNvSpPr>
            <a:spLocks noGrp="1"/>
          </p:cNvSpPr>
          <p:nvPr/>
        </p:nvSpPr>
        <p:spPr>
          <a:xfrm>
            <a:off x="9572625" y="4191000"/>
            <a:ext cx="1619250" cy="4381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Overlap + area</a:t>
            </a:r>
          </a:p>
        </p:txBody>
      </p:sp>
      <p:sp>
        <p:nvSpPr>
          <p:cNvPr id="35" name="contour-callout">
            <a:extLst>
              <a:ext uri="{FF2B5EF4-FFF2-40B4-BE49-F238E27FC236}">
                <a16:creationId xmlns:a16="http://schemas.microsoft.com/office/drawing/2014/main" id="{34FCFDAE-8306-4C48-8F48-D863E08E9B47}"/>
              </a:ext>
            </a:extLst>
          </p:cNvPr>
          <p:cNvSpPr>
            <a:spLocks noGrp="1"/>
          </p:cNvSpPr>
          <p:nvPr/>
        </p:nvSpPr>
        <p:spPr>
          <a:xfrm>
            <a:off x="1714500" y="5191125"/>
            <a:ext cx="8763000" cy="7429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36" name="contour-callout-text">
            <a:extLst>
              <a:ext uri="{FF2B5EF4-FFF2-40B4-BE49-F238E27FC236}">
                <a16:creationId xmlns:a16="http://schemas.microsoft.com/office/drawing/2014/main" id="{AFB1C1C6-E63A-44A5-A8FD-DF82915939C2}"/>
              </a:ext>
            </a:extLst>
          </p:cNvPr>
          <p:cNvSpPr>
            <a:spLocks noGrp="1"/>
          </p:cNvSpPr>
          <p:nvPr/>
        </p:nvSpPr>
        <p:spPr>
          <a:xfrm>
            <a:off x="2047875" y="5391150"/>
            <a:ext cx="8096250" cy="361950"/>
          </a:xfrm>
          <a:prstGeom prst="rect">
            <a:avLst/>
          </a:prstGeom>
        </p:spPr>
        <p:txBody>
          <a:bodyPr lIns="0" tIns="0" rIns="0" bIns="0" anchor="t">
            <a:normAutofit fontScale="75397" lnSpcReduction="10000"/>
          </a:bodyPr>
          <a:lstStyle/>
          <a:p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Hasil kontur menggambar batas tubuh dan bounding box. Tinggi utama tetap berasal dari headTop–footBottom MediaPipe.</a:t>
            </a:r>
          </a:p>
        </p:txBody>
      </p:sp>
    </p:spTree>
    <p:extLst>
      <p:ext uri="{BB962C8B-B14F-4D97-AF65-F5344CB8AC3E}">
        <p14:creationId xmlns:p14="http://schemas.microsoft.com/office/powerpoint/2010/main" val="649330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our-parameters-slide-background">
            <a:extLst>
              <a:ext uri="{FF2B5EF4-FFF2-40B4-BE49-F238E27FC236}">
                <a16:creationId xmlns:a16="http://schemas.microsoft.com/office/drawing/2014/main" id="{0C268505-69F4-4BF3-A88C-041D4075B6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7">
            <a:extLst>
              <a:ext uri="{FF2B5EF4-FFF2-40B4-BE49-F238E27FC236}">
                <a16:creationId xmlns:a16="http://schemas.microsoft.com/office/drawing/2014/main" id="{85C59EA9-E391-492C-8386-131CBE985343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Parameter kontur mengatur sensitivitas</a:t>
            </a:r>
          </a:p>
        </p:txBody>
      </p:sp>
      <p:cxnSp>
        <p:nvCxnSpPr>
          <p:cNvPr id="33" name="accent-17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7">
            <a:extLst>
              <a:ext uri="{FF2B5EF4-FFF2-40B4-BE49-F238E27FC236}">
                <a16:creationId xmlns:a16="http://schemas.microsoft.com/office/drawing/2014/main" id="{C1DDD679-C8CE-4CC0-B6DC-E0294F6EFFA3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sp>
        <p:nvSpPr>
          <p:cNvPr id="5" name="source-17">
            <a:extLst>
              <a:ext uri="{FF2B5EF4-FFF2-40B4-BE49-F238E27FC236}">
                <a16:creationId xmlns:a16="http://schemas.microsoft.com/office/drawing/2014/main" id="{56314F23-4949-4D62-94E7-BAC91509ADE3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runContourProcess() dan getPoseBoundingRect()</a:t>
            </a:r>
          </a:p>
        </p:txBody>
      </p:sp>
      <p:sp>
        <p:nvSpPr>
          <p:cNvPr id="6" name="param-panel-0">
            <a:extLst>
              <a:ext uri="{FF2B5EF4-FFF2-40B4-BE49-F238E27FC236}">
                <a16:creationId xmlns:a16="http://schemas.microsoft.com/office/drawing/2014/main" id="{2B89A887-D52F-4CE2-A0B9-36321F3EBFF8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33400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7" name="param-value-0">
            <a:extLst>
              <a:ext uri="{FF2B5EF4-FFF2-40B4-BE49-F238E27FC236}">
                <a16:creationId xmlns:a16="http://schemas.microsoft.com/office/drawing/2014/main" id="{8B18A077-BB85-47B3-80A8-50A4AE8764A9}"/>
              </a:ext>
            </a:extLst>
          </p:cNvPr>
          <p:cNvSpPr>
            <a:spLocks noGrp="1"/>
          </p:cNvSpPr>
          <p:nvPr/>
        </p:nvSpPr>
        <p:spPr>
          <a:xfrm>
            <a:off x="638175" y="1704975"/>
            <a:ext cx="1285875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5 × 5</a:t>
            </a:r>
          </a:p>
        </p:txBody>
      </p:sp>
      <p:sp>
        <p:nvSpPr>
          <p:cNvPr id="8" name="param-name-0">
            <a:extLst>
              <a:ext uri="{FF2B5EF4-FFF2-40B4-BE49-F238E27FC236}">
                <a16:creationId xmlns:a16="http://schemas.microsoft.com/office/drawing/2014/main" id="{6CA40C38-E2D9-4DD8-9F21-95A2F6B2FC11}"/>
              </a:ext>
            </a:extLst>
          </p:cNvPr>
          <p:cNvSpPr>
            <a:spLocks noGrp="1"/>
          </p:cNvSpPr>
          <p:nvPr/>
        </p:nvSpPr>
        <p:spPr>
          <a:xfrm>
            <a:off x="2066925" y="1647825"/>
            <a:ext cx="32385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Gaussian blur</a:t>
            </a:r>
          </a:p>
        </p:txBody>
      </p:sp>
      <p:sp>
        <p:nvSpPr>
          <p:cNvPr id="9" name="param-use-0">
            <a:extLst>
              <a:ext uri="{FF2B5EF4-FFF2-40B4-BE49-F238E27FC236}">
                <a16:creationId xmlns:a16="http://schemas.microsoft.com/office/drawing/2014/main" id="{7E9A2BDE-A79E-48DB-8D94-51855A0755C6}"/>
              </a:ext>
            </a:extLst>
          </p:cNvPr>
          <p:cNvSpPr>
            <a:spLocks noGrp="1"/>
          </p:cNvSpPr>
          <p:nvPr/>
        </p:nvSpPr>
        <p:spPr>
          <a:xfrm>
            <a:off x="2066925" y="2066925"/>
            <a:ext cx="3286125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Meredam detail kecil sebelum deteksi tepi</a:t>
            </a:r>
          </a:p>
        </p:txBody>
      </p:sp>
      <p:sp>
        <p:nvSpPr>
          <p:cNvPr id="10" name="param-panel-1">
            <a:extLst>
              <a:ext uri="{FF2B5EF4-FFF2-40B4-BE49-F238E27FC236}">
                <a16:creationId xmlns:a16="http://schemas.microsoft.com/office/drawing/2014/main" id="{31DD89B2-0703-47EA-A5E6-5DE6544B56F7}"/>
              </a:ext>
            </a:extLst>
          </p:cNvPr>
          <p:cNvSpPr>
            <a:spLocks noGrp="1"/>
          </p:cNvSpPr>
          <p:nvPr/>
        </p:nvSpPr>
        <p:spPr>
          <a:xfrm>
            <a:off x="6115050" y="1476375"/>
            <a:ext cx="533400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1" name="param-value-1">
            <a:extLst>
              <a:ext uri="{FF2B5EF4-FFF2-40B4-BE49-F238E27FC236}">
                <a16:creationId xmlns:a16="http://schemas.microsoft.com/office/drawing/2014/main" id="{EF7B4261-226C-4C2E-AB9E-8DDD6A3C35DD}"/>
              </a:ext>
            </a:extLst>
          </p:cNvPr>
          <p:cNvSpPr>
            <a:spLocks noGrp="1"/>
          </p:cNvSpPr>
          <p:nvPr/>
        </p:nvSpPr>
        <p:spPr>
          <a:xfrm>
            <a:off x="6353175" y="1704975"/>
            <a:ext cx="1285875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45 / 140</a:t>
            </a:r>
          </a:p>
        </p:txBody>
      </p:sp>
      <p:sp>
        <p:nvSpPr>
          <p:cNvPr id="12" name="param-name-1">
            <a:extLst>
              <a:ext uri="{FF2B5EF4-FFF2-40B4-BE49-F238E27FC236}">
                <a16:creationId xmlns:a16="http://schemas.microsoft.com/office/drawing/2014/main" id="{3AD8BBA4-7679-4231-BAE9-E3DB58632ABF}"/>
              </a:ext>
            </a:extLst>
          </p:cNvPr>
          <p:cNvSpPr>
            <a:spLocks noGrp="1"/>
          </p:cNvSpPr>
          <p:nvPr/>
        </p:nvSpPr>
        <p:spPr>
          <a:xfrm>
            <a:off x="7781925" y="1647825"/>
            <a:ext cx="32385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Canny threshold</a:t>
            </a:r>
          </a:p>
        </p:txBody>
      </p:sp>
      <p:sp>
        <p:nvSpPr>
          <p:cNvPr id="13" name="param-use-1">
            <a:extLst>
              <a:ext uri="{FF2B5EF4-FFF2-40B4-BE49-F238E27FC236}">
                <a16:creationId xmlns:a16="http://schemas.microsoft.com/office/drawing/2014/main" id="{BFF6112F-04B8-4B33-B096-0FF27413E95D}"/>
              </a:ext>
            </a:extLst>
          </p:cNvPr>
          <p:cNvSpPr>
            <a:spLocks noGrp="1"/>
          </p:cNvSpPr>
          <p:nvPr/>
        </p:nvSpPr>
        <p:spPr>
          <a:xfrm>
            <a:off x="7781925" y="2066925"/>
            <a:ext cx="3286125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Batas tepi lemah dan kuat</a:t>
            </a:r>
          </a:p>
        </p:txBody>
      </p:sp>
      <p:sp>
        <p:nvSpPr>
          <p:cNvPr id="14" name="param-panel-2">
            <a:extLst>
              <a:ext uri="{FF2B5EF4-FFF2-40B4-BE49-F238E27FC236}">
                <a16:creationId xmlns:a16="http://schemas.microsoft.com/office/drawing/2014/main" id="{C15088D7-B197-4292-A321-176A7A4F8F44}"/>
              </a:ext>
            </a:extLst>
          </p:cNvPr>
          <p:cNvSpPr>
            <a:spLocks noGrp="1"/>
          </p:cNvSpPr>
          <p:nvPr/>
        </p:nvSpPr>
        <p:spPr>
          <a:xfrm>
            <a:off x="400050" y="2905125"/>
            <a:ext cx="533400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5" name="param-value-2">
            <a:extLst>
              <a:ext uri="{FF2B5EF4-FFF2-40B4-BE49-F238E27FC236}">
                <a16:creationId xmlns:a16="http://schemas.microsoft.com/office/drawing/2014/main" id="{05C5A2CF-2180-49B2-8BA5-BA3C3FBEA33E}"/>
              </a:ext>
            </a:extLst>
          </p:cNvPr>
          <p:cNvSpPr>
            <a:spLocks noGrp="1"/>
          </p:cNvSpPr>
          <p:nvPr/>
        </p:nvSpPr>
        <p:spPr>
          <a:xfrm>
            <a:off x="638175" y="3133725"/>
            <a:ext cx="1285875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7 × 7</a:t>
            </a:r>
          </a:p>
        </p:txBody>
      </p:sp>
      <p:sp>
        <p:nvSpPr>
          <p:cNvPr id="16" name="param-name-2">
            <a:extLst>
              <a:ext uri="{FF2B5EF4-FFF2-40B4-BE49-F238E27FC236}">
                <a16:creationId xmlns:a16="http://schemas.microsoft.com/office/drawing/2014/main" id="{99B8BEEB-844C-43E5-B5BA-648F58C94C9E}"/>
              </a:ext>
            </a:extLst>
          </p:cNvPr>
          <p:cNvSpPr>
            <a:spLocks noGrp="1"/>
          </p:cNvSpPr>
          <p:nvPr/>
        </p:nvSpPr>
        <p:spPr>
          <a:xfrm>
            <a:off x="2066925" y="3076575"/>
            <a:ext cx="32385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Kernel dilasi</a:t>
            </a:r>
          </a:p>
        </p:txBody>
      </p:sp>
      <p:sp>
        <p:nvSpPr>
          <p:cNvPr id="17" name="param-use-2">
            <a:extLst>
              <a:ext uri="{FF2B5EF4-FFF2-40B4-BE49-F238E27FC236}">
                <a16:creationId xmlns:a16="http://schemas.microsoft.com/office/drawing/2014/main" id="{49B26133-2144-485C-BC8A-51C63157194B}"/>
              </a:ext>
            </a:extLst>
          </p:cNvPr>
          <p:cNvSpPr>
            <a:spLocks noGrp="1"/>
          </p:cNvSpPr>
          <p:nvPr/>
        </p:nvSpPr>
        <p:spPr>
          <a:xfrm>
            <a:off x="2066925" y="3495675"/>
            <a:ext cx="3286125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Menyambungkan tepi tubuh yang terputus</a:t>
            </a:r>
          </a:p>
        </p:txBody>
      </p:sp>
      <p:sp>
        <p:nvSpPr>
          <p:cNvPr id="18" name="param-panel-3">
            <a:extLst>
              <a:ext uri="{FF2B5EF4-FFF2-40B4-BE49-F238E27FC236}">
                <a16:creationId xmlns:a16="http://schemas.microsoft.com/office/drawing/2014/main" id="{67210F4A-6130-4B05-A1C4-574DFCDFDE2B}"/>
              </a:ext>
            </a:extLst>
          </p:cNvPr>
          <p:cNvSpPr>
            <a:spLocks noGrp="1"/>
          </p:cNvSpPr>
          <p:nvPr/>
        </p:nvSpPr>
        <p:spPr>
          <a:xfrm>
            <a:off x="6115050" y="2905125"/>
            <a:ext cx="533400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9" name="param-value-3">
            <a:extLst>
              <a:ext uri="{FF2B5EF4-FFF2-40B4-BE49-F238E27FC236}">
                <a16:creationId xmlns:a16="http://schemas.microsoft.com/office/drawing/2014/main" id="{696F9325-9DC2-4B92-AFC7-FE1A2087595D}"/>
              </a:ext>
            </a:extLst>
          </p:cNvPr>
          <p:cNvSpPr>
            <a:spLocks noGrp="1"/>
          </p:cNvSpPr>
          <p:nvPr/>
        </p:nvSpPr>
        <p:spPr>
          <a:xfrm>
            <a:off x="6353175" y="3133725"/>
            <a:ext cx="1285875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80 px</a:t>
            </a:r>
          </a:p>
        </p:txBody>
      </p:sp>
      <p:sp>
        <p:nvSpPr>
          <p:cNvPr id="20" name="param-name-3">
            <a:extLst>
              <a:ext uri="{FF2B5EF4-FFF2-40B4-BE49-F238E27FC236}">
                <a16:creationId xmlns:a16="http://schemas.microsoft.com/office/drawing/2014/main" id="{CBB903B0-C38A-44AA-A80D-7754BCA6D62E}"/>
              </a:ext>
            </a:extLst>
          </p:cNvPr>
          <p:cNvSpPr>
            <a:spLocks noGrp="1"/>
          </p:cNvSpPr>
          <p:nvPr/>
        </p:nvSpPr>
        <p:spPr>
          <a:xfrm>
            <a:off x="7781925" y="3076575"/>
            <a:ext cx="32385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Padding poseRect</a:t>
            </a:r>
          </a:p>
        </p:txBody>
      </p:sp>
      <p:sp>
        <p:nvSpPr>
          <p:cNvPr id="21" name="param-use-3">
            <a:extLst>
              <a:ext uri="{FF2B5EF4-FFF2-40B4-BE49-F238E27FC236}">
                <a16:creationId xmlns:a16="http://schemas.microsoft.com/office/drawing/2014/main" id="{3F3A8A23-56E1-4C13-BD6B-4C1E80A92B94}"/>
              </a:ext>
            </a:extLst>
          </p:cNvPr>
          <p:cNvSpPr>
            <a:spLocks noGrp="1"/>
          </p:cNvSpPr>
          <p:nvPr/>
        </p:nvSpPr>
        <p:spPr>
          <a:xfrm>
            <a:off x="7781925" y="3495675"/>
            <a:ext cx="3286125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Memperluas kotak landmark agar kontur tubuh masuk</a:t>
            </a:r>
          </a:p>
        </p:txBody>
      </p:sp>
      <p:sp>
        <p:nvSpPr>
          <p:cNvPr id="22" name="param-panel-4">
            <a:extLst>
              <a:ext uri="{FF2B5EF4-FFF2-40B4-BE49-F238E27FC236}">
                <a16:creationId xmlns:a16="http://schemas.microsoft.com/office/drawing/2014/main" id="{A0137B00-2BA4-4755-9457-416DEDB0BF7A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533400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3" name="param-value-4">
            <a:extLst>
              <a:ext uri="{FF2B5EF4-FFF2-40B4-BE49-F238E27FC236}">
                <a16:creationId xmlns:a16="http://schemas.microsoft.com/office/drawing/2014/main" id="{E845E408-8956-471F-B1A2-CE66032B9A51}"/>
              </a:ext>
            </a:extLst>
          </p:cNvPr>
          <p:cNvSpPr>
            <a:spLocks noGrp="1"/>
          </p:cNvSpPr>
          <p:nvPr/>
        </p:nvSpPr>
        <p:spPr>
          <a:xfrm>
            <a:off x="638175" y="4562475"/>
            <a:ext cx="1285875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300 px²</a:t>
            </a:r>
          </a:p>
        </p:txBody>
      </p:sp>
      <p:sp>
        <p:nvSpPr>
          <p:cNvPr id="24" name="param-name-4">
            <a:extLst>
              <a:ext uri="{FF2B5EF4-FFF2-40B4-BE49-F238E27FC236}">
                <a16:creationId xmlns:a16="http://schemas.microsoft.com/office/drawing/2014/main" id="{9002765C-FBAC-425E-9842-AE39DA1A8891}"/>
              </a:ext>
            </a:extLst>
          </p:cNvPr>
          <p:cNvSpPr>
            <a:spLocks noGrp="1"/>
          </p:cNvSpPr>
          <p:nvPr/>
        </p:nvSpPr>
        <p:spPr>
          <a:xfrm>
            <a:off x="2066925" y="4505325"/>
            <a:ext cx="32385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Minimum area</a:t>
            </a:r>
          </a:p>
        </p:txBody>
      </p:sp>
      <p:sp>
        <p:nvSpPr>
          <p:cNvPr id="25" name="param-use-4">
            <a:extLst>
              <a:ext uri="{FF2B5EF4-FFF2-40B4-BE49-F238E27FC236}">
                <a16:creationId xmlns:a16="http://schemas.microsoft.com/office/drawing/2014/main" id="{1383FE79-FBEE-42C4-BB22-A336A3806730}"/>
              </a:ext>
            </a:extLst>
          </p:cNvPr>
          <p:cNvSpPr>
            <a:spLocks noGrp="1"/>
          </p:cNvSpPr>
          <p:nvPr/>
        </p:nvSpPr>
        <p:spPr>
          <a:xfrm>
            <a:off x="2066925" y="4924425"/>
            <a:ext cx="3286125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Membuang kontur sangat kecil</a:t>
            </a:r>
          </a:p>
        </p:txBody>
      </p:sp>
      <p:sp>
        <p:nvSpPr>
          <p:cNvPr id="26" name="param-panel-5">
            <a:extLst>
              <a:ext uri="{FF2B5EF4-FFF2-40B4-BE49-F238E27FC236}">
                <a16:creationId xmlns:a16="http://schemas.microsoft.com/office/drawing/2014/main" id="{0367B4A9-29FA-4EA8-AB0B-EAA4BCFB9AA5}"/>
              </a:ext>
            </a:extLst>
          </p:cNvPr>
          <p:cNvSpPr>
            <a:spLocks noGrp="1"/>
          </p:cNvSpPr>
          <p:nvPr/>
        </p:nvSpPr>
        <p:spPr>
          <a:xfrm>
            <a:off x="6115050" y="4333875"/>
            <a:ext cx="533400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7" name="param-value-5">
            <a:extLst>
              <a:ext uri="{FF2B5EF4-FFF2-40B4-BE49-F238E27FC236}">
                <a16:creationId xmlns:a16="http://schemas.microsoft.com/office/drawing/2014/main" id="{9D9947EA-3C87-4749-8870-99F172EC543A}"/>
              </a:ext>
            </a:extLst>
          </p:cNvPr>
          <p:cNvSpPr>
            <a:spLocks noGrp="1"/>
          </p:cNvSpPr>
          <p:nvPr/>
        </p:nvSpPr>
        <p:spPr>
          <a:xfrm>
            <a:off x="6353175" y="4562475"/>
            <a:ext cx="1285875" cy="4000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0,03</a:t>
            </a:r>
          </a:p>
        </p:txBody>
      </p:sp>
      <p:sp>
        <p:nvSpPr>
          <p:cNvPr id="28" name="param-name-5">
            <a:extLst>
              <a:ext uri="{FF2B5EF4-FFF2-40B4-BE49-F238E27FC236}">
                <a16:creationId xmlns:a16="http://schemas.microsoft.com/office/drawing/2014/main" id="{F6C1D694-5D9E-4212-A31A-4A48E28B25DE}"/>
              </a:ext>
            </a:extLst>
          </p:cNvPr>
          <p:cNvSpPr>
            <a:spLocks noGrp="1"/>
          </p:cNvSpPr>
          <p:nvPr/>
        </p:nvSpPr>
        <p:spPr>
          <a:xfrm>
            <a:off x="7781925" y="4505325"/>
            <a:ext cx="3238500" cy="3238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Bobot area</a:t>
            </a:r>
          </a:p>
        </p:txBody>
      </p:sp>
      <p:sp>
        <p:nvSpPr>
          <p:cNvPr id="29" name="param-use-5">
            <a:extLst>
              <a:ext uri="{FF2B5EF4-FFF2-40B4-BE49-F238E27FC236}">
                <a16:creationId xmlns:a16="http://schemas.microsoft.com/office/drawing/2014/main" id="{77E45567-FE6E-4DF9-80A6-47334EC39AE0}"/>
              </a:ext>
            </a:extLst>
          </p:cNvPr>
          <p:cNvSpPr>
            <a:spLocks noGrp="1"/>
          </p:cNvSpPr>
          <p:nvPr/>
        </p:nvSpPr>
        <p:spPr>
          <a:xfrm>
            <a:off x="7781925" y="4924425"/>
            <a:ext cx="3286125" cy="42862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score = overlap + area × 0,03</a:t>
            </a:r>
          </a:p>
        </p:txBody>
      </p:sp>
      <p:sp>
        <p:nvSpPr>
          <p:cNvPr id="30" name="contour-origin-note">
            <a:extLst>
              <a:ext uri="{FF2B5EF4-FFF2-40B4-BE49-F238E27FC236}">
                <a16:creationId xmlns:a16="http://schemas.microsoft.com/office/drawing/2014/main" id="{FF362C42-CE95-40A5-B7F9-4656C4D19175}"/>
              </a:ext>
            </a:extLst>
          </p:cNvPr>
          <p:cNvSpPr>
            <a:spLocks noGrp="1"/>
          </p:cNvSpPr>
          <p:nvPr/>
        </p:nvSpPr>
        <p:spPr>
          <a:xfrm>
            <a:off x="1190625" y="5953125"/>
            <a:ext cx="9810750" cy="381000"/>
          </a:xfrm>
          <a:prstGeom prst="rect">
            <a:avLst/>
          </a:prstGeom>
        </p:spPr>
        <p:txBody>
          <a:bodyPr lIns="0" tIns="0" rIns="0" bIns="0" anchor="t">
            <a:normAutofit fontScale="87719"/>
          </a:bodyPr>
          <a:lstStyle/>
          <a:p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Nilai-nilai ini adalah parameter implementasi yang ditulis langsung di kode, bukan angka otomatis dari OpenCV. Perubahannya memengaruhi sensitivitas kontur.</a:t>
            </a:r>
          </a:p>
        </p:txBody>
      </p:sp>
    </p:spTree>
    <p:extLst>
      <p:ext uri="{BB962C8B-B14F-4D97-AF65-F5344CB8AC3E}">
        <p14:creationId xmlns:p14="http://schemas.microsoft.com/office/powerpoint/2010/main" val="1025818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rrent-factors-slide-background">
            <a:extLst>
              <a:ext uri="{FF2B5EF4-FFF2-40B4-BE49-F238E27FC236}">
                <a16:creationId xmlns:a16="http://schemas.microsoft.com/office/drawing/2014/main" id="{740DCF3A-6AC3-43BC-A420-A286DFEEA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8">
            <a:extLst>
              <a:ext uri="{FF2B5EF4-FFF2-40B4-BE49-F238E27FC236}">
                <a16:creationId xmlns:a16="http://schemas.microsoft.com/office/drawing/2014/main" id="{C1827CC0-7D72-497D-A197-ACDE809863AA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Faktor kedalaman 0,857; kalibrasi +2,5%</a:t>
            </a:r>
          </a:p>
        </p:txBody>
      </p:sp>
      <p:cxnSp>
        <p:nvCxnSpPr>
          <p:cNvPr id="15" name="accent-18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8">
            <a:extLst>
              <a:ext uri="{FF2B5EF4-FFF2-40B4-BE49-F238E27FC236}">
                <a16:creationId xmlns:a16="http://schemas.microsoft.com/office/drawing/2014/main" id="{82F83CF6-492B-4B4B-BEFD-83EE07F1843E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sp>
        <p:nvSpPr>
          <p:cNvPr id="5" name="source-18">
            <a:extLst>
              <a:ext uri="{FF2B5EF4-FFF2-40B4-BE49-F238E27FC236}">
                <a16:creationId xmlns:a16="http://schemas.microsoft.com/office/drawing/2014/main" id="{4BC0A585-46CB-4CB6-9309-660F10D17AE0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konstanta pada MeasurementActivity.java</a:t>
            </a:r>
          </a:p>
        </p:txBody>
      </p:sp>
      <p:sp>
        <p:nvSpPr>
          <p:cNvPr id="6" name="depth-current">
            <a:extLst>
              <a:ext uri="{FF2B5EF4-FFF2-40B4-BE49-F238E27FC236}">
                <a16:creationId xmlns:a16="http://schemas.microsoft.com/office/drawing/2014/main" id="{9C4A1D8B-1B7B-407C-A9FB-5FA95ECFB50F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5238750" cy="3476625"/>
          </a:xfrm>
          <a:prstGeom prst="rect">
            <a:avLst/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7" name="depth-current-title">
            <a:extLst>
              <a:ext uri="{FF2B5EF4-FFF2-40B4-BE49-F238E27FC236}">
                <a16:creationId xmlns:a16="http://schemas.microsoft.com/office/drawing/2014/main" id="{959BE836-6EA6-4152-957B-7A3A13DFD5EE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572000" cy="476250"/>
          </a:xfrm>
          <a:prstGeom prst="rect">
            <a:avLst/>
          </a:prstGeom>
        </p:spPr>
        <p:txBody>
          <a:bodyPr lIns="0" tIns="0" rIns="0" bIns="0" anchor="t">
            <a:normAutofit fontScale="87316" lnSpcReduction="20000"/>
          </a:bodyPr>
          <a:lstStyle/>
          <a:p>
            <a:pPr algn="l">
              <a:defRPr sz="21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DEPTH_CORRECTION_FACTOR = 0,857</a:t>
            </a:r>
          </a:p>
        </p:txBody>
      </p:sp>
      <p:sp>
        <p:nvSpPr>
          <p:cNvPr id="8" name="depth-current-body">
            <a:extLst>
              <a:ext uri="{FF2B5EF4-FFF2-40B4-BE49-F238E27FC236}">
                <a16:creationId xmlns:a16="http://schemas.microsoft.com/office/drawing/2014/main" id="{65167582-9C03-4087-9916-2434A437746E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4476750" cy="1857375"/>
          </a:xfrm>
          <a:prstGeom prst="rect">
            <a:avLst/>
          </a:prstGeom>
        </p:spPr>
        <p:txBody>
          <a:bodyPr lIns="0" tIns="0" rIns="0" bIns="0" anchor="t">
            <a:normAutofit fontScale="96726"/>
          </a:bodyPr>
          <a:lstStyle/>
          <a:p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Asal: (CAMERA_DISTANCE_CM − SUBJECT_DISTANCE_FROM_BOARD_CM) / CAMERA_DISTANCE_CM.
Kegunaan: mengoreksi perbedaan posisi subjek terhadap board.
Dampak: tinggi piksel dikalikan 0,857.</a:t>
            </a:r>
          </a:p>
        </p:txBody>
      </p:sp>
      <p:sp>
        <p:nvSpPr>
          <p:cNvPr id="9" name="cal-current">
            <a:extLst>
              <a:ext uri="{FF2B5EF4-FFF2-40B4-BE49-F238E27FC236}">
                <a16:creationId xmlns:a16="http://schemas.microsoft.com/office/drawing/2014/main" id="{C7A59D61-6A30-4DB5-B521-D23F7877E1F4}"/>
              </a:ext>
            </a:extLst>
          </p:cNvPr>
          <p:cNvSpPr>
            <a:spLocks noGrp="1"/>
          </p:cNvSpPr>
          <p:nvPr/>
        </p:nvSpPr>
        <p:spPr>
          <a:xfrm>
            <a:off x="6096000" y="1571625"/>
            <a:ext cx="5410200" cy="3476625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0" name="cal-current-title">
            <a:extLst>
              <a:ext uri="{FF2B5EF4-FFF2-40B4-BE49-F238E27FC236}">
                <a16:creationId xmlns:a16="http://schemas.microsoft.com/office/drawing/2014/main" id="{C7DDA275-A09B-4BAD-8142-02A3C205EEE6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4762500" cy="476250"/>
          </a:xfrm>
          <a:prstGeom prst="rect">
            <a:avLst/>
          </a:prstGeom>
        </p:spPr>
        <p:txBody>
          <a:bodyPr lIns="0" tIns="0" rIns="0" bIns="0" anchor="t">
            <a:normAutofit fontScale="88681"/>
          </a:bodyPr>
          <a:lstStyle/>
          <a:p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HEIGHT_CALIBRATION_FACTOR = 1,025</a:t>
            </a:r>
          </a:p>
        </p:txBody>
      </p:sp>
      <p:sp>
        <p:nvSpPr>
          <p:cNvPr id="11" name="cal-current-body">
            <a:extLst>
              <a:ext uri="{FF2B5EF4-FFF2-40B4-BE49-F238E27FC236}">
                <a16:creationId xmlns:a16="http://schemas.microsoft.com/office/drawing/2014/main" id="{AD82FC9D-01CA-4179-A39B-736918363507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4572000" cy="185737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Asal: contoh kalibrasi pada komentar kode, 160/156 = 1,02564 lalu dibulatkan 1,025.
Kegunaan: koreksi proporsional hasil akhir.
Dampak: hasil naik sekitar 2,5%.</a:t>
            </a:r>
          </a:p>
        </p:txBody>
      </p:sp>
      <p:sp>
        <p:nvSpPr>
          <p:cNvPr id="12" name="camera-current-note">
            <a:extLst>
              <a:ext uri="{FF2B5EF4-FFF2-40B4-BE49-F238E27FC236}">
                <a16:creationId xmlns:a16="http://schemas.microsoft.com/office/drawing/2014/main" id="{3AE73CD7-AD94-4F27-9838-0D2295A3F25B}"/>
              </a:ext>
            </a:extLst>
          </p:cNvPr>
          <p:cNvSpPr>
            <a:spLocks noGrp="1"/>
          </p:cNvSpPr>
          <p:nvPr/>
        </p:nvSpPr>
        <p:spPr>
          <a:xfrm>
            <a:off x="1524000" y="5572125"/>
            <a:ext cx="9144000" cy="457200"/>
          </a:xfrm>
          <a:prstGeom prst="rect">
            <a:avLst/>
          </a:prstGeom>
        </p:spPr>
        <p:txBody>
          <a:bodyPr lIns="0" tIns="0" rIns="0" bIns="0" anchor="t">
            <a:normAutofit fontScale="95238"/>
          </a:bodyPr>
          <a:lstStyle/>
          <a:p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CAMERA_DISTANCE_CM = 350 cm dan SUBJECT_DISTANCE_FROM_BOARD_CM = 50 cm menjadi sumber langsung faktor 0,857.</a:t>
            </a:r>
          </a:p>
        </p:txBody>
      </p:sp>
    </p:spTree>
    <p:extLst>
      <p:ext uri="{BB962C8B-B14F-4D97-AF65-F5344CB8AC3E}">
        <p14:creationId xmlns:p14="http://schemas.microsoft.com/office/powerpoint/2010/main" val="1212448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ula-slide-background">
            <a:extLst>
              <a:ext uri="{FF2B5EF4-FFF2-40B4-BE49-F238E27FC236}">
                <a16:creationId xmlns:a16="http://schemas.microsoft.com/office/drawing/2014/main" id="{3FA84AC0-65E3-4946-A0AC-A3F256905C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19">
            <a:extLst>
              <a:ext uri="{FF2B5EF4-FFF2-40B4-BE49-F238E27FC236}">
                <a16:creationId xmlns:a16="http://schemas.microsoft.com/office/drawing/2014/main" id="{10BF2CBD-CB80-47F3-B6CA-531A3DA8AEA8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Rumus akhir mengikuti konstanta kode terbaru</a:t>
            </a:r>
          </a:p>
        </p:txBody>
      </p:sp>
      <p:cxnSp>
        <p:nvCxnSpPr>
          <p:cNvPr id="30" name="accent-19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19">
            <a:extLst>
              <a:ext uri="{FF2B5EF4-FFF2-40B4-BE49-F238E27FC236}">
                <a16:creationId xmlns:a16="http://schemas.microsoft.com/office/drawing/2014/main" id="{09B6040A-476B-49E9-B1D3-EFB2D631D547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sp>
        <p:nvSpPr>
          <p:cNvPr id="5" name="source-19">
            <a:extLst>
              <a:ext uri="{FF2B5EF4-FFF2-40B4-BE49-F238E27FC236}">
                <a16:creationId xmlns:a16="http://schemas.microsoft.com/office/drawing/2014/main" id="{E571A7A8-62FA-47FC-87F7-0CD5E5E33587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pixelToCm() pada MeasurementActivity.java</a:t>
            </a:r>
          </a:p>
        </p:txBody>
      </p:sp>
      <p:sp>
        <p:nvSpPr>
          <p:cNvPr id="6" name="final-formula">
            <a:extLst>
              <a:ext uri="{FF2B5EF4-FFF2-40B4-BE49-F238E27FC236}">
                <a16:creationId xmlns:a16="http://schemas.microsoft.com/office/drawing/2014/main" id="{0DF78B49-4359-45DA-B9A4-CA66ED2085A2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104775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 = Hpx × Sboard × Fdepth × Fkalibrasi</a:t>
            </a:r>
          </a:p>
        </p:txBody>
      </p:sp>
      <p:cxnSp>
        <p:nvCxnSpPr>
          <p:cNvPr id="34" name="formula-rule"/>
          <p:cNvCxnSpPr/>
          <p:nvPr/>
        </p:nvCxnSpPr>
        <p:spPr>
          <a:xfrm>
            <a:off x="2095500" y="2571750"/>
            <a:ext cx="8001000" cy="9525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8" name="def-panel-0">
            <a:extLst>
              <a:ext uri="{FF2B5EF4-FFF2-40B4-BE49-F238E27FC236}">
                <a16:creationId xmlns:a16="http://schemas.microsoft.com/office/drawing/2014/main" id="{887D47B9-6C42-40DB-A4C6-A086998F1F2D}"/>
              </a:ext>
            </a:extLst>
          </p:cNvPr>
          <p:cNvSpPr>
            <a:spLocks noGrp="1"/>
          </p:cNvSpPr>
          <p:nvPr/>
        </p:nvSpPr>
        <p:spPr>
          <a:xfrm>
            <a:off x="523875" y="3000375"/>
            <a:ext cx="257175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9" name="def-bar-0">
            <a:extLst>
              <a:ext uri="{FF2B5EF4-FFF2-40B4-BE49-F238E27FC236}">
                <a16:creationId xmlns:a16="http://schemas.microsoft.com/office/drawing/2014/main" id="{6D706EEF-0754-4E32-AFC7-C51E5B3D0E14}"/>
              </a:ext>
            </a:extLst>
          </p:cNvPr>
          <p:cNvSpPr>
            <a:spLocks noGrp="1"/>
          </p:cNvSpPr>
          <p:nvPr/>
        </p:nvSpPr>
        <p:spPr>
          <a:xfrm>
            <a:off x="523875" y="3000375"/>
            <a:ext cx="257175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def-key-0">
            <a:extLst>
              <a:ext uri="{FF2B5EF4-FFF2-40B4-BE49-F238E27FC236}">
                <a16:creationId xmlns:a16="http://schemas.microsoft.com/office/drawing/2014/main" id="{BBA863C3-79AB-479B-9A1E-25C2E012154A}"/>
              </a:ext>
            </a:extLst>
          </p:cNvPr>
          <p:cNvSpPr>
            <a:spLocks noGrp="1"/>
          </p:cNvSpPr>
          <p:nvPr/>
        </p:nvSpPr>
        <p:spPr>
          <a:xfrm>
            <a:off x="714375" y="3257550"/>
            <a:ext cx="2190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Hpx</a:t>
            </a:r>
          </a:p>
        </p:txBody>
      </p:sp>
      <p:sp>
        <p:nvSpPr>
          <p:cNvPr id="11" name="def-val-0">
            <a:extLst>
              <a:ext uri="{FF2B5EF4-FFF2-40B4-BE49-F238E27FC236}">
                <a16:creationId xmlns:a16="http://schemas.microsoft.com/office/drawing/2014/main" id="{27B2F531-1D7B-4912-9600-70961E473B3D}"/>
              </a:ext>
            </a:extLst>
          </p:cNvPr>
          <p:cNvSpPr>
            <a:spLocks noGrp="1"/>
          </p:cNvSpPr>
          <p:nvPr/>
        </p:nvSpPr>
        <p:spPr>
          <a:xfrm>
            <a:off x="714375" y="3667125"/>
            <a:ext cx="219075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|Ykaki − Ykepala|</a:t>
            </a:r>
          </a:p>
        </p:txBody>
      </p:sp>
      <p:sp>
        <p:nvSpPr>
          <p:cNvPr id="12" name="def-panel-1">
            <a:extLst>
              <a:ext uri="{FF2B5EF4-FFF2-40B4-BE49-F238E27FC236}">
                <a16:creationId xmlns:a16="http://schemas.microsoft.com/office/drawing/2014/main" id="{8ECBC86D-B763-466D-B976-242DE18CFE9A}"/>
              </a:ext>
            </a:extLst>
          </p:cNvPr>
          <p:cNvSpPr>
            <a:spLocks noGrp="1"/>
          </p:cNvSpPr>
          <p:nvPr/>
        </p:nvSpPr>
        <p:spPr>
          <a:xfrm>
            <a:off x="3429000" y="3000375"/>
            <a:ext cx="257175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3" name="def-bar-1">
            <a:extLst>
              <a:ext uri="{FF2B5EF4-FFF2-40B4-BE49-F238E27FC236}">
                <a16:creationId xmlns:a16="http://schemas.microsoft.com/office/drawing/2014/main" id="{6AA32D83-641D-4069-A9C5-A2E4475615D3}"/>
              </a:ext>
            </a:extLst>
          </p:cNvPr>
          <p:cNvSpPr>
            <a:spLocks noGrp="1"/>
          </p:cNvSpPr>
          <p:nvPr/>
        </p:nvSpPr>
        <p:spPr>
          <a:xfrm>
            <a:off x="3429000" y="3000375"/>
            <a:ext cx="2571750" cy="762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4" name="def-key-1">
            <a:extLst>
              <a:ext uri="{FF2B5EF4-FFF2-40B4-BE49-F238E27FC236}">
                <a16:creationId xmlns:a16="http://schemas.microsoft.com/office/drawing/2014/main" id="{658DBA6E-4565-4460-B071-257FEA8A4671}"/>
              </a:ext>
            </a:extLst>
          </p:cNvPr>
          <p:cNvSpPr>
            <a:spLocks noGrp="1"/>
          </p:cNvSpPr>
          <p:nvPr/>
        </p:nvSpPr>
        <p:spPr>
          <a:xfrm>
            <a:off x="3619500" y="3257550"/>
            <a:ext cx="2190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Sboard</a:t>
            </a:r>
          </a:p>
        </p:txBody>
      </p:sp>
      <p:sp>
        <p:nvSpPr>
          <p:cNvPr id="15" name="def-val-1">
            <a:extLst>
              <a:ext uri="{FF2B5EF4-FFF2-40B4-BE49-F238E27FC236}">
                <a16:creationId xmlns:a16="http://schemas.microsoft.com/office/drawing/2014/main" id="{9B6DE59F-78D2-4F93-B211-8538974FD67E}"/>
              </a:ext>
            </a:extLst>
          </p:cNvPr>
          <p:cNvSpPr>
            <a:spLocks noGrp="1"/>
          </p:cNvSpPr>
          <p:nvPr/>
        </p:nvSpPr>
        <p:spPr>
          <a:xfrm>
            <a:off x="3619500" y="3667125"/>
            <a:ext cx="219075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200 / 2322 ≈ 0,08613 cm/px</a:t>
            </a:r>
          </a:p>
        </p:txBody>
      </p:sp>
      <p:sp>
        <p:nvSpPr>
          <p:cNvPr id="16" name="def-panel-2">
            <a:extLst>
              <a:ext uri="{FF2B5EF4-FFF2-40B4-BE49-F238E27FC236}">
                <a16:creationId xmlns:a16="http://schemas.microsoft.com/office/drawing/2014/main" id="{008C9851-B813-4E83-A3A3-7EAB5BC01BBE}"/>
              </a:ext>
            </a:extLst>
          </p:cNvPr>
          <p:cNvSpPr>
            <a:spLocks noGrp="1"/>
          </p:cNvSpPr>
          <p:nvPr/>
        </p:nvSpPr>
        <p:spPr>
          <a:xfrm>
            <a:off x="6334125" y="3000375"/>
            <a:ext cx="257175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7" name="def-bar-2">
            <a:extLst>
              <a:ext uri="{FF2B5EF4-FFF2-40B4-BE49-F238E27FC236}">
                <a16:creationId xmlns:a16="http://schemas.microsoft.com/office/drawing/2014/main" id="{4062D31F-BACE-42F0-8812-81F90BF3B611}"/>
              </a:ext>
            </a:extLst>
          </p:cNvPr>
          <p:cNvSpPr>
            <a:spLocks noGrp="1"/>
          </p:cNvSpPr>
          <p:nvPr/>
        </p:nvSpPr>
        <p:spPr>
          <a:xfrm>
            <a:off x="6334125" y="3000375"/>
            <a:ext cx="2571750" cy="76200"/>
          </a:xfrm>
          <a:prstGeom prst="rect">
            <a:avLst/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18" name="def-key-2">
            <a:extLst>
              <a:ext uri="{FF2B5EF4-FFF2-40B4-BE49-F238E27FC236}">
                <a16:creationId xmlns:a16="http://schemas.microsoft.com/office/drawing/2014/main" id="{5BCE1AC1-1674-4DB8-A261-2B60A87BCE56}"/>
              </a:ext>
            </a:extLst>
          </p:cNvPr>
          <p:cNvSpPr>
            <a:spLocks noGrp="1"/>
          </p:cNvSpPr>
          <p:nvPr/>
        </p:nvSpPr>
        <p:spPr>
          <a:xfrm>
            <a:off x="6524625" y="3257550"/>
            <a:ext cx="2190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Fdepth</a:t>
            </a:r>
          </a:p>
        </p:txBody>
      </p:sp>
      <p:sp>
        <p:nvSpPr>
          <p:cNvPr id="19" name="def-val-2">
            <a:extLst>
              <a:ext uri="{FF2B5EF4-FFF2-40B4-BE49-F238E27FC236}">
                <a16:creationId xmlns:a16="http://schemas.microsoft.com/office/drawing/2014/main" id="{DE9199B4-6D50-48C6-8D1A-C5B8D3980945}"/>
              </a:ext>
            </a:extLst>
          </p:cNvPr>
          <p:cNvSpPr>
            <a:spLocks noGrp="1"/>
          </p:cNvSpPr>
          <p:nvPr/>
        </p:nvSpPr>
        <p:spPr>
          <a:xfrm>
            <a:off x="6524625" y="3667125"/>
            <a:ext cx="2190750" cy="361950"/>
          </a:xfrm>
          <a:prstGeom prst="rect">
            <a:avLst/>
          </a:prstGeom>
        </p:spPr>
        <p:txBody>
          <a:bodyPr lIns="0" tIns="0" rIns="0" bIns="0" anchor="t">
            <a:normAutofit fontScale="93137" lnSpcReduction="10000"/>
          </a:bodyPr>
          <a:lstStyle/>
          <a:p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0,857
faktor kedalaman</a:t>
            </a:r>
          </a:p>
        </p:txBody>
      </p:sp>
      <p:sp>
        <p:nvSpPr>
          <p:cNvPr id="20" name="def-panel-3">
            <a:extLst>
              <a:ext uri="{FF2B5EF4-FFF2-40B4-BE49-F238E27FC236}">
                <a16:creationId xmlns:a16="http://schemas.microsoft.com/office/drawing/2014/main" id="{2C2EE932-4606-49B3-A18A-ED4ECDF781E2}"/>
              </a:ext>
            </a:extLst>
          </p:cNvPr>
          <p:cNvSpPr>
            <a:spLocks noGrp="1"/>
          </p:cNvSpPr>
          <p:nvPr/>
        </p:nvSpPr>
        <p:spPr>
          <a:xfrm>
            <a:off x="9239250" y="3000375"/>
            <a:ext cx="2571750" cy="1190625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1" name="def-bar-3">
            <a:extLst>
              <a:ext uri="{FF2B5EF4-FFF2-40B4-BE49-F238E27FC236}">
                <a16:creationId xmlns:a16="http://schemas.microsoft.com/office/drawing/2014/main" id="{B570B861-05E2-49DD-8DF7-6C680F76CA79}"/>
              </a:ext>
            </a:extLst>
          </p:cNvPr>
          <p:cNvSpPr>
            <a:spLocks noGrp="1"/>
          </p:cNvSpPr>
          <p:nvPr/>
        </p:nvSpPr>
        <p:spPr>
          <a:xfrm>
            <a:off x="9239250" y="3000375"/>
            <a:ext cx="2571750" cy="76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22" name="def-key-3">
            <a:extLst>
              <a:ext uri="{FF2B5EF4-FFF2-40B4-BE49-F238E27FC236}">
                <a16:creationId xmlns:a16="http://schemas.microsoft.com/office/drawing/2014/main" id="{77549E59-5DEC-40B4-A8DB-F154A636C5DC}"/>
              </a:ext>
            </a:extLst>
          </p:cNvPr>
          <p:cNvSpPr>
            <a:spLocks noGrp="1"/>
          </p:cNvSpPr>
          <p:nvPr/>
        </p:nvSpPr>
        <p:spPr>
          <a:xfrm>
            <a:off x="9429750" y="3257550"/>
            <a:ext cx="219075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Fkalibrasi</a:t>
            </a:r>
          </a:p>
        </p:txBody>
      </p:sp>
      <p:sp>
        <p:nvSpPr>
          <p:cNvPr id="23" name="def-val-3">
            <a:extLst>
              <a:ext uri="{FF2B5EF4-FFF2-40B4-BE49-F238E27FC236}">
                <a16:creationId xmlns:a16="http://schemas.microsoft.com/office/drawing/2014/main" id="{A9D6904B-EAB4-4EF1-AC2A-6EB260472CA2}"/>
              </a:ext>
            </a:extLst>
          </p:cNvPr>
          <p:cNvSpPr>
            <a:spLocks noGrp="1"/>
          </p:cNvSpPr>
          <p:nvPr/>
        </p:nvSpPr>
        <p:spPr>
          <a:xfrm>
            <a:off x="9429750" y="3667125"/>
            <a:ext cx="2190750" cy="361950"/>
          </a:xfrm>
          <a:prstGeom prst="rect">
            <a:avLst/>
          </a:prstGeom>
        </p:spPr>
        <p:txBody>
          <a:bodyPr lIns="0" tIns="0" rIns="0" bIns="0" anchor="t">
            <a:normAutofit fontScale="93137" lnSpcReduction="10000"/>
          </a:bodyPr>
          <a:lstStyle/>
          <a:p>
            <a:pPr algn="l">
              <a:defRPr sz="12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1,025
kalibrasi tinggi</a:t>
            </a:r>
          </a:p>
        </p:txBody>
      </p:sp>
      <p:sp>
        <p:nvSpPr>
          <p:cNvPr id="24" name="example-panel">
            <a:extLst>
              <a:ext uri="{FF2B5EF4-FFF2-40B4-BE49-F238E27FC236}">
                <a16:creationId xmlns:a16="http://schemas.microsoft.com/office/drawing/2014/main" id="{80BA84A3-6D95-41CA-9D6F-C4765C585C5F}"/>
              </a:ext>
            </a:extLst>
          </p:cNvPr>
          <p:cNvSpPr>
            <a:spLocks noGrp="1"/>
          </p:cNvSpPr>
          <p:nvPr/>
        </p:nvSpPr>
        <p:spPr>
          <a:xfrm>
            <a:off x="1428750" y="4619625"/>
            <a:ext cx="9334500" cy="1143000"/>
          </a:xfrm>
          <a:prstGeom prst="rect">
            <a:avLst/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25" name="example-title">
            <a:extLst>
              <a:ext uri="{FF2B5EF4-FFF2-40B4-BE49-F238E27FC236}">
                <a16:creationId xmlns:a16="http://schemas.microsoft.com/office/drawing/2014/main" id="{16793515-B31A-46F3-80A3-79E446F8041F}"/>
              </a:ext>
            </a:extLst>
          </p:cNvPr>
          <p:cNvSpPr>
            <a:spLocks noGrp="1"/>
          </p:cNvSpPr>
          <p:nvPr/>
        </p:nvSpPr>
        <p:spPr>
          <a:xfrm>
            <a:off x="1714500" y="4857750"/>
            <a:ext cx="2095500" cy="285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Contoh ilustratif</a:t>
            </a:r>
          </a:p>
        </p:txBody>
      </p:sp>
      <p:sp>
        <p:nvSpPr>
          <p:cNvPr id="26" name="example-calc">
            <a:extLst>
              <a:ext uri="{FF2B5EF4-FFF2-40B4-BE49-F238E27FC236}">
                <a16:creationId xmlns:a16="http://schemas.microsoft.com/office/drawing/2014/main" id="{4F5CFCDB-80EC-4596-B76A-7AEC2FDC94E5}"/>
              </a:ext>
            </a:extLst>
          </p:cNvPr>
          <p:cNvSpPr>
            <a:spLocks noGrp="1"/>
          </p:cNvSpPr>
          <p:nvPr/>
        </p:nvSpPr>
        <p:spPr>
          <a:xfrm>
            <a:off x="1714500" y="5286375"/>
            <a:ext cx="85725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Contoh: 1800 px × 0,08613 cm/px × 0,857 × 1,025 ≈ 136,2 cm</a:t>
            </a:r>
          </a:p>
        </p:txBody>
      </p:sp>
      <p:sp>
        <p:nvSpPr>
          <p:cNvPr id="27" name="example-note">
            <a:extLst>
              <a:ext uri="{FF2B5EF4-FFF2-40B4-BE49-F238E27FC236}">
                <a16:creationId xmlns:a16="http://schemas.microsoft.com/office/drawing/2014/main" id="{653BAF5B-0DF9-485A-9D41-201D4B22FF3C}"/>
              </a:ext>
            </a:extLst>
          </p:cNvPr>
          <p:cNvSpPr>
            <a:spLocks noGrp="1"/>
          </p:cNvSpPr>
          <p:nvPr/>
        </p:nvSpPr>
        <p:spPr>
          <a:xfrm>
            <a:off x="2857500" y="5953125"/>
            <a:ext cx="6477000" cy="228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350 cm dan 50 cm masuk melalui faktor kedalaman 0,857 sebelum kalibrasi tinggi diterapkan.</a:t>
            </a:r>
          </a:p>
        </p:txBody>
      </p:sp>
    </p:spTree>
    <p:extLst>
      <p:ext uri="{BB962C8B-B14F-4D97-AF65-F5344CB8AC3E}">
        <p14:creationId xmlns:p14="http://schemas.microsoft.com/office/powerpoint/2010/main" val="1222049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alidation-thresholds-slide-background">
            <a:extLst>
              <a:ext uri="{FF2B5EF4-FFF2-40B4-BE49-F238E27FC236}">
                <a16:creationId xmlns:a16="http://schemas.microsoft.com/office/drawing/2014/main" id="{1C49F89C-9A36-492D-81D3-758AC3610F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20">
            <a:extLst>
              <a:ext uri="{FF2B5EF4-FFF2-40B4-BE49-F238E27FC236}">
                <a16:creationId xmlns:a16="http://schemas.microsoft.com/office/drawing/2014/main" id="{7FCC1161-FD3F-4E06-ABEB-848F82A27501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Validasi pose memakai ambang toleran</a:t>
            </a:r>
          </a:p>
        </p:txBody>
      </p:sp>
      <p:cxnSp>
        <p:nvCxnSpPr>
          <p:cNvPr id="28" name="accent-20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20">
            <a:extLst>
              <a:ext uri="{FF2B5EF4-FFF2-40B4-BE49-F238E27FC236}">
                <a16:creationId xmlns:a16="http://schemas.microsoft.com/office/drawing/2014/main" id="{AFC641FB-48D3-4ED7-A9D3-6F5A6931F1ED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5" name="source-20">
            <a:extLst>
              <a:ext uri="{FF2B5EF4-FFF2-40B4-BE49-F238E27FC236}">
                <a16:creationId xmlns:a16="http://schemas.microsoft.com/office/drawing/2014/main" id="{EC589631-01E4-48E3-8F0D-3E3175737F10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validatePose() pada MeasurementActivity.java</a:t>
            </a:r>
          </a:p>
        </p:txBody>
      </p:sp>
      <p:sp>
        <p:nvSpPr>
          <p:cNvPr id="6" name="validation-rule-0">
            <a:extLst>
              <a:ext uri="{FF2B5EF4-FFF2-40B4-BE49-F238E27FC236}">
                <a16:creationId xmlns:a16="http://schemas.microsoft.com/office/drawing/2014/main" id="{E8167CD9-1709-4036-A3E9-3005CDD8A74B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5334000" cy="11430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7" name="validation-threshold-0">
            <a:extLst>
              <a:ext uri="{FF2B5EF4-FFF2-40B4-BE49-F238E27FC236}">
                <a16:creationId xmlns:a16="http://schemas.microsoft.com/office/drawing/2014/main" id="{FB54D434-B1E5-4257-BA0E-376A36E17810}"/>
              </a:ext>
            </a:extLst>
          </p:cNvPr>
          <p:cNvSpPr>
            <a:spLocks noGrp="1"/>
          </p:cNvSpPr>
          <p:nvPr/>
        </p:nvSpPr>
        <p:spPr>
          <a:xfrm>
            <a:off x="638175" y="1638300"/>
            <a:ext cx="2286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Visibility &lt; 0,1</a:t>
            </a:r>
          </a:p>
        </p:txBody>
      </p:sp>
      <p:sp>
        <p:nvSpPr>
          <p:cNvPr id="8" name="validation-purpose-0">
            <a:extLst>
              <a:ext uri="{FF2B5EF4-FFF2-40B4-BE49-F238E27FC236}">
                <a16:creationId xmlns:a16="http://schemas.microsoft.com/office/drawing/2014/main" id="{0FEA3D32-D223-4775-9ADA-13A861FD1B32}"/>
              </a:ext>
            </a:extLst>
          </p:cNvPr>
          <p:cNvSpPr>
            <a:spLocks noGrp="1"/>
          </p:cNvSpPr>
          <p:nvPr/>
        </p:nvSpPr>
        <p:spPr>
          <a:xfrm>
            <a:off x="3067050" y="1619250"/>
            <a:ext cx="2286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Warning jika lebih dari 3 dari 7 landmark utama rendah</a:t>
            </a:r>
          </a:p>
        </p:txBody>
      </p:sp>
      <p:sp>
        <p:nvSpPr>
          <p:cNvPr id="9" name="validation-rule-1">
            <a:extLst>
              <a:ext uri="{FF2B5EF4-FFF2-40B4-BE49-F238E27FC236}">
                <a16:creationId xmlns:a16="http://schemas.microsoft.com/office/drawing/2014/main" id="{55A85827-4D34-4B24-A59D-7E1FCEE5EB7A}"/>
              </a:ext>
            </a:extLst>
          </p:cNvPr>
          <p:cNvSpPr>
            <a:spLocks noGrp="1"/>
          </p:cNvSpPr>
          <p:nvPr/>
        </p:nvSpPr>
        <p:spPr>
          <a:xfrm>
            <a:off x="6115050" y="1428750"/>
            <a:ext cx="5334000" cy="11430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0" name="validation-threshold-1">
            <a:extLst>
              <a:ext uri="{FF2B5EF4-FFF2-40B4-BE49-F238E27FC236}">
                <a16:creationId xmlns:a16="http://schemas.microsoft.com/office/drawing/2014/main" id="{D8B4441D-B322-43FD-BF48-AF48B6709FDD}"/>
              </a:ext>
            </a:extLst>
          </p:cNvPr>
          <p:cNvSpPr>
            <a:spLocks noGrp="1"/>
          </p:cNvSpPr>
          <p:nvPr/>
        </p:nvSpPr>
        <p:spPr>
          <a:xfrm>
            <a:off x="6353175" y="1638300"/>
            <a:ext cx="2286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Bahu &gt; 35%</a:t>
            </a:r>
          </a:p>
        </p:txBody>
      </p:sp>
      <p:sp>
        <p:nvSpPr>
          <p:cNvPr id="11" name="validation-purpose-1">
            <a:extLst>
              <a:ext uri="{FF2B5EF4-FFF2-40B4-BE49-F238E27FC236}">
                <a16:creationId xmlns:a16="http://schemas.microsoft.com/office/drawing/2014/main" id="{ECB35A7C-165A-4CBC-A9C8-F7DECFA46456}"/>
              </a:ext>
            </a:extLst>
          </p:cNvPr>
          <p:cNvSpPr>
            <a:spLocks noGrp="1"/>
          </p:cNvSpPr>
          <p:nvPr/>
        </p:nvSpPr>
        <p:spPr>
          <a:xfrm>
            <a:off x="8782050" y="1619250"/>
            <a:ext cx="2286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|Y kiri−kanan| / lebar bahu</a:t>
            </a:r>
          </a:p>
        </p:txBody>
      </p:sp>
      <p:sp>
        <p:nvSpPr>
          <p:cNvPr id="12" name="validation-rule-2">
            <a:extLst>
              <a:ext uri="{FF2B5EF4-FFF2-40B4-BE49-F238E27FC236}">
                <a16:creationId xmlns:a16="http://schemas.microsoft.com/office/drawing/2014/main" id="{1F491933-EB38-4532-A444-538DE2E3846B}"/>
              </a:ext>
            </a:extLst>
          </p:cNvPr>
          <p:cNvSpPr>
            <a:spLocks noGrp="1"/>
          </p:cNvSpPr>
          <p:nvPr/>
        </p:nvSpPr>
        <p:spPr>
          <a:xfrm>
            <a:off x="400050" y="2809875"/>
            <a:ext cx="5334000" cy="11430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3" name="validation-threshold-2">
            <a:extLst>
              <a:ext uri="{FF2B5EF4-FFF2-40B4-BE49-F238E27FC236}">
                <a16:creationId xmlns:a16="http://schemas.microsoft.com/office/drawing/2014/main" id="{3AFEFEFE-82EE-44E6-8DF5-7D3D5C3941C0}"/>
              </a:ext>
            </a:extLst>
          </p:cNvPr>
          <p:cNvSpPr>
            <a:spLocks noGrp="1"/>
          </p:cNvSpPr>
          <p:nvPr/>
        </p:nvSpPr>
        <p:spPr>
          <a:xfrm>
            <a:off x="638175" y="3019425"/>
            <a:ext cx="2286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Pinggul &gt; 35%</a:t>
            </a:r>
          </a:p>
        </p:txBody>
      </p:sp>
      <p:sp>
        <p:nvSpPr>
          <p:cNvPr id="14" name="validation-purpose-2">
            <a:extLst>
              <a:ext uri="{FF2B5EF4-FFF2-40B4-BE49-F238E27FC236}">
                <a16:creationId xmlns:a16="http://schemas.microsoft.com/office/drawing/2014/main" id="{977E3D4D-BB80-4FD3-909B-AFDEEE9CB342}"/>
              </a:ext>
            </a:extLst>
          </p:cNvPr>
          <p:cNvSpPr>
            <a:spLocks noGrp="1"/>
          </p:cNvSpPr>
          <p:nvPr/>
        </p:nvSpPr>
        <p:spPr>
          <a:xfrm>
            <a:off x="3067050" y="3000375"/>
            <a:ext cx="2286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|Y kiri−kanan| / lebar pinggul</a:t>
            </a:r>
          </a:p>
        </p:txBody>
      </p:sp>
      <p:sp>
        <p:nvSpPr>
          <p:cNvPr id="15" name="validation-rule-3">
            <a:extLst>
              <a:ext uri="{FF2B5EF4-FFF2-40B4-BE49-F238E27FC236}">
                <a16:creationId xmlns:a16="http://schemas.microsoft.com/office/drawing/2014/main" id="{F82B42D7-B931-46BA-9709-128D9D5EC902}"/>
              </a:ext>
            </a:extLst>
          </p:cNvPr>
          <p:cNvSpPr>
            <a:spLocks noGrp="1"/>
          </p:cNvSpPr>
          <p:nvPr/>
        </p:nvSpPr>
        <p:spPr>
          <a:xfrm>
            <a:off x="6115050" y="2809875"/>
            <a:ext cx="5334000" cy="11430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6" name="validation-threshold-3">
            <a:extLst>
              <a:ext uri="{FF2B5EF4-FFF2-40B4-BE49-F238E27FC236}">
                <a16:creationId xmlns:a16="http://schemas.microsoft.com/office/drawing/2014/main" id="{83199072-E590-4B85-816F-2773B80DBADD}"/>
              </a:ext>
            </a:extLst>
          </p:cNvPr>
          <p:cNvSpPr>
            <a:spLocks noGrp="1"/>
          </p:cNvSpPr>
          <p:nvPr/>
        </p:nvSpPr>
        <p:spPr>
          <a:xfrm>
            <a:off x="6353175" y="3019425"/>
            <a:ext cx="2286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Lutut &lt; 130°</a:t>
            </a:r>
          </a:p>
        </p:txBody>
      </p:sp>
      <p:sp>
        <p:nvSpPr>
          <p:cNvPr id="17" name="validation-purpose-3">
            <a:extLst>
              <a:ext uri="{FF2B5EF4-FFF2-40B4-BE49-F238E27FC236}">
                <a16:creationId xmlns:a16="http://schemas.microsoft.com/office/drawing/2014/main" id="{543D9939-FDD9-474E-81BA-C460FCED8108}"/>
              </a:ext>
            </a:extLst>
          </p:cNvPr>
          <p:cNvSpPr>
            <a:spLocks noGrp="1"/>
          </p:cNvSpPr>
          <p:nvPr/>
        </p:nvSpPr>
        <p:spPr>
          <a:xfrm>
            <a:off x="8782050" y="3000375"/>
            <a:ext cx="2286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Pose dianggap terlalu menekuk</a:t>
            </a:r>
          </a:p>
        </p:txBody>
      </p:sp>
      <p:sp>
        <p:nvSpPr>
          <p:cNvPr id="18" name="validation-rule-4">
            <a:extLst>
              <a:ext uri="{FF2B5EF4-FFF2-40B4-BE49-F238E27FC236}">
                <a16:creationId xmlns:a16="http://schemas.microsoft.com/office/drawing/2014/main" id="{B0B5A4A2-2F0F-47B3-A274-02103EBE8E92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5334000" cy="11430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9" name="validation-threshold-4">
            <a:extLst>
              <a:ext uri="{FF2B5EF4-FFF2-40B4-BE49-F238E27FC236}">
                <a16:creationId xmlns:a16="http://schemas.microsoft.com/office/drawing/2014/main" id="{15DA2D81-4E42-4B5D-9F69-60F6E1139601}"/>
              </a:ext>
            </a:extLst>
          </p:cNvPr>
          <p:cNvSpPr>
            <a:spLocks noGrp="1"/>
          </p:cNvSpPr>
          <p:nvPr/>
        </p:nvSpPr>
        <p:spPr>
          <a:xfrm>
            <a:off x="638175" y="4400550"/>
            <a:ext cx="2286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Torso &gt; 30%</a:t>
            </a:r>
          </a:p>
        </p:txBody>
      </p:sp>
      <p:sp>
        <p:nvSpPr>
          <p:cNvPr id="20" name="validation-purpose-4">
            <a:extLst>
              <a:ext uri="{FF2B5EF4-FFF2-40B4-BE49-F238E27FC236}">
                <a16:creationId xmlns:a16="http://schemas.microsoft.com/office/drawing/2014/main" id="{4E4B4B5A-E578-4779-8E95-961C81233489}"/>
              </a:ext>
            </a:extLst>
          </p:cNvPr>
          <p:cNvSpPr>
            <a:spLocks noGrp="1"/>
          </p:cNvSpPr>
          <p:nvPr/>
        </p:nvSpPr>
        <p:spPr>
          <a:xfrm>
            <a:off x="3067050" y="4381500"/>
            <a:ext cx="2286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offset horizontal / tinggi torso</a:t>
            </a:r>
          </a:p>
        </p:txBody>
      </p:sp>
      <p:sp>
        <p:nvSpPr>
          <p:cNvPr id="21" name="validation-rule-5">
            <a:extLst>
              <a:ext uri="{FF2B5EF4-FFF2-40B4-BE49-F238E27FC236}">
                <a16:creationId xmlns:a16="http://schemas.microsoft.com/office/drawing/2014/main" id="{FAC68482-13A0-45E4-A1CD-AA2B422FA7A3}"/>
              </a:ext>
            </a:extLst>
          </p:cNvPr>
          <p:cNvSpPr>
            <a:spLocks noGrp="1"/>
          </p:cNvSpPr>
          <p:nvPr/>
        </p:nvSpPr>
        <p:spPr>
          <a:xfrm>
            <a:off x="6115050" y="4191000"/>
            <a:ext cx="5334000" cy="11430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2" name="validation-threshold-5">
            <a:extLst>
              <a:ext uri="{FF2B5EF4-FFF2-40B4-BE49-F238E27FC236}">
                <a16:creationId xmlns:a16="http://schemas.microsoft.com/office/drawing/2014/main" id="{E36FBEF8-7A20-467F-B6F4-1C70A9FEC167}"/>
              </a:ext>
            </a:extLst>
          </p:cNvPr>
          <p:cNvSpPr>
            <a:spLocks noGrp="1"/>
          </p:cNvSpPr>
          <p:nvPr/>
        </p:nvSpPr>
        <p:spPr>
          <a:xfrm>
            <a:off x="6353175" y="4400550"/>
            <a:ext cx="2286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X di luar 5–95%</a:t>
            </a:r>
          </a:p>
        </p:txBody>
      </p:sp>
      <p:sp>
        <p:nvSpPr>
          <p:cNvPr id="23" name="validation-purpose-5">
            <a:extLst>
              <a:ext uri="{FF2B5EF4-FFF2-40B4-BE49-F238E27FC236}">
                <a16:creationId xmlns:a16="http://schemas.microsoft.com/office/drawing/2014/main" id="{CB2E91D8-E3AA-45D7-A921-40920F0C1C80}"/>
              </a:ext>
            </a:extLst>
          </p:cNvPr>
          <p:cNvSpPr>
            <a:spLocks noGrp="1"/>
          </p:cNvSpPr>
          <p:nvPr/>
        </p:nvSpPr>
        <p:spPr>
          <a:xfrm>
            <a:off x="8782050" y="4381500"/>
            <a:ext cx="2286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Subjek terlalu dekat tepi gambar</a:t>
            </a:r>
          </a:p>
        </p:txBody>
      </p:sp>
      <p:sp>
        <p:nvSpPr>
          <p:cNvPr id="24" name="validation-outcome">
            <a:extLst>
              <a:ext uri="{FF2B5EF4-FFF2-40B4-BE49-F238E27FC236}">
                <a16:creationId xmlns:a16="http://schemas.microsoft.com/office/drawing/2014/main" id="{DDF14B59-772D-48E2-8FAA-6D3A6E95B672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590550"/>
          </a:xfrm>
          <a:prstGeom prst="rect">
            <a:avLst/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25" name="validation-outcome-text">
            <a:extLst>
              <a:ext uri="{FF2B5EF4-FFF2-40B4-BE49-F238E27FC236}">
                <a16:creationId xmlns:a16="http://schemas.microsoft.com/office/drawing/2014/main" id="{5526B25D-78D4-4294-97D6-583D64E412FC}"/>
              </a:ext>
            </a:extLst>
          </p:cNvPr>
          <p:cNvSpPr>
            <a:spLocks noGrp="1"/>
          </p:cNvSpPr>
          <p:nvPr/>
        </p:nvSpPr>
        <p:spPr>
          <a:xfrm>
            <a:off x="1905000" y="5781675"/>
            <a:ext cx="8382000" cy="304800"/>
          </a:xfrm>
          <a:prstGeom prst="rect">
            <a:avLst/>
          </a:prstGeom>
        </p:spPr>
        <p:txBody>
          <a:bodyPr lIns="0" tIns="0" rIns="0" bIns="0" anchor="t">
            <a:normAutofit fontScale="97157"/>
          </a:bodyPr>
          <a:lstStyle/>
          <a:p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0–3 warning: hasil tetap valid dengan catatan. ≥4 warning: pose dinyatakan tidak valid.</a:t>
            </a:r>
          </a:p>
        </p:txBody>
      </p:sp>
    </p:spTree>
    <p:extLst>
      <p:ext uri="{BB962C8B-B14F-4D97-AF65-F5344CB8AC3E}">
        <p14:creationId xmlns:p14="http://schemas.microsoft.com/office/powerpoint/2010/main" val="685168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alidation-slide-background">
            <a:extLst>
              <a:ext uri="{FF2B5EF4-FFF2-40B4-BE49-F238E27FC236}">
                <a16:creationId xmlns:a16="http://schemas.microsoft.com/office/drawing/2014/main" id="{59B79C09-7B0E-4521-A67E-50C24D6FA6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title-21">
            <a:extLst>
              <a:ext uri="{FF2B5EF4-FFF2-40B4-BE49-F238E27FC236}">
                <a16:creationId xmlns:a16="http://schemas.microsoft.com/office/drawing/2014/main" id="{A9A5B0D3-34B1-4C33-84C4-270F190D2917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668000" cy="6667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Validasi pose dan batasan sistem</a:t>
            </a:r>
          </a:p>
        </p:txBody>
      </p:sp>
      <p:cxnSp>
        <p:nvCxnSpPr>
          <p:cNvPr id="27" name="accent-21"/>
          <p:cNvCxnSpPr/>
          <p:nvPr/>
        </p:nvCxnSpPr>
        <p:spPr>
          <a:xfrm>
            <a:off x="400050" y="1066800"/>
            <a:ext cx="1619250" cy="9525"/>
          </a:xfrm>
          <a:prstGeom prst="straightConnector1">
            <a:avLst/>
          </a:prstGeom>
          <a:ln w="47625">
            <a:solidFill>
              <a:srgbClr val="3D8DFF"/>
            </a:solidFill>
            <a:prstDash val="solid"/>
          </a:ln>
        </p:spPr>
      </p:cxnSp>
      <p:sp>
        <p:nvSpPr>
          <p:cNvPr id="4" name="page-21">
            <a:extLst>
              <a:ext uri="{FF2B5EF4-FFF2-40B4-BE49-F238E27FC236}">
                <a16:creationId xmlns:a16="http://schemas.microsoft.com/office/drawing/2014/main" id="{B08AD86B-F8E7-4602-878E-3DFCE5CADA27}"/>
              </a:ext>
            </a:extLst>
          </p:cNvPr>
          <p:cNvSpPr>
            <a:spLocks noGrp="1"/>
          </p:cNvSpPr>
          <p:nvPr/>
        </p:nvSpPr>
        <p:spPr>
          <a:xfrm>
            <a:off x="11277600" y="6334125"/>
            <a:ext cx="4953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21</a:t>
            </a:r>
          </a:p>
        </p:txBody>
      </p:sp>
      <p:sp>
        <p:nvSpPr>
          <p:cNvPr id="5" name="source-21">
            <a:extLst>
              <a:ext uri="{FF2B5EF4-FFF2-40B4-BE49-F238E27FC236}">
                <a16:creationId xmlns:a16="http://schemas.microsoft.com/office/drawing/2014/main" id="{4BFB7AE2-F622-4A7D-96E7-9261A41C3E1D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9525000" cy="1714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Sumber: validatePose() pada MeasurementActivity.java</a:t>
            </a:r>
          </a:p>
        </p:txBody>
      </p:sp>
      <p:sp>
        <p:nvSpPr>
          <p:cNvPr id="6" name="validation-lead">
            <a:extLst>
              <a:ext uri="{FF2B5EF4-FFF2-40B4-BE49-F238E27FC236}">
                <a16:creationId xmlns:a16="http://schemas.microsoft.com/office/drawing/2014/main" id="{F922BBF0-9B21-49A1-9618-74D582D7D9B6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0668000" cy="5715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Sistem memeriksa kualitas pose sebelum hasil digunakan; warning tidak selalu menggagalkan proses, tetapi memberi konteks kualitas.</a:t>
            </a:r>
          </a:p>
        </p:txBody>
      </p:sp>
      <p:sp>
        <p:nvSpPr>
          <p:cNvPr id="7" name="check-dot-0">
            <a:extLst>
              <a:ext uri="{FF2B5EF4-FFF2-40B4-BE49-F238E27FC236}">
                <a16:creationId xmlns:a16="http://schemas.microsoft.com/office/drawing/2014/main" id="{CE5CC3EE-F454-45AB-ABC3-0E07FA3AA7A2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228600" cy="2286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8" name="check-mark-0">
            <a:extLst>
              <a:ext uri="{FF2B5EF4-FFF2-40B4-BE49-F238E27FC236}">
                <a16:creationId xmlns:a16="http://schemas.microsoft.com/office/drawing/2014/main" id="{CC5F6539-4866-423F-BA84-B0EBCD1AA1B9}"/>
              </a:ext>
            </a:extLst>
          </p:cNvPr>
          <p:cNvSpPr>
            <a:spLocks noGrp="1"/>
          </p:cNvSpPr>
          <p:nvPr/>
        </p:nvSpPr>
        <p:spPr>
          <a:xfrm>
            <a:off x="619125" y="2371725"/>
            <a:ext cx="2286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check-text-0">
            <a:extLst>
              <a:ext uri="{FF2B5EF4-FFF2-40B4-BE49-F238E27FC236}">
                <a16:creationId xmlns:a16="http://schemas.microsoft.com/office/drawing/2014/main" id="{B7C12CF5-53EE-445F-BC74-B580EF810DAE}"/>
              </a:ext>
            </a:extLst>
          </p:cNvPr>
          <p:cNvSpPr>
            <a:spLocks noGrp="1"/>
          </p:cNvSpPr>
          <p:nvPr/>
        </p:nvSpPr>
        <p:spPr>
          <a:xfrm>
            <a:off x="1047750" y="2333625"/>
            <a:ext cx="5429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Landmark utama tersedia dan cukup terlihat</a:t>
            </a:r>
          </a:p>
        </p:txBody>
      </p:sp>
      <p:sp>
        <p:nvSpPr>
          <p:cNvPr id="10" name="check-dot-1">
            <a:extLst>
              <a:ext uri="{FF2B5EF4-FFF2-40B4-BE49-F238E27FC236}">
                <a16:creationId xmlns:a16="http://schemas.microsoft.com/office/drawing/2014/main" id="{02BDC28E-E462-4F89-AE48-790F08F430D8}"/>
              </a:ext>
            </a:extLst>
          </p:cNvPr>
          <p:cNvSpPr>
            <a:spLocks noGrp="1"/>
          </p:cNvSpPr>
          <p:nvPr/>
        </p:nvSpPr>
        <p:spPr>
          <a:xfrm>
            <a:off x="619125" y="3009900"/>
            <a:ext cx="228600" cy="2286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1" name="check-mark-1">
            <a:extLst>
              <a:ext uri="{FF2B5EF4-FFF2-40B4-BE49-F238E27FC236}">
                <a16:creationId xmlns:a16="http://schemas.microsoft.com/office/drawing/2014/main" id="{9FB0DB4B-BB36-4C23-8BE1-500C484F2D7A}"/>
              </a:ext>
            </a:extLst>
          </p:cNvPr>
          <p:cNvSpPr>
            <a:spLocks noGrp="1"/>
          </p:cNvSpPr>
          <p:nvPr/>
        </p:nvSpPr>
        <p:spPr>
          <a:xfrm>
            <a:off x="619125" y="3000375"/>
            <a:ext cx="2286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check-text-1">
            <a:extLst>
              <a:ext uri="{FF2B5EF4-FFF2-40B4-BE49-F238E27FC236}">
                <a16:creationId xmlns:a16="http://schemas.microsoft.com/office/drawing/2014/main" id="{E001B06F-B5E8-4977-98BA-73C442DF1A41}"/>
              </a:ext>
            </a:extLst>
          </p:cNvPr>
          <p:cNvSpPr>
            <a:spLocks noGrp="1"/>
          </p:cNvSpPr>
          <p:nvPr/>
        </p:nvSpPr>
        <p:spPr>
          <a:xfrm>
            <a:off x="1047750" y="2962275"/>
            <a:ext cx="5429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Puncak kepala serta kaki berada di dalam frame</a:t>
            </a:r>
          </a:p>
        </p:txBody>
      </p:sp>
      <p:sp>
        <p:nvSpPr>
          <p:cNvPr id="13" name="check-dot-2">
            <a:extLst>
              <a:ext uri="{FF2B5EF4-FFF2-40B4-BE49-F238E27FC236}">
                <a16:creationId xmlns:a16="http://schemas.microsoft.com/office/drawing/2014/main" id="{7B10E62A-B69A-4AE9-9D11-67BFDA5B1286}"/>
              </a:ext>
            </a:extLst>
          </p:cNvPr>
          <p:cNvSpPr>
            <a:spLocks noGrp="1"/>
          </p:cNvSpPr>
          <p:nvPr/>
        </p:nvSpPr>
        <p:spPr>
          <a:xfrm>
            <a:off x="619125" y="3638550"/>
            <a:ext cx="228600" cy="2286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4" name="check-mark-2">
            <a:extLst>
              <a:ext uri="{FF2B5EF4-FFF2-40B4-BE49-F238E27FC236}">
                <a16:creationId xmlns:a16="http://schemas.microsoft.com/office/drawing/2014/main" id="{29F19289-5EE1-4D7A-BDD9-830B43A09267}"/>
              </a:ext>
            </a:extLst>
          </p:cNvPr>
          <p:cNvSpPr>
            <a:spLocks noGrp="1"/>
          </p:cNvSpPr>
          <p:nvPr/>
        </p:nvSpPr>
        <p:spPr>
          <a:xfrm>
            <a:off x="619125" y="3629025"/>
            <a:ext cx="2286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5" name="check-text-2">
            <a:extLst>
              <a:ext uri="{FF2B5EF4-FFF2-40B4-BE49-F238E27FC236}">
                <a16:creationId xmlns:a16="http://schemas.microsoft.com/office/drawing/2014/main" id="{FCE4ACE0-243E-4A1E-905A-40DB1AB045A8}"/>
              </a:ext>
            </a:extLst>
          </p:cNvPr>
          <p:cNvSpPr>
            <a:spLocks noGrp="1"/>
          </p:cNvSpPr>
          <p:nvPr/>
        </p:nvSpPr>
        <p:spPr>
          <a:xfrm>
            <a:off x="1047750" y="3590925"/>
            <a:ext cx="5429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Kemiringan bahu dan pinggul tidak berlebihan</a:t>
            </a:r>
          </a:p>
        </p:txBody>
      </p:sp>
      <p:sp>
        <p:nvSpPr>
          <p:cNvPr id="16" name="check-dot-3">
            <a:extLst>
              <a:ext uri="{FF2B5EF4-FFF2-40B4-BE49-F238E27FC236}">
                <a16:creationId xmlns:a16="http://schemas.microsoft.com/office/drawing/2014/main" id="{75A09A31-4DDC-4F98-A763-009A77E5A706}"/>
              </a:ext>
            </a:extLst>
          </p:cNvPr>
          <p:cNvSpPr>
            <a:spLocks noGrp="1"/>
          </p:cNvSpPr>
          <p:nvPr/>
        </p:nvSpPr>
        <p:spPr>
          <a:xfrm>
            <a:off x="619125" y="4267200"/>
            <a:ext cx="228600" cy="2286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17" name="check-mark-3">
            <a:extLst>
              <a:ext uri="{FF2B5EF4-FFF2-40B4-BE49-F238E27FC236}">
                <a16:creationId xmlns:a16="http://schemas.microsoft.com/office/drawing/2014/main" id="{906131FB-092A-49E9-A82D-78E9D1C6DEEB}"/>
              </a:ext>
            </a:extLst>
          </p:cNvPr>
          <p:cNvSpPr>
            <a:spLocks noGrp="1"/>
          </p:cNvSpPr>
          <p:nvPr/>
        </p:nvSpPr>
        <p:spPr>
          <a:xfrm>
            <a:off x="619125" y="4257675"/>
            <a:ext cx="2286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8" name="check-text-3">
            <a:extLst>
              <a:ext uri="{FF2B5EF4-FFF2-40B4-BE49-F238E27FC236}">
                <a16:creationId xmlns:a16="http://schemas.microsoft.com/office/drawing/2014/main" id="{AA9E8336-95D9-4A21-BFF9-1C1CCB9CCEB4}"/>
              </a:ext>
            </a:extLst>
          </p:cNvPr>
          <p:cNvSpPr>
            <a:spLocks noGrp="1"/>
          </p:cNvSpPr>
          <p:nvPr/>
        </p:nvSpPr>
        <p:spPr>
          <a:xfrm>
            <a:off x="1047750" y="4219575"/>
            <a:ext cx="5429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Sudut lutut minimal sekitar 130°</a:t>
            </a:r>
          </a:p>
        </p:txBody>
      </p:sp>
      <p:sp>
        <p:nvSpPr>
          <p:cNvPr id="19" name="check-dot-4">
            <a:extLst>
              <a:ext uri="{FF2B5EF4-FFF2-40B4-BE49-F238E27FC236}">
                <a16:creationId xmlns:a16="http://schemas.microsoft.com/office/drawing/2014/main" id="{02375079-5E40-4A1F-9D4D-09FA6D477D8B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228600" cy="228600"/>
          </a:xfrm>
          <a:prstGeom prst="ellipse">
            <a:avLst/>
          </a:prstGeom>
          <a:solidFill>
            <a:srgbClr val="3D8DFF"/>
          </a:solidFill>
        </p:spPr>
      </p:sp>
      <p:sp>
        <p:nvSpPr>
          <p:cNvPr id="20" name="check-mark-4">
            <a:extLst>
              <a:ext uri="{FF2B5EF4-FFF2-40B4-BE49-F238E27FC236}">
                <a16:creationId xmlns:a16="http://schemas.microsoft.com/office/drawing/2014/main" id="{30CDDE10-20CB-4164-B10E-90E2C8C6BD39}"/>
              </a:ext>
            </a:extLst>
          </p:cNvPr>
          <p:cNvSpPr>
            <a:spLocks noGrp="1"/>
          </p:cNvSpPr>
          <p:nvPr/>
        </p:nvSpPr>
        <p:spPr>
          <a:xfrm>
            <a:off x="619125" y="4886325"/>
            <a:ext cx="228600" cy="2095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1" name="check-text-4">
            <a:extLst>
              <a:ext uri="{FF2B5EF4-FFF2-40B4-BE49-F238E27FC236}">
                <a16:creationId xmlns:a16="http://schemas.microsoft.com/office/drawing/2014/main" id="{B688F778-1302-4959-93CF-5F8EA623AF0B}"/>
              </a:ext>
            </a:extLst>
          </p:cNvPr>
          <p:cNvSpPr>
            <a:spLocks noGrp="1"/>
          </p:cNvSpPr>
          <p:nvPr/>
        </p:nvSpPr>
        <p:spPr>
          <a:xfrm>
            <a:off x="1047750" y="4848225"/>
            <a:ext cx="5429250" cy="3429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Torso tidak terlalu miring dan subjek tidak di tepi</a:t>
            </a:r>
          </a:p>
        </p:txBody>
      </p:sp>
      <p:sp>
        <p:nvSpPr>
          <p:cNvPr id="22" name="limits">
            <a:extLst>
              <a:ext uri="{FF2B5EF4-FFF2-40B4-BE49-F238E27FC236}">
                <a16:creationId xmlns:a16="http://schemas.microsoft.com/office/drawing/2014/main" id="{B085A42B-01BD-44DB-A24A-C29B1D145215}"/>
              </a:ext>
            </a:extLst>
          </p:cNvPr>
          <p:cNvSpPr>
            <a:spLocks noGrp="1"/>
          </p:cNvSpPr>
          <p:nvPr/>
        </p:nvSpPr>
        <p:spPr>
          <a:xfrm>
            <a:off x="7239000" y="2143125"/>
            <a:ext cx="4095750" cy="34290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3" name="limits-title">
            <a:extLst>
              <a:ext uri="{FF2B5EF4-FFF2-40B4-BE49-F238E27FC236}">
                <a16:creationId xmlns:a16="http://schemas.microsoft.com/office/drawing/2014/main" id="{3C8309B4-32B3-4220-A5BB-6FDBD2F0D25F}"/>
              </a:ext>
            </a:extLst>
          </p:cNvPr>
          <p:cNvSpPr>
            <a:spLocks noGrp="1"/>
          </p:cNvSpPr>
          <p:nvPr/>
        </p:nvSpPr>
        <p:spPr>
          <a:xfrm>
            <a:off x="7572375" y="2428875"/>
            <a:ext cx="3429000" cy="36195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Batasan implementasi</a:t>
            </a:r>
          </a:p>
        </p:txBody>
      </p:sp>
      <p:sp>
        <p:nvSpPr>
          <p:cNvPr id="24" name="limits-body">
            <a:extLst>
              <a:ext uri="{FF2B5EF4-FFF2-40B4-BE49-F238E27FC236}">
                <a16:creationId xmlns:a16="http://schemas.microsoft.com/office/drawing/2014/main" id="{223F5CF3-27CF-4C15-ADCA-C6CF14D6BCF5}"/>
              </a:ext>
            </a:extLst>
          </p:cNvPr>
          <p:cNvSpPr>
            <a:spLocks noGrp="1"/>
          </p:cNvSpPr>
          <p:nvPr/>
        </p:nvSpPr>
        <p:spPr>
          <a:xfrm>
            <a:off x="7572375" y="3095625"/>
            <a:ext cx="3286125" cy="2095500"/>
          </a:xfrm>
          <a:prstGeom prst="rect">
            <a:avLst/>
          </a:prstGeom>
        </p:spPr>
        <p:txBody>
          <a:bodyPr lIns="0" tIns="0" rIns="0" bIns="0" anchor="t">
            <a:normAutofit fontScale="88082"/>
          </a:bodyPr>
          <a:lstStyle/>
          <a:p>
            <a:pPr algn="l">
              <a:defRPr sz="15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• Input harus menampilkan tubuh dan board secara utuh
• EXIF hasil edit bisa hilang atau tidak konsisten
• Kontur dapat menyatu dengan background
• Akurasi akhir tetap membutuhkan validasi terhadap pengukuran manual</a:t>
            </a:r>
          </a:p>
        </p:txBody>
      </p:sp>
    </p:spTree>
    <p:extLst>
      <p:ext uri="{BB962C8B-B14F-4D97-AF65-F5344CB8AC3E}">
        <p14:creationId xmlns:p14="http://schemas.microsoft.com/office/powerpoint/2010/main" val="1015822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sing-slide-background">
            <a:extLst>
              <a:ext uri="{FF2B5EF4-FFF2-40B4-BE49-F238E27FC236}">
                <a16:creationId xmlns:a16="http://schemas.microsoft.com/office/drawing/2014/main" id="{E433B723-9368-44B8-8A9B-DAFCB35774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close-eyebrow">
            <a:extLst>
              <a:ext uri="{FF2B5EF4-FFF2-40B4-BE49-F238E27FC236}">
                <a16:creationId xmlns:a16="http://schemas.microsoft.com/office/drawing/2014/main" id="{AF8EF27E-D122-443D-9DFC-4B049D41584A}"/>
              </a:ext>
            </a:extLst>
          </p:cNvPr>
          <p:cNvSpPr>
            <a:spLocks noGrp="1"/>
          </p:cNvSpPr>
          <p:nvPr/>
        </p:nvSpPr>
        <p:spPr>
          <a:xfrm>
            <a:off x="400050" y="428625"/>
            <a:ext cx="2476500" cy="3048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D45DF"/>
                </a:solidFill>
                <a:latin typeface="Arial"/>
                <a:ea typeface="Arial"/>
                <a:cs typeface="Arial"/>
              </a:defRPr>
            </a:pPr>
            <a:r>
              <a:t>KESIMPULAN</a:t>
            </a:r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CCADEDE1-DABB-4FE5-B2BF-A52C61908F9D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8572500" cy="257175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Pengukuran dapat
ditelusuri dari piksel
hingga sentimeter</a:t>
            </a:r>
          </a:p>
        </p:txBody>
      </p:sp>
      <p:sp>
        <p:nvSpPr>
          <p:cNvPr id="4" name="close-body">
            <a:extLst>
              <a:ext uri="{FF2B5EF4-FFF2-40B4-BE49-F238E27FC236}">
                <a16:creationId xmlns:a16="http://schemas.microsoft.com/office/drawing/2014/main" id="{2A9911F2-D46A-4128-8A5A-27E6C3DD969C}"/>
              </a:ext>
            </a:extLst>
          </p:cNvPr>
          <p:cNvSpPr>
            <a:spLocks noGrp="1"/>
          </p:cNvSpPr>
          <p:nvPr/>
        </p:nvSpPr>
        <p:spPr>
          <a:xfrm>
            <a:off x="400050" y="4524375"/>
            <a:ext cx="8096250" cy="1143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1. Geometri distabilkan dengan marker dan perspective correction.
2. Anatomi diperkirakan dari landmark MediaPipe.
3. Skala board, depth 0,857, dan kalibrasi 1,025 menghasilkan tinggi akhir.</a:t>
            </a:r>
          </a:p>
        </p:txBody>
      </p:sp>
      <p:sp>
        <p:nvSpPr>
          <p:cNvPr id="5" name="close-accent">
            <a:extLst>
              <a:ext uri="{FF2B5EF4-FFF2-40B4-BE49-F238E27FC236}">
                <a16:creationId xmlns:a16="http://schemas.microsoft.com/office/drawing/2014/main" id="{D1DEB0F1-8E86-481E-97FF-B4E3699A7040}"/>
              </a:ext>
            </a:extLst>
          </p:cNvPr>
          <p:cNvSpPr>
            <a:spLocks noGrp="1"/>
          </p:cNvSpPr>
          <p:nvPr/>
        </p:nvSpPr>
        <p:spPr>
          <a:xfrm>
            <a:off x="9620250" y="1428750"/>
            <a:ext cx="1428750" cy="32385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close-accent-2">
            <a:extLst>
              <a:ext uri="{FF2B5EF4-FFF2-40B4-BE49-F238E27FC236}">
                <a16:creationId xmlns:a16="http://schemas.microsoft.com/office/drawing/2014/main" id="{83E0F5CE-6D78-4A6E-BE56-4E856F74C2D4}"/>
              </a:ext>
            </a:extLst>
          </p:cNvPr>
          <p:cNvSpPr>
            <a:spLocks noGrp="1"/>
          </p:cNvSpPr>
          <p:nvPr/>
        </p:nvSpPr>
        <p:spPr>
          <a:xfrm>
            <a:off x="9620250" y="4810125"/>
            <a:ext cx="1428750" cy="285750"/>
          </a:xfrm>
          <a:prstGeom prst="rect">
            <a:avLst/>
          </a:prstGeom>
          <a:solidFill>
            <a:srgbClr val="6D45DF"/>
          </a:solidFill>
          <a:ln w="0">
            <a:noFill/>
            <a:prstDash val="solid"/>
          </a:ln>
        </p:spPr>
      </p:sp>
      <p:sp>
        <p:nvSpPr>
          <p:cNvPr id="7" name="close-next">
            <a:extLst>
              <a:ext uri="{FF2B5EF4-FFF2-40B4-BE49-F238E27FC236}">
                <a16:creationId xmlns:a16="http://schemas.microsoft.com/office/drawing/2014/main" id="{61653A0A-B022-4ECC-B74B-9CA8F8C18860}"/>
              </a:ext>
            </a:extLst>
          </p:cNvPr>
          <p:cNvSpPr>
            <a:spLocks noGrp="1"/>
          </p:cNvSpPr>
          <p:nvPr/>
        </p:nvSpPr>
        <p:spPr>
          <a:xfrm>
            <a:off x="7096125" y="5810250"/>
            <a:ext cx="3952875" cy="523875"/>
          </a:xfrm>
          <a:prstGeom prst="rect">
            <a:avLst/>
          </a:prstGeom>
        </p:spPr>
        <p:txBody>
          <a:bodyPr lIns="0" tIns="0" rIns="0" bIns="0" anchor="t">
            <a:normAutofit fontScale="91736"/>
          </a:bodyPr>
          <a:lstStyle/>
          <a:p>
            <a:pPr algn="r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t>Langkah berikutnya: validasi terukur terhadap data tinggi manual pada beberapa subjek dan kondisi pengambilan.</a:t>
            </a:r>
          </a:p>
        </p:txBody>
      </p:sp>
    </p:spTree>
    <p:extLst>
      <p:ext uri="{BB962C8B-B14F-4D97-AF65-F5344CB8AC3E}">
        <p14:creationId xmlns:p14="http://schemas.microsoft.com/office/powerpoint/2010/main" val="6357991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1978</Words>
  <Application>Microsoft Office PowerPoint</Application>
  <DocSecurity>0</DocSecurity>
  <PresentationFormat>Widescreen</PresentationFormat>
  <Paragraphs>310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khayla fitriani</cp:lastModifiedBy>
  <cp:revision>1</cp:revision>
  <dcterms:created xsi:type="dcterms:W3CDTF">2026-07-11T06:55:45Z</dcterms:created>
  <dcterms:modified xsi:type="dcterms:W3CDTF">2026-07-11T11:29:31Z</dcterms:modified>
</cp:coreProperties>
</file>