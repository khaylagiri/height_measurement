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fcabcc56e14a4e" /><Relationship Type="http://schemas.openxmlformats.org/officeDocument/2006/relationships/extended-properties" Target="/docProps/app.xml" Id="Rf4c40dff25414b63" /><Relationship Type="http://schemas.openxmlformats.org/officeDocument/2006/relationships/officeDocument" Target="/ppt/presentation.xml" Id="R7c7b2cc82d1949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b59dcfdbc436c"/>
  </p:sldMasterIdLst>
  <p:notesMasterIdLst>
    <p:notesMasterId xmlns:r="http://schemas.openxmlformats.org/officeDocument/2006/relationships" r:id="R581c74ef200a4463"/>
  </p:notesMasterIdLst>
  <p:sldIdLst>
    <p:sldId xmlns:r="http://schemas.openxmlformats.org/officeDocument/2006/relationships" id="256" r:id="Rd87b2c6819d54183"/>
    <p:sldId xmlns:r="http://schemas.openxmlformats.org/officeDocument/2006/relationships" id="257" r:id="R9f7939f11d734b64"/>
    <p:sldId xmlns:r="http://schemas.openxmlformats.org/officeDocument/2006/relationships" id="258" r:id="R8069700db14447bf"/>
    <p:sldId xmlns:r="http://schemas.openxmlformats.org/officeDocument/2006/relationships" id="259" r:id="R273656505ccd4bb2"/>
    <p:sldId xmlns:r="http://schemas.openxmlformats.org/officeDocument/2006/relationships" id="260" r:id="Rb8b4a163f8a44e35"/>
    <p:sldId xmlns:r="http://schemas.openxmlformats.org/officeDocument/2006/relationships" id="261" r:id="R6a99638349ce4cc3"/>
    <p:sldId xmlns:r="http://schemas.openxmlformats.org/officeDocument/2006/relationships" id="262" r:id="R6cd0bbc234ae4e7a"/>
    <p:sldId xmlns:r="http://schemas.openxmlformats.org/officeDocument/2006/relationships" id="263" r:id="R796cf03edfe84679"/>
    <p:sldId xmlns:r="http://schemas.openxmlformats.org/officeDocument/2006/relationships" id="264" r:id="R805e60e476224ec4"/>
    <p:sldId xmlns:r="http://schemas.openxmlformats.org/officeDocument/2006/relationships" id="265" r:id="Rf2c49e68ac11454b"/>
    <p:sldId xmlns:r="http://schemas.openxmlformats.org/officeDocument/2006/relationships" id="266" r:id="R95f18a7742f540f6"/>
    <p:sldId xmlns:r="http://schemas.openxmlformats.org/officeDocument/2006/relationships" id="267" r:id="R27075f2c8ac041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8110a36084608" /><Relationship Type="http://schemas.openxmlformats.org/officeDocument/2006/relationships/slideMaster" Target="/ppt/slideMasters/slideMaster1.xml" Id="R27ab59dcfdbc436c" /><Relationship Type="http://schemas.openxmlformats.org/officeDocument/2006/relationships/notesMaster" Target="/ppt/notesMasters/notesMaster1.xml" Id="R581c74ef200a4463" /><Relationship Type="http://schemas.openxmlformats.org/officeDocument/2006/relationships/presProps" Target="/ppt/presProps.xml" Id="Re25337ca9f894bab" /><Relationship Type="http://schemas.openxmlformats.org/officeDocument/2006/relationships/tableStyles" Target="/ppt/tableStyles.xml" Id="R98b0a216f0504014" /><Relationship Type="http://schemas.openxmlformats.org/officeDocument/2006/relationships/slide" Target="/ppt/slides/slide1.xml" Id="Rd87b2c6819d54183" /><Relationship Type="http://schemas.openxmlformats.org/officeDocument/2006/relationships/slide" Target="/ppt/slides/slide2.xml" Id="R9f7939f11d734b64" /><Relationship Type="http://schemas.openxmlformats.org/officeDocument/2006/relationships/slide" Target="/ppt/slides/slide3.xml" Id="R8069700db14447bf" /><Relationship Type="http://schemas.openxmlformats.org/officeDocument/2006/relationships/slide" Target="/ppt/slides/slide4.xml" Id="R273656505ccd4bb2" /><Relationship Type="http://schemas.openxmlformats.org/officeDocument/2006/relationships/slide" Target="/ppt/slides/slide5.xml" Id="Rb8b4a163f8a44e35" /><Relationship Type="http://schemas.openxmlformats.org/officeDocument/2006/relationships/slide" Target="/ppt/slides/slide6.xml" Id="R6a99638349ce4cc3" /><Relationship Type="http://schemas.openxmlformats.org/officeDocument/2006/relationships/slide" Target="/ppt/slides/slide7.xml" Id="R6cd0bbc234ae4e7a" /><Relationship Type="http://schemas.openxmlformats.org/officeDocument/2006/relationships/slide" Target="/ppt/slides/slide8.xml" Id="R796cf03edfe84679" /><Relationship Type="http://schemas.openxmlformats.org/officeDocument/2006/relationships/slide" Target="/ppt/slides/slide9.xml" Id="R805e60e476224ec4" /><Relationship Type="http://schemas.openxmlformats.org/officeDocument/2006/relationships/slide" Target="/ppt/slides/slide10.xml" Id="Rf2c49e68ac11454b" /><Relationship Type="http://schemas.openxmlformats.org/officeDocument/2006/relationships/slide" Target="/ppt/slides/slide11.xml" Id="R95f18a7742f540f6" /><Relationship Type="http://schemas.openxmlformats.org/officeDocument/2006/relationships/slide" Target="/ppt/slides/slide12.xml" Id="R27075f2c8ac0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e47a53edf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10745d4ee4050" /><Relationship Type="http://schemas.openxmlformats.org/officeDocument/2006/relationships/notesMaster" Target="/ppt/notesMasters/notesMaster1.xml" Id="R399a91e6022a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7e5d35155f427a" /><Relationship Type="http://schemas.openxmlformats.org/officeDocument/2006/relationships/notesMaster" Target="/ppt/notesMasters/notesMaster1.xml" Id="R788e69a52260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0a6257164c42b2" /><Relationship Type="http://schemas.openxmlformats.org/officeDocument/2006/relationships/notesMaster" Target="/ppt/notesMasters/notesMaster1.xml" Id="R4a0c03a1fccd4d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3b70a9a6e4e04" /><Relationship Type="http://schemas.openxmlformats.org/officeDocument/2006/relationships/notesMaster" Target="/ppt/notesMasters/notesMaster1.xml" Id="R1aeb551004a647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ddd39be604b41" /><Relationship Type="http://schemas.openxmlformats.org/officeDocument/2006/relationships/notesMaster" Target="/ppt/notesMasters/notesMaster1.xml" Id="R964439897b87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cab8b86ae34a8b" /><Relationship Type="http://schemas.openxmlformats.org/officeDocument/2006/relationships/notesMaster" Target="/ppt/notesMasters/notesMaster1.xml" Id="Ra97aefbb123e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8ba915c0cf4ed2" /><Relationship Type="http://schemas.openxmlformats.org/officeDocument/2006/relationships/notesMaster" Target="/ppt/notesMasters/notesMaster1.xml" Id="R38cdb4547d1646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f527a80c4342e6" /><Relationship Type="http://schemas.openxmlformats.org/officeDocument/2006/relationships/notesMaster" Target="/ppt/notesMasters/notesMaster1.xml" Id="Rd1252aebd93340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c16ce95bd4bde" /><Relationship Type="http://schemas.openxmlformats.org/officeDocument/2006/relationships/notesMaster" Target="/ppt/notesMasters/notesMaster1.xml" Id="R3a245385fe4b41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b02e58d694d51" /><Relationship Type="http://schemas.openxmlformats.org/officeDocument/2006/relationships/notesMaster" Target="/ppt/notesMasters/notesMaster1.xml" Id="Rf952aa93045242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b2b03df13c4dff" /><Relationship Type="http://schemas.openxmlformats.org/officeDocument/2006/relationships/notesMaster" Target="/ppt/notesMasters/notesMaster1.xml" Id="R9cf50a93793947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2df330e88643d4" /><Relationship Type="http://schemas.openxmlformats.org/officeDocument/2006/relationships/notesMaster" Target="/ppt/notesMasters/notesMaster1.xml" Id="R1ada22990904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bb580ad064a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818b0de08b44d9" /><Relationship Type="http://schemas.openxmlformats.org/officeDocument/2006/relationships/slideLayout" Target="/ppt/slideLayouts/slideLayout1.xml" Id="R99bfc5970c1f43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fc5970c1f43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3f1798de54427" /><Relationship Type="http://schemas.openxmlformats.org/officeDocument/2006/relationships/notesSlide" Target="/ppt/notesSlides/notesSlide1.xml" Id="R62ce4ef85da847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b9c5965f849de" /><Relationship Type="http://schemas.openxmlformats.org/officeDocument/2006/relationships/notesSlide" Target="/ppt/notesSlides/notesSlide2.xml" Id="Re376f77f6eb147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0970e81ba4d13" /><Relationship Type="http://schemas.openxmlformats.org/officeDocument/2006/relationships/notesSlide" Target="/ppt/notesSlides/notesSlide3.xml" Id="R592cc6a22a68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f494f6dc440aa" /><Relationship Type="http://schemas.openxmlformats.org/officeDocument/2006/relationships/notesSlide" Target="/ppt/notesSlides/notesSlide4.xml" Id="Racd5278a7e8d44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bb4487ed4605" /><Relationship Type="http://schemas.openxmlformats.org/officeDocument/2006/relationships/chart" Target="/ppt/slides/charts/chart1.xml" Id="Rf7393817a4404540" /><Relationship Type="http://schemas.openxmlformats.org/officeDocument/2006/relationships/notesSlide" Target="/ppt/notesSlides/notesSlide5.xml" Id="R67c745b4cfb544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2cd8316d74398" /><Relationship Type="http://schemas.openxmlformats.org/officeDocument/2006/relationships/notesSlide" Target="/ppt/notesSlides/notesSlide6.xml" Id="R7cc94939ddfb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c6b17bb9e452c" /><Relationship Type="http://schemas.openxmlformats.org/officeDocument/2006/relationships/notesSlide" Target="/ppt/notesSlides/notesSlide7.xml" Id="R6448de8686d240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778f8e4614d15" /><Relationship Type="http://schemas.openxmlformats.org/officeDocument/2006/relationships/notesSlide" Target="/ppt/notesSlides/notesSlide8.xml" Id="R3f6bde2190bc47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67924e1c344a1" /><Relationship Type="http://schemas.openxmlformats.org/officeDocument/2006/relationships/notesSlide" Target="/ppt/notesSlides/notesSlide9.xml" Id="Re20a7882fd794a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b9d830fab43a8" /><Relationship Type="http://schemas.openxmlformats.org/officeDocument/2006/relationships/notesSlide" Target="/ppt/notesSlides/notesSlide10.xml" Id="Re1682744d6f94a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f1a78ac0c466e" /><Relationship Type="http://schemas.openxmlformats.org/officeDocument/2006/relationships/notesSlide" Target="/ppt/notesSlides/notesSlide11.xml" Id="R46450a0af2e245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288b6834b4c3c" /><Relationship Type="http://schemas.openxmlformats.org/officeDocument/2006/relationships/notesSlide" Target="/ppt/notesSlides/notesSlide12.xml" Id="Rd6ed0dde64ac47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MAE (cm)</c:v>
          </c:tx>
          <c:spPr>
            <a:solidFill xmlns:a="http://schemas.openxmlformats.org/drawingml/2006/main">
              <a:srgbClr val="3182F6"/>
            </a:solidFill>
          </c:spPr>
          <c:cat>
            <c:strLit>
              <c:ptCount val="3"/>
              <c:pt idx="0">
                <c:v>PX 100</c:v>
              </c:pt>
              <c:pt idx="1">
                <c:v>PX 120</c:v>
              </c:pt>
              <c:pt idx="2">
                <c:v>PX 150</c:v>
              </c:pt>
            </c:strLit>
          </c:cat>
          <c:val>
            <c:numLit>
              <c:formatCode>General</c:formatCode>
              <c:ptCount val="3"/>
              <c:pt idx="0">
                <c:v>2.33</c:v>
              </c:pt>
              <c:pt idx="1">
                <c:v>1.87</c:v>
              </c:pt>
              <c:pt idx="2">
                <c:v>2.47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F3CE4-FBE8-42B5-8BC9-5E30CCC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HEIGHT 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72DE-9456-48F2-98EC-05CC7B7A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4DAE8"/>
                </a:solidFill>
              </a:defRPr>
            </a:pPr>
            <a:r>
              <a:rPr sz="1875" b="0">
                <a:solidFill>
                  <a:srgbClr val="D4DAE8"/>
                </a:solidFill>
              </a:rPr>
              <a:t>Progres aplikasi, hasil pengujian, dan alasan pemilihan metode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46F5A-9B28-4006-961C-CB1400A8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EA7BA"/>
                </a:solidFill>
              </a:defRPr>
            </a:pPr>
            <a:r>
              <a:rPr sz="1200" b="1">
                <a:solidFill>
                  <a:srgbClr val="9EA7BA"/>
                </a:solidFill>
              </a:rPr>
              <a:t>Bimbingan teknis • Android • OpenCV • MediaPipe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986B4-769B-480D-B2AB-C06039D2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04875"/>
            <a:ext cx="2857500" cy="4238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6C4CCF"/>
          </a:solidFill>
          <a:ln xmlns:a="http://schemas.openxmlformats.org/drawingml/2006/main" w="9525">
            <a:solidFill>
              <a:srgbClr val="6C4C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CD58E-FD45-4060-A7FB-A0018141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28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Fokus utama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2C5F3-FF47-4EB0-8779-7B9F7ADE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09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1. Proses aplikasi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2. PX 120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3. Estimasi headTop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4. Pemilihan footBottom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5. Perhitungan tinggi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6. Progres &amp; pekerjaan berikutnya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56E9C-11D8-4E4F-BA31-8F83F0F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26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D9D9B-209E-4086-8646-74AE67D5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E72A7-3E6C-42ED-A851-2DF0C22A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Aplikasi sudah berjalan dari foto sampai hasil tinggi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9BCE0-B89B-4CB3-873D-A179F71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BCB82-F07B-47D7-A155-60635C96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78C1A-14DC-4796-A144-8F3C4F4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9815D-C5E2-4804-9E12-C908736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SUDAH BERFUNGSI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DA9D-6678-439C-A690-096608EF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Foto dapat dipilih, dinormalkan orientasinya, dikoreksi perspektif, dan diproses sampai hasil sentimeter.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3DC72-4518-4657-9BB3-57AA35D8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8A031-F436-44CC-966B-02E8754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C7005-E985-4ECB-B9C4-FA4561D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7907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SUDAH DIUJI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1ED67-6440-479A-ADD3-EFB0BBE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336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Ukuran board, skala piksel 100/120/150, serta 9 kombinasi estimasi kepala pada 15 foto.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6C0E2-67A1-4EE5-9BCD-45C53A6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B5F17-1BFD-4F24-9E6C-4123A8AA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E81CC-3F57-4DA4-9D58-2FB344A7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BELUM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E8FA-E23C-4F5C-8E79-F9616576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Koefisien kepala terbaik, faktor kalibrasi, parameter kontur, validasi pose, dan pengujian akhir.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95B74-4A08-48E5-A4FE-CE9ECFD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C4CCF"/>
                </a:solidFill>
              </a:defRPr>
            </a:pPr>
            <a:r>
              <a:rPr sz="1650" b="1">
                <a:solidFill>
                  <a:srgbClr val="6C4CCF"/>
                </a:solidFill>
              </a:rPr>
              <a:t>Kesimpulan progres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4A700-8328-4CFC-8B4D-B63910D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1B2B"/>
                </a:solidFill>
              </a:defRPr>
            </a:pPr>
            <a:r>
              <a:rPr sz="1800" b="1">
                <a:solidFill>
                  <a:srgbClr val="151B2B"/>
                </a:solidFill>
              </a:rPr>
              <a:t>Sistem utama selesai. Tahap sekarang adalah memilih parameter berdasarkan galat terukur—bukan berdasarkan satu hasil tinggi yang terlihat paling bagus.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45895-8281-4EF2-8EEC-6B91F20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25749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F042C-FF2C-4415-BE1B-0BA1E78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6AA77-4BC6-4BA2-9AC9-AD9F9F5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Setiap tahap mengurangi sumber kesalahan yang berbeda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41EDB-B1A3-4078-9F9B-28B9EE7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C2D26-03A0-4EC3-8D04-294DF2BF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D2A1B-751D-4715-8CCC-68E94BA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6E32B-CC52-443A-9124-ACA26E80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Input &amp; EXIF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A195-263F-4CED-A7AA-EC596C53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CBC29-91A9-4F7B-A66D-BFE93A5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A0546-2C71-463B-A971-953E64D2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DCEE6-7CA5-4536-A78E-BF01F82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Deteksi ArUco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EBE48-956B-41FA-8961-E691A8FB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03812-BBD6-49A5-BF88-00D8849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B3A68-039B-49A3-9216-B346CC1A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45EBF-4C1D-41E3-A8E4-1897C6ED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Perspective warp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62BD4-910B-48D3-BE45-D9D751EC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F8FB1-9FC4-4B41-B55A-9C4E2E7A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AF590-FE66-467A-9A48-0D26D00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88A96-F1B8-40E2-9B90-801CAFF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MediaPipe 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04710-D1DB-4402-9187-DC3D42F9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FDD4C-7E28-4CCC-8DC3-EBF1EE54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9525">
            <a:solidFill>
              <a:srgbClr val="6C4C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42A1A-1C21-4584-868F-8B98C477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4CCF"/>
                </a:solidFill>
              </a:defRPr>
            </a:pPr>
            <a:r>
              <a:rPr sz="1050" b="1">
                <a:solidFill>
                  <a:srgbClr val="6C4CC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5F62E-0020-4053-AA8D-4901237C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headTop + footBottom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D3B55-F02A-4719-8BB7-1AE64ED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C98C4-C8C9-42F7-9D56-1F2624A8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188B61-A299-4103-A164-0006DB3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3C830-AF70-41DA-91D7-5F4EA998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Piksel → cm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84B89-382E-4DB0-93D0-EECC1B4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860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49596-306A-40CF-9367-E870653D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81250"/>
            <a:ext cx="1381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94C5B-94C3-45E8-91B8-205BDF44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14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82F6"/>
                </a:solidFill>
              </a:defRPr>
            </a:pPr>
            <a:r>
              <a:rPr sz="1050" b="1">
                <a:solidFill>
                  <a:srgbClr val="3182F6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82FF3-245C-45A8-8F08-4425DE94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194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1B2B"/>
                </a:solidFill>
              </a:defRPr>
            </a:pPr>
            <a:r>
              <a:rPr sz="1275" b="1">
                <a:solidFill>
                  <a:srgbClr val="151B2B"/>
                </a:solidFill>
              </a:rPr>
              <a:t>Validasi hasil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CEF9EA-F2F8-4AF6-9DED-46260D3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File cache dan Intent meneruskan citra serta nilai cmPerPixel antartahap.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96489-6F7D-4659-8DAA-638839C0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8722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0D83C-6718-4C03-AAA8-F37C0E0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0089E-7EAA-49B0-ACA9-5E1EE6C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Board 200 cm menjadi referensi fisik untuk semua perhitungan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1A6BA-13A4-464B-BB22-6931EA26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B2F3C-56C9-4771-80CC-3DCFD44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FA88E-386C-4582-B0BF-AFF70D19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CF"/>
          </a:solidFill>
          <a:ln xmlns:a="http://schemas.openxmlformats.org/drawingml/2006/main" w="0">
            <a:solidFill>
              <a:srgbClr val="6C4C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66886-86BF-4185-BFBB-E86CC1FC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KENAPA MEMAKAI BOARD?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E3026-4F61-4429-B6BA-9E4BDEF5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6291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Foto hanya menyediakan piksel. Board yang ukurannya diketahui menghubungkan koordinat gambar dengan satuan sentimeter.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BD080-A50C-42A7-8587-F75C7B2C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486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F219E-4FDE-4B30-8A0F-63C6CF0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0C51F-57A6-4F5A-83BE-56B1D38E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KONVERSI SKALA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3FAE2-C37D-4A7A-A4E8-66433264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067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cmPerPixel = tinggi board nyata ÷ tinggi board hasil warp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200 ÷ 2322 = 0,08613 cm/piksel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FBA2-31BD-4571-8994-49687A8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Parameter geometri harus diukur secara fisik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CE3D6-AE82-4B00-A63F-80602152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Lebar board, tinggi bagian atas/bawah, gap tengah, jarak ke lantai, serta ukuran marker tidak boleh dipilih karena membuat hasil tinggi lebih dekat.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6DEA2-D1DA-4260-8C99-045B1D0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8404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F06DD-E72C-4C77-AB94-4DBD8176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EDF6D-0C89-4B42-97E0-FDB61A13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PX 120 dipilih karena MAE-nya paling kecil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E5AB9-60B5-4129-8512-B73547E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93817a440454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C5834-FDF0-415A-9DB1-585BD01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3429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F84F5-5476-4B15-ADA3-0F889FDC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76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B9BB5-00E6-4CA7-9F09-7CE95890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764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HASIL PENGUJIAN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4C1B-1EED-4FC0-8903-ACA644E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19350"/>
            <a:ext cx="30099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PX 120 menghasilkan MAE ≈ 1,87 cm, lebih kecil daripada PX 100 (2,33 cm) dan PX 150 (2,47 cm).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F504E-46CA-4849-8CB3-9161C3F4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C4CCF"/>
                </a:solidFill>
              </a:defRPr>
            </a:pPr>
            <a:r>
              <a:rPr sz="1575" b="1">
                <a:solidFill>
                  <a:srgbClr val="6C4CCF"/>
                </a:solidFill>
              </a:rPr>
              <a:t>Alasan memakai 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6F1BD-DDE8-48E7-94E9-A157A908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7200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Dipilih dari data perbandingan yang sama, bukan karena angka 120 dianggap standar OpenCV.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CBED3-AF34-4E77-87D6-737080F6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8467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63A22-3DFC-42FF-A716-50017F1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342B7-6BBA-43CF-9CC0-FDFC0678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MediaPipe tidak menyediakan titik puncak kepala secara langsung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F0780-E5F1-4C76-942A-51380E1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6A268-2D25-41B9-9ED1-358CFFBC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4847E-440F-4885-A258-16B5F32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9CED3-8362-4D19-B037-073CD65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LANDMARK YANG TERSEDIA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9760B-6094-445E-9DFE-CDB3963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7244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Hidung, mata, telinga, bahu, pinggul, lutut, ankle, heel, dan foot index. Tidak ada landmark tepat pada rambut/puncak kepala.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3CDB3C-8706-4DFF-9970-406B3A64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4864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BF287-B466-4978-9A1C-5AB2C1B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CF"/>
          </a:solidFill>
          <a:ln xmlns:a="http://schemas.openxmlformats.org/drawingml/2006/main" w="0">
            <a:solidFill>
              <a:srgbClr val="6C4C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5D399-970E-41B5-9EF3-5AAED50A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SOLUSI APLIKASI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28F03-89C4-4270-87D9-2BC4C4D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0673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faceCenter = midpoint(hidung, eyeMid)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Arah kepala = faceCenter − shoulderMid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Koreksi = eyeToShoulder × a + earToEye × b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headTop = faceCenter + arah × koreksi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1C159-59F2-4AC1-AC4F-10704575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Makna headTop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DF066-10E0-43EE-AF3E-DD3E5E47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Titik estimasi puncak kepala anatomi yang digunakan sebagai batas atas tinggi piksel. Karena merupakan estimasi, koefisien a dan b harus diuji.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435CC-C684-411A-B98E-C1DEC2F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3764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B1C99B-925C-49DF-8D2F-29A48F6E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A1357-F965-4DB8-83E7-5757BF02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Sembilan kombinasi kepala diuji pada foto yang sama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B91DC-E934-4056-BB66-9C8BCD9A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3DBF1-C20F-4569-96E2-1506015F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BABCF-8F5E-4D6D-85A8-24901D46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0,20 / 0,10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FB7F0-7314-4C0E-84EA-14034B8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D8D77-5069-46F1-ACEA-C95D3AC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28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0,20 / 0,15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89852-76CE-4025-A7DE-E9DD4B58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A9ABB-9A3F-4E65-84D8-98A87250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0,20 / 0,20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238ED-84AA-482F-87D3-6DFFA5E7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FFC8-77D2-4043-8A8D-798B3462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0,28 / 0,10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BC016-6E39-456E-8048-B4D4677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B1C50-863B-4BAF-BAEE-684B5A24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0,28 / 0,15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70E81-ED15-4A95-8E98-E8942329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9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592EA-9B40-4820-A62D-C2AC9D4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71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0,28 / 0,20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26509-9000-4326-B242-50666EB0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C8D8E-1A77-483C-98C5-271105B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14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0,35 / 0,10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D57A0-91E3-4B83-A760-593B2F7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DEDD0-FA3E-446B-B942-F9C788F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14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0,35 / 0,15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C9DF8-103A-420C-B502-E66F0FA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F4409-75EA-4510-BDD2-515EB7A9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148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C4CCF"/>
                </a:solidFill>
              </a:defRPr>
            </a:pPr>
            <a:r>
              <a:rPr sz="1650" b="1">
                <a:solidFill>
                  <a:srgbClr val="6C4CCF"/>
                </a:solidFill>
              </a:rPr>
              <a:t>0,35 / 0,20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19AF4-3107-42E7-A445-86696347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C4CCF"/>
                </a:solidFill>
              </a:defRPr>
            </a:pPr>
            <a:r>
              <a:rPr sz="1725" b="1">
                <a:solidFill>
                  <a:srgbClr val="6C4CCF"/>
                </a:solidFill>
              </a:rPr>
              <a:t>9 kombinasi × 15 foto = 135 hasil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CFEFC-A6B8-4D53-A038-434AE514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Galat = |headTop.y aplikasi − Y kepala manual|. Kombinasi final adalah rata-rata galat piksel terkecil.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E1AF5E-D9E1-4B5A-BC44-D5AB621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0258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570FC-6F32-43B7-96B3-88EA71E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929A6-F7EE-44D7-B212-061F7A0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footBottom bukan ankle: aplikasi mencari bagian kaki paling bawah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A5508-5D11-46F1-8142-674404B4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E7D42-67CB-414C-9BBE-6514ADDF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335B3-D466-4B8C-8CD5-27105164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87EBA-1531-4BFC-824A-F2D83202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ANKLE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E2B4C-8062-494A-A542-1A72BCCF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724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Pergelangan kaki. Landmark ini tidak selalu menjadi bagian paling bawah, sehingga tidak cukup digunakan sendirian.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DE5DD-89F6-4C65-A48E-7A162224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374BA-1151-4128-9C85-C22C607F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2CC18-99E6-44CD-85A3-74A9A68A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90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HEEL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0BD5E-E61F-4125-AA98-BAABFF5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33600"/>
            <a:ext cx="2724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Tumit. Dapat menjadi titik terbawah ketika posisi kaki atau sudut foto berubah.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7BA49-EF90-40E3-93FA-F9B4A9C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3143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8FC4D-175C-4DE0-838C-0C1ED714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42E75-AAAB-400E-B933-D5D5938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907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FOOT INDEX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41AEE-E357-4C22-A215-584B1A3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2724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Ujung kaki. Sering berada lebih bawah daripada ankle pada tampilan depan atau samping.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EBF7E-A0E5-4409-BB7C-CD8768FF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C4CCF"/>
                </a:solidFill>
              </a:defRPr>
            </a:pPr>
            <a:r>
              <a:rPr sz="1650" b="1">
                <a:solidFill>
                  <a:srgbClr val="6C4CCF"/>
                </a:solidFill>
              </a:rPr>
              <a:t>Aturan pemilihan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2BD9B-ABDE-47D7-8F47-50E0BD0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1B2B"/>
                </a:solidFill>
              </a:defRPr>
            </a:pPr>
            <a:r>
              <a:rPr sz="1725" b="1">
                <a:solidFill>
                  <a:srgbClr val="151B2B"/>
                </a:solidFill>
              </a:rPr>
              <a:t>footBottom = titik dengan koordinat Y terbesar dari ankle, heel, dan foot index kedua kaki.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15625-D47F-4011-8A2F-AE3E1620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Pada citra Android/OpenCV, Y bertambah dari atas ke bawah; karena itu Y terbesar berarti posisi paling rendah.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F47C2-AFB4-42ED-8053-F824AB5A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4686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DD7BA-9C57-49B1-9046-1EA5BD9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3CF-9D12-4292-BF6C-8730D27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Tinggi dihitung dari selisih kepala–kaki lalu dikonversi ke cm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6805D-CC40-4A69-9374-4F0C179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D2B76-8ED8-4488-A8A4-8AD0ED4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C4CCF"/>
                </a:solidFill>
              </a:defRPr>
            </a:pPr>
            <a:r>
              <a:rPr sz="2250" b="1">
                <a:solidFill>
                  <a:srgbClr val="6C4CCF"/>
                </a:solidFill>
              </a:rPr>
              <a:t>verticalHeightPx = |footBottom.y − headTop.y|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E5645-03B2-43B1-859E-4DD72B04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B2B"/>
                </a:solidFill>
              </a:defRPr>
            </a:pPr>
            <a:r>
              <a:rPr sz="1875" b="1">
                <a:solidFill>
                  <a:srgbClr val="151B2B"/>
                </a:solidFill>
              </a:rPr>
              <a:t>Tinggi mentah = verticalHeightPx × cmPerPixel × faktor kedalaman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A49A5-A38A-45C4-8B9E-108D305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1B2B"/>
                </a:solidFill>
              </a:defRPr>
            </a:pPr>
            <a:r>
              <a:rPr sz="1875" b="1">
                <a:solidFill>
                  <a:srgbClr val="151B2B"/>
                </a:solidFill>
              </a:rPr>
              <a:t>Tinggi akhir = tinggi mentah × faktor kalibrasi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B20C1-DD38-4F06-989B-4EEFC3F0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9AA0B-9337-443D-9107-CC104193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7CC9A-9944-479C-B2A4-81E6A5C2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339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FAKTOR KEDALAMAN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7B7D8-BC87-4287-9CB0-D5034B4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76850"/>
            <a:ext cx="3295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(350 − 50) ÷ 350 = 0,857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3FE02-3149-44E9-ADE6-069D892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3714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71704-06AE-4C07-9A9E-C31FFF11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94477-CAE2-48EF-A06F-C0CD7106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295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KALIBRASI SAAT 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CAF57-BCB0-473E-A63C-BE211CE6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76850"/>
            <a:ext cx="3295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1,025 — masih harus dibuktikan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3B6B0-AAB6-416A-BCBB-47A169F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8629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19B41C-C288-492A-A5B5-5C0296CE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C9796-BF17-4392-B851-152C06C0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Nilai 350/50 harus berasal dari meteran, bukan dari hasil terbaik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23A3-D59D-45AD-9A7C-E77FB1AF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750EF-2B3B-40D8-A2DD-40FC81A4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1ACE8-9166-4D8A-8ABE-85A7E75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solidFill>
              <a:srgbClr val="3182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A6CA1-1F24-49F2-94DC-0E90D51F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3832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JARAK KAMERA–BOARD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C3654-FC8F-4F84-B22B-AD32E70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4533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350 cm adalah jarak optik dari kamera ke bidang board. Nilainya harus tetap selama satu rangkaian pengujian.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29AFA-C6D5-434F-964A-334817DA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66875"/>
            <a:ext cx="55626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2DFA0-D19E-48CD-98C5-01366C9B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668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CCF"/>
          </a:solidFill>
          <a:ln xmlns:a="http://schemas.openxmlformats.org/drawingml/2006/main" w="0">
            <a:solidFill>
              <a:srgbClr val="6C4C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2675C-AE7D-4E9F-B20B-86471442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383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JARAK SUBJEK–BOARD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456F3-9DA3-47AE-8316-8FDD558D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5143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50 cm menunjukkan subjek berada di depan bidang board. Faktor 0,857 mengoreksi perbedaan kedalaman tersebut.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C4EC9-744F-467F-8F0F-F3C1C42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B2B"/>
                </a:solidFill>
              </a:defRPr>
            </a:pPr>
            <a:r>
              <a:rPr sz="1650" b="1">
                <a:solidFill>
                  <a:srgbClr val="151B2B"/>
                </a:solidFill>
              </a:rPr>
              <a:t>Pengujian yang benar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8A119-6AD5-44D4-9D19-D0B353CE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Uji jarak fisik 0, 25, dan 50 cm sambil mencatat hasil. Jangan memilih jarak berdasarkan tinggi yang paling mendekati nilai sebenarnya.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37F7D-8A8E-4949-A5B1-44D81C5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3210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BD1D2-73F1-4691-99C0-21E8389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B4D6-BF53-46FD-BE1C-11266FD0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Progres selesai dan keputusan yang masih dibutuhkan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6472E-905E-4976-BD6D-EBDAC38D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2E18D-4C78-47C7-A8E8-01D0DE9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9587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5B5D7-9D14-4FC0-938D-A3EA1A8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1F4E5-1108-424F-BEF1-B0407D2E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676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SUDAH SELESAI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50711-4D43-4F40-B4BB-98B4E02E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46767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Aplikasi end-to-end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Pengukuran board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Uji PX 100/120/150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PX 120 terpilih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Pengambilan 135 hasil koefisien kepala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✓ Debug headTop dan footBottom tersedia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8D579-8A83-4BD0-8DD4-0F3913B1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4864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B8B7E-57CD-489C-B335-C73E9E3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5A6FC-8E1C-4333-B1A9-BD468086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BELUM SELESAI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E0BE8-8AD2-4806-90C6-6EFAF95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0673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Anotasi kepala manual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Pilih koefisien kepala final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Pemeriksaan footBottom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Uji jarak dan faktor kedalaman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Hitung faktor kalibrasi final</a:t>
            </a:r>
          </a:p>
          <a:p xmlns:a="http://schemas.openxmlformats.org/drawingml/2006/main">
            <a:pPr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○ Uji kontur, pose, dan akurasi akhir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45B23-BEE6-4CD1-A8B5-B509634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64545"/>
                </a:solidFill>
              </a:defRPr>
            </a:pPr>
            <a:r>
              <a:rPr sz="1950" b="1">
                <a:solidFill>
                  <a:srgbClr val="D64545"/>
                </a:solidFill>
              </a:rPr>
              <a:t>Jangan mengklaim parameter final sebelum tabel galat diisi.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3D0F0-6447-4847-941A-C5E2090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8321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7DAD7-15EA-430E-847D-B73F816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4CCF"/>
                </a:solidFill>
              </a:defRPr>
            </a:pPr>
            <a:r>
              <a:rPr sz="975" b="1">
                <a:solidFill>
                  <a:srgbClr val="6C4CCF"/>
                </a:solidFill>
              </a:rPr>
              <a:t>PROGRES APLIKASI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77488-FB25-46CB-8556-D186C9E4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1B2B"/>
                </a:solidFill>
              </a:defRPr>
            </a:pPr>
            <a:r>
              <a:rPr sz="2550" b="1">
                <a:solidFill>
                  <a:srgbClr val="151B2B"/>
                </a:solidFill>
              </a:rPr>
              <a:t>Target bimbingan: menyepakati metode sebelum pengujian akhir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F7D5D-3918-4F61-B152-A324C9EC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DE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704AF-47BB-4DAB-B6B4-607DDB1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4CCF"/>
                </a:solidFill>
              </a:defRPr>
            </a:pPr>
            <a:r>
              <a:rPr sz="1800" b="1">
                <a:solidFill>
                  <a:srgbClr val="6C4CCF"/>
                </a:solidFill>
              </a:rPr>
              <a:t>Keputusan yang perlu dikonfirmasi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A05A9-8B40-419A-A9D4-BB05E1A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1B2B"/>
                </a:solidFill>
              </a:defRPr>
            </a:pPr>
            <a:r>
              <a:rPr sz="1500" b="1">
                <a:solidFill>
                  <a:srgbClr val="151B2B"/>
                </a:solidFill>
              </a:rPr>
              <a:t>1. Apakah 10 data kalibrasi + 5 validasi sudah cukup?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F4A9A-8FCB-4918-844A-15EA6F1F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B2B"/>
                </a:solidFill>
              </a:defRPr>
            </a:pPr>
            <a:r>
              <a:rPr sz="1500" b="0">
                <a:solidFill>
                  <a:srgbClr val="151B2B"/>
                </a:solidFill>
              </a:rPr>
              <a:t>2. Apakah anotasi manual headTop perlu dua penilai?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9A641-E322-4F77-B5E3-DF99F5A1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B2B"/>
                </a:solidFill>
              </a:defRPr>
            </a:pPr>
            <a:r>
              <a:rPr sz="1500" b="0">
                <a:solidFill>
                  <a:srgbClr val="151B2B"/>
                </a:solidFill>
              </a:rPr>
              <a:t>3. Apakah pemeriksaan visual footBottom sudah memadai?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CCB46-8663-4757-9F1C-B125377E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B2B"/>
                </a:solidFill>
              </a:defRPr>
            </a:pPr>
            <a:r>
              <a:rPr sz="1500" b="0">
                <a:solidFill>
                  <a:srgbClr val="151B2B"/>
                </a:solidFill>
              </a:rPr>
              <a:t>4. Apakah uji jarak 0/25/50 cm sesuai rancangan?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654C5-8E13-445B-B54F-61B06F5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1B2B"/>
                </a:solidFill>
              </a:defRPr>
            </a:pPr>
            <a:r>
              <a:rPr sz="1500" b="0">
                <a:solidFill>
                  <a:srgbClr val="151B2B"/>
                </a:solidFill>
              </a:rPr>
              <a:t>5. Parameter kontur dan pose mana yang wajib dilaporkan?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DA8A1-9265-4488-A016-C12B47AF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A876"/>
                </a:solidFill>
              </a:defRPr>
            </a:pPr>
            <a:r>
              <a:rPr sz="1575" b="1">
                <a:solidFill>
                  <a:srgbClr val="2AA876"/>
                </a:solidFill>
              </a:rPr>
              <a:t>Hasil yang diharapkan: parameter final dikunci, lalu aplikasi diuji pada foto baru yang tidak dipakai untuk kalibrasi.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4C70-6774-4E26-A93A-272829C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6606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2026-07-12T09:53:14.8420000Z</dcterms:created>
  <dcterms:modified xsi:type="dcterms:W3CDTF">2026-07-12T09:53:14.8420000Z</dcterms:modified>
</coreProperties>
</file>